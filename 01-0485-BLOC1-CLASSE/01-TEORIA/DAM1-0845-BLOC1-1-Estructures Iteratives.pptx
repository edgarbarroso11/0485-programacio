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8"/>
  </p:notesMasterIdLst>
  <p:sldIdLst>
    <p:sldId id="675" r:id="rId2"/>
    <p:sldId id="618" r:id="rId3"/>
    <p:sldId id="409" r:id="rId4"/>
    <p:sldId id="410" r:id="rId5"/>
    <p:sldId id="411" r:id="rId6"/>
    <p:sldId id="412" r:id="rId7"/>
    <p:sldId id="619" r:id="rId8"/>
    <p:sldId id="414" r:id="rId9"/>
    <p:sldId id="532" r:id="rId10"/>
    <p:sldId id="431" r:id="rId11"/>
    <p:sldId id="659" r:id="rId12"/>
    <p:sldId id="620" r:id="rId13"/>
    <p:sldId id="627" r:id="rId14"/>
    <p:sldId id="437" r:id="rId15"/>
    <p:sldId id="676" r:id="rId16"/>
    <p:sldId id="678" r:id="rId17"/>
    <p:sldId id="691" r:id="rId18"/>
    <p:sldId id="679" r:id="rId19"/>
    <p:sldId id="434" r:id="rId20"/>
    <p:sldId id="623" r:id="rId21"/>
    <p:sldId id="624" r:id="rId22"/>
    <p:sldId id="625" r:id="rId23"/>
    <p:sldId id="626" r:id="rId24"/>
    <p:sldId id="275" r:id="rId25"/>
    <p:sldId id="438" r:id="rId26"/>
    <p:sldId id="277" r:id="rId27"/>
    <p:sldId id="631" r:id="rId28"/>
    <p:sldId id="633" r:id="rId29"/>
    <p:sldId id="692" r:id="rId30"/>
    <p:sldId id="439" r:id="rId31"/>
    <p:sldId id="680" r:id="rId32"/>
    <p:sldId id="688" r:id="rId33"/>
    <p:sldId id="693" r:id="rId34"/>
    <p:sldId id="681" r:id="rId35"/>
    <p:sldId id="685" r:id="rId36"/>
    <p:sldId id="302" r:id="rId37"/>
    <p:sldId id="683" r:id="rId38"/>
    <p:sldId id="684" r:id="rId39"/>
    <p:sldId id="292" r:id="rId40"/>
    <p:sldId id="636" r:id="rId41"/>
    <p:sldId id="441" r:id="rId42"/>
    <p:sldId id="442" r:id="rId43"/>
    <p:sldId id="443" r:id="rId44"/>
    <p:sldId id="668" r:id="rId45"/>
    <p:sldId id="449" r:id="rId46"/>
    <p:sldId id="450" r:id="rId47"/>
    <p:sldId id="533" r:id="rId48"/>
    <p:sldId id="453" r:id="rId49"/>
    <p:sldId id="638" r:id="rId50"/>
    <p:sldId id="524" r:id="rId51"/>
    <p:sldId id="534" r:id="rId52"/>
    <p:sldId id="641" r:id="rId53"/>
    <p:sldId id="686" r:id="rId54"/>
    <p:sldId id="525" r:id="rId55"/>
    <p:sldId id="669" r:id="rId56"/>
    <p:sldId id="298" r:id="rId57"/>
    <p:sldId id="646" r:id="rId58"/>
    <p:sldId id="670" r:id="rId59"/>
    <p:sldId id="257" r:id="rId60"/>
    <p:sldId id="258" r:id="rId61"/>
    <p:sldId id="259" r:id="rId62"/>
    <p:sldId id="261" r:id="rId63"/>
    <p:sldId id="262" r:id="rId64"/>
    <p:sldId id="263" r:id="rId65"/>
    <p:sldId id="264" r:id="rId66"/>
    <p:sldId id="265" r:id="rId67"/>
    <p:sldId id="537" r:id="rId68"/>
    <p:sldId id="266" r:id="rId69"/>
    <p:sldId id="267" r:id="rId70"/>
    <p:sldId id="268" r:id="rId71"/>
    <p:sldId id="270" r:id="rId72"/>
    <p:sldId id="528" r:id="rId73"/>
    <p:sldId id="271" r:id="rId74"/>
    <p:sldId id="315" r:id="rId75"/>
    <p:sldId id="531" r:id="rId76"/>
    <p:sldId id="579" r:id="rId77"/>
    <p:sldId id="324" r:id="rId78"/>
    <p:sldId id="536" r:id="rId79"/>
    <p:sldId id="577" r:id="rId80"/>
    <p:sldId id="491" r:id="rId81"/>
    <p:sldId id="671" r:id="rId82"/>
    <p:sldId id="489" r:id="rId83"/>
    <p:sldId id="478" r:id="rId84"/>
    <p:sldId id="326" r:id="rId85"/>
    <p:sldId id="545" r:id="rId86"/>
    <p:sldId id="493" r:id="rId87"/>
    <p:sldId id="546" r:id="rId88"/>
    <p:sldId id="274" r:id="rId89"/>
    <p:sldId id="322" r:id="rId90"/>
    <p:sldId id="672" r:id="rId91"/>
    <p:sldId id="550" r:id="rId92"/>
    <p:sldId id="649" r:id="rId93"/>
    <p:sldId id="320" r:id="rId94"/>
    <p:sldId id="673" r:id="rId95"/>
    <p:sldId id="286" r:id="rId96"/>
    <p:sldId id="285" r:id="rId97"/>
    <p:sldId id="562" r:id="rId98"/>
    <p:sldId id="279" r:id="rId99"/>
    <p:sldId id="280" r:id="rId100"/>
    <p:sldId id="284" r:id="rId101"/>
    <p:sldId id="563" r:id="rId102"/>
    <p:sldId id="651" r:id="rId103"/>
    <p:sldId id="565" r:id="rId104"/>
    <p:sldId id="674" r:id="rId105"/>
    <p:sldId id="569" r:id="rId106"/>
    <p:sldId id="665" r:id="rId107"/>
    <p:sldId id="290" r:id="rId108"/>
    <p:sldId id="368" r:id="rId109"/>
    <p:sldId id="597" r:id="rId110"/>
    <p:sldId id="599" r:id="rId111"/>
    <p:sldId id="600" r:id="rId112"/>
    <p:sldId id="602" r:id="rId113"/>
    <p:sldId id="601" r:id="rId114"/>
    <p:sldId id="666" r:id="rId115"/>
    <p:sldId id="365" r:id="rId116"/>
    <p:sldId id="605" r:id="rId1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de resumen" id="{C909F95C-D952-4F7D-826A-0094E9FCBEF0}">
          <p14:sldIdLst>
            <p14:sldId id="675"/>
          </p14:sldIdLst>
        </p14:section>
        <p14:section name="FONAMENTS DE PROGRAMACIÓ" id="{CFB7BB5F-B4A2-41F6-B484-093D76F5033C}">
          <p14:sldIdLst>
            <p14:sldId id="618"/>
            <p14:sldId id="409"/>
            <p14:sldId id="410"/>
            <p14:sldId id="411"/>
            <p14:sldId id="412"/>
            <p14:sldId id="619"/>
            <p14:sldId id="414"/>
            <p14:sldId id="532"/>
            <p14:sldId id="431"/>
          </p14:sldIdLst>
        </p14:section>
        <p14:section name="ESTRUCTURA D'UN PROGRAMA-VARIABLES" id="{4E422906-DA7C-4630-BA9C-35FE596D8421}">
          <p14:sldIdLst>
            <p14:sldId id="659"/>
            <p14:sldId id="620"/>
            <p14:sldId id="627"/>
            <p14:sldId id="437"/>
            <p14:sldId id="676"/>
            <p14:sldId id="678"/>
            <p14:sldId id="691"/>
            <p14:sldId id="679"/>
            <p14:sldId id="434"/>
            <p14:sldId id="623"/>
            <p14:sldId id="624"/>
            <p14:sldId id="625"/>
            <p14:sldId id="626"/>
            <p14:sldId id="275"/>
            <p14:sldId id="438"/>
            <p14:sldId id="277"/>
            <p14:sldId id="631"/>
            <p14:sldId id="633"/>
            <p14:sldId id="692"/>
            <p14:sldId id="439"/>
            <p14:sldId id="680"/>
            <p14:sldId id="688"/>
            <p14:sldId id="693"/>
            <p14:sldId id="681"/>
            <p14:sldId id="685"/>
            <p14:sldId id="302"/>
            <p14:sldId id="683"/>
            <p14:sldId id="684"/>
            <p14:sldId id="292"/>
          </p14:sldIdLst>
        </p14:section>
        <p14:section name="ESTRUCTURES ALGORÍTMIQUES" id="{115855FE-4ABF-4CDF-8312-9CD3FC930068}">
          <p14:sldIdLst>
            <p14:sldId id="636"/>
            <p14:sldId id="441"/>
            <p14:sldId id="442"/>
            <p14:sldId id="443"/>
          </p14:sldIdLst>
        </p14:section>
        <p14:section name="ESTRUCTURA ALTERNATIVA" id="{7D09EBBA-9017-4912-A468-4587BF333966}">
          <p14:sldIdLst>
            <p14:sldId id="668"/>
            <p14:sldId id="449"/>
            <p14:sldId id="450"/>
            <p14:sldId id="533"/>
            <p14:sldId id="453"/>
            <p14:sldId id="638"/>
            <p14:sldId id="524"/>
            <p14:sldId id="534"/>
            <p14:sldId id="641"/>
            <p14:sldId id="686"/>
            <p14:sldId id="525"/>
          </p14:sldIdLst>
        </p14:section>
        <p14:section name="CAS" id="{8309E9AE-EE65-4A23-A7A5-5056439DC935}">
          <p14:sldIdLst>
            <p14:sldId id="669"/>
            <p14:sldId id="298"/>
            <p14:sldId id="646"/>
          </p14:sldIdLst>
        </p14:section>
        <p14:section name="ESTRUCTURES ITERATIVES" id="{CE3AECB4-B513-42BA-969C-B50C7412B085}">
          <p14:sldIdLst>
            <p14:sldId id="670"/>
            <p14:sldId id="257"/>
            <p14:sldId id="258"/>
            <p14:sldId id="259"/>
            <p14:sldId id="261"/>
            <p14:sldId id="262"/>
            <p14:sldId id="263"/>
            <p14:sldId id="264"/>
            <p14:sldId id="265"/>
            <p14:sldId id="537"/>
            <p14:sldId id="266"/>
            <p14:sldId id="267"/>
            <p14:sldId id="268"/>
            <p14:sldId id="270"/>
            <p14:sldId id="528"/>
            <p14:sldId id="271"/>
            <p14:sldId id="315"/>
            <p14:sldId id="531"/>
            <p14:sldId id="579"/>
            <p14:sldId id="324"/>
            <p14:sldId id="536"/>
            <p14:sldId id="577"/>
            <p14:sldId id="491"/>
          </p14:sldIdLst>
        </p14:section>
        <p14:section name="COMPTADOR/ACUMULADOR" id="{6D3A2E28-3079-4C15-89B0-2A0AD1E5E2C9}">
          <p14:sldIdLst>
            <p14:sldId id="671"/>
            <p14:sldId id="489"/>
            <p14:sldId id="478"/>
            <p14:sldId id="326"/>
            <p14:sldId id="545"/>
            <p14:sldId id="493"/>
            <p14:sldId id="546"/>
            <p14:sldId id="274"/>
            <p14:sldId id="322"/>
          </p14:sldIdLst>
        </p14:section>
        <p14:section name="DESAR VALORS ANTERIORS" id="{07D0A1A5-BF17-47BD-B458-4C2B9915B124}">
          <p14:sldIdLst>
            <p14:sldId id="672"/>
            <p14:sldId id="550"/>
            <p14:sldId id="649"/>
            <p14:sldId id="320"/>
          </p14:sldIdLst>
        </p14:section>
        <p14:section name="ESQUEMA CERCA I RECORREGUT" id="{8F934709-A479-437B-B983-538985771E63}">
          <p14:sldIdLst>
            <p14:sldId id="673"/>
            <p14:sldId id="286"/>
            <p14:sldId id="285"/>
            <p14:sldId id="562"/>
            <p14:sldId id="279"/>
            <p14:sldId id="280"/>
            <p14:sldId id="284"/>
            <p14:sldId id="563"/>
            <p14:sldId id="651"/>
            <p14:sldId id="565"/>
          </p14:sldIdLst>
        </p14:section>
        <p14:section name="EXERCICIS GENERAL" id="{6291DB18-F16B-42C7-82E9-AF0B6FB1CFB3}">
          <p14:sldIdLst>
            <p14:sldId id="674"/>
            <p14:sldId id="569"/>
          </p14:sldIdLst>
        </p14:section>
        <p14:section name="LLENGUATGE c / RLUTIL.H" id="{FA4AEA59-246A-4C81-87A6-A3741EE1967B}">
          <p14:sldIdLst>
            <p14:sldId id="665"/>
            <p14:sldId id="290"/>
            <p14:sldId id="368"/>
            <p14:sldId id="597"/>
            <p14:sldId id="599"/>
            <p14:sldId id="600"/>
            <p14:sldId id="602"/>
            <p14:sldId id="601"/>
          </p14:sldIdLst>
        </p14:section>
        <p14:section name="DOBLE FOR" id="{03693B0C-3F8D-4CAB-A5ED-3E9C4F607928}">
          <p14:sldIdLst>
            <p14:sldId id="666"/>
            <p14:sldId id="365"/>
            <p14:sldId id="60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bert" initials="A" lastIdx="1" clrIdx="0">
    <p:extLst>
      <p:ext uri="{19B8F6BF-5375-455C-9EA6-DF929625EA0E}">
        <p15:presenceInfo xmlns:p15="http://schemas.microsoft.com/office/powerpoint/2012/main" userId="Alber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7600"/>
    <a:srgbClr val="15225D"/>
    <a:srgbClr val="01D7D7"/>
    <a:srgbClr val="000000"/>
    <a:srgbClr val="CCFFCC"/>
    <a:srgbClr val="EF7600"/>
    <a:srgbClr val="CCFFFF"/>
    <a:srgbClr val="FDCDF0"/>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46F890A9-2807-4EBB-B81D-B2AA78EC7F39}" styleName="Estilo oscuro 2 - Énfasis 5/Énfasis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9684" autoAdjust="0"/>
    <p:restoredTop sz="94660"/>
  </p:normalViewPr>
  <p:slideViewPr>
    <p:cSldViewPr snapToGrid="0">
      <p:cViewPr>
        <p:scale>
          <a:sx n="125" d="100"/>
          <a:sy n="125" d="100"/>
        </p:scale>
        <p:origin x="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commentAuthors" Target="commentAuthor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D8F0EB-E405-4FC3-9DA5-A1988E04E84E}" type="doc">
      <dgm:prSet loTypeId="urn:microsoft.com/office/officeart/2005/8/layout/chevron1" loCatId="process" qsTypeId="urn:microsoft.com/office/officeart/2005/8/quickstyle/simple5" qsCatId="simple" csTypeId="urn:microsoft.com/office/officeart/2005/8/colors/colorful2" csCatId="colorful" phldr="1"/>
      <dgm:spPr/>
    </dgm:pt>
    <dgm:pt modelId="{90E2D147-227A-4DE5-85C8-368B616AD1EA}">
      <dgm:prSet phldrT="[Text]"/>
      <dgm:spPr/>
      <dgm:t>
        <a:bodyPr/>
        <a:lstStyle/>
        <a:p>
          <a:r>
            <a:rPr lang="en-US" dirty="0" err="1"/>
            <a:t>Dades</a:t>
          </a:r>
          <a:r>
            <a:rPr lang="en-US" dirty="0"/>
            <a:t> </a:t>
          </a:r>
          <a:r>
            <a:rPr lang="en-US" dirty="0" err="1"/>
            <a:t>d’entrada</a:t>
          </a:r>
          <a:endParaRPr lang="en-US" dirty="0"/>
        </a:p>
      </dgm:t>
    </dgm:pt>
    <dgm:pt modelId="{FEF44E09-B922-4D8C-BDAE-A9AAD124915E}" type="parTrans" cxnId="{771123A0-B8B9-40E5-AE29-678BBC79207D}">
      <dgm:prSet/>
      <dgm:spPr/>
      <dgm:t>
        <a:bodyPr/>
        <a:lstStyle/>
        <a:p>
          <a:endParaRPr lang="en-US"/>
        </a:p>
      </dgm:t>
    </dgm:pt>
    <dgm:pt modelId="{C63A1D58-7B05-41D3-A298-4946A7A872E8}" type="sibTrans" cxnId="{771123A0-B8B9-40E5-AE29-678BBC79207D}">
      <dgm:prSet/>
      <dgm:spPr/>
      <dgm:t>
        <a:bodyPr/>
        <a:lstStyle/>
        <a:p>
          <a:endParaRPr lang="en-US"/>
        </a:p>
      </dgm:t>
    </dgm:pt>
    <dgm:pt modelId="{4A7519E3-87E5-4A4E-93B2-CA3D02C9F11D}">
      <dgm:prSet phldrT="[Text]"/>
      <dgm:spPr/>
      <dgm:t>
        <a:bodyPr/>
        <a:lstStyle/>
        <a:p>
          <a:r>
            <a:rPr lang="en-US" dirty="0" err="1"/>
            <a:t>Procès</a:t>
          </a:r>
          <a:endParaRPr lang="en-US" dirty="0"/>
        </a:p>
      </dgm:t>
    </dgm:pt>
    <dgm:pt modelId="{253F7626-6D3F-45A3-AC89-C8171E2FE445}" type="parTrans" cxnId="{76D29532-F57E-47D0-AFFC-52BC4C90AC09}">
      <dgm:prSet/>
      <dgm:spPr/>
      <dgm:t>
        <a:bodyPr/>
        <a:lstStyle/>
        <a:p>
          <a:endParaRPr lang="en-US"/>
        </a:p>
      </dgm:t>
    </dgm:pt>
    <dgm:pt modelId="{C9079067-CB67-43C6-8DC4-DA4EBCC0195C}" type="sibTrans" cxnId="{76D29532-F57E-47D0-AFFC-52BC4C90AC09}">
      <dgm:prSet/>
      <dgm:spPr/>
      <dgm:t>
        <a:bodyPr/>
        <a:lstStyle/>
        <a:p>
          <a:endParaRPr lang="en-US"/>
        </a:p>
      </dgm:t>
    </dgm:pt>
    <dgm:pt modelId="{904C3424-BFEB-4627-B3FA-A662E9ED384D}">
      <dgm:prSet phldrT="[Text]"/>
      <dgm:spPr/>
      <dgm:t>
        <a:bodyPr/>
        <a:lstStyle/>
        <a:p>
          <a:r>
            <a:rPr lang="en-US" dirty="0" err="1"/>
            <a:t>Resultat</a:t>
          </a:r>
          <a:r>
            <a:rPr lang="en-US" dirty="0"/>
            <a:t> o </a:t>
          </a:r>
          <a:r>
            <a:rPr lang="en-US" dirty="0" err="1"/>
            <a:t>dades</a:t>
          </a:r>
          <a:r>
            <a:rPr lang="en-US" dirty="0"/>
            <a:t> de </a:t>
          </a:r>
          <a:r>
            <a:rPr lang="en-US" dirty="0" err="1"/>
            <a:t>sortida</a:t>
          </a:r>
          <a:endParaRPr lang="en-US" dirty="0"/>
        </a:p>
      </dgm:t>
    </dgm:pt>
    <dgm:pt modelId="{4E40058E-1F36-4511-9059-0553946E45E8}" type="parTrans" cxnId="{79483498-420A-4490-BA79-505BED26FC9B}">
      <dgm:prSet/>
      <dgm:spPr/>
      <dgm:t>
        <a:bodyPr/>
        <a:lstStyle/>
        <a:p>
          <a:endParaRPr lang="en-US"/>
        </a:p>
      </dgm:t>
    </dgm:pt>
    <dgm:pt modelId="{97EB4591-B7E3-4C9A-9161-C187734F0B86}" type="sibTrans" cxnId="{79483498-420A-4490-BA79-505BED26FC9B}">
      <dgm:prSet/>
      <dgm:spPr/>
      <dgm:t>
        <a:bodyPr/>
        <a:lstStyle/>
        <a:p>
          <a:endParaRPr lang="en-US"/>
        </a:p>
      </dgm:t>
    </dgm:pt>
    <dgm:pt modelId="{64A6B673-11AF-4DC7-9D6A-166D0B395EFE}" type="pres">
      <dgm:prSet presAssocID="{68D8F0EB-E405-4FC3-9DA5-A1988E04E84E}" presName="Name0" presStyleCnt="0">
        <dgm:presLayoutVars>
          <dgm:dir/>
          <dgm:animLvl val="lvl"/>
          <dgm:resizeHandles val="exact"/>
        </dgm:presLayoutVars>
      </dgm:prSet>
      <dgm:spPr/>
    </dgm:pt>
    <dgm:pt modelId="{BF0764FD-199A-44C3-BB7A-D920CC703643}" type="pres">
      <dgm:prSet presAssocID="{90E2D147-227A-4DE5-85C8-368B616AD1EA}" presName="parTxOnly" presStyleLbl="node1" presStyleIdx="0" presStyleCnt="3">
        <dgm:presLayoutVars>
          <dgm:chMax val="0"/>
          <dgm:chPref val="0"/>
          <dgm:bulletEnabled val="1"/>
        </dgm:presLayoutVars>
      </dgm:prSet>
      <dgm:spPr/>
    </dgm:pt>
    <dgm:pt modelId="{BFDCA893-3DB8-479F-B029-FC34737C2144}" type="pres">
      <dgm:prSet presAssocID="{C63A1D58-7B05-41D3-A298-4946A7A872E8}" presName="parTxOnlySpace" presStyleCnt="0"/>
      <dgm:spPr/>
    </dgm:pt>
    <dgm:pt modelId="{03F42E59-E6F5-4A0A-8D6B-C945FF460540}" type="pres">
      <dgm:prSet presAssocID="{4A7519E3-87E5-4A4E-93B2-CA3D02C9F11D}" presName="parTxOnly" presStyleLbl="node1" presStyleIdx="1" presStyleCnt="3">
        <dgm:presLayoutVars>
          <dgm:chMax val="0"/>
          <dgm:chPref val="0"/>
          <dgm:bulletEnabled val="1"/>
        </dgm:presLayoutVars>
      </dgm:prSet>
      <dgm:spPr/>
    </dgm:pt>
    <dgm:pt modelId="{253A2487-BB0F-417C-957A-17A54B1AE50F}" type="pres">
      <dgm:prSet presAssocID="{C9079067-CB67-43C6-8DC4-DA4EBCC0195C}" presName="parTxOnlySpace" presStyleCnt="0"/>
      <dgm:spPr/>
    </dgm:pt>
    <dgm:pt modelId="{DD0B8294-6661-4E46-8D75-5261F03B60D2}" type="pres">
      <dgm:prSet presAssocID="{904C3424-BFEB-4627-B3FA-A662E9ED384D}" presName="parTxOnly" presStyleLbl="node1" presStyleIdx="2" presStyleCnt="3">
        <dgm:presLayoutVars>
          <dgm:chMax val="0"/>
          <dgm:chPref val="0"/>
          <dgm:bulletEnabled val="1"/>
        </dgm:presLayoutVars>
      </dgm:prSet>
      <dgm:spPr/>
    </dgm:pt>
  </dgm:ptLst>
  <dgm:cxnLst>
    <dgm:cxn modelId="{76D29532-F57E-47D0-AFFC-52BC4C90AC09}" srcId="{68D8F0EB-E405-4FC3-9DA5-A1988E04E84E}" destId="{4A7519E3-87E5-4A4E-93B2-CA3D02C9F11D}" srcOrd="1" destOrd="0" parTransId="{253F7626-6D3F-45A3-AC89-C8171E2FE445}" sibTransId="{C9079067-CB67-43C6-8DC4-DA4EBCC0195C}"/>
    <dgm:cxn modelId="{6D097B48-65B0-4CEC-8EB6-62166221578E}" type="presOf" srcId="{68D8F0EB-E405-4FC3-9DA5-A1988E04E84E}" destId="{64A6B673-11AF-4DC7-9D6A-166D0B395EFE}" srcOrd="0" destOrd="0" presId="urn:microsoft.com/office/officeart/2005/8/layout/chevron1"/>
    <dgm:cxn modelId="{88D2EF6B-D0E0-440B-9663-B70CA9821A57}" type="presOf" srcId="{90E2D147-227A-4DE5-85C8-368B616AD1EA}" destId="{BF0764FD-199A-44C3-BB7A-D920CC703643}" srcOrd="0" destOrd="0" presId="urn:microsoft.com/office/officeart/2005/8/layout/chevron1"/>
    <dgm:cxn modelId="{8320EF8F-50B7-409A-9319-8351B5071666}" type="presOf" srcId="{4A7519E3-87E5-4A4E-93B2-CA3D02C9F11D}" destId="{03F42E59-E6F5-4A0A-8D6B-C945FF460540}" srcOrd="0" destOrd="0" presId="urn:microsoft.com/office/officeart/2005/8/layout/chevron1"/>
    <dgm:cxn modelId="{79483498-420A-4490-BA79-505BED26FC9B}" srcId="{68D8F0EB-E405-4FC3-9DA5-A1988E04E84E}" destId="{904C3424-BFEB-4627-B3FA-A662E9ED384D}" srcOrd="2" destOrd="0" parTransId="{4E40058E-1F36-4511-9059-0553946E45E8}" sibTransId="{97EB4591-B7E3-4C9A-9161-C187734F0B86}"/>
    <dgm:cxn modelId="{771123A0-B8B9-40E5-AE29-678BBC79207D}" srcId="{68D8F0EB-E405-4FC3-9DA5-A1988E04E84E}" destId="{90E2D147-227A-4DE5-85C8-368B616AD1EA}" srcOrd="0" destOrd="0" parTransId="{FEF44E09-B922-4D8C-BDAE-A9AAD124915E}" sibTransId="{C63A1D58-7B05-41D3-A298-4946A7A872E8}"/>
    <dgm:cxn modelId="{7C34C1A2-9EF7-483D-AF79-DF74A55977CA}" type="presOf" srcId="{904C3424-BFEB-4627-B3FA-A662E9ED384D}" destId="{DD0B8294-6661-4E46-8D75-5261F03B60D2}" srcOrd="0" destOrd="0" presId="urn:microsoft.com/office/officeart/2005/8/layout/chevron1"/>
    <dgm:cxn modelId="{790C045B-A23E-42A7-8861-3142AE69C6B1}" type="presParOf" srcId="{64A6B673-11AF-4DC7-9D6A-166D0B395EFE}" destId="{BF0764FD-199A-44C3-BB7A-D920CC703643}" srcOrd="0" destOrd="0" presId="urn:microsoft.com/office/officeart/2005/8/layout/chevron1"/>
    <dgm:cxn modelId="{CF853555-D797-452B-8080-406A0B137F71}" type="presParOf" srcId="{64A6B673-11AF-4DC7-9D6A-166D0B395EFE}" destId="{BFDCA893-3DB8-479F-B029-FC34737C2144}" srcOrd="1" destOrd="0" presId="urn:microsoft.com/office/officeart/2005/8/layout/chevron1"/>
    <dgm:cxn modelId="{2E80FB0D-5545-4324-9BFC-5B728CDB5E30}" type="presParOf" srcId="{64A6B673-11AF-4DC7-9D6A-166D0B395EFE}" destId="{03F42E59-E6F5-4A0A-8D6B-C945FF460540}" srcOrd="2" destOrd="0" presId="urn:microsoft.com/office/officeart/2005/8/layout/chevron1"/>
    <dgm:cxn modelId="{3EFEDDEF-28EE-4665-AA1F-88A00DD3FF0C}" type="presParOf" srcId="{64A6B673-11AF-4DC7-9D6A-166D0B395EFE}" destId="{253A2487-BB0F-417C-957A-17A54B1AE50F}" srcOrd="3" destOrd="0" presId="urn:microsoft.com/office/officeart/2005/8/layout/chevron1"/>
    <dgm:cxn modelId="{CDD60E40-4CF0-484D-B0C6-2908BD795A44}" type="presParOf" srcId="{64A6B673-11AF-4DC7-9D6A-166D0B395EFE}" destId="{DD0B8294-6661-4E46-8D75-5261F03B60D2}"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059C07-13A1-4A09-90C6-145436FC044B}" type="doc">
      <dgm:prSet loTypeId="urn:microsoft.com/office/officeart/2005/8/layout/hierarchy6" loCatId="hierarchy" qsTypeId="urn:microsoft.com/office/officeart/2005/8/quickstyle/simple1" qsCatId="simple" csTypeId="urn:microsoft.com/office/officeart/2005/8/colors/colorful1" csCatId="colorful" phldr="1"/>
      <dgm:spPr/>
      <dgm:t>
        <a:bodyPr/>
        <a:lstStyle/>
        <a:p>
          <a:endParaRPr lang="es-ES"/>
        </a:p>
      </dgm:t>
    </dgm:pt>
    <dgm:pt modelId="{5AEEEC4F-CA64-468C-8011-B7007640FAF2}">
      <dgm:prSet phldrT="[Texto]"/>
      <dgm:spPr/>
      <dgm:t>
        <a:bodyPr/>
        <a:lstStyle/>
        <a:p>
          <a:r>
            <a:rPr lang="ca-ES" noProof="1"/>
            <a:t>Tipus de Dades</a:t>
          </a:r>
        </a:p>
      </dgm:t>
    </dgm:pt>
    <dgm:pt modelId="{B263A17A-7BCC-412E-A2D1-0D2BCB97EBBD}" type="parTrans" cxnId="{6E89EE19-0EFB-49F7-990C-B06F9EDD0E1A}">
      <dgm:prSet/>
      <dgm:spPr/>
      <dgm:t>
        <a:bodyPr/>
        <a:lstStyle/>
        <a:p>
          <a:endParaRPr lang="es-ES"/>
        </a:p>
      </dgm:t>
    </dgm:pt>
    <dgm:pt modelId="{FC755068-7263-4034-99AC-A8D3F661689C}" type="sibTrans" cxnId="{6E89EE19-0EFB-49F7-990C-B06F9EDD0E1A}">
      <dgm:prSet/>
      <dgm:spPr/>
      <dgm:t>
        <a:bodyPr/>
        <a:lstStyle/>
        <a:p>
          <a:endParaRPr lang="es-ES"/>
        </a:p>
      </dgm:t>
    </dgm:pt>
    <dgm:pt modelId="{F7C63A37-A245-424E-83E7-4E04F1411B97}">
      <dgm:prSet phldrT="[Texto]"/>
      <dgm:spPr/>
      <dgm:t>
        <a:bodyPr/>
        <a:lstStyle/>
        <a:p>
          <a:r>
            <a:rPr lang="ca-ES" noProof="1"/>
            <a:t>Numèrics</a:t>
          </a:r>
        </a:p>
      </dgm:t>
    </dgm:pt>
    <dgm:pt modelId="{5475C57A-DCE3-4C87-8608-D754E20649B8}" type="parTrans" cxnId="{840CA1BB-73BD-4598-A5D9-DD31B32E4608}">
      <dgm:prSet/>
      <dgm:spPr/>
      <dgm:t>
        <a:bodyPr/>
        <a:lstStyle/>
        <a:p>
          <a:endParaRPr lang="es-ES"/>
        </a:p>
      </dgm:t>
    </dgm:pt>
    <dgm:pt modelId="{D7FC7748-FF39-4505-BE78-7628F3C38CDC}" type="sibTrans" cxnId="{840CA1BB-73BD-4598-A5D9-DD31B32E4608}">
      <dgm:prSet/>
      <dgm:spPr/>
      <dgm:t>
        <a:bodyPr/>
        <a:lstStyle/>
        <a:p>
          <a:endParaRPr lang="es-ES"/>
        </a:p>
      </dgm:t>
    </dgm:pt>
    <dgm:pt modelId="{29D43497-A4C9-4A90-8328-160CF97908DB}">
      <dgm:prSet phldrT="[Texto]"/>
      <dgm:spPr/>
      <dgm:t>
        <a:bodyPr/>
        <a:lstStyle/>
        <a:p>
          <a:r>
            <a:rPr lang="ca-ES" noProof="1"/>
            <a:t>Text</a:t>
          </a:r>
        </a:p>
      </dgm:t>
    </dgm:pt>
    <dgm:pt modelId="{4F67B256-BA58-402F-A805-45C99EA8D351}" type="parTrans" cxnId="{258C9284-EDEC-490B-8F18-03E795F506E4}">
      <dgm:prSet/>
      <dgm:spPr/>
      <dgm:t>
        <a:bodyPr/>
        <a:lstStyle/>
        <a:p>
          <a:endParaRPr lang="es-ES"/>
        </a:p>
      </dgm:t>
    </dgm:pt>
    <dgm:pt modelId="{CE5E87EC-5274-463A-B61F-6369E63560AC}" type="sibTrans" cxnId="{258C9284-EDEC-490B-8F18-03E795F506E4}">
      <dgm:prSet/>
      <dgm:spPr/>
      <dgm:t>
        <a:bodyPr/>
        <a:lstStyle/>
        <a:p>
          <a:endParaRPr lang="es-ES"/>
        </a:p>
      </dgm:t>
    </dgm:pt>
    <dgm:pt modelId="{34F0D7D5-DDFA-4B7D-815E-7705AC49E675}">
      <dgm:prSet phldrT="[Texto]"/>
      <dgm:spPr/>
      <dgm:t>
        <a:bodyPr/>
        <a:lstStyle/>
        <a:p>
          <a:r>
            <a:rPr lang="ca-ES" noProof="1"/>
            <a:t>Lògics</a:t>
          </a:r>
        </a:p>
        <a:p>
          <a:r>
            <a:rPr lang="ca-ES" noProof="1"/>
            <a:t>true, false</a:t>
          </a:r>
        </a:p>
      </dgm:t>
    </dgm:pt>
    <dgm:pt modelId="{674D7297-C642-4FDC-B96F-84A008A6E7AA}" type="parTrans" cxnId="{03F5E583-B827-4CBB-ABD8-237941DB7034}">
      <dgm:prSet/>
      <dgm:spPr/>
      <dgm:t>
        <a:bodyPr/>
        <a:lstStyle/>
        <a:p>
          <a:endParaRPr lang="es-ES"/>
        </a:p>
      </dgm:t>
    </dgm:pt>
    <dgm:pt modelId="{7F8832C4-3FF3-4E29-A536-CFAFBEEDB64E}" type="sibTrans" cxnId="{03F5E583-B827-4CBB-ABD8-237941DB7034}">
      <dgm:prSet/>
      <dgm:spPr/>
      <dgm:t>
        <a:bodyPr/>
        <a:lstStyle/>
        <a:p>
          <a:endParaRPr lang="es-ES"/>
        </a:p>
      </dgm:t>
    </dgm:pt>
    <dgm:pt modelId="{CFD8FFF4-4581-4EE9-B89D-B7A38CFC21C4}">
      <dgm:prSet phldrT="[Texto]"/>
      <dgm:spPr/>
      <dgm:t>
        <a:bodyPr/>
        <a:lstStyle/>
        <a:p>
          <a:r>
            <a:rPr lang="ca-ES" noProof="1"/>
            <a:t>Enters</a:t>
          </a:r>
        </a:p>
        <a:p>
          <a:r>
            <a:rPr lang="ca-ES" noProof="1"/>
            <a:t>-2,0,2</a:t>
          </a:r>
        </a:p>
      </dgm:t>
    </dgm:pt>
    <dgm:pt modelId="{BC18849A-AB5A-42B4-B7A4-60289A97D5DE}" type="parTrans" cxnId="{69A69615-64DB-4CCE-91C6-C8349405BB07}">
      <dgm:prSet/>
      <dgm:spPr/>
      <dgm:t>
        <a:bodyPr/>
        <a:lstStyle/>
        <a:p>
          <a:endParaRPr lang="es-ES"/>
        </a:p>
      </dgm:t>
    </dgm:pt>
    <dgm:pt modelId="{3F1EAAA6-4032-4AE7-8C0C-13671A55BB65}" type="sibTrans" cxnId="{69A69615-64DB-4CCE-91C6-C8349405BB07}">
      <dgm:prSet/>
      <dgm:spPr/>
      <dgm:t>
        <a:bodyPr/>
        <a:lstStyle/>
        <a:p>
          <a:endParaRPr lang="es-ES"/>
        </a:p>
      </dgm:t>
    </dgm:pt>
    <dgm:pt modelId="{2DDC2CEA-BFF4-4223-8D90-0B69ED6311F0}">
      <dgm:prSet phldrT="[Texto]"/>
      <dgm:spPr/>
      <dgm:t>
        <a:bodyPr/>
        <a:lstStyle/>
        <a:p>
          <a:r>
            <a:rPr lang="ca-ES" noProof="1"/>
            <a:t>Reals</a:t>
          </a:r>
        </a:p>
        <a:p>
          <a:r>
            <a:rPr lang="ca-ES" noProof="1"/>
            <a:t>-2.3,0,45</a:t>
          </a:r>
        </a:p>
      </dgm:t>
    </dgm:pt>
    <dgm:pt modelId="{AA31EEA9-F52E-48AF-AD5A-3F35CDC865B8}" type="parTrans" cxnId="{A69EAD7B-39F4-4A06-B75B-3C465F82512D}">
      <dgm:prSet/>
      <dgm:spPr/>
      <dgm:t>
        <a:bodyPr/>
        <a:lstStyle/>
        <a:p>
          <a:endParaRPr lang="es-ES"/>
        </a:p>
      </dgm:t>
    </dgm:pt>
    <dgm:pt modelId="{AE620544-0E41-4CAC-939C-60204219FAD5}" type="sibTrans" cxnId="{A69EAD7B-39F4-4A06-B75B-3C465F82512D}">
      <dgm:prSet/>
      <dgm:spPr/>
      <dgm:t>
        <a:bodyPr/>
        <a:lstStyle/>
        <a:p>
          <a:endParaRPr lang="es-ES"/>
        </a:p>
      </dgm:t>
    </dgm:pt>
    <dgm:pt modelId="{64B4E5CE-EDB1-4225-9DF7-C0DEE14078DC}">
      <dgm:prSet phldrT="[Texto]"/>
      <dgm:spPr/>
      <dgm:t>
        <a:bodyPr/>
        <a:lstStyle/>
        <a:p>
          <a:r>
            <a:rPr lang="ca-ES" noProof="1"/>
            <a:t>Caràcters</a:t>
          </a:r>
        </a:p>
        <a:p>
          <a:r>
            <a:rPr lang="ca-ES" noProof="1"/>
            <a:t>‘a’</a:t>
          </a:r>
        </a:p>
      </dgm:t>
    </dgm:pt>
    <dgm:pt modelId="{0EC25F5D-8C79-4DAB-A9C7-A7B217901921}" type="parTrans" cxnId="{F794DAFD-2EA7-4E9A-8502-03FE18D3AB7C}">
      <dgm:prSet/>
      <dgm:spPr/>
      <dgm:t>
        <a:bodyPr/>
        <a:lstStyle/>
        <a:p>
          <a:endParaRPr lang="es-ES"/>
        </a:p>
      </dgm:t>
    </dgm:pt>
    <dgm:pt modelId="{F093DCE6-2E42-4731-98FA-BD6A0ED40536}" type="sibTrans" cxnId="{F794DAFD-2EA7-4E9A-8502-03FE18D3AB7C}">
      <dgm:prSet/>
      <dgm:spPr/>
      <dgm:t>
        <a:bodyPr/>
        <a:lstStyle/>
        <a:p>
          <a:endParaRPr lang="es-ES"/>
        </a:p>
      </dgm:t>
    </dgm:pt>
    <dgm:pt modelId="{7C7960C8-7068-46D8-982B-A65E7375053B}">
      <dgm:prSet phldrT="[Texto]"/>
      <dgm:spPr/>
      <dgm:t>
        <a:bodyPr/>
        <a:lstStyle/>
        <a:p>
          <a:r>
            <a:rPr lang="ca-ES" noProof="1"/>
            <a:t>Cadenes</a:t>
          </a:r>
        </a:p>
        <a:p>
          <a:r>
            <a:rPr lang="ca-ES" noProof="1"/>
            <a:t>“hola”</a:t>
          </a:r>
        </a:p>
      </dgm:t>
    </dgm:pt>
    <dgm:pt modelId="{B1755492-819E-426C-B1E4-D2842F2D070E}" type="parTrans" cxnId="{F5DF5C5D-A0AE-40AA-A7B1-888CD34D989F}">
      <dgm:prSet/>
      <dgm:spPr/>
      <dgm:t>
        <a:bodyPr/>
        <a:lstStyle/>
        <a:p>
          <a:endParaRPr lang="es-ES"/>
        </a:p>
      </dgm:t>
    </dgm:pt>
    <dgm:pt modelId="{6E449852-970A-46B5-80FA-9843D2BEF090}" type="sibTrans" cxnId="{F5DF5C5D-A0AE-40AA-A7B1-888CD34D989F}">
      <dgm:prSet/>
      <dgm:spPr/>
      <dgm:t>
        <a:bodyPr/>
        <a:lstStyle/>
        <a:p>
          <a:endParaRPr lang="es-ES"/>
        </a:p>
      </dgm:t>
    </dgm:pt>
    <dgm:pt modelId="{03E9309D-E487-42CC-9134-02150B74A902}">
      <dgm:prSet phldrT="[Texto]"/>
      <dgm:spPr/>
      <dgm:t>
        <a:bodyPr/>
        <a:lstStyle/>
        <a:p>
          <a:r>
            <a:rPr lang="ca-ES" noProof="1"/>
            <a:t>Estructurats</a:t>
          </a:r>
        </a:p>
      </dgm:t>
    </dgm:pt>
    <dgm:pt modelId="{97873B2A-4DF3-45F1-BD1A-2A7002868ADF}" type="parTrans" cxnId="{1B853A97-98BB-4270-A8C2-DDF387DD22C2}">
      <dgm:prSet/>
      <dgm:spPr/>
      <dgm:t>
        <a:bodyPr/>
        <a:lstStyle/>
        <a:p>
          <a:endParaRPr lang="es-ES"/>
        </a:p>
      </dgm:t>
    </dgm:pt>
    <dgm:pt modelId="{BA1B92EE-4CE5-452F-A3F1-EBF30F4C9195}" type="sibTrans" cxnId="{1B853A97-98BB-4270-A8C2-DDF387DD22C2}">
      <dgm:prSet/>
      <dgm:spPr/>
      <dgm:t>
        <a:bodyPr/>
        <a:lstStyle/>
        <a:p>
          <a:endParaRPr lang="es-ES"/>
        </a:p>
      </dgm:t>
    </dgm:pt>
    <dgm:pt modelId="{61880C27-9F29-4EAB-9E4E-F3FB2E746752}">
      <dgm:prSet phldrT="[Texto]"/>
      <dgm:spPr/>
      <dgm:t>
        <a:bodyPr/>
        <a:lstStyle/>
        <a:p>
          <a:r>
            <a:rPr lang="ca-ES" noProof="1"/>
            <a:t>Vectors</a:t>
          </a:r>
        </a:p>
      </dgm:t>
    </dgm:pt>
    <dgm:pt modelId="{C4D46555-CEA0-4B4B-AD57-C536CB0DA402}" type="parTrans" cxnId="{8A89EB4F-AC0F-4DF8-B6BC-E84AB12943A9}">
      <dgm:prSet/>
      <dgm:spPr/>
      <dgm:t>
        <a:bodyPr/>
        <a:lstStyle/>
        <a:p>
          <a:endParaRPr lang="es-ES"/>
        </a:p>
      </dgm:t>
    </dgm:pt>
    <dgm:pt modelId="{A2FD3967-BCE9-4915-B1C1-87B5C2ED6BDC}" type="sibTrans" cxnId="{8A89EB4F-AC0F-4DF8-B6BC-E84AB12943A9}">
      <dgm:prSet/>
      <dgm:spPr/>
      <dgm:t>
        <a:bodyPr/>
        <a:lstStyle/>
        <a:p>
          <a:endParaRPr lang="es-ES"/>
        </a:p>
      </dgm:t>
    </dgm:pt>
    <dgm:pt modelId="{33011E39-40D3-4200-8AA2-D49DBC9D21CA}">
      <dgm:prSet phldrT="[Texto]"/>
      <dgm:spPr/>
      <dgm:t>
        <a:bodyPr/>
        <a:lstStyle/>
        <a:p>
          <a:r>
            <a:rPr lang="ca-ES" noProof="1"/>
            <a:t>Estructures</a:t>
          </a:r>
        </a:p>
      </dgm:t>
    </dgm:pt>
    <dgm:pt modelId="{48057B0E-5D8D-409C-9DB9-416E5A3191F9}" type="parTrans" cxnId="{DF121C02-F179-4114-B496-7841E2E459FD}">
      <dgm:prSet/>
      <dgm:spPr/>
      <dgm:t>
        <a:bodyPr/>
        <a:lstStyle/>
        <a:p>
          <a:endParaRPr lang="es-ES"/>
        </a:p>
      </dgm:t>
    </dgm:pt>
    <dgm:pt modelId="{B6AA17A1-A900-49D0-8844-882C46582956}" type="sibTrans" cxnId="{DF121C02-F179-4114-B496-7841E2E459FD}">
      <dgm:prSet/>
      <dgm:spPr/>
      <dgm:t>
        <a:bodyPr/>
        <a:lstStyle/>
        <a:p>
          <a:endParaRPr lang="es-ES"/>
        </a:p>
      </dgm:t>
    </dgm:pt>
    <dgm:pt modelId="{3BCC8146-3EBC-4F03-BA62-992EE6329890}">
      <dgm:prSet phldrT="[Texto]"/>
      <dgm:spPr/>
      <dgm:t>
        <a:bodyPr/>
        <a:lstStyle/>
        <a:p>
          <a:r>
            <a:rPr lang="ca-ES" noProof="1"/>
            <a:t>Short</a:t>
          </a:r>
        </a:p>
      </dgm:t>
    </dgm:pt>
    <dgm:pt modelId="{54F0BB4C-1746-4341-8B44-434DC496148B}" type="parTrans" cxnId="{2FDFF6AE-2539-4083-8F3A-AF4975716A21}">
      <dgm:prSet/>
      <dgm:spPr/>
      <dgm:t>
        <a:bodyPr/>
        <a:lstStyle/>
        <a:p>
          <a:endParaRPr lang="es-ES"/>
        </a:p>
      </dgm:t>
    </dgm:pt>
    <dgm:pt modelId="{3A710DC2-D0DF-4777-AD24-175162332822}" type="sibTrans" cxnId="{2FDFF6AE-2539-4083-8F3A-AF4975716A21}">
      <dgm:prSet/>
      <dgm:spPr/>
      <dgm:t>
        <a:bodyPr/>
        <a:lstStyle/>
        <a:p>
          <a:endParaRPr lang="es-ES"/>
        </a:p>
      </dgm:t>
    </dgm:pt>
    <dgm:pt modelId="{50374CE5-D351-4C1E-9D5F-9B420EEE00EA}">
      <dgm:prSet phldrT="[Texto]"/>
      <dgm:spPr/>
      <dgm:t>
        <a:bodyPr/>
        <a:lstStyle/>
        <a:p>
          <a:r>
            <a:rPr lang="ca-ES" noProof="1"/>
            <a:t>Double</a:t>
          </a:r>
        </a:p>
      </dgm:t>
    </dgm:pt>
    <dgm:pt modelId="{7BE44E55-27A3-4EAB-AD0A-63CF876F0F79}" type="parTrans" cxnId="{9899921A-E3F0-4D22-BFF4-1317BF98A23B}">
      <dgm:prSet/>
      <dgm:spPr/>
      <dgm:t>
        <a:bodyPr/>
        <a:lstStyle/>
        <a:p>
          <a:endParaRPr lang="es-ES"/>
        </a:p>
      </dgm:t>
    </dgm:pt>
    <dgm:pt modelId="{CDE5E825-A172-4216-A937-885D753CB3DA}" type="sibTrans" cxnId="{9899921A-E3F0-4D22-BFF4-1317BF98A23B}">
      <dgm:prSet/>
      <dgm:spPr/>
      <dgm:t>
        <a:bodyPr/>
        <a:lstStyle/>
        <a:p>
          <a:endParaRPr lang="es-ES"/>
        </a:p>
      </dgm:t>
    </dgm:pt>
    <dgm:pt modelId="{8A89F942-BED4-4C51-B63D-F549C327337D}">
      <dgm:prSet phldrT="[Texto]"/>
      <dgm:spPr/>
      <dgm:t>
        <a:bodyPr/>
        <a:lstStyle/>
        <a:p>
          <a:r>
            <a:rPr lang="ca-ES" noProof="1"/>
            <a:t>Long</a:t>
          </a:r>
        </a:p>
      </dgm:t>
    </dgm:pt>
    <dgm:pt modelId="{F6E154E7-8941-4F57-9ED8-6F2302FF4808}" type="parTrans" cxnId="{FFC614C2-E38B-4479-942E-0DDBFB6A51C6}">
      <dgm:prSet/>
      <dgm:spPr/>
      <dgm:t>
        <a:bodyPr/>
        <a:lstStyle/>
        <a:p>
          <a:endParaRPr lang="es-ES"/>
        </a:p>
      </dgm:t>
    </dgm:pt>
    <dgm:pt modelId="{5A356EE9-337F-488E-B103-545792173676}" type="sibTrans" cxnId="{FFC614C2-E38B-4479-942E-0DDBFB6A51C6}">
      <dgm:prSet/>
      <dgm:spPr/>
      <dgm:t>
        <a:bodyPr/>
        <a:lstStyle/>
        <a:p>
          <a:endParaRPr lang="es-ES"/>
        </a:p>
      </dgm:t>
    </dgm:pt>
    <dgm:pt modelId="{D78D57E9-56B2-4108-A5F3-E3F94ADD709C}" type="pres">
      <dgm:prSet presAssocID="{0B059C07-13A1-4A09-90C6-145436FC044B}" presName="mainComposite" presStyleCnt="0">
        <dgm:presLayoutVars>
          <dgm:chPref val="1"/>
          <dgm:dir/>
          <dgm:animOne val="branch"/>
          <dgm:animLvl val="lvl"/>
          <dgm:resizeHandles val="exact"/>
        </dgm:presLayoutVars>
      </dgm:prSet>
      <dgm:spPr/>
    </dgm:pt>
    <dgm:pt modelId="{205E0262-A49C-46E3-A61B-4113E6F53021}" type="pres">
      <dgm:prSet presAssocID="{0B059C07-13A1-4A09-90C6-145436FC044B}" presName="hierFlow" presStyleCnt="0"/>
      <dgm:spPr/>
    </dgm:pt>
    <dgm:pt modelId="{868648A3-4165-48A3-A6CE-60403537BA56}" type="pres">
      <dgm:prSet presAssocID="{0B059C07-13A1-4A09-90C6-145436FC044B}" presName="hierChild1" presStyleCnt="0">
        <dgm:presLayoutVars>
          <dgm:chPref val="1"/>
          <dgm:animOne val="branch"/>
          <dgm:animLvl val="lvl"/>
        </dgm:presLayoutVars>
      </dgm:prSet>
      <dgm:spPr/>
    </dgm:pt>
    <dgm:pt modelId="{211A1D3D-645C-4245-94F6-7280B1990211}" type="pres">
      <dgm:prSet presAssocID="{5AEEEC4F-CA64-468C-8011-B7007640FAF2}" presName="Name14" presStyleCnt="0"/>
      <dgm:spPr/>
    </dgm:pt>
    <dgm:pt modelId="{F5882AB1-2D3D-4D77-993A-6DF143680A67}" type="pres">
      <dgm:prSet presAssocID="{5AEEEC4F-CA64-468C-8011-B7007640FAF2}" presName="level1Shape" presStyleLbl="node0" presStyleIdx="0" presStyleCnt="1">
        <dgm:presLayoutVars>
          <dgm:chPref val="3"/>
        </dgm:presLayoutVars>
      </dgm:prSet>
      <dgm:spPr/>
    </dgm:pt>
    <dgm:pt modelId="{9E728AB1-4E86-40EC-A1B6-DAAAB3266D40}" type="pres">
      <dgm:prSet presAssocID="{5AEEEC4F-CA64-468C-8011-B7007640FAF2}" presName="hierChild2" presStyleCnt="0"/>
      <dgm:spPr/>
    </dgm:pt>
    <dgm:pt modelId="{BB061304-1C84-4863-A557-754E8A9187A3}" type="pres">
      <dgm:prSet presAssocID="{5475C57A-DCE3-4C87-8608-D754E20649B8}" presName="Name19" presStyleLbl="parChTrans1D2" presStyleIdx="0" presStyleCnt="4"/>
      <dgm:spPr/>
    </dgm:pt>
    <dgm:pt modelId="{BE3BE03E-246A-48DC-87EA-83DE3994D7E8}" type="pres">
      <dgm:prSet presAssocID="{F7C63A37-A245-424E-83E7-4E04F1411B97}" presName="Name21" presStyleCnt="0"/>
      <dgm:spPr/>
    </dgm:pt>
    <dgm:pt modelId="{FF3F0B62-A5AB-489D-B1CE-7D618416355B}" type="pres">
      <dgm:prSet presAssocID="{F7C63A37-A245-424E-83E7-4E04F1411B97}" presName="level2Shape" presStyleLbl="node2" presStyleIdx="0" presStyleCnt="4"/>
      <dgm:spPr/>
    </dgm:pt>
    <dgm:pt modelId="{95B62FB2-D931-4C54-BCBF-3A989D6D7D32}" type="pres">
      <dgm:prSet presAssocID="{F7C63A37-A245-424E-83E7-4E04F1411B97}" presName="hierChild3" presStyleCnt="0"/>
      <dgm:spPr/>
    </dgm:pt>
    <dgm:pt modelId="{3D765B14-3251-430B-BE67-951E467FFF87}" type="pres">
      <dgm:prSet presAssocID="{54F0BB4C-1746-4341-8B44-434DC496148B}" presName="Name19" presStyleLbl="parChTrans1D3" presStyleIdx="0" presStyleCnt="9"/>
      <dgm:spPr/>
    </dgm:pt>
    <dgm:pt modelId="{DB173A14-BAF7-4A48-BFE8-BCD58BA0E602}" type="pres">
      <dgm:prSet presAssocID="{3BCC8146-3EBC-4F03-BA62-992EE6329890}" presName="Name21" presStyleCnt="0"/>
      <dgm:spPr/>
    </dgm:pt>
    <dgm:pt modelId="{ECE48F45-F53F-4E69-B2B0-4AABB4F4E4B4}" type="pres">
      <dgm:prSet presAssocID="{3BCC8146-3EBC-4F03-BA62-992EE6329890}" presName="level2Shape" presStyleLbl="node3" presStyleIdx="0" presStyleCnt="9"/>
      <dgm:spPr/>
    </dgm:pt>
    <dgm:pt modelId="{C88BE708-F8E5-49FD-9EEF-A544CEAD3B89}" type="pres">
      <dgm:prSet presAssocID="{3BCC8146-3EBC-4F03-BA62-992EE6329890}" presName="hierChild3" presStyleCnt="0"/>
      <dgm:spPr/>
    </dgm:pt>
    <dgm:pt modelId="{0CF24EFC-A07D-41B5-B0B0-A2B18AF310B8}" type="pres">
      <dgm:prSet presAssocID="{BC18849A-AB5A-42B4-B7A4-60289A97D5DE}" presName="Name19" presStyleLbl="parChTrans1D3" presStyleIdx="1" presStyleCnt="9"/>
      <dgm:spPr/>
    </dgm:pt>
    <dgm:pt modelId="{4509BCA8-A12C-426E-9453-6380E3F818FB}" type="pres">
      <dgm:prSet presAssocID="{CFD8FFF4-4581-4EE9-B89D-B7A38CFC21C4}" presName="Name21" presStyleCnt="0"/>
      <dgm:spPr/>
    </dgm:pt>
    <dgm:pt modelId="{04941405-D98A-4D5F-8E0E-18DB5D8FB909}" type="pres">
      <dgm:prSet presAssocID="{CFD8FFF4-4581-4EE9-B89D-B7A38CFC21C4}" presName="level2Shape" presStyleLbl="node3" presStyleIdx="1" presStyleCnt="9"/>
      <dgm:spPr/>
    </dgm:pt>
    <dgm:pt modelId="{FAD86C4E-302A-4519-948E-8A9B25CA728B}" type="pres">
      <dgm:prSet presAssocID="{CFD8FFF4-4581-4EE9-B89D-B7A38CFC21C4}" presName="hierChild3" presStyleCnt="0"/>
      <dgm:spPr/>
    </dgm:pt>
    <dgm:pt modelId="{A0043847-DC27-4853-8D06-3C4BAB4237B5}" type="pres">
      <dgm:prSet presAssocID="{F6E154E7-8941-4F57-9ED8-6F2302FF4808}" presName="Name19" presStyleLbl="parChTrans1D3" presStyleIdx="2" presStyleCnt="9"/>
      <dgm:spPr/>
    </dgm:pt>
    <dgm:pt modelId="{61CEF347-89BA-4412-965B-0D766D7751F1}" type="pres">
      <dgm:prSet presAssocID="{8A89F942-BED4-4C51-B63D-F549C327337D}" presName="Name21" presStyleCnt="0"/>
      <dgm:spPr/>
    </dgm:pt>
    <dgm:pt modelId="{0CC81AFC-F7F3-4008-AA50-0D645C3F5894}" type="pres">
      <dgm:prSet presAssocID="{8A89F942-BED4-4C51-B63D-F549C327337D}" presName="level2Shape" presStyleLbl="node3" presStyleIdx="2" presStyleCnt="9"/>
      <dgm:spPr/>
    </dgm:pt>
    <dgm:pt modelId="{4D7D633D-54B8-4ACE-AB03-7BD6E7401AF4}" type="pres">
      <dgm:prSet presAssocID="{8A89F942-BED4-4C51-B63D-F549C327337D}" presName="hierChild3" presStyleCnt="0"/>
      <dgm:spPr/>
    </dgm:pt>
    <dgm:pt modelId="{B9BD0B1E-169D-4B41-8957-F3D476E68025}" type="pres">
      <dgm:prSet presAssocID="{AA31EEA9-F52E-48AF-AD5A-3F35CDC865B8}" presName="Name19" presStyleLbl="parChTrans1D3" presStyleIdx="3" presStyleCnt="9"/>
      <dgm:spPr/>
    </dgm:pt>
    <dgm:pt modelId="{AC7A1268-31AD-4C3A-9198-E170687B127A}" type="pres">
      <dgm:prSet presAssocID="{2DDC2CEA-BFF4-4223-8D90-0B69ED6311F0}" presName="Name21" presStyleCnt="0"/>
      <dgm:spPr/>
    </dgm:pt>
    <dgm:pt modelId="{363D581C-A536-4A46-BE81-3C036F829FC8}" type="pres">
      <dgm:prSet presAssocID="{2DDC2CEA-BFF4-4223-8D90-0B69ED6311F0}" presName="level2Shape" presStyleLbl="node3" presStyleIdx="3" presStyleCnt="9"/>
      <dgm:spPr/>
    </dgm:pt>
    <dgm:pt modelId="{9242FCCF-0F85-4EB6-918F-C79A31CE8FCE}" type="pres">
      <dgm:prSet presAssocID="{2DDC2CEA-BFF4-4223-8D90-0B69ED6311F0}" presName="hierChild3" presStyleCnt="0"/>
      <dgm:spPr/>
    </dgm:pt>
    <dgm:pt modelId="{1984DD03-CB26-45D1-B457-F97622A31181}" type="pres">
      <dgm:prSet presAssocID="{7BE44E55-27A3-4EAB-AD0A-63CF876F0F79}" presName="Name19" presStyleLbl="parChTrans1D3" presStyleIdx="4" presStyleCnt="9"/>
      <dgm:spPr/>
    </dgm:pt>
    <dgm:pt modelId="{58E85FBC-CEC2-4BC0-8E5A-69E69501DE2C}" type="pres">
      <dgm:prSet presAssocID="{50374CE5-D351-4C1E-9D5F-9B420EEE00EA}" presName="Name21" presStyleCnt="0"/>
      <dgm:spPr/>
    </dgm:pt>
    <dgm:pt modelId="{B1EDE230-4802-4D1C-9646-79364809A93A}" type="pres">
      <dgm:prSet presAssocID="{50374CE5-D351-4C1E-9D5F-9B420EEE00EA}" presName="level2Shape" presStyleLbl="node3" presStyleIdx="4" presStyleCnt="9"/>
      <dgm:spPr/>
    </dgm:pt>
    <dgm:pt modelId="{831D0B3F-D0AE-487B-9450-82FB03AD95CF}" type="pres">
      <dgm:prSet presAssocID="{50374CE5-D351-4C1E-9D5F-9B420EEE00EA}" presName="hierChild3" presStyleCnt="0"/>
      <dgm:spPr/>
    </dgm:pt>
    <dgm:pt modelId="{BF8F207C-B995-4E6C-A596-15279B647632}" type="pres">
      <dgm:prSet presAssocID="{4F67B256-BA58-402F-A805-45C99EA8D351}" presName="Name19" presStyleLbl="parChTrans1D2" presStyleIdx="1" presStyleCnt="4"/>
      <dgm:spPr/>
    </dgm:pt>
    <dgm:pt modelId="{144C2C31-D84F-47E9-84EF-271E25455C73}" type="pres">
      <dgm:prSet presAssocID="{29D43497-A4C9-4A90-8328-160CF97908DB}" presName="Name21" presStyleCnt="0"/>
      <dgm:spPr/>
    </dgm:pt>
    <dgm:pt modelId="{B42841CF-1327-4C4F-80E7-E836BAB72E9E}" type="pres">
      <dgm:prSet presAssocID="{29D43497-A4C9-4A90-8328-160CF97908DB}" presName="level2Shape" presStyleLbl="node2" presStyleIdx="1" presStyleCnt="4"/>
      <dgm:spPr/>
    </dgm:pt>
    <dgm:pt modelId="{995B2FCD-BE17-46D1-B767-DD746051D29D}" type="pres">
      <dgm:prSet presAssocID="{29D43497-A4C9-4A90-8328-160CF97908DB}" presName="hierChild3" presStyleCnt="0"/>
      <dgm:spPr/>
    </dgm:pt>
    <dgm:pt modelId="{3F05C8B9-D31C-48E2-8F03-13E9A588CC23}" type="pres">
      <dgm:prSet presAssocID="{0EC25F5D-8C79-4DAB-A9C7-A7B217901921}" presName="Name19" presStyleLbl="parChTrans1D3" presStyleIdx="5" presStyleCnt="9"/>
      <dgm:spPr/>
    </dgm:pt>
    <dgm:pt modelId="{3ADC38C0-8674-4881-A2DA-C8FE18ED5516}" type="pres">
      <dgm:prSet presAssocID="{64B4E5CE-EDB1-4225-9DF7-C0DEE14078DC}" presName="Name21" presStyleCnt="0"/>
      <dgm:spPr/>
    </dgm:pt>
    <dgm:pt modelId="{6325138B-A1D5-410B-AF57-81C01A1C21BC}" type="pres">
      <dgm:prSet presAssocID="{64B4E5CE-EDB1-4225-9DF7-C0DEE14078DC}" presName="level2Shape" presStyleLbl="node3" presStyleIdx="5" presStyleCnt="9"/>
      <dgm:spPr/>
    </dgm:pt>
    <dgm:pt modelId="{4F0E443F-1655-4C98-ADE4-E432ADA16320}" type="pres">
      <dgm:prSet presAssocID="{64B4E5CE-EDB1-4225-9DF7-C0DEE14078DC}" presName="hierChild3" presStyleCnt="0"/>
      <dgm:spPr/>
    </dgm:pt>
    <dgm:pt modelId="{F7C80362-A1F5-4263-BBEB-F29FAA5E8C0F}" type="pres">
      <dgm:prSet presAssocID="{B1755492-819E-426C-B1E4-D2842F2D070E}" presName="Name19" presStyleLbl="parChTrans1D3" presStyleIdx="6" presStyleCnt="9"/>
      <dgm:spPr/>
    </dgm:pt>
    <dgm:pt modelId="{2A71D6BF-2E82-46C8-88AF-2C3B624B6719}" type="pres">
      <dgm:prSet presAssocID="{7C7960C8-7068-46D8-982B-A65E7375053B}" presName="Name21" presStyleCnt="0"/>
      <dgm:spPr/>
    </dgm:pt>
    <dgm:pt modelId="{78E0B273-C936-4D59-BD88-E9D1F94AFC4C}" type="pres">
      <dgm:prSet presAssocID="{7C7960C8-7068-46D8-982B-A65E7375053B}" presName="level2Shape" presStyleLbl="node3" presStyleIdx="6" presStyleCnt="9"/>
      <dgm:spPr/>
    </dgm:pt>
    <dgm:pt modelId="{FC0E1D55-886A-4F98-90C3-D9C0816FD88F}" type="pres">
      <dgm:prSet presAssocID="{7C7960C8-7068-46D8-982B-A65E7375053B}" presName="hierChild3" presStyleCnt="0"/>
      <dgm:spPr/>
    </dgm:pt>
    <dgm:pt modelId="{D263D2D6-ECFC-46BE-9E7B-78EBF63A0BC3}" type="pres">
      <dgm:prSet presAssocID="{674D7297-C642-4FDC-B96F-84A008A6E7AA}" presName="Name19" presStyleLbl="parChTrans1D2" presStyleIdx="2" presStyleCnt="4"/>
      <dgm:spPr/>
    </dgm:pt>
    <dgm:pt modelId="{601219C0-7008-4E63-801D-B1E83F6C44F0}" type="pres">
      <dgm:prSet presAssocID="{34F0D7D5-DDFA-4B7D-815E-7705AC49E675}" presName="Name21" presStyleCnt="0"/>
      <dgm:spPr/>
    </dgm:pt>
    <dgm:pt modelId="{6F3E1B43-BA93-4B71-AA03-498748B5560B}" type="pres">
      <dgm:prSet presAssocID="{34F0D7D5-DDFA-4B7D-815E-7705AC49E675}" presName="level2Shape" presStyleLbl="node2" presStyleIdx="2" presStyleCnt="4"/>
      <dgm:spPr/>
    </dgm:pt>
    <dgm:pt modelId="{5631C1C3-D9F3-42D1-9645-F187BF4E042D}" type="pres">
      <dgm:prSet presAssocID="{34F0D7D5-DDFA-4B7D-815E-7705AC49E675}" presName="hierChild3" presStyleCnt="0"/>
      <dgm:spPr/>
    </dgm:pt>
    <dgm:pt modelId="{A359578D-4E4F-4B7F-B7CE-888DC02BE8D5}" type="pres">
      <dgm:prSet presAssocID="{97873B2A-4DF3-45F1-BD1A-2A7002868ADF}" presName="Name19" presStyleLbl="parChTrans1D2" presStyleIdx="3" presStyleCnt="4"/>
      <dgm:spPr/>
    </dgm:pt>
    <dgm:pt modelId="{8FCEA7AA-1362-40E8-8022-64A2A2BAD33C}" type="pres">
      <dgm:prSet presAssocID="{03E9309D-E487-42CC-9134-02150B74A902}" presName="Name21" presStyleCnt="0"/>
      <dgm:spPr/>
    </dgm:pt>
    <dgm:pt modelId="{76077177-0DDB-477A-8DAC-98677CBB6C87}" type="pres">
      <dgm:prSet presAssocID="{03E9309D-E487-42CC-9134-02150B74A902}" presName="level2Shape" presStyleLbl="node2" presStyleIdx="3" presStyleCnt="4"/>
      <dgm:spPr/>
    </dgm:pt>
    <dgm:pt modelId="{1884C59C-1271-4A18-BC74-6A05A3661594}" type="pres">
      <dgm:prSet presAssocID="{03E9309D-E487-42CC-9134-02150B74A902}" presName="hierChild3" presStyleCnt="0"/>
      <dgm:spPr/>
    </dgm:pt>
    <dgm:pt modelId="{52F9DC21-35B8-4F54-853B-F761AED4E4DC}" type="pres">
      <dgm:prSet presAssocID="{C4D46555-CEA0-4B4B-AD57-C536CB0DA402}" presName="Name19" presStyleLbl="parChTrans1D3" presStyleIdx="7" presStyleCnt="9"/>
      <dgm:spPr/>
    </dgm:pt>
    <dgm:pt modelId="{4E5E07DD-BE3C-4DDC-9783-09293E2D1D13}" type="pres">
      <dgm:prSet presAssocID="{61880C27-9F29-4EAB-9E4E-F3FB2E746752}" presName="Name21" presStyleCnt="0"/>
      <dgm:spPr/>
    </dgm:pt>
    <dgm:pt modelId="{D8221A30-C5CC-4EBF-81D6-A0F02399AB90}" type="pres">
      <dgm:prSet presAssocID="{61880C27-9F29-4EAB-9E4E-F3FB2E746752}" presName="level2Shape" presStyleLbl="node3" presStyleIdx="7" presStyleCnt="9"/>
      <dgm:spPr/>
    </dgm:pt>
    <dgm:pt modelId="{BEEA332D-D648-4F3C-8264-F3EE6E6363BB}" type="pres">
      <dgm:prSet presAssocID="{61880C27-9F29-4EAB-9E4E-F3FB2E746752}" presName="hierChild3" presStyleCnt="0"/>
      <dgm:spPr/>
    </dgm:pt>
    <dgm:pt modelId="{D2E128F8-E5CF-4A75-8ECA-59E732C7EAD0}" type="pres">
      <dgm:prSet presAssocID="{48057B0E-5D8D-409C-9DB9-416E5A3191F9}" presName="Name19" presStyleLbl="parChTrans1D3" presStyleIdx="8" presStyleCnt="9"/>
      <dgm:spPr/>
    </dgm:pt>
    <dgm:pt modelId="{3599A972-56C4-41CE-8BDF-C0BDCE0B8F79}" type="pres">
      <dgm:prSet presAssocID="{33011E39-40D3-4200-8AA2-D49DBC9D21CA}" presName="Name21" presStyleCnt="0"/>
      <dgm:spPr/>
    </dgm:pt>
    <dgm:pt modelId="{59FA438F-D40A-4FE4-9FF0-41B1D71B9F99}" type="pres">
      <dgm:prSet presAssocID="{33011E39-40D3-4200-8AA2-D49DBC9D21CA}" presName="level2Shape" presStyleLbl="node3" presStyleIdx="8" presStyleCnt="9"/>
      <dgm:spPr/>
    </dgm:pt>
    <dgm:pt modelId="{A125D613-69EC-4D1A-8DA9-ADFEC67B28D9}" type="pres">
      <dgm:prSet presAssocID="{33011E39-40D3-4200-8AA2-D49DBC9D21CA}" presName="hierChild3" presStyleCnt="0"/>
      <dgm:spPr/>
    </dgm:pt>
    <dgm:pt modelId="{F9BC7034-7297-4B91-9343-3C90B843BE04}" type="pres">
      <dgm:prSet presAssocID="{0B059C07-13A1-4A09-90C6-145436FC044B}" presName="bgShapesFlow" presStyleCnt="0"/>
      <dgm:spPr/>
    </dgm:pt>
  </dgm:ptLst>
  <dgm:cxnLst>
    <dgm:cxn modelId="{DF121C02-F179-4114-B496-7841E2E459FD}" srcId="{03E9309D-E487-42CC-9134-02150B74A902}" destId="{33011E39-40D3-4200-8AA2-D49DBC9D21CA}" srcOrd="1" destOrd="0" parTransId="{48057B0E-5D8D-409C-9DB9-416E5A3191F9}" sibTransId="{B6AA17A1-A900-49D0-8844-882C46582956}"/>
    <dgm:cxn modelId="{D2C23708-1E19-4557-953A-9E35766AEB4E}" type="presOf" srcId="{5475C57A-DCE3-4C87-8608-D754E20649B8}" destId="{BB061304-1C84-4863-A557-754E8A9187A3}" srcOrd="0" destOrd="0" presId="urn:microsoft.com/office/officeart/2005/8/layout/hierarchy6"/>
    <dgm:cxn modelId="{AE3F880D-EF4C-4F6A-A7BF-FB6D1B1B71A6}" type="presOf" srcId="{3BCC8146-3EBC-4F03-BA62-992EE6329890}" destId="{ECE48F45-F53F-4E69-B2B0-4AABB4F4E4B4}" srcOrd="0" destOrd="0" presId="urn:microsoft.com/office/officeart/2005/8/layout/hierarchy6"/>
    <dgm:cxn modelId="{65523B13-C2D7-4EB4-9415-BACEDA602C7F}" type="presOf" srcId="{2DDC2CEA-BFF4-4223-8D90-0B69ED6311F0}" destId="{363D581C-A536-4A46-BE81-3C036F829FC8}" srcOrd="0" destOrd="0" presId="urn:microsoft.com/office/officeart/2005/8/layout/hierarchy6"/>
    <dgm:cxn modelId="{69A69615-64DB-4CCE-91C6-C8349405BB07}" srcId="{F7C63A37-A245-424E-83E7-4E04F1411B97}" destId="{CFD8FFF4-4581-4EE9-B89D-B7A38CFC21C4}" srcOrd="1" destOrd="0" parTransId="{BC18849A-AB5A-42B4-B7A4-60289A97D5DE}" sibTransId="{3F1EAAA6-4032-4AE7-8C0C-13671A55BB65}"/>
    <dgm:cxn modelId="{8BF46E19-4F5B-4072-B82D-6E097D388014}" type="presOf" srcId="{50374CE5-D351-4C1E-9D5F-9B420EEE00EA}" destId="{B1EDE230-4802-4D1C-9646-79364809A93A}" srcOrd="0" destOrd="0" presId="urn:microsoft.com/office/officeart/2005/8/layout/hierarchy6"/>
    <dgm:cxn modelId="{6E89EE19-0EFB-49F7-990C-B06F9EDD0E1A}" srcId="{0B059C07-13A1-4A09-90C6-145436FC044B}" destId="{5AEEEC4F-CA64-468C-8011-B7007640FAF2}" srcOrd="0" destOrd="0" parTransId="{B263A17A-7BCC-412E-A2D1-0D2BCB97EBBD}" sibTransId="{FC755068-7263-4034-99AC-A8D3F661689C}"/>
    <dgm:cxn modelId="{9899921A-E3F0-4D22-BFF4-1317BF98A23B}" srcId="{F7C63A37-A245-424E-83E7-4E04F1411B97}" destId="{50374CE5-D351-4C1E-9D5F-9B420EEE00EA}" srcOrd="4" destOrd="0" parTransId="{7BE44E55-27A3-4EAB-AD0A-63CF876F0F79}" sibTransId="{CDE5E825-A172-4216-A937-885D753CB3DA}"/>
    <dgm:cxn modelId="{E68AA722-61DD-4DC8-9385-B92EE357D3E6}" type="presOf" srcId="{54F0BB4C-1746-4341-8B44-434DC496148B}" destId="{3D765B14-3251-430B-BE67-951E467FFF87}" srcOrd="0" destOrd="0" presId="urn:microsoft.com/office/officeart/2005/8/layout/hierarchy6"/>
    <dgm:cxn modelId="{38DDCD27-FB57-416E-A152-EE953AB37C4D}" type="presOf" srcId="{97873B2A-4DF3-45F1-BD1A-2A7002868ADF}" destId="{A359578D-4E4F-4B7F-B7CE-888DC02BE8D5}" srcOrd="0" destOrd="0" presId="urn:microsoft.com/office/officeart/2005/8/layout/hierarchy6"/>
    <dgm:cxn modelId="{09664C34-47AA-4354-B33E-ABDB4A494292}" type="presOf" srcId="{5AEEEC4F-CA64-468C-8011-B7007640FAF2}" destId="{F5882AB1-2D3D-4D77-993A-6DF143680A67}" srcOrd="0" destOrd="0" presId="urn:microsoft.com/office/officeart/2005/8/layout/hierarchy6"/>
    <dgm:cxn modelId="{F5DF5C5D-A0AE-40AA-A7B1-888CD34D989F}" srcId="{29D43497-A4C9-4A90-8328-160CF97908DB}" destId="{7C7960C8-7068-46D8-982B-A65E7375053B}" srcOrd="1" destOrd="0" parTransId="{B1755492-819E-426C-B1E4-D2842F2D070E}" sibTransId="{6E449852-970A-46B5-80FA-9843D2BEF090}"/>
    <dgm:cxn modelId="{57356042-A5F3-4FF8-89FB-EEE674A60D67}" type="presOf" srcId="{8A89F942-BED4-4C51-B63D-F549C327337D}" destId="{0CC81AFC-F7F3-4008-AA50-0D645C3F5894}" srcOrd="0" destOrd="0" presId="urn:microsoft.com/office/officeart/2005/8/layout/hierarchy6"/>
    <dgm:cxn modelId="{0CFE6D42-5ADF-4BA3-A76D-49DFCFAE1D5C}" type="presOf" srcId="{48057B0E-5D8D-409C-9DB9-416E5A3191F9}" destId="{D2E128F8-E5CF-4A75-8ECA-59E732C7EAD0}" srcOrd="0" destOrd="0" presId="urn:microsoft.com/office/officeart/2005/8/layout/hierarchy6"/>
    <dgm:cxn modelId="{CA04C643-E9F0-4CD6-B45E-C41F252CDA19}" type="presOf" srcId="{F6E154E7-8941-4F57-9ED8-6F2302FF4808}" destId="{A0043847-DC27-4853-8D06-3C4BAB4237B5}" srcOrd="0" destOrd="0" presId="urn:microsoft.com/office/officeart/2005/8/layout/hierarchy6"/>
    <dgm:cxn modelId="{A0003C69-5966-4CD0-9B1A-D1F5B28AEC86}" type="presOf" srcId="{674D7297-C642-4FDC-B96F-84A008A6E7AA}" destId="{D263D2D6-ECFC-46BE-9E7B-78EBF63A0BC3}" srcOrd="0" destOrd="0" presId="urn:microsoft.com/office/officeart/2005/8/layout/hierarchy6"/>
    <dgm:cxn modelId="{F1DC9B69-4796-4424-917E-8210560ED11B}" type="presOf" srcId="{33011E39-40D3-4200-8AA2-D49DBC9D21CA}" destId="{59FA438F-D40A-4FE4-9FF0-41B1D71B9F99}" srcOrd="0" destOrd="0" presId="urn:microsoft.com/office/officeart/2005/8/layout/hierarchy6"/>
    <dgm:cxn modelId="{8A89EB4F-AC0F-4DF8-B6BC-E84AB12943A9}" srcId="{03E9309D-E487-42CC-9134-02150B74A902}" destId="{61880C27-9F29-4EAB-9E4E-F3FB2E746752}" srcOrd="0" destOrd="0" parTransId="{C4D46555-CEA0-4B4B-AD57-C536CB0DA402}" sibTransId="{A2FD3967-BCE9-4915-B1C1-87B5C2ED6BDC}"/>
    <dgm:cxn modelId="{C3039375-A863-4429-882E-98000792A782}" type="presOf" srcId="{64B4E5CE-EDB1-4225-9DF7-C0DEE14078DC}" destId="{6325138B-A1D5-410B-AF57-81C01A1C21BC}" srcOrd="0" destOrd="0" presId="urn:microsoft.com/office/officeart/2005/8/layout/hierarchy6"/>
    <dgm:cxn modelId="{71454259-86C6-442C-8327-5D6872DD9454}" type="presOf" srcId="{34F0D7D5-DDFA-4B7D-815E-7705AC49E675}" destId="{6F3E1B43-BA93-4B71-AA03-498748B5560B}" srcOrd="0" destOrd="0" presId="urn:microsoft.com/office/officeart/2005/8/layout/hierarchy6"/>
    <dgm:cxn modelId="{A69EAD7B-39F4-4A06-B75B-3C465F82512D}" srcId="{F7C63A37-A245-424E-83E7-4E04F1411B97}" destId="{2DDC2CEA-BFF4-4223-8D90-0B69ED6311F0}" srcOrd="3" destOrd="0" parTransId="{AA31EEA9-F52E-48AF-AD5A-3F35CDC865B8}" sibTransId="{AE620544-0E41-4CAC-939C-60204219FAD5}"/>
    <dgm:cxn modelId="{03F5E583-B827-4CBB-ABD8-237941DB7034}" srcId="{5AEEEC4F-CA64-468C-8011-B7007640FAF2}" destId="{34F0D7D5-DDFA-4B7D-815E-7705AC49E675}" srcOrd="2" destOrd="0" parTransId="{674D7297-C642-4FDC-B96F-84A008A6E7AA}" sibTransId="{7F8832C4-3FF3-4E29-A536-CFAFBEEDB64E}"/>
    <dgm:cxn modelId="{258C9284-EDEC-490B-8F18-03E795F506E4}" srcId="{5AEEEC4F-CA64-468C-8011-B7007640FAF2}" destId="{29D43497-A4C9-4A90-8328-160CF97908DB}" srcOrd="1" destOrd="0" parTransId="{4F67B256-BA58-402F-A805-45C99EA8D351}" sibTransId="{CE5E87EC-5274-463A-B61F-6369E63560AC}"/>
    <dgm:cxn modelId="{46FF1D88-E0AC-477F-B167-FD69D2A8352F}" type="presOf" srcId="{CFD8FFF4-4581-4EE9-B89D-B7A38CFC21C4}" destId="{04941405-D98A-4D5F-8E0E-18DB5D8FB909}" srcOrd="0" destOrd="0" presId="urn:microsoft.com/office/officeart/2005/8/layout/hierarchy6"/>
    <dgm:cxn modelId="{6619068C-08B7-4D77-9326-11CEA180EE88}" type="presOf" srcId="{03E9309D-E487-42CC-9134-02150B74A902}" destId="{76077177-0DDB-477A-8DAC-98677CBB6C87}" srcOrd="0" destOrd="0" presId="urn:microsoft.com/office/officeart/2005/8/layout/hierarchy6"/>
    <dgm:cxn modelId="{973DE591-DF78-40BD-AFF0-4D1D2FDA51DF}" type="presOf" srcId="{0B059C07-13A1-4A09-90C6-145436FC044B}" destId="{D78D57E9-56B2-4108-A5F3-E3F94ADD709C}" srcOrd="0" destOrd="0" presId="urn:microsoft.com/office/officeart/2005/8/layout/hierarchy6"/>
    <dgm:cxn modelId="{1B853A97-98BB-4270-A8C2-DDF387DD22C2}" srcId="{5AEEEC4F-CA64-468C-8011-B7007640FAF2}" destId="{03E9309D-E487-42CC-9134-02150B74A902}" srcOrd="3" destOrd="0" parTransId="{97873B2A-4DF3-45F1-BD1A-2A7002868ADF}" sibTransId="{BA1B92EE-4CE5-452F-A3F1-EBF30F4C9195}"/>
    <dgm:cxn modelId="{180103AB-7536-4EBA-8514-D920AF6166E6}" type="presOf" srcId="{7C7960C8-7068-46D8-982B-A65E7375053B}" destId="{78E0B273-C936-4D59-BD88-E9D1F94AFC4C}" srcOrd="0" destOrd="0" presId="urn:microsoft.com/office/officeart/2005/8/layout/hierarchy6"/>
    <dgm:cxn modelId="{2FDFF6AE-2539-4083-8F3A-AF4975716A21}" srcId="{F7C63A37-A245-424E-83E7-4E04F1411B97}" destId="{3BCC8146-3EBC-4F03-BA62-992EE6329890}" srcOrd="0" destOrd="0" parTransId="{54F0BB4C-1746-4341-8B44-434DC496148B}" sibTransId="{3A710DC2-D0DF-4777-AD24-175162332822}"/>
    <dgm:cxn modelId="{DD8E5BB0-A395-47C8-AA0B-F0BE4F25CBD9}" type="presOf" srcId="{BC18849A-AB5A-42B4-B7A4-60289A97D5DE}" destId="{0CF24EFC-A07D-41B5-B0B0-A2B18AF310B8}" srcOrd="0" destOrd="0" presId="urn:microsoft.com/office/officeart/2005/8/layout/hierarchy6"/>
    <dgm:cxn modelId="{66A8C7B1-5AF8-4015-A1E0-2A2560C4C31C}" type="presOf" srcId="{F7C63A37-A245-424E-83E7-4E04F1411B97}" destId="{FF3F0B62-A5AB-489D-B1CE-7D618416355B}" srcOrd="0" destOrd="0" presId="urn:microsoft.com/office/officeart/2005/8/layout/hierarchy6"/>
    <dgm:cxn modelId="{840CA1BB-73BD-4598-A5D9-DD31B32E4608}" srcId="{5AEEEC4F-CA64-468C-8011-B7007640FAF2}" destId="{F7C63A37-A245-424E-83E7-4E04F1411B97}" srcOrd="0" destOrd="0" parTransId="{5475C57A-DCE3-4C87-8608-D754E20649B8}" sibTransId="{D7FC7748-FF39-4505-BE78-7628F3C38CDC}"/>
    <dgm:cxn modelId="{FFC614C2-E38B-4479-942E-0DDBFB6A51C6}" srcId="{F7C63A37-A245-424E-83E7-4E04F1411B97}" destId="{8A89F942-BED4-4C51-B63D-F549C327337D}" srcOrd="2" destOrd="0" parTransId="{F6E154E7-8941-4F57-9ED8-6F2302FF4808}" sibTransId="{5A356EE9-337F-488E-B103-545792173676}"/>
    <dgm:cxn modelId="{CB8116C7-6E0B-4D00-B8E5-8BB66A11064E}" type="presOf" srcId="{7BE44E55-27A3-4EAB-AD0A-63CF876F0F79}" destId="{1984DD03-CB26-45D1-B457-F97622A31181}" srcOrd="0" destOrd="0" presId="urn:microsoft.com/office/officeart/2005/8/layout/hierarchy6"/>
    <dgm:cxn modelId="{2A80EED1-FE32-46FD-A755-205B97124F61}" type="presOf" srcId="{4F67B256-BA58-402F-A805-45C99EA8D351}" destId="{BF8F207C-B995-4E6C-A596-15279B647632}" srcOrd="0" destOrd="0" presId="urn:microsoft.com/office/officeart/2005/8/layout/hierarchy6"/>
    <dgm:cxn modelId="{499A53D7-6E3C-4308-8008-17CAA0828631}" type="presOf" srcId="{29D43497-A4C9-4A90-8328-160CF97908DB}" destId="{B42841CF-1327-4C4F-80E7-E836BAB72E9E}" srcOrd="0" destOrd="0" presId="urn:microsoft.com/office/officeart/2005/8/layout/hierarchy6"/>
    <dgm:cxn modelId="{FF30F1D7-B60D-4B79-A7AA-304E7E0440DB}" type="presOf" srcId="{61880C27-9F29-4EAB-9E4E-F3FB2E746752}" destId="{D8221A30-C5CC-4EBF-81D6-A0F02399AB90}" srcOrd="0" destOrd="0" presId="urn:microsoft.com/office/officeart/2005/8/layout/hierarchy6"/>
    <dgm:cxn modelId="{F61CDEDF-175E-4DA0-91A2-1F5B8C0341F6}" type="presOf" srcId="{B1755492-819E-426C-B1E4-D2842F2D070E}" destId="{F7C80362-A1F5-4263-BBEB-F29FAA5E8C0F}" srcOrd="0" destOrd="0" presId="urn:microsoft.com/office/officeart/2005/8/layout/hierarchy6"/>
    <dgm:cxn modelId="{C2C1F8EF-94A0-4FB1-9AE2-124D4351AF2F}" type="presOf" srcId="{C4D46555-CEA0-4B4B-AD57-C536CB0DA402}" destId="{52F9DC21-35B8-4F54-853B-F761AED4E4DC}" srcOrd="0" destOrd="0" presId="urn:microsoft.com/office/officeart/2005/8/layout/hierarchy6"/>
    <dgm:cxn modelId="{BA53DFF7-963A-4E97-881D-EAD9666505C1}" type="presOf" srcId="{0EC25F5D-8C79-4DAB-A9C7-A7B217901921}" destId="{3F05C8B9-D31C-48E2-8F03-13E9A588CC23}" srcOrd="0" destOrd="0" presId="urn:microsoft.com/office/officeart/2005/8/layout/hierarchy6"/>
    <dgm:cxn modelId="{3D7C9CF8-C934-4D22-AF4A-5B92DEF9D4E1}" type="presOf" srcId="{AA31EEA9-F52E-48AF-AD5A-3F35CDC865B8}" destId="{B9BD0B1E-169D-4B41-8957-F3D476E68025}" srcOrd="0" destOrd="0" presId="urn:microsoft.com/office/officeart/2005/8/layout/hierarchy6"/>
    <dgm:cxn modelId="{F794DAFD-2EA7-4E9A-8502-03FE18D3AB7C}" srcId="{29D43497-A4C9-4A90-8328-160CF97908DB}" destId="{64B4E5CE-EDB1-4225-9DF7-C0DEE14078DC}" srcOrd="0" destOrd="0" parTransId="{0EC25F5D-8C79-4DAB-A9C7-A7B217901921}" sibTransId="{F093DCE6-2E42-4731-98FA-BD6A0ED40536}"/>
    <dgm:cxn modelId="{501BA82D-D9FD-4D70-960F-D6DD65B4EFD7}" type="presParOf" srcId="{D78D57E9-56B2-4108-A5F3-E3F94ADD709C}" destId="{205E0262-A49C-46E3-A61B-4113E6F53021}" srcOrd="0" destOrd="0" presId="urn:microsoft.com/office/officeart/2005/8/layout/hierarchy6"/>
    <dgm:cxn modelId="{C1C151BD-59A4-41AB-9868-ACE43DD2E0A3}" type="presParOf" srcId="{205E0262-A49C-46E3-A61B-4113E6F53021}" destId="{868648A3-4165-48A3-A6CE-60403537BA56}" srcOrd="0" destOrd="0" presId="urn:microsoft.com/office/officeart/2005/8/layout/hierarchy6"/>
    <dgm:cxn modelId="{AEA91CC8-C2CD-4846-AC48-3ABD40699D24}" type="presParOf" srcId="{868648A3-4165-48A3-A6CE-60403537BA56}" destId="{211A1D3D-645C-4245-94F6-7280B1990211}" srcOrd="0" destOrd="0" presId="urn:microsoft.com/office/officeart/2005/8/layout/hierarchy6"/>
    <dgm:cxn modelId="{1DB662AA-A650-4F6E-B9A3-C12FEE655FA8}" type="presParOf" srcId="{211A1D3D-645C-4245-94F6-7280B1990211}" destId="{F5882AB1-2D3D-4D77-993A-6DF143680A67}" srcOrd="0" destOrd="0" presId="urn:microsoft.com/office/officeart/2005/8/layout/hierarchy6"/>
    <dgm:cxn modelId="{9C4F6437-7242-46B2-8850-E4FF62CD1323}" type="presParOf" srcId="{211A1D3D-645C-4245-94F6-7280B1990211}" destId="{9E728AB1-4E86-40EC-A1B6-DAAAB3266D40}" srcOrd="1" destOrd="0" presId="urn:microsoft.com/office/officeart/2005/8/layout/hierarchy6"/>
    <dgm:cxn modelId="{434A4E27-C7D7-4669-B38C-B8B015DF9922}" type="presParOf" srcId="{9E728AB1-4E86-40EC-A1B6-DAAAB3266D40}" destId="{BB061304-1C84-4863-A557-754E8A9187A3}" srcOrd="0" destOrd="0" presId="urn:microsoft.com/office/officeart/2005/8/layout/hierarchy6"/>
    <dgm:cxn modelId="{3DB0C184-344B-4837-A5CB-88A389D5AB99}" type="presParOf" srcId="{9E728AB1-4E86-40EC-A1B6-DAAAB3266D40}" destId="{BE3BE03E-246A-48DC-87EA-83DE3994D7E8}" srcOrd="1" destOrd="0" presId="urn:microsoft.com/office/officeart/2005/8/layout/hierarchy6"/>
    <dgm:cxn modelId="{9884C219-CCE3-4723-940E-E5ACA3B386CF}" type="presParOf" srcId="{BE3BE03E-246A-48DC-87EA-83DE3994D7E8}" destId="{FF3F0B62-A5AB-489D-B1CE-7D618416355B}" srcOrd="0" destOrd="0" presId="urn:microsoft.com/office/officeart/2005/8/layout/hierarchy6"/>
    <dgm:cxn modelId="{2799110A-D9FA-4F15-A781-C03B48140317}" type="presParOf" srcId="{BE3BE03E-246A-48DC-87EA-83DE3994D7E8}" destId="{95B62FB2-D931-4C54-BCBF-3A989D6D7D32}" srcOrd="1" destOrd="0" presId="urn:microsoft.com/office/officeart/2005/8/layout/hierarchy6"/>
    <dgm:cxn modelId="{7AECCB50-B293-4FC6-8DE6-820EF9C209D7}" type="presParOf" srcId="{95B62FB2-D931-4C54-BCBF-3A989D6D7D32}" destId="{3D765B14-3251-430B-BE67-951E467FFF87}" srcOrd="0" destOrd="0" presId="urn:microsoft.com/office/officeart/2005/8/layout/hierarchy6"/>
    <dgm:cxn modelId="{4199CFDD-3205-437D-9646-4579694E2641}" type="presParOf" srcId="{95B62FB2-D931-4C54-BCBF-3A989D6D7D32}" destId="{DB173A14-BAF7-4A48-BFE8-BCD58BA0E602}" srcOrd="1" destOrd="0" presId="urn:microsoft.com/office/officeart/2005/8/layout/hierarchy6"/>
    <dgm:cxn modelId="{B2F0639C-36AC-4666-83B5-AC6C7AA8AA23}" type="presParOf" srcId="{DB173A14-BAF7-4A48-BFE8-BCD58BA0E602}" destId="{ECE48F45-F53F-4E69-B2B0-4AABB4F4E4B4}" srcOrd="0" destOrd="0" presId="urn:microsoft.com/office/officeart/2005/8/layout/hierarchy6"/>
    <dgm:cxn modelId="{A7A8A684-1F9D-49B9-AC79-A65FCF02BD95}" type="presParOf" srcId="{DB173A14-BAF7-4A48-BFE8-BCD58BA0E602}" destId="{C88BE708-F8E5-49FD-9EEF-A544CEAD3B89}" srcOrd="1" destOrd="0" presId="urn:microsoft.com/office/officeart/2005/8/layout/hierarchy6"/>
    <dgm:cxn modelId="{8F41D983-ADAC-41A2-8248-4A1A0A813642}" type="presParOf" srcId="{95B62FB2-D931-4C54-BCBF-3A989D6D7D32}" destId="{0CF24EFC-A07D-41B5-B0B0-A2B18AF310B8}" srcOrd="2" destOrd="0" presId="urn:microsoft.com/office/officeart/2005/8/layout/hierarchy6"/>
    <dgm:cxn modelId="{6E5B3234-1C0A-4E5B-BE3C-D152CC2FFE9C}" type="presParOf" srcId="{95B62FB2-D931-4C54-BCBF-3A989D6D7D32}" destId="{4509BCA8-A12C-426E-9453-6380E3F818FB}" srcOrd="3" destOrd="0" presId="urn:microsoft.com/office/officeart/2005/8/layout/hierarchy6"/>
    <dgm:cxn modelId="{3110C070-7ADC-4391-8005-50CEEBEB4F97}" type="presParOf" srcId="{4509BCA8-A12C-426E-9453-6380E3F818FB}" destId="{04941405-D98A-4D5F-8E0E-18DB5D8FB909}" srcOrd="0" destOrd="0" presId="urn:microsoft.com/office/officeart/2005/8/layout/hierarchy6"/>
    <dgm:cxn modelId="{7B646302-3A12-4FB8-A424-D1D8CF069BDD}" type="presParOf" srcId="{4509BCA8-A12C-426E-9453-6380E3F818FB}" destId="{FAD86C4E-302A-4519-948E-8A9B25CA728B}" srcOrd="1" destOrd="0" presId="urn:microsoft.com/office/officeart/2005/8/layout/hierarchy6"/>
    <dgm:cxn modelId="{0F5AFC09-3325-4D7D-8A7D-718304BD22DC}" type="presParOf" srcId="{95B62FB2-D931-4C54-BCBF-3A989D6D7D32}" destId="{A0043847-DC27-4853-8D06-3C4BAB4237B5}" srcOrd="4" destOrd="0" presId="urn:microsoft.com/office/officeart/2005/8/layout/hierarchy6"/>
    <dgm:cxn modelId="{37BE4455-AAAB-46D4-B250-ACE62D1E9EBD}" type="presParOf" srcId="{95B62FB2-D931-4C54-BCBF-3A989D6D7D32}" destId="{61CEF347-89BA-4412-965B-0D766D7751F1}" srcOrd="5" destOrd="0" presId="urn:microsoft.com/office/officeart/2005/8/layout/hierarchy6"/>
    <dgm:cxn modelId="{5C024513-E973-4417-A3D1-33E267ABA8FD}" type="presParOf" srcId="{61CEF347-89BA-4412-965B-0D766D7751F1}" destId="{0CC81AFC-F7F3-4008-AA50-0D645C3F5894}" srcOrd="0" destOrd="0" presId="urn:microsoft.com/office/officeart/2005/8/layout/hierarchy6"/>
    <dgm:cxn modelId="{8BBED361-7FE6-4C61-BD3A-4480FF9BD771}" type="presParOf" srcId="{61CEF347-89BA-4412-965B-0D766D7751F1}" destId="{4D7D633D-54B8-4ACE-AB03-7BD6E7401AF4}" srcOrd="1" destOrd="0" presId="urn:microsoft.com/office/officeart/2005/8/layout/hierarchy6"/>
    <dgm:cxn modelId="{FBC8B712-117E-406A-8622-EFB45F5F6E38}" type="presParOf" srcId="{95B62FB2-D931-4C54-BCBF-3A989D6D7D32}" destId="{B9BD0B1E-169D-4B41-8957-F3D476E68025}" srcOrd="6" destOrd="0" presId="urn:microsoft.com/office/officeart/2005/8/layout/hierarchy6"/>
    <dgm:cxn modelId="{48A4FFBE-B77C-4A87-BF08-60214FFC8A22}" type="presParOf" srcId="{95B62FB2-D931-4C54-BCBF-3A989D6D7D32}" destId="{AC7A1268-31AD-4C3A-9198-E170687B127A}" srcOrd="7" destOrd="0" presId="urn:microsoft.com/office/officeart/2005/8/layout/hierarchy6"/>
    <dgm:cxn modelId="{EB3D7CAA-A67F-4BD7-9306-25B797B3B2A3}" type="presParOf" srcId="{AC7A1268-31AD-4C3A-9198-E170687B127A}" destId="{363D581C-A536-4A46-BE81-3C036F829FC8}" srcOrd="0" destOrd="0" presId="urn:microsoft.com/office/officeart/2005/8/layout/hierarchy6"/>
    <dgm:cxn modelId="{0E0EA699-632C-4C4B-B6C4-474917342CED}" type="presParOf" srcId="{AC7A1268-31AD-4C3A-9198-E170687B127A}" destId="{9242FCCF-0F85-4EB6-918F-C79A31CE8FCE}" srcOrd="1" destOrd="0" presId="urn:microsoft.com/office/officeart/2005/8/layout/hierarchy6"/>
    <dgm:cxn modelId="{E096A5B8-241D-4A45-9310-FEC3349CDDF5}" type="presParOf" srcId="{95B62FB2-D931-4C54-BCBF-3A989D6D7D32}" destId="{1984DD03-CB26-45D1-B457-F97622A31181}" srcOrd="8" destOrd="0" presId="urn:microsoft.com/office/officeart/2005/8/layout/hierarchy6"/>
    <dgm:cxn modelId="{B76592E3-1117-4B1F-A0BC-6E7DEBCFCF2E}" type="presParOf" srcId="{95B62FB2-D931-4C54-BCBF-3A989D6D7D32}" destId="{58E85FBC-CEC2-4BC0-8E5A-69E69501DE2C}" srcOrd="9" destOrd="0" presId="urn:microsoft.com/office/officeart/2005/8/layout/hierarchy6"/>
    <dgm:cxn modelId="{E9F38E3A-E498-4A72-A79F-5D00FFC74E29}" type="presParOf" srcId="{58E85FBC-CEC2-4BC0-8E5A-69E69501DE2C}" destId="{B1EDE230-4802-4D1C-9646-79364809A93A}" srcOrd="0" destOrd="0" presId="urn:microsoft.com/office/officeart/2005/8/layout/hierarchy6"/>
    <dgm:cxn modelId="{96671B5E-8E24-4C99-8B40-3F10DF93F6C3}" type="presParOf" srcId="{58E85FBC-CEC2-4BC0-8E5A-69E69501DE2C}" destId="{831D0B3F-D0AE-487B-9450-82FB03AD95CF}" srcOrd="1" destOrd="0" presId="urn:microsoft.com/office/officeart/2005/8/layout/hierarchy6"/>
    <dgm:cxn modelId="{F7B2FA4B-84BB-414F-9C74-A4EA929343C2}" type="presParOf" srcId="{9E728AB1-4E86-40EC-A1B6-DAAAB3266D40}" destId="{BF8F207C-B995-4E6C-A596-15279B647632}" srcOrd="2" destOrd="0" presId="urn:microsoft.com/office/officeart/2005/8/layout/hierarchy6"/>
    <dgm:cxn modelId="{4063FBF4-E7D1-44C5-B80C-988236522FB3}" type="presParOf" srcId="{9E728AB1-4E86-40EC-A1B6-DAAAB3266D40}" destId="{144C2C31-D84F-47E9-84EF-271E25455C73}" srcOrd="3" destOrd="0" presId="urn:microsoft.com/office/officeart/2005/8/layout/hierarchy6"/>
    <dgm:cxn modelId="{88C04B26-D173-4BC7-A78A-EBDF0B3F5E4C}" type="presParOf" srcId="{144C2C31-D84F-47E9-84EF-271E25455C73}" destId="{B42841CF-1327-4C4F-80E7-E836BAB72E9E}" srcOrd="0" destOrd="0" presId="urn:microsoft.com/office/officeart/2005/8/layout/hierarchy6"/>
    <dgm:cxn modelId="{1F7568A0-5C38-4804-B4AE-E69DD1F9AFA3}" type="presParOf" srcId="{144C2C31-D84F-47E9-84EF-271E25455C73}" destId="{995B2FCD-BE17-46D1-B767-DD746051D29D}" srcOrd="1" destOrd="0" presId="urn:microsoft.com/office/officeart/2005/8/layout/hierarchy6"/>
    <dgm:cxn modelId="{A31684A0-C4BF-4F1E-8B76-87597010F16A}" type="presParOf" srcId="{995B2FCD-BE17-46D1-B767-DD746051D29D}" destId="{3F05C8B9-D31C-48E2-8F03-13E9A588CC23}" srcOrd="0" destOrd="0" presId="urn:microsoft.com/office/officeart/2005/8/layout/hierarchy6"/>
    <dgm:cxn modelId="{64C1EF13-4400-419A-8E36-2FF999298D67}" type="presParOf" srcId="{995B2FCD-BE17-46D1-B767-DD746051D29D}" destId="{3ADC38C0-8674-4881-A2DA-C8FE18ED5516}" srcOrd="1" destOrd="0" presId="urn:microsoft.com/office/officeart/2005/8/layout/hierarchy6"/>
    <dgm:cxn modelId="{10350C4E-7C83-464A-BFCB-2E20D053AFDB}" type="presParOf" srcId="{3ADC38C0-8674-4881-A2DA-C8FE18ED5516}" destId="{6325138B-A1D5-410B-AF57-81C01A1C21BC}" srcOrd="0" destOrd="0" presId="urn:microsoft.com/office/officeart/2005/8/layout/hierarchy6"/>
    <dgm:cxn modelId="{A1115725-C57A-4C4F-B33C-03BCB6D53D2C}" type="presParOf" srcId="{3ADC38C0-8674-4881-A2DA-C8FE18ED5516}" destId="{4F0E443F-1655-4C98-ADE4-E432ADA16320}" srcOrd="1" destOrd="0" presId="urn:microsoft.com/office/officeart/2005/8/layout/hierarchy6"/>
    <dgm:cxn modelId="{ECC34234-3F23-4269-8E47-8A1CB020356C}" type="presParOf" srcId="{995B2FCD-BE17-46D1-B767-DD746051D29D}" destId="{F7C80362-A1F5-4263-BBEB-F29FAA5E8C0F}" srcOrd="2" destOrd="0" presId="urn:microsoft.com/office/officeart/2005/8/layout/hierarchy6"/>
    <dgm:cxn modelId="{89A1A99F-FE70-4D29-8C73-09080688BB0A}" type="presParOf" srcId="{995B2FCD-BE17-46D1-B767-DD746051D29D}" destId="{2A71D6BF-2E82-46C8-88AF-2C3B624B6719}" srcOrd="3" destOrd="0" presId="urn:microsoft.com/office/officeart/2005/8/layout/hierarchy6"/>
    <dgm:cxn modelId="{D27E8330-567E-4FB9-87A5-BCD85C6E617E}" type="presParOf" srcId="{2A71D6BF-2E82-46C8-88AF-2C3B624B6719}" destId="{78E0B273-C936-4D59-BD88-E9D1F94AFC4C}" srcOrd="0" destOrd="0" presId="urn:microsoft.com/office/officeart/2005/8/layout/hierarchy6"/>
    <dgm:cxn modelId="{CF960A25-3F63-4D91-BB9F-FD4BEAE12D8B}" type="presParOf" srcId="{2A71D6BF-2E82-46C8-88AF-2C3B624B6719}" destId="{FC0E1D55-886A-4F98-90C3-D9C0816FD88F}" srcOrd="1" destOrd="0" presId="urn:microsoft.com/office/officeart/2005/8/layout/hierarchy6"/>
    <dgm:cxn modelId="{B2749984-BA48-483F-BF2C-A07ABF1F5C83}" type="presParOf" srcId="{9E728AB1-4E86-40EC-A1B6-DAAAB3266D40}" destId="{D263D2D6-ECFC-46BE-9E7B-78EBF63A0BC3}" srcOrd="4" destOrd="0" presId="urn:microsoft.com/office/officeart/2005/8/layout/hierarchy6"/>
    <dgm:cxn modelId="{9041833D-445E-4085-AB42-1F8BFE5DF8BE}" type="presParOf" srcId="{9E728AB1-4E86-40EC-A1B6-DAAAB3266D40}" destId="{601219C0-7008-4E63-801D-B1E83F6C44F0}" srcOrd="5" destOrd="0" presId="urn:microsoft.com/office/officeart/2005/8/layout/hierarchy6"/>
    <dgm:cxn modelId="{7873F9B3-5409-47A6-970C-C5815343BA71}" type="presParOf" srcId="{601219C0-7008-4E63-801D-B1E83F6C44F0}" destId="{6F3E1B43-BA93-4B71-AA03-498748B5560B}" srcOrd="0" destOrd="0" presId="urn:microsoft.com/office/officeart/2005/8/layout/hierarchy6"/>
    <dgm:cxn modelId="{A80E045C-373C-417D-95BC-9F7941E94C31}" type="presParOf" srcId="{601219C0-7008-4E63-801D-B1E83F6C44F0}" destId="{5631C1C3-D9F3-42D1-9645-F187BF4E042D}" srcOrd="1" destOrd="0" presId="urn:microsoft.com/office/officeart/2005/8/layout/hierarchy6"/>
    <dgm:cxn modelId="{6560D06E-9CBB-4D5E-B652-9BEC9AB21A26}" type="presParOf" srcId="{9E728AB1-4E86-40EC-A1B6-DAAAB3266D40}" destId="{A359578D-4E4F-4B7F-B7CE-888DC02BE8D5}" srcOrd="6" destOrd="0" presId="urn:microsoft.com/office/officeart/2005/8/layout/hierarchy6"/>
    <dgm:cxn modelId="{49A5EBB7-EBAD-4E3C-902D-D3B4B2B98770}" type="presParOf" srcId="{9E728AB1-4E86-40EC-A1B6-DAAAB3266D40}" destId="{8FCEA7AA-1362-40E8-8022-64A2A2BAD33C}" srcOrd="7" destOrd="0" presId="urn:microsoft.com/office/officeart/2005/8/layout/hierarchy6"/>
    <dgm:cxn modelId="{D326F4F6-9950-46B4-B4C7-533709738BC0}" type="presParOf" srcId="{8FCEA7AA-1362-40E8-8022-64A2A2BAD33C}" destId="{76077177-0DDB-477A-8DAC-98677CBB6C87}" srcOrd="0" destOrd="0" presId="urn:microsoft.com/office/officeart/2005/8/layout/hierarchy6"/>
    <dgm:cxn modelId="{7CC580DF-A831-47C8-9A1D-70CB7220A68A}" type="presParOf" srcId="{8FCEA7AA-1362-40E8-8022-64A2A2BAD33C}" destId="{1884C59C-1271-4A18-BC74-6A05A3661594}" srcOrd="1" destOrd="0" presId="urn:microsoft.com/office/officeart/2005/8/layout/hierarchy6"/>
    <dgm:cxn modelId="{1FC21707-FD12-4B33-868D-D28CA5A62CFC}" type="presParOf" srcId="{1884C59C-1271-4A18-BC74-6A05A3661594}" destId="{52F9DC21-35B8-4F54-853B-F761AED4E4DC}" srcOrd="0" destOrd="0" presId="urn:microsoft.com/office/officeart/2005/8/layout/hierarchy6"/>
    <dgm:cxn modelId="{08C16AB3-7BDD-4AAA-A36B-1B9827334234}" type="presParOf" srcId="{1884C59C-1271-4A18-BC74-6A05A3661594}" destId="{4E5E07DD-BE3C-4DDC-9783-09293E2D1D13}" srcOrd="1" destOrd="0" presId="urn:microsoft.com/office/officeart/2005/8/layout/hierarchy6"/>
    <dgm:cxn modelId="{F2672229-FCCE-4C36-B705-1E92E4F67FBA}" type="presParOf" srcId="{4E5E07DD-BE3C-4DDC-9783-09293E2D1D13}" destId="{D8221A30-C5CC-4EBF-81D6-A0F02399AB90}" srcOrd="0" destOrd="0" presId="urn:microsoft.com/office/officeart/2005/8/layout/hierarchy6"/>
    <dgm:cxn modelId="{CE3BC0AF-9B93-4211-8554-87572A5BD00A}" type="presParOf" srcId="{4E5E07DD-BE3C-4DDC-9783-09293E2D1D13}" destId="{BEEA332D-D648-4F3C-8264-F3EE6E6363BB}" srcOrd="1" destOrd="0" presId="urn:microsoft.com/office/officeart/2005/8/layout/hierarchy6"/>
    <dgm:cxn modelId="{9D6EE8C4-ACE5-46D2-A50A-FB18AAC01E90}" type="presParOf" srcId="{1884C59C-1271-4A18-BC74-6A05A3661594}" destId="{D2E128F8-E5CF-4A75-8ECA-59E732C7EAD0}" srcOrd="2" destOrd="0" presId="urn:microsoft.com/office/officeart/2005/8/layout/hierarchy6"/>
    <dgm:cxn modelId="{19C24CD2-B73F-46AC-AC57-B050EF0EBFDD}" type="presParOf" srcId="{1884C59C-1271-4A18-BC74-6A05A3661594}" destId="{3599A972-56C4-41CE-8BDF-C0BDCE0B8F79}" srcOrd="3" destOrd="0" presId="urn:microsoft.com/office/officeart/2005/8/layout/hierarchy6"/>
    <dgm:cxn modelId="{E546955B-DD49-495E-9C46-8BDD8F4A8F99}" type="presParOf" srcId="{3599A972-56C4-41CE-8BDF-C0BDCE0B8F79}" destId="{59FA438F-D40A-4FE4-9FF0-41B1D71B9F99}" srcOrd="0" destOrd="0" presId="urn:microsoft.com/office/officeart/2005/8/layout/hierarchy6"/>
    <dgm:cxn modelId="{A0F218D2-AD92-455D-86D0-4D8353A77A21}" type="presParOf" srcId="{3599A972-56C4-41CE-8BDF-C0BDCE0B8F79}" destId="{A125D613-69EC-4D1A-8DA9-ADFEC67B28D9}" srcOrd="1" destOrd="0" presId="urn:microsoft.com/office/officeart/2005/8/layout/hierarchy6"/>
    <dgm:cxn modelId="{77A0F127-C305-438C-A9D9-756CF203A86D}" type="presParOf" srcId="{D78D57E9-56B2-4108-A5F3-E3F94ADD709C}" destId="{F9BC7034-7297-4B91-9343-3C90B843BE04}"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0764FD-199A-44C3-BB7A-D920CC703643}">
      <dsp:nvSpPr>
        <dsp:cNvPr id="0" name=""/>
        <dsp:cNvSpPr/>
      </dsp:nvSpPr>
      <dsp:spPr>
        <a:xfrm>
          <a:off x="1785" y="1596826"/>
          <a:ext cx="2175867" cy="870346"/>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dirty="0" err="1"/>
            <a:t>Dades</a:t>
          </a:r>
          <a:r>
            <a:rPr lang="en-US" sz="1900" kern="1200" dirty="0"/>
            <a:t> </a:t>
          </a:r>
          <a:r>
            <a:rPr lang="en-US" sz="1900" kern="1200" dirty="0" err="1"/>
            <a:t>d’entrada</a:t>
          </a:r>
          <a:endParaRPr lang="en-US" sz="1900" kern="1200" dirty="0"/>
        </a:p>
      </dsp:txBody>
      <dsp:txXfrm>
        <a:off x="436958" y="1596826"/>
        <a:ext cx="1305521" cy="870346"/>
      </dsp:txXfrm>
    </dsp:sp>
    <dsp:sp modelId="{03F42E59-E6F5-4A0A-8D6B-C945FF460540}">
      <dsp:nvSpPr>
        <dsp:cNvPr id="0" name=""/>
        <dsp:cNvSpPr/>
      </dsp:nvSpPr>
      <dsp:spPr>
        <a:xfrm>
          <a:off x="1960066" y="1596826"/>
          <a:ext cx="2175867" cy="870346"/>
        </a:xfrm>
        <a:prstGeom prst="chevron">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dirty="0" err="1"/>
            <a:t>Procès</a:t>
          </a:r>
          <a:endParaRPr lang="en-US" sz="1900" kern="1200" dirty="0"/>
        </a:p>
      </dsp:txBody>
      <dsp:txXfrm>
        <a:off x="2395239" y="1596826"/>
        <a:ext cx="1305521" cy="870346"/>
      </dsp:txXfrm>
    </dsp:sp>
    <dsp:sp modelId="{DD0B8294-6661-4E46-8D75-5261F03B60D2}">
      <dsp:nvSpPr>
        <dsp:cNvPr id="0" name=""/>
        <dsp:cNvSpPr/>
      </dsp:nvSpPr>
      <dsp:spPr>
        <a:xfrm>
          <a:off x="3918346" y="1596826"/>
          <a:ext cx="2175867" cy="870346"/>
        </a:xfrm>
        <a:prstGeom prst="chevron">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dirty="0" err="1"/>
            <a:t>Resultat</a:t>
          </a:r>
          <a:r>
            <a:rPr lang="en-US" sz="1900" kern="1200" dirty="0"/>
            <a:t> o </a:t>
          </a:r>
          <a:r>
            <a:rPr lang="en-US" sz="1900" kern="1200" dirty="0" err="1"/>
            <a:t>dades</a:t>
          </a:r>
          <a:r>
            <a:rPr lang="en-US" sz="1900" kern="1200" dirty="0"/>
            <a:t> de </a:t>
          </a:r>
          <a:r>
            <a:rPr lang="en-US" sz="1900" kern="1200" dirty="0" err="1"/>
            <a:t>sortida</a:t>
          </a:r>
          <a:endParaRPr lang="en-US" sz="1900" kern="1200" dirty="0"/>
        </a:p>
      </dsp:txBody>
      <dsp:txXfrm>
        <a:off x="4353519" y="1596826"/>
        <a:ext cx="1305521" cy="8703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882AB1-2D3D-4D77-993A-6DF143680A67}">
      <dsp:nvSpPr>
        <dsp:cNvPr id="0" name=""/>
        <dsp:cNvSpPr/>
      </dsp:nvSpPr>
      <dsp:spPr>
        <a:xfrm>
          <a:off x="4468611" y="1340047"/>
          <a:ext cx="723107" cy="48207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Tipus de Dades</a:t>
          </a:r>
        </a:p>
      </dsp:txBody>
      <dsp:txXfrm>
        <a:off x="4482730" y="1354166"/>
        <a:ext cx="694869" cy="453833"/>
      </dsp:txXfrm>
    </dsp:sp>
    <dsp:sp modelId="{BB061304-1C84-4863-A557-754E8A9187A3}">
      <dsp:nvSpPr>
        <dsp:cNvPr id="0" name=""/>
        <dsp:cNvSpPr/>
      </dsp:nvSpPr>
      <dsp:spPr>
        <a:xfrm>
          <a:off x="2245056" y="1822119"/>
          <a:ext cx="2585108" cy="192828"/>
        </a:xfrm>
        <a:custGeom>
          <a:avLst/>
          <a:gdLst/>
          <a:ahLst/>
          <a:cxnLst/>
          <a:rect l="0" t="0" r="0" b="0"/>
          <a:pathLst>
            <a:path>
              <a:moveTo>
                <a:pt x="2585108" y="0"/>
              </a:moveTo>
              <a:lnTo>
                <a:pt x="2585108" y="96414"/>
              </a:lnTo>
              <a:lnTo>
                <a:pt x="0" y="96414"/>
              </a:lnTo>
              <a:lnTo>
                <a:pt x="0" y="1928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3F0B62-A5AB-489D-B1CE-7D618416355B}">
      <dsp:nvSpPr>
        <dsp:cNvPr id="0" name=""/>
        <dsp:cNvSpPr/>
      </dsp:nvSpPr>
      <dsp:spPr>
        <a:xfrm>
          <a:off x="1883503" y="2014947"/>
          <a:ext cx="723107" cy="4820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Numèrics</a:t>
          </a:r>
        </a:p>
      </dsp:txBody>
      <dsp:txXfrm>
        <a:off x="1897622" y="2029066"/>
        <a:ext cx="694869" cy="453833"/>
      </dsp:txXfrm>
    </dsp:sp>
    <dsp:sp modelId="{3D765B14-3251-430B-BE67-951E467FFF87}">
      <dsp:nvSpPr>
        <dsp:cNvPr id="0" name=""/>
        <dsp:cNvSpPr/>
      </dsp:nvSpPr>
      <dsp:spPr>
        <a:xfrm>
          <a:off x="364977" y="2497019"/>
          <a:ext cx="1880079" cy="192828"/>
        </a:xfrm>
        <a:custGeom>
          <a:avLst/>
          <a:gdLst/>
          <a:ahLst/>
          <a:cxnLst/>
          <a:rect l="0" t="0" r="0" b="0"/>
          <a:pathLst>
            <a:path>
              <a:moveTo>
                <a:pt x="1880079" y="0"/>
              </a:moveTo>
              <a:lnTo>
                <a:pt x="1880079" y="96414"/>
              </a:lnTo>
              <a:lnTo>
                <a:pt x="0" y="96414"/>
              </a:lnTo>
              <a:lnTo>
                <a:pt x="0"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E48F45-F53F-4E69-B2B0-4AABB4F4E4B4}">
      <dsp:nvSpPr>
        <dsp:cNvPr id="0" name=""/>
        <dsp:cNvSpPr/>
      </dsp:nvSpPr>
      <dsp:spPr>
        <a:xfrm>
          <a:off x="3424"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Short</a:t>
          </a:r>
        </a:p>
      </dsp:txBody>
      <dsp:txXfrm>
        <a:off x="17543" y="2703966"/>
        <a:ext cx="694869" cy="453833"/>
      </dsp:txXfrm>
    </dsp:sp>
    <dsp:sp modelId="{0CF24EFC-A07D-41B5-B0B0-A2B18AF310B8}">
      <dsp:nvSpPr>
        <dsp:cNvPr id="0" name=""/>
        <dsp:cNvSpPr/>
      </dsp:nvSpPr>
      <dsp:spPr>
        <a:xfrm>
          <a:off x="1305017" y="2497019"/>
          <a:ext cx="940039" cy="192828"/>
        </a:xfrm>
        <a:custGeom>
          <a:avLst/>
          <a:gdLst/>
          <a:ahLst/>
          <a:cxnLst/>
          <a:rect l="0" t="0" r="0" b="0"/>
          <a:pathLst>
            <a:path>
              <a:moveTo>
                <a:pt x="940039" y="0"/>
              </a:moveTo>
              <a:lnTo>
                <a:pt x="940039" y="96414"/>
              </a:lnTo>
              <a:lnTo>
                <a:pt x="0" y="96414"/>
              </a:lnTo>
              <a:lnTo>
                <a:pt x="0"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941405-D98A-4D5F-8E0E-18DB5D8FB909}">
      <dsp:nvSpPr>
        <dsp:cNvPr id="0" name=""/>
        <dsp:cNvSpPr/>
      </dsp:nvSpPr>
      <dsp:spPr>
        <a:xfrm>
          <a:off x="943463"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Enters</a:t>
          </a:r>
        </a:p>
        <a:p>
          <a:pPr marL="0" lvl="0" indent="0" algn="ctr" defTabSz="400050">
            <a:lnSpc>
              <a:spcPct val="90000"/>
            </a:lnSpc>
            <a:spcBef>
              <a:spcPct val="0"/>
            </a:spcBef>
            <a:spcAft>
              <a:spcPct val="35000"/>
            </a:spcAft>
            <a:buNone/>
          </a:pPr>
          <a:r>
            <a:rPr lang="ca-ES" sz="900" kern="1200" noProof="1"/>
            <a:t>-2,0,2</a:t>
          </a:r>
        </a:p>
      </dsp:txBody>
      <dsp:txXfrm>
        <a:off x="957582" y="2703966"/>
        <a:ext cx="694869" cy="453833"/>
      </dsp:txXfrm>
    </dsp:sp>
    <dsp:sp modelId="{A0043847-DC27-4853-8D06-3C4BAB4237B5}">
      <dsp:nvSpPr>
        <dsp:cNvPr id="0" name=""/>
        <dsp:cNvSpPr/>
      </dsp:nvSpPr>
      <dsp:spPr>
        <a:xfrm>
          <a:off x="2199336" y="2497019"/>
          <a:ext cx="91440" cy="192828"/>
        </a:xfrm>
        <a:custGeom>
          <a:avLst/>
          <a:gdLst/>
          <a:ahLst/>
          <a:cxnLst/>
          <a:rect l="0" t="0" r="0" b="0"/>
          <a:pathLst>
            <a:path>
              <a:moveTo>
                <a:pt x="45720" y="0"/>
              </a:moveTo>
              <a:lnTo>
                <a:pt x="45720"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C81AFC-F7F3-4008-AA50-0D645C3F5894}">
      <dsp:nvSpPr>
        <dsp:cNvPr id="0" name=""/>
        <dsp:cNvSpPr/>
      </dsp:nvSpPr>
      <dsp:spPr>
        <a:xfrm>
          <a:off x="1883503"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Long</a:t>
          </a:r>
        </a:p>
      </dsp:txBody>
      <dsp:txXfrm>
        <a:off x="1897622" y="2703966"/>
        <a:ext cx="694869" cy="453833"/>
      </dsp:txXfrm>
    </dsp:sp>
    <dsp:sp modelId="{B9BD0B1E-169D-4B41-8957-F3D476E68025}">
      <dsp:nvSpPr>
        <dsp:cNvPr id="0" name=""/>
        <dsp:cNvSpPr/>
      </dsp:nvSpPr>
      <dsp:spPr>
        <a:xfrm>
          <a:off x="2245056" y="2497019"/>
          <a:ext cx="940039" cy="192828"/>
        </a:xfrm>
        <a:custGeom>
          <a:avLst/>
          <a:gdLst/>
          <a:ahLst/>
          <a:cxnLst/>
          <a:rect l="0" t="0" r="0" b="0"/>
          <a:pathLst>
            <a:path>
              <a:moveTo>
                <a:pt x="0" y="0"/>
              </a:moveTo>
              <a:lnTo>
                <a:pt x="0" y="96414"/>
              </a:lnTo>
              <a:lnTo>
                <a:pt x="940039" y="96414"/>
              </a:lnTo>
              <a:lnTo>
                <a:pt x="940039"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3D581C-A536-4A46-BE81-3C036F829FC8}">
      <dsp:nvSpPr>
        <dsp:cNvPr id="0" name=""/>
        <dsp:cNvSpPr/>
      </dsp:nvSpPr>
      <dsp:spPr>
        <a:xfrm>
          <a:off x="2823542"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Reals</a:t>
          </a:r>
        </a:p>
        <a:p>
          <a:pPr marL="0" lvl="0" indent="0" algn="ctr" defTabSz="400050">
            <a:lnSpc>
              <a:spcPct val="90000"/>
            </a:lnSpc>
            <a:spcBef>
              <a:spcPct val="0"/>
            </a:spcBef>
            <a:spcAft>
              <a:spcPct val="35000"/>
            </a:spcAft>
            <a:buNone/>
          </a:pPr>
          <a:r>
            <a:rPr lang="ca-ES" sz="900" kern="1200" noProof="1"/>
            <a:t>-2.3,0,45</a:t>
          </a:r>
        </a:p>
      </dsp:txBody>
      <dsp:txXfrm>
        <a:off x="2837661" y="2703966"/>
        <a:ext cx="694869" cy="453833"/>
      </dsp:txXfrm>
    </dsp:sp>
    <dsp:sp modelId="{1984DD03-CB26-45D1-B457-F97622A31181}">
      <dsp:nvSpPr>
        <dsp:cNvPr id="0" name=""/>
        <dsp:cNvSpPr/>
      </dsp:nvSpPr>
      <dsp:spPr>
        <a:xfrm>
          <a:off x="2245056" y="2497019"/>
          <a:ext cx="1880079" cy="192828"/>
        </a:xfrm>
        <a:custGeom>
          <a:avLst/>
          <a:gdLst/>
          <a:ahLst/>
          <a:cxnLst/>
          <a:rect l="0" t="0" r="0" b="0"/>
          <a:pathLst>
            <a:path>
              <a:moveTo>
                <a:pt x="0" y="0"/>
              </a:moveTo>
              <a:lnTo>
                <a:pt x="0" y="96414"/>
              </a:lnTo>
              <a:lnTo>
                <a:pt x="1880079" y="96414"/>
              </a:lnTo>
              <a:lnTo>
                <a:pt x="1880079"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EDE230-4802-4D1C-9646-79364809A93A}">
      <dsp:nvSpPr>
        <dsp:cNvPr id="0" name=""/>
        <dsp:cNvSpPr/>
      </dsp:nvSpPr>
      <dsp:spPr>
        <a:xfrm>
          <a:off x="3763582"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Double</a:t>
          </a:r>
        </a:p>
      </dsp:txBody>
      <dsp:txXfrm>
        <a:off x="3777701" y="2703966"/>
        <a:ext cx="694869" cy="453833"/>
      </dsp:txXfrm>
    </dsp:sp>
    <dsp:sp modelId="{BF8F207C-B995-4E6C-A596-15279B647632}">
      <dsp:nvSpPr>
        <dsp:cNvPr id="0" name=""/>
        <dsp:cNvSpPr/>
      </dsp:nvSpPr>
      <dsp:spPr>
        <a:xfrm>
          <a:off x="4830165" y="1822119"/>
          <a:ext cx="705029" cy="192828"/>
        </a:xfrm>
        <a:custGeom>
          <a:avLst/>
          <a:gdLst/>
          <a:ahLst/>
          <a:cxnLst/>
          <a:rect l="0" t="0" r="0" b="0"/>
          <a:pathLst>
            <a:path>
              <a:moveTo>
                <a:pt x="0" y="0"/>
              </a:moveTo>
              <a:lnTo>
                <a:pt x="0" y="96414"/>
              </a:lnTo>
              <a:lnTo>
                <a:pt x="705029" y="96414"/>
              </a:lnTo>
              <a:lnTo>
                <a:pt x="705029" y="1928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2841CF-1327-4C4F-80E7-E836BAB72E9E}">
      <dsp:nvSpPr>
        <dsp:cNvPr id="0" name=""/>
        <dsp:cNvSpPr/>
      </dsp:nvSpPr>
      <dsp:spPr>
        <a:xfrm>
          <a:off x="5173641" y="2014947"/>
          <a:ext cx="723107" cy="4820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Text</a:t>
          </a:r>
        </a:p>
      </dsp:txBody>
      <dsp:txXfrm>
        <a:off x="5187760" y="2029066"/>
        <a:ext cx="694869" cy="453833"/>
      </dsp:txXfrm>
    </dsp:sp>
    <dsp:sp modelId="{3F05C8B9-D31C-48E2-8F03-13E9A588CC23}">
      <dsp:nvSpPr>
        <dsp:cNvPr id="0" name=""/>
        <dsp:cNvSpPr/>
      </dsp:nvSpPr>
      <dsp:spPr>
        <a:xfrm>
          <a:off x="5065175" y="2497019"/>
          <a:ext cx="470019" cy="192828"/>
        </a:xfrm>
        <a:custGeom>
          <a:avLst/>
          <a:gdLst/>
          <a:ahLst/>
          <a:cxnLst/>
          <a:rect l="0" t="0" r="0" b="0"/>
          <a:pathLst>
            <a:path>
              <a:moveTo>
                <a:pt x="470019" y="0"/>
              </a:moveTo>
              <a:lnTo>
                <a:pt x="470019" y="96414"/>
              </a:lnTo>
              <a:lnTo>
                <a:pt x="0" y="96414"/>
              </a:lnTo>
              <a:lnTo>
                <a:pt x="0"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25138B-A1D5-410B-AF57-81C01A1C21BC}">
      <dsp:nvSpPr>
        <dsp:cNvPr id="0" name=""/>
        <dsp:cNvSpPr/>
      </dsp:nvSpPr>
      <dsp:spPr>
        <a:xfrm>
          <a:off x="4703621"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Caràcters</a:t>
          </a:r>
        </a:p>
        <a:p>
          <a:pPr marL="0" lvl="0" indent="0" algn="ctr" defTabSz="400050">
            <a:lnSpc>
              <a:spcPct val="90000"/>
            </a:lnSpc>
            <a:spcBef>
              <a:spcPct val="0"/>
            </a:spcBef>
            <a:spcAft>
              <a:spcPct val="35000"/>
            </a:spcAft>
            <a:buNone/>
          </a:pPr>
          <a:r>
            <a:rPr lang="ca-ES" sz="900" kern="1200" noProof="1"/>
            <a:t>‘a’</a:t>
          </a:r>
        </a:p>
      </dsp:txBody>
      <dsp:txXfrm>
        <a:off x="4717740" y="2703966"/>
        <a:ext cx="694869" cy="453833"/>
      </dsp:txXfrm>
    </dsp:sp>
    <dsp:sp modelId="{F7C80362-A1F5-4263-BBEB-F29FAA5E8C0F}">
      <dsp:nvSpPr>
        <dsp:cNvPr id="0" name=""/>
        <dsp:cNvSpPr/>
      </dsp:nvSpPr>
      <dsp:spPr>
        <a:xfrm>
          <a:off x="5535195" y="2497019"/>
          <a:ext cx="470019" cy="192828"/>
        </a:xfrm>
        <a:custGeom>
          <a:avLst/>
          <a:gdLst/>
          <a:ahLst/>
          <a:cxnLst/>
          <a:rect l="0" t="0" r="0" b="0"/>
          <a:pathLst>
            <a:path>
              <a:moveTo>
                <a:pt x="0" y="0"/>
              </a:moveTo>
              <a:lnTo>
                <a:pt x="0" y="96414"/>
              </a:lnTo>
              <a:lnTo>
                <a:pt x="470019" y="96414"/>
              </a:lnTo>
              <a:lnTo>
                <a:pt x="470019"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0B273-C936-4D59-BD88-E9D1F94AFC4C}">
      <dsp:nvSpPr>
        <dsp:cNvPr id="0" name=""/>
        <dsp:cNvSpPr/>
      </dsp:nvSpPr>
      <dsp:spPr>
        <a:xfrm>
          <a:off x="5643661"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Cadenes</a:t>
          </a:r>
        </a:p>
        <a:p>
          <a:pPr marL="0" lvl="0" indent="0" algn="ctr" defTabSz="400050">
            <a:lnSpc>
              <a:spcPct val="90000"/>
            </a:lnSpc>
            <a:spcBef>
              <a:spcPct val="0"/>
            </a:spcBef>
            <a:spcAft>
              <a:spcPct val="35000"/>
            </a:spcAft>
            <a:buNone/>
          </a:pPr>
          <a:r>
            <a:rPr lang="ca-ES" sz="900" kern="1200" noProof="1"/>
            <a:t>“hola”</a:t>
          </a:r>
        </a:p>
      </dsp:txBody>
      <dsp:txXfrm>
        <a:off x="5657780" y="2703966"/>
        <a:ext cx="694869" cy="453833"/>
      </dsp:txXfrm>
    </dsp:sp>
    <dsp:sp modelId="{D263D2D6-ECFC-46BE-9E7B-78EBF63A0BC3}">
      <dsp:nvSpPr>
        <dsp:cNvPr id="0" name=""/>
        <dsp:cNvSpPr/>
      </dsp:nvSpPr>
      <dsp:spPr>
        <a:xfrm>
          <a:off x="4830165" y="1822119"/>
          <a:ext cx="1645069" cy="192828"/>
        </a:xfrm>
        <a:custGeom>
          <a:avLst/>
          <a:gdLst/>
          <a:ahLst/>
          <a:cxnLst/>
          <a:rect l="0" t="0" r="0" b="0"/>
          <a:pathLst>
            <a:path>
              <a:moveTo>
                <a:pt x="0" y="0"/>
              </a:moveTo>
              <a:lnTo>
                <a:pt x="0" y="96414"/>
              </a:lnTo>
              <a:lnTo>
                <a:pt x="1645069" y="96414"/>
              </a:lnTo>
              <a:lnTo>
                <a:pt x="1645069" y="1928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3E1B43-BA93-4B71-AA03-498748B5560B}">
      <dsp:nvSpPr>
        <dsp:cNvPr id="0" name=""/>
        <dsp:cNvSpPr/>
      </dsp:nvSpPr>
      <dsp:spPr>
        <a:xfrm>
          <a:off x="6113681" y="2014947"/>
          <a:ext cx="723107" cy="4820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Lògics</a:t>
          </a:r>
        </a:p>
        <a:p>
          <a:pPr marL="0" lvl="0" indent="0" algn="ctr" defTabSz="400050">
            <a:lnSpc>
              <a:spcPct val="90000"/>
            </a:lnSpc>
            <a:spcBef>
              <a:spcPct val="0"/>
            </a:spcBef>
            <a:spcAft>
              <a:spcPct val="35000"/>
            </a:spcAft>
            <a:buNone/>
          </a:pPr>
          <a:r>
            <a:rPr lang="ca-ES" sz="900" kern="1200" noProof="1"/>
            <a:t>true, false</a:t>
          </a:r>
        </a:p>
      </dsp:txBody>
      <dsp:txXfrm>
        <a:off x="6127800" y="2029066"/>
        <a:ext cx="694869" cy="453833"/>
      </dsp:txXfrm>
    </dsp:sp>
    <dsp:sp modelId="{A359578D-4E4F-4B7F-B7CE-888DC02BE8D5}">
      <dsp:nvSpPr>
        <dsp:cNvPr id="0" name=""/>
        <dsp:cNvSpPr/>
      </dsp:nvSpPr>
      <dsp:spPr>
        <a:xfrm>
          <a:off x="4830165" y="1822119"/>
          <a:ext cx="2585108" cy="192828"/>
        </a:xfrm>
        <a:custGeom>
          <a:avLst/>
          <a:gdLst/>
          <a:ahLst/>
          <a:cxnLst/>
          <a:rect l="0" t="0" r="0" b="0"/>
          <a:pathLst>
            <a:path>
              <a:moveTo>
                <a:pt x="0" y="0"/>
              </a:moveTo>
              <a:lnTo>
                <a:pt x="0" y="96414"/>
              </a:lnTo>
              <a:lnTo>
                <a:pt x="2585108" y="96414"/>
              </a:lnTo>
              <a:lnTo>
                <a:pt x="2585108" y="1928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077177-0DDB-477A-8DAC-98677CBB6C87}">
      <dsp:nvSpPr>
        <dsp:cNvPr id="0" name=""/>
        <dsp:cNvSpPr/>
      </dsp:nvSpPr>
      <dsp:spPr>
        <a:xfrm>
          <a:off x="7053720" y="2014947"/>
          <a:ext cx="723107" cy="48207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Estructurats</a:t>
          </a:r>
        </a:p>
      </dsp:txBody>
      <dsp:txXfrm>
        <a:off x="7067839" y="2029066"/>
        <a:ext cx="694869" cy="453833"/>
      </dsp:txXfrm>
    </dsp:sp>
    <dsp:sp modelId="{52F9DC21-35B8-4F54-853B-F761AED4E4DC}">
      <dsp:nvSpPr>
        <dsp:cNvPr id="0" name=""/>
        <dsp:cNvSpPr/>
      </dsp:nvSpPr>
      <dsp:spPr>
        <a:xfrm>
          <a:off x="6945254" y="2497019"/>
          <a:ext cx="470019" cy="192828"/>
        </a:xfrm>
        <a:custGeom>
          <a:avLst/>
          <a:gdLst/>
          <a:ahLst/>
          <a:cxnLst/>
          <a:rect l="0" t="0" r="0" b="0"/>
          <a:pathLst>
            <a:path>
              <a:moveTo>
                <a:pt x="470019" y="0"/>
              </a:moveTo>
              <a:lnTo>
                <a:pt x="470019" y="96414"/>
              </a:lnTo>
              <a:lnTo>
                <a:pt x="0" y="96414"/>
              </a:lnTo>
              <a:lnTo>
                <a:pt x="0"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21A30-C5CC-4EBF-81D6-A0F02399AB90}">
      <dsp:nvSpPr>
        <dsp:cNvPr id="0" name=""/>
        <dsp:cNvSpPr/>
      </dsp:nvSpPr>
      <dsp:spPr>
        <a:xfrm>
          <a:off x="6583700"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Vectors</a:t>
          </a:r>
        </a:p>
      </dsp:txBody>
      <dsp:txXfrm>
        <a:off x="6597819" y="2703966"/>
        <a:ext cx="694869" cy="453833"/>
      </dsp:txXfrm>
    </dsp:sp>
    <dsp:sp modelId="{D2E128F8-E5CF-4A75-8ECA-59E732C7EAD0}">
      <dsp:nvSpPr>
        <dsp:cNvPr id="0" name=""/>
        <dsp:cNvSpPr/>
      </dsp:nvSpPr>
      <dsp:spPr>
        <a:xfrm>
          <a:off x="7415274" y="2497019"/>
          <a:ext cx="470019" cy="192828"/>
        </a:xfrm>
        <a:custGeom>
          <a:avLst/>
          <a:gdLst/>
          <a:ahLst/>
          <a:cxnLst/>
          <a:rect l="0" t="0" r="0" b="0"/>
          <a:pathLst>
            <a:path>
              <a:moveTo>
                <a:pt x="0" y="0"/>
              </a:moveTo>
              <a:lnTo>
                <a:pt x="0" y="96414"/>
              </a:lnTo>
              <a:lnTo>
                <a:pt x="470019" y="96414"/>
              </a:lnTo>
              <a:lnTo>
                <a:pt x="470019" y="1928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FA438F-D40A-4FE4-9FF0-41B1D71B9F99}">
      <dsp:nvSpPr>
        <dsp:cNvPr id="0" name=""/>
        <dsp:cNvSpPr/>
      </dsp:nvSpPr>
      <dsp:spPr>
        <a:xfrm>
          <a:off x="7523740" y="2689847"/>
          <a:ext cx="723107" cy="4820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ca-ES" sz="900" kern="1200" noProof="1"/>
            <a:t>Estructures</a:t>
          </a:r>
        </a:p>
      </dsp:txBody>
      <dsp:txXfrm>
        <a:off x="7537859" y="2703966"/>
        <a:ext cx="694869" cy="45383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579AEE-5A53-4BDF-AC75-20D37C393BA1}" type="datetimeFigureOut">
              <a:rPr lang="es-ES" smtClean="0"/>
              <a:t>13/09/2024</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26E63-F8C8-45F6-9F40-58950B1A69AF}" type="slidenum">
              <a:rPr lang="es-ES" smtClean="0"/>
              <a:t>‹Nº›</a:t>
            </a:fld>
            <a:endParaRPr lang="es-ES"/>
          </a:p>
        </p:txBody>
      </p:sp>
    </p:spTree>
    <p:extLst>
      <p:ext uri="{BB962C8B-B14F-4D97-AF65-F5344CB8AC3E}">
        <p14:creationId xmlns:p14="http://schemas.microsoft.com/office/powerpoint/2010/main" val="1948294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72273"/>
            <a:ext cx="7772400" cy="2387600"/>
          </a:xfrm>
        </p:spPr>
        <p:txBody>
          <a:bodyPr anchor="ctr" anchorCtr="0"/>
          <a:lstStyle>
            <a:lvl1pPr algn="ctr">
              <a:defRPr sz="6000">
                <a:solidFill>
                  <a:srgbClr val="15225D"/>
                </a:solidFill>
                <a:latin typeface="Arial Rounded MT Bold" panose="020F07040305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2025218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20737"/>
          </a:xfrm>
        </p:spPr>
        <p:txBody>
          <a:bodyPr/>
          <a:lstStyle>
            <a:lvl1pPr>
              <a:defRPr b="1">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628650" y="1385888"/>
            <a:ext cx="7886700" cy="4791075"/>
          </a:xfrm>
        </p:spPr>
        <p:txBody>
          <a:bodyPr>
            <a:normAutofit/>
          </a:bodyPr>
          <a:lstStyle>
            <a:lvl1pPr>
              <a:lnSpc>
                <a:spcPct val="100000"/>
              </a:lnSpc>
              <a:defRPr sz="2400">
                <a:latin typeface="Verdana" panose="020B0604030504040204" pitchFamily="34" charset="0"/>
                <a:ea typeface="Verdana" panose="020B0604030504040204" pitchFamily="34" charset="0"/>
                <a:cs typeface="Verdana" panose="020B0604030504040204" pitchFamily="34" charset="0"/>
              </a:defRPr>
            </a:lvl1pPr>
            <a:lvl2pPr>
              <a:lnSpc>
                <a:spcPct val="100000"/>
              </a:lnSpc>
              <a:defRPr sz="2000">
                <a:latin typeface="Verdana" panose="020B0604030504040204" pitchFamily="34" charset="0"/>
                <a:ea typeface="Verdana" panose="020B0604030504040204" pitchFamily="34" charset="0"/>
                <a:cs typeface="Verdana" panose="020B0604030504040204" pitchFamily="34" charset="0"/>
              </a:defRPr>
            </a:lvl2pPr>
            <a:lvl3pPr>
              <a:lnSpc>
                <a:spcPct val="100000"/>
              </a:lnSpc>
              <a:defRPr sz="1800">
                <a:latin typeface="Verdana" panose="020B0604030504040204" pitchFamily="34" charset="0"/>
                <a:ea typeface="Verdana" panose="020B0604030504040204" pitchFamily="34" charset="0"/>
                <a:cs typeface="Verdana" panose="020B0604030504040204" pitchFamily="34" charset="0"/>
              </a:defRPr>
            </a:lvl3pPr>
            <a:lvl4pPr>
              <a:lnSpc>
                <a:spcPct val="100000"/>
              </a:lnSpc>
              <a:defRPr sz="1600">
                <a:latin typeface="Verdana" panose="020B0604030504040204" pitchFamily="34" charset="0"/>
                <a:ea typeface="Verdana" panose="020B0604030504040204" pitchFamily="34" charset="0"/>
                <a:cs typeface="Verdana" panose="020B0604030504040204" pitchFamily="34" charset="0"/>
              </a:defRPr>
            </a:lvl4pPr>
            <a:lvl5pPr>
              <a:lnSpc>
                <a:spcPct val="100000"/>
              </a:lnSpc>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1743702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1950" y="145270"/>
            <a:ext cx="8534400" cy="462425"/>
          </a:xfrm>
        </p:spPr>
        <p:txBody>
          <a:bodyPr>
            <a:normAutofit/>
          </a:bodyPr>
          <a:lstStyle>
            <a:lvl1pPr>
              <a:defRPr sz="2400" b="1">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69332" y="749230"/>
            <a:ext cx="8534401" cy="5872184"/>
          </a:xfrm>
        </p:spPr>
        <p:txBody>
          <a:bodyPr>
            <a:normAutofit/>
          </a:bodyPr>
          <a:lstStyle>
            <a:lvl1pPr>
              <a:lnSpc>
                <a:spcPct val="100000"/>
              </a:lnSpc>
              <a:spcBef>
                <a:spcPts val="0"/>
              </a:spcBef>
              <a:defRPr sz="1600">
                <a:latin typeface="Verdana" panose="020B0604030504040204" pitchFamily="34" charset="0"/>
                <a:ea typeface="Verdana" panose="020B0604030504040204" pitchFamily="34" charset="0"/>
                <a:cs typeface="Verdana" panose="020B0604030504040204" pitchFamily="34" charset="0"/>
              </a:defRPr>
            </a:lvl1pPr>
            <a:lvl2pPr>
              <a:lnSpc>
                <a:spcPct val="100000"/>
              </a:lnSpc>
              <a:defRPr sz="1400">
                <a:latin typeface="Verdana" panose="020B0604030504040204" pitchFamily="34" charset="0"/>
                <a:ea typeface="Verdana" panose="020B0604030504040204" pitchFamily="34" charset="0"/>
                <a:cs typeface="Verdana" panose="020B0604030504040204" pitchFamily="34" charset="0"/>
              </a:defRPr>
            </a:lvl2pPr>
            <a:lvl3pPr>
              <a:lnSpc>
                <a:spcPct val="100000"/>
              </a:lnSpc>
              <a:defRPr sz="1200">
                <a:latin typeface="Verdana" panose="020B0604030504040204" pitchFamily="34" charset="0"/>
                <a:ea typeface="Verdana" panose="020B0604030504040204" pitchFamily="34" charset="0"/>
                <a:cs typeface="Verdana" panose="020B0604030504040204" pitchFamily="34" charset="0"/>
              </a:defRPr>
            </a:lvl3pPr>
            <a:lvl4pPr>
              <a:lnSpc>
                <a:spcPct val="100000"/>
              </a:lnSpc>
              <a:defRPr sz="1100">
                <a:latin typeface="Verdana" panose="020B0604030504040204" pitchFamily="34" charset="0"/>
                <a:ea typeface="Verdana" panose="020B0604030504040204" pitchFamily="34" charset="0"/>
                <a:cs typeface="Verdana" panose="020B0604030504040204" pitchFamily="34" charset="0"/>
              </a:defRPr>
            </a:lvl4pPr>
            <a:lvl5pPr>
              <a:lnSpc>
                <a:spcPct val="100000"/>
              </a:lnSpc>
              <a:defRPr sz="11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ángulo 6"/>
          <p:cNvSpPr/>
          <p:nvPr userDrawn="1"/>
        </p:nvSpPr>
        <p:spPr>
          <a:xfrm>
            <a:off x="0" y="0"/>
            <a:ext cx="204716" cy="6858000"/>
          </a:xfrm>
          <a:prstGeom prst="rect">
            <a:avLst/>
          </a:prstGeom>
          <a:solidFill>
            <a:schemeClr val="accent1"/>
          </a:solidFill>
          <a:ln>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p:cNvSpPr txBox="1"/>
          <p:nvPr userDrawn="1"/>
        </p:nvSpPr>
        <p:spPr>
          <a:xfrm rot="16200000">
            <a:off x="-673295" y="5897681"/>
            <a:ext cx="1551306" cy="369332"/>
          </a:xfrm>
          <a:prstGeom prst="rect">
            <a:avLst/>
          </a:prstGeom>
          <a:noFill/>
        </p:spPr>
        <p:txBody>
          <a:bodyPr wrap="square" rtlCol="0">
            <a:spAutoFit/>
          </a:bodyPr>
          <a:lstStyle/>
          <a:p>
            <a:r>
              <a:rPr lang="es-ES" dirty="0" err="1">
                <a:solidFill>
                  <a:schemeClr val="bg1"/>
                </a:solidFill>
              </a:rPr>
              <a:t>Enunciat</a:t>
            </a:r>
            <a:endParaRPr lang="es-ES" dirty="0">
              <a:solidFill>
                <a:schemeClr val="bg1"/>
              </a:solidFill>
            </a:endParaRPr>
          </a:p>
        </p:txBody>
      </p:sp>
    </p:spTree>
    <p:extLst>
      <p:ext uri="{BB962C8B-B14F-4D97-AF65-F5344CB8AC3E}">
        <p14:creationId xmlns:p14="http://schemas.microsoft.com/office/powerpoint/2010/main" val="3077840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0806" y="161731"/>
            <a:ext cx="8475544" cy="368489"/>
          </a:xfrm>
        </p:spPr>
        <p:txBody>
          <a:bodyPr>
            <a:noAutofit/>
          </a:bodyPr>
          <a:lstStyle>
            <a:lvl1pPr>
              <a:defRPr sz="2400" b="1">
                <a:solidFill>
                  <a:srgbClr val="002060"/>
                </a:solidFill>
              </a:defRPr>
            </a:lvl1pPr>
          </a:lstStyle>
          <a:p>
            <a:r>
              <a:rPr lang="en-US" dirty="0"/>
              <a:t>Click to edit Master title style</a:t>
            </a:r>
          </a:p>
        </p:txBody>
      </p:sp>
      <p:sp>
        <p:nvSpPr>
          <p:cNvPr id="7" name="Rectángulo 6"/>
          <p:cNvSpPr/>
          <p:nvPr userDrawn="1"/>
        </p:nvSpPr>
        <p:spPr>
          <a:xfrm>
            <a:off x="0" y="0"/>
            <a:ext cx="204716" cy="6858000"/>
          </a:xfrm>
          <a:prstGeom prst="rect">
            <a:avLst/>
          </a:prstGeom>
          <a:solidFill>
            <a:srgbClr val="EF7600"/>
          </a:solidFill>
          <a:ln>
            <a:solidFill>
              <a:srgbClr val="EF7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p:cNvSpPr txBox="1"/>
          <p:nvPr userDrawn="1"/>
        </p:nvSpPr>
        <p:spPr>
          <a:xfrm rot="16200000">
            <a:off x="-381711" y="6204654"/>
            <a:ext cx="968138" cy="338554"/>
          </a:xfrm>
          <a:prstGeom prst="rect">
            <a:avLst/>
          </a:prstGeom>
          <a:noFill/>
        </p:spPr>
        <p:txBody>
          <a:bodyPr wrap="square" rtlCol="0">
            <a:spAutoFit/>
          </a:bodyPr>
          <a:lstStyle/>
          <a:p>
            <a:r>
              <a:rPr lang="es-ES" sz="1600" dirty="0" err="1">
                <a:solidFill>
                  <a:schemeClr val="bg1"/>
                </a:solidFill>
              </a:rPr>
              <a:t>Solucio</a:t>
            </a:r>
            <a:endParaRPr lang="es-ES" sz="1600" dirty="0">
              <a:solidFill>
                <a:schemeClr val="bg1"/>
              </a:solidFill>
            </a:endParaRPr>
          </a:p>
        </p:txBody>
      </p:sp>
      <p:sp>
        <p:nvSpPr>
          <p:cNvPr id="9" name="Content Placeholder 2">
            <a:extLst>
              <a:ext uri="{FF2B5EF4-FFF2-40B4-BE49-F238E27FC236}">
                <a16:creationId xmlns:a16="http://schemas.microsoft.com/office/drawing/2014/main" id="{683044DE-EA0F-48EA-9372-A565018F6387}"/>
              </a:ext>
            </a:extLst>
          </p:cNvPr>
          <p:cNvSpPr>
            <a:spLocks noGrp="1"/>
          </p:cNvSpPr>
          <p:nvPr>
            <p:ph idx="1" hasCustomPrompt="1"/>
          </p:nvPr>
        </p:nvSpPr>
        <p:spPr>
          <a:xfrm>
            <a:off x="420806" y="656837"/>
            <a:ext cx="8475544" cy="6022167"/>
          </a:xfrm>
          <a:ln>
            <a:solidFill>
              <a:schemeClr val="tx1"/>
            </a:solidFill>
            <a:prstDash val="lgDash"/>
          </a:ln>
        </p:spPr>
        <p:txBody>
          <a:bodyPr>
            <a:normAutofit/>
          </a:bodyPr>
          <a:lstStyle>
            <a:lvl1pPr marL="0" indent="0">
              <a:lnSpc>
                <a:spcPct val="100000"/>
              </a:lnSpc>
              <a:spcBef>
                <a:spcPts val="0"/>
              </a:spcBef>
              <a:buNone/>
              <a:defRPr sz="1400">
                <a:latin typeface="+mn-lt"/>
                <a:ea typeface="Verdana" panose="020B0604030504040204" pitchFamily="34" charset="0"/>
                <a:cs typeface="Verdana" panose="020B0604030504040204" pitchFamily="34" charset="0"/>
              </a:defRPr>
            </a:lvl1pPr>
            <a:lvl2pPr>
              <a:lnSpc>
                <a:spcPct val="100000"/>
              </a:lnSpc>
              <a:defRPr sz="2000">
                <a:latin typeface="Verdana" panose="020B0604030504040204" pitchFamily="34" charset="0"/>
                <a:ea typeface="Verdana" panose="020B0604030504040204" pitchFamily="34" charset="0"/>
                <a:cs typeface="Verdana" panose="020B0604030504040204" pitchFamily="34" charset="0"/>
              </a:defRPr>
            </a:lvl2pPr>
            <a:lvl3pPr>
              <a:lnSpc>
                <a:spcPct val="100000"/>
              </a:lnSpc>
              <a:defRPr sz="1800">
                <a:latin typeface="Verdana" panose="020B0604030504040204" pitchFamily="34" charset="0"/>
                <a:ea typeface="Verdana" panose="020B0604030504040204" pitchFamily="34" charset="0"/>
                <a:cs typeface="Verdana" panose="020B0604030504040204" pitchFamily="34" charset="0"/>
              </a:defRPr>
            </a:lvl3pPr>
            <a:lvl4pPr>
              <a:lnSpc>
                <a:spcPct val="100000"/>
              </a:lnSpc>
              <a:defRPr sz="1600">
                <a:latin typeface="Verdana" panose="020B0604030504040204" pitchFamily="34" charset="0"/>
                <a:ea typeface="Verdana" panose="020B0604030504040204" pitchFamily="34" charset="0"/>
                <a:cs typeface="Verdana" panose="020B0604030504040204" pitchFamily="34" charset="0"/>
              </a:defRPr>
            </a:lvl4pPr>
            <a:lvl5pPr>
              <a:lnSpc>
                <a:spcPct val="100000"/>
              </a:lnSpc>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Edit Master text styles</a:t>
            </a:r>
          </a:p>
        </p:txBody>
      </p:sp>
    </p:spTree>
    <p:extLst>
      <p:ext uri="{BB962C8B-B14F-4D97-AF65-F5344CB8AC3E}">
        <p14:creationId xmlns:p14="http://schemas.microsoft.com/office/powerpoint/2010/main" val="626204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1950" y="145270"/>
            <a:ext cx="8534400" cy="642130"/>
          </a:xfrm>
        </p:spPr>
        <p:txBody>
          <a:bodyPr>
            <a:noAutofit/>
          </a:bodyPr>
          <a:lstStyle>
            <a:lvl1pPr>
              <a:defRPr sz="4000" b="1">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69331" y="939800"/>
            <a:ext cx="8534401" cy="5661025"/>
          </a:xfrm>
        </p:spPr>
        <p:txBody>
          <a:bodyPr>
            <a:normAutofit/>
          </a:bodyPr>
          <a:lstStyle>
            <a:lvl1pPr>
              <a:lnSpc>
                <a:spcPct val="100000"/>
              </a:lnSpc>
              <a:defRPr sz="1600">
                <a:latin typeface="Verdana" panose="020B0604030504040204" pitchFamily="34" charset="0"/>
                <a:ea typeface="Verdana" panose="020B0604030504040204" pitchFamily="34" charset="0"/>
                <a:cs typeface="Verdana" panose="020B0604030504040204" pitchFamily="34" charset="0"/>
              </a:defRPr>
            </a:lvl1pPr>
            <a:lvl2pPr>
              <a:lnSpc>
                <a:spcPct val="100000"/>
              </a:lnSpc>
              <a:defRPr sz="1400">
                <a:latin typeface="Verdana" panose="020B0604030504040204" pitchFamily="34" charset="0"/>
                <a:ea typeface="Verdana" panose="020B0604030504040204" pitchFamily="34" charset="0"/>
                <a:cs typeface="Verdana" panose="020B0604030504040204" pitchFamily="34" charset="0"/>
              </a:defRPr>
            </a:lvl2pPr>
            <a:lvl3pPr>
              <a:lnSpc>
                <a:spcPct val="100000"/>
              </a:lnSpc>
              <a:defRPr sz="1200">
                <a:latin typeface="Verdana" panose="020B0604030504040204" pitchFamily="34" charset="0"/>
                <a:ea typeface="Verdana" panose="020B0604030504040204" pitchFamily="34" charset="0"/>
                <a:cs typeface="Verdana" panose="020B0604030504040204" pitchFamily="34" charset="0"/>
              </a:defRPr>
            </a:lvl3pPr>
            <a:lvl4pPr>
              <a:lnSpc>
                <a:spcPct val="100000"/>
              </a:lnSpc>
              <a:defRPr sz="1100">
                <a:latin typeface="Verdana" panose="020B0604030504040204" pitchFamily="34" charset="0"/>
                <a:ea typeface="Verdana" panose="020B0604030504040204" pitchFamily="34" charset="0"/>
                <a:cs typeface="Verdana" panose="020B0604030504040204" pitchFamily="34" charset="0"/>
              </a:defRPr>
            </a:lvl4pPr>
            <a:lvl5pPr>
              <a:lnSpc>
                <a:spcPct val="100000"/>
              </a:lnSpc>
              <a:defRPr sz="11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ángulo 6"/>
          <p:cNvSpPr/>
          <p:nvPr userDrawn="1"/>
        </p:nvSpPr>
        <p:spPr>
          <a:xfrm>
            <a:off x="0" y="0"/>
            <a:ext cx="204716" cy="6858000"/>
          </a:xfrm>
          <a:prstGeom prst="rect">
            <a:avLst/>
          </a:prstGeom>
          <a:solidFill>
            <a:schemeClr val="accent6">
              <a:lumMod val="75000"/>
            </a:schemeClr>
          </a:solidFill>
          <a:ln>
            <a:solidFill>
              <a:schemeClr val="accent6">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p:cNvSpPr txBox="1"/>
          <p:nvPr userDrawn="1"/>
        </p:nvSpPr>
        <p:spPr>
          <a:xfrm rot="16200000">
            <a:off x="-673295" y="5897681"/>
            <a:ext cx="1551306" cy="369332"/>
          </a:xfrm>
          <a:prstGeom prst="rect">
            <a:avLst/>
          </a:prstGeom>
          <a:noFill/>
        </p:spPr>
        <p:txBody>
          <a:bodyPr wrap="square" rtlCol="0">
            <a:spAutoFit/>
          </a:bodyPr>
          <a:lstStyle/>
          <a:p>
            <a:r>
              <a:rPr lang="es-ES" dirty="0" err="1">
                <a:solidFill>
                  <a:schemeClr val="bg1"/>
                </a:solidFill>
              </a:rPr>
              <a:t>Teoria</a:t>
            </a:r>
            <a:endParaRPr lang="es-ES" dirty="0">
              <a:solidFill>
                <a:schemeClr val="bg1"/>
              </a:solidFill>
            </a:endParaRPr>
          </a:p>
        </p:txBody>
      </p:sp>
    </p:spTree>
    <p:extLst>
      <p:ext uri="{BB962C8B-B14F-4D97-AF65-F5344CB8AC3E}">
        <p14:creationId xmlns:p14="http://schemas.microsoft.com/office/powerpoint/2010/main" val="3680511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1950" y="145270"/>
            <a:ext cx="8534400" cy="462425"/>
          </a:xfrm>
        </p:spPr>
        <p:txBody>
          <a:bodyPr>
            <a:noAutofit/>
          </a:bodyPr>
          <a:lstStyle>
            <a:lvl1pPr>
              <a:defRPr sz="3200" b="1">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69331" y="696256"/>
            <a:ext cx="8534401" cy="5872184"/>
          </a:xfrm>
        </p:spPr>
        <p:txBody>
          <a:bodyPr>
            <a:normAutofit/>
          </a:bodyPr>
          <a:lstStyle>
            <a:lvl1pPr>
              <a:lnSpc>
                <a:spcPct val="100000"/>
              </a:lnSpc>
              <a:defRPr sz="1600">
                <a:latin typeface="Verdana" panose="020B0604030504040204" pitchFamily="34" charset="0"/>
                <a:ea typeface="Verdana" panose="020B0604030504040204" pitchFamily="34" charset="0"/>
                <a:cs typeface="Verdana" panose="020B0604030504040204" pitchFamily="34" charset="0"/>
              </a:defRPr>
            </a:lvl1pPr>
            <a:lvl2pPr>
              <a:lnSpc>
                <a:spcPct val="100000"/>
              </a:lnSpc>
              <a:defRPr sz="1400">
                <a:latin typeface="Verdana" panose="020B0604030504040204" pitchFamily="34" charset="0"/>
                <a:ea typeface="Verdana" panose="020B0604030504040204" pitchFamily="34" charset="0"/>
                <a:cs typeface="Verdana" panose="020B0604030504040204" pitchFamily="34" charset="0"/>
              </a:defRPr>
            </a:lvl2pPr>
            <a:lvl3pPr>
              <a:lnSpc>
                <a:spcPct val="100000"/>
              </a:lnSpc>
              <a:defRPr sz="1200">
                <a:latin typeface="Verdana" panose="020B0604030504040204" pitchFamily="34" charset="0"/>
                <a:ea typeface="Verdana" panose="020B0604030504040204" pitchFamily="34" charset="0"/>
                <a:cs typeface="Verdana" panose="020B0604030504040204" pitchFamily="34" charset="0"/>
              </a:defRPr>
            </a:lvl3pPr>
            <a:lvl4pPr>
              <a:lnSpc>
                <a:spcPct val="100000"/>
              </a:lnSpc>
              <a:defRPr sz="1100">
                <a:latin typeface="Verdana" panose="020B0604030504040204" pitchFamily="34" charset="0"/>
                <a:ea typeface="Verdana" panose="020B0604030504040204" pitchFamily="34" charset="0"/>
                <a:cs typeface="Verdana" panose="020B0604030504040204" pitchFamily="34" charset="0"/>
              </a:defRPr>
            </a:lvl4pPr>
            <a:lvl5pPr>
              <a:lnSpc>
                <a:spcPct val="100000"/>
              </a:lnSpc>
              <a:defRPr sz="11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ángulo 6"/>
          <p:cNvSpPr/>
          <p:nvPr userDrawn="1"/>
        </p:nvSpPr>
        <p:spPr>
          <a:xfrm>
            <a:off x="0" y="0"/>
            <a:ext cx="204716" cy="6858000"/>
          </a:xfrm>
          <a:prstGeom prst="rect">
            <a:avLst/>
          </a:prstGeom>
          <a:solidFill>
            <a:schemeClr val="accent6">
              <a:lumMod val="40000"/>
              <a:lumOff val="60000"/>
            </a:schemeClr>
          </a:solidFill>
          <a:ln>
            <a:solidFill>
              <a:schemeClr val="accent6">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p:cNvSpPr txBox="1"/>
          <p:nvPr userDrawn="1"/>
        </p:nvSpPr>
        <p:spPr>
          <a:xfrm rot="16200000">
            <a:off x="-980475" y="5664769"/>
            <a:ext cx="2165665" cy="369332"/>
          </a:xfrm>
          <a:prstGeom prst="rect">
            <a:avLst/>
          </a:prstGeom>
          <a:noFill/>
        </p:spPr>
        <p:txBody>
          <a:bodyPr wrap="square" rtlCol="0">
            <a:spAutoFit/>
          </a:bodyPr>
          <a:lstStyle/>
          <a:p>
            <a:r>
              <a:rPr lang="es-ES" dirty="0" err="1">
                <a:solidFill>
                  <a:schemeClr val="tx1"/>
                </a:solidFill>
              </a:rPr>
              <a:t>Exemple</a:t>
            </a:r>
            <a:r>
              <a:rPr lang="es-ES" dirty="0">
                <a:solidFill>
                  <a:schemeClr val="tx1"/>
                </a:solidFill>
              </a:rPr>
              <a:t> </a:t>
            </a:r>
            <a:r>
              <a:rPr lang="es-ES" dirty="0" err="1">
                <a:solidFill>
                  <a:schemeClr val="tx1"/>
                </a:solidFill>
              </a:rPr>
              <a:t>Teoria</a:t>
            </a:r>
            <a:endParaRPr lang="es-ES" dirty="0">
              <a:solidFill>
                <a:schemeClr val="tx1"/>
              </a:solidFill>
            </a:endParaRPr>
          </a:p>
        </p:txBody>
      </p:sp>
    </p:spTree>
    <p:extLst>
      <p:ext uri="{BB962C8B-B14F-4D97-AF65-F5344CB8AC3E}">
        <p14:creationId xmlns:p14="http://schemas.microsoft.com/office/powerpoint/2010/main" val="4264813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FB02139-57C3-4FA5-95C7-9105BF98CB88}"/>
              </a:ext>
            </a:extLst>
          </p:cNvPr>
          <p:cNvSpPr/>
          <p:nvPr userDrawn="1"/>
        </p:nvSpPr>
        <p:spPr>
          <a:xfrm>
            <a:off x="0" y="0"/>
            <a:ext cx="204716" cy="6858000"/>
          </a:xfrm>
          <a:prstGeom prst="rect">
            <a:avLst/>
          </a:prstGeom>
          <a:solidFill>
            <a:srgbClr val="FF0000"/>
          </a:solid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itle 1">
            <a:extLst>
              <a:ext uri="{FF2B5EF4-FFF2-40B4-BE49-F238E27FC236}">
                <a16:creationId xmlns:a16="http://schemas.microsoft.com/office/drawing/2014/main" id="{06842F18-8B7D-4D45-B3DC-FDC04F20CE3E}"/>
              </a:ext>
            </a:extLst>
          </p:cNvPr>
          <p:cNvSpPr>
            <a:spLocks noGrp="1"/>
          </p:cNvSpPr>
          <p:nvPr>
            <p:ph type="title"/>
          </p:nvPr>
        </p:nvSpPr>
        <p:spPr>
          <a:xfrm>
            <a:off x="361950" y="145270"/>
            <a:ext cx="8534400" cy="462425"/>
          </a:xfrm>
        </p:spPr>
        <p:txBody>
          <a:bodyPr>
            <a:noAutofit/>
          </a:bodyPr>
          <a:lstStyle>
            <a:lvl1pPr>
              <a:defRPr sz="3200" b="1">
                <a:solidFill>
                  <a:srgbClr val="002060"/>
                </a:solidFill>
              </a:defRPr>
            </a:lvl1pPr>
          </a:lstStyle>
          <a:p>
            <a:r>
              <a:rPr lang="en-US" dirty="0"/>
              <a:t>Click to edit Master title style</a:t>
            </a:r>
          </a:p>
        </p:txBody>
      </p:sp>
      <p:sp>
        <p:nvSpPr>
          <p:cNvPr id="9" name="Content Placeholder 2">
            <a:extLst>
              <a:ext uri="{FF2B5EF4-FFF2-40B4-BE49-F238E27FC236}">
                <a16:creationId xmlns:a16="http://schemas.microsoft.com/office/drawing/2014/main" id="{2DBC6557-050E-4519-8108-7456558E9622}"/>
              </a:ext>
            </a:extLst>
          </p:cNvPr>
          <p:cNvSpPr>
            <a:spLocks noGrp="1"/>
          </p:cNvSpPr>
          <p:nvPr>
            <p:ph idx="1"/>
          </p:nvPr>
        </p:nvSpPr>
        <p:spPr>
          <a:xfrm>
            <a:off x="369331" y="696256"/>
            <a:ext cx="8534401" cy="5872184"/>
          </a:xfrm>
        </p:spPr>
        <p:txBody>
          <a:bodyPr>
            <a:normAutofit/>
          </a:bodyPr>
          <a:lstStyle>
            <a:lvl1pPr>
              <a:lnSpc>
                <a:spcPct val="100000"/>
              </a:lnSpc>
              <a:defRPr sz="1600">
                <a:latin typeface="Verdana" panose="020B0604030504040204" pitchFamily="34" charset="0"/>
                <a:ea typeface="Verdana" panose="020B0604030504040204" pitchFamily="34" charset="0"/>
                <a:cs typeface="Verdana" panose="020B0604030504040204" pitchFamily="34" charset="0"/>
              </a:defRPr>
            </a:lvl1pPr>
            <a:lvl2pPr>
              <a:lnSpc>
                <a:spcPct val="100000"/>
              </a:lnSpc>
              <a:defRPr sz="1400">
                <a:latin typeface="Verdana" panose="020B0604030504040204" pitchFamily="34" charset="0"/>
                <a:ea typeface="Verdana" panose="020B0604030504040204" pitchFamily="34" charset="0"/>
                <a:cs typeface="Verdana" panose="020B0604030504040204" pitchFamily="34" charset="0"/>
              </a:defRPr>
            </a:lvl2pPr>
            <a:lvl3pPr>
              <a:lnSpc>
                <a:spcPct val="100000"/>
              </a:lnSpc>
              <a:defRPr sz="1200">
                <a:latin typeface="Verdana" panose="020B0604030504040204" pitchFamily="34" charset="0"/>
                <a:ea typeface="Verdana" panose="020B0604030504040204" pitchFamily="34" charset="0"/>
                <a:cs typeface="Verdana" panose="020B0604030504040204" pitchFamily="34" charset="0"/>
              </a:defRPr>
            </a:lvl3pPr>
            <a:lvl4pPr>
              <a:lnSpc>
                <a:spcPct val="100000"/>
              </a:lnSpc>
              <a:defRPr sz="1100">
                <a:latin typeface="Verdana" panose="020B0604030504040204" pitchFamily="34" charset="0"/>
                <a:ea typeface="Verdana" panose="020B0604030504040204" pitchFamily="34" charset="0"/>
                <a:cs typeface="Verdana" panose="020B0604030504040204" pitchFamily="34" charset="0"/>
              </a:defRPr>
            </a:lvl4pPr>
            <a:lvl5pPr>
              <a:lnSpc>
                <a:spcPct val="100000"/>
              </a:lnSpc>
              <a:defRPr sz="11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uadroTexto 3">
            <a:extLst>
              <a:ext uri="{FF2B5EF4-FFF2-40B4-BE49-F238E27FC236}">
                <a16:creationId xmlns:a16="http://schemas.microsoft.com/office/drawing/2014/main" id="{204487D3-FE3B-715F-1058-9DF6A80E6DE4}"/>
              </a:ext>
            </a:extLst>
          </p:cNvPr>
          <p:cNvSpPr txBox="1"/>
          <p:nvPr userDrawn="1"/>
        </p:nvSpPr>
        <p:spPr>
          <a:xfrm rot="16200000">
            <a:off x="-980475" y="5664769"/>
            <a:ext cx="2165665" cy="369332"/>
          </a:xfrm>
          <a:prstGeom prst="rect">
            <a:avLst/>
          </a:prstGeom>
          <a:noFill/>
        </p:spPr>
        <p:txBody>
          <a:bodyPr wrap="square" rtlCol="0">
            <a:spAutoFit/>
          </a:bodyPr>
          <a:lstStyle/>
          <a:p>
            <a:r>
              <a:rPr lang="es-ES" dirty="0" err="1">
                <a:solidFill>
                  <a:schemeClr val="bg1"/>
                </a:solidFill>
              </a:rPr>
              <a:t>Exercicis</a:t>
            </a:r>
            <a:endParaRPr lang="es-ES" dirty="0">
              <a:solidFill>
                <a:schemeClr val="bg1"/>
              </a:solidFill>
            </a:endParaRPr>
          </a:p>
        </p:txBody>
      </p:sp>
    </p:spTree>
    <p:extLst>
      <p:ext uri="{BB962C8B-B14F-4D97-AF65-F5344CB8AC3E}">
        <p14:creationId xmlns:p14="http://schemas.microsoft.com/office/powerpoint/2010/main" val="3801094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279150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2258867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2780576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1564113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2816972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3035056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1895469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4589721-47D1-4D8C-979F-5BD37273DD4E}" type="slidenum">
              <a:rPr lang="es-ES" smtClean="0"/>
              <a:t>‹Nº›</a:t>
            </a:fld>
            <a:endParaRPr lang="es-ES"/>
          </a:p>
        </p:txBody>
      </p:sp>
    </p:spTree>
    <p:extLst>
      <p:ext uri="{BB962C8B-B14F-4D97-AF65-F5344CB8AC3E}">
        <p14:creationId xmlns:p14="http://schemas.microsoft.com/office/powerpoint/2010/main" val="368562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os objetos">
    <p:spTree>
      <p:nvGrpSpPr>
        <p:cNvPr id="1" name=""/>
        <p:cNvGrpSpPr/>
        <p:nvPr/>
      </p:nvGrpSpPr>
      <p:grpSpPr>
        <a:xfrm>
          <a:off x="0" y="0"/>
          <a:ext cx="0" cy="0"/>
          <a:chOff x="0" y="0"/>
          <a:chExt cx="0" cy="0"/>
        </a:xfrm>
      </p:grpSpPr>
      <p:sp>
        <p:nvSpPr>
          <p:cNvPr id="3" name="Marcador de contenido 2"/>
          <p:cNvSpPr>
            <a:spLocks noGrp="1"/>
          </p:cNvSpPr>
          <p:nvPr>
            <p:ph sz="half" idx="1"/>
          </p:nvPr>
        </p:nvSpPr>
        <p:spPr>
          <a:xfrm>
            <a:off x="628650" y="1825625"/>
            <a:ext cx="38862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4629150" y="1825625"/>
            <a:ext cx="38862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pie de página 4"/>
          <p:cNvSpPr>
            <a:spLocks noGrp="1"/>
          </p:cNvSpPr>
          <p:nvPr>
            <p:ph type="ftr" sz="quarter" idx="3"/>
          </p:nvPr>
        </p:nvSpPr>
        <p:spPr>
          <a:xfrm>
            <a:off x="6362700" y="6356351"/>
            <a:ext cx="2152650" cy="365124"/>
          </a:xfrm>
          <a:prstGeom prst="rect">
            <a:avLst/>
          </a:prstGeom>
        </p:spPr>
        <p:txBody>
          <a:bodyPr/>
          <a:lstStyle>
            <a:lvl1pPr>
              <a:defRPr sz="1350" b="1">
                <a:solidFill>
                  <a:schemeClr val="bg1"/>
                </a:solidFill>
              </a:defRPr>
            </a:lvl1pPr>
          </a:lstStyle>
          <a:p>
            <a:pPr algn="r"/>
            <a:endParaRPr lang="es-ES" dirty="0"/>
          </a:p>
        </p:txBody>
      </p:sp>
      <p:sp>
        <p:nvSpPr>
          <p:cNvPr id="9" name="Marcador de número de diapositiva 5"/>
          <p:cNvSpPr>
            <a:spLocks noGrp="1"/>
          </p:cNvSpPr>
          <p:nvPr>
            <p:ph type="sldNum" sz="quarter" idx="4"/>
          </p:nvPr>
        </p:nvSpPr>
        <p:spPr>
          <a:xfrm>
            <a:off x="3028950" y="6356351"/>
            <a:ext cx="3086100" cy="365125"/>
          </a:xfrm>
          <a:prstGeom prst="rect">
            <a:avLst/>
          </a:prstGeom>
        </p:spPr>
        <p:txBody>
          <a:bodyPr/>
          <a:lstStyle>
            <a:lvl1pPr algn="ctr">
              <a:defRPr sz="1350" b="1">
                <a:solidFill>
                  <a:schemeClr val="bg1"/>
                </a:solidFill>
              </a:defRPr>
            </a:lvl1pPr>
          </a:lstStyle>
          <a:p>
            <a:r>
              <a:rPr lang="es-ES" dirty="0"/>
              <a:t>Diapositiva </a:t>
            </a:r>
            <a:fld id="{55CCFF35-5E6E-4A2B-898C-E2E887AC7D96}" type="slidenum">
              <a:rPr lang="es-ES" smtClean="0"/>
              <a:pPr/>
              <a:t>‹Nº›</a:t>
            </a:fld>
            <a:endParaRPr lang="es-ES" dirty="0"/>
          </a:p>
        </p:txBody>
      </p:sp>
      <p:sp>
        <p:nvSpPr>
          <p:cNvPr id="10" name="Marcador de contenido 2"/>
          <p:cNvSpPr>
            <a:spLocks noGrp="1"/>
          </p:cNvSpPr>
          <p:nvPr>
            <p:ph idx="10" hasCustomPrompt="1"/>
          </p:nvPr>
        </p:nvSpPr>
        <p:spPr>
          <a:xfrm>
            <a:off x="628650" y="6366271"/>
            <a:ext cx="3181350" cy="355205"/>
          </a:xfrm>
        </p:spPr>
        <p:txBody>
          <a:bodyPr>
            <a:normAutofit/>
          </a:bodyPr>
          <a:lstStyle>
            <a:lvl1pPr marL="0" indent="0" algn="l" defTabSz="685800" rtl="0" eaLnBrk="1" latinLnBrk="0" hangingPunct="1">
              <a:buNone/>
              <a:defRPr lang="es-ES" sz="1350" b="1" kern="1200" dirty="0">
                <a:solidFill>
                  <a:schemeClr val="bg1"/>
                </a:solidFill>
                <a:latin typeface="+mn-lt"/>
                <a:ea typeface="+mn-ea"/>
                <a:cs typeface="+mn-cs"/>
              </a:defRPr>
            </a:lvl1pPr>
          </a:lstStyle>
          <a:p>
            <a:pPr lvl="0"/>
            <a:r>
              <a:rPr lang="es-ES" dirty="0"/>
              <a:t>&lt;</a:t>
            </a:r>
            <a:r>
              <a:rPr lang="es-ES" dirty="0" err="1"/>
              <a:t>Unitat</a:t>
            </a:r>
            <a:r>
              <a:rPr lang="es-ES" dirty="0"/>
              <a:t> Formativa&gt;</a:t>
            </a:r>
          </a:p>
        </p:txBody>
      </p:sp>
      <p:sp>
        <p:nvSpPr>
          <p:cNvPr id="11" name="Título 1"/>
          <p:cNvSpPr>
            <a:spLocks noGrp="1"/>
          </p:cNvSpPr>
          <p:nvPr>
            <p:ph type="title"/>
          </p:nvPr>
        </p:nvSpPr>
        <p:spPr>
          <a:xfrm>
            <a:off x="628650" y="847614"/>
            <a:ext cx="7886700" cy="843074"/>
          </a:xfrm>
        </p:spPr>
        <p:txBody>
          <a:bodyPr>
            <a:noAutofit/>
          </a:bodyPr>
          <a:lstStyle>
            <a:lvl1pPr>
              <a:defRPr sz="2850" b="1"/>
            </a:lvl1pPr>
          </a:lstStyle>
          <a:p>
            <a:r>
              <a:rPr lang="es-ES"/>
              <a:t>Haga clic para modificar el estilo de título del patrón</a:t>
            </a:r>
            <a:endParaRPr lang="es-ES" dirty="0"/>
          </a:p>
        </p:txBody>
      </p:sp>
      <p:pic>
        <p:nvPicPr>
          <p:cNvPr id="13" name="Imagen 3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38305" y="117230"/>
            <a:ext cx="1747435" cy="847614"/>
          </a:xfrm>
          <a:prstGeom prst="rect">
            <a:avLst/>
          </a:prstGeom>
        </p:spPr>
      </p:pic>
    </p:spTree>
    <p:extLst>
      <p:ext uri="{BB962C8B-B14F-4D97-AF65-F5344CB8AC3E}">
        <p14:creationId xmlns:p14="http://schemas.microsoft.com/office/powerpoint/2010/main" val="2884150788"/>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589721-47D1-4D8C-979F-5BD37273DD4E}" type="slidenum">
              <a:rPr lang="es-ES" smtClean="0"/>
              <a:t>‹Nº›</a:t>
            </a:fld>
            <a:endParaRPr lang="es-ES"/>
          </a:p>
        </p:txBody>
      </p:sp>
    </p:spTree>
    <p:extLst>
      <p:ext uri="{BB962C8B-B14F-4D97-AF65-F5344CB8AC3E}">
        <p14:creationId xmlns:p14="http://schemas.microsoft.com/office/powerpoint/2010/main" val="2946172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3" r:id="rId3"/>
    <p:sldLayoutId id="2147483672" r:id="rId4"/>
    <p:sldLayoutId id="2147483674" r:id="rId5"/>
    <p:sldLayoutId id="2147483675"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6"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slide" Target="slide55.xml"/><Relationship Id="rId26" Type="http://schemas.openxmlformats.org/officeDocument/2006/relationships/image" Target="../media/image14.jpeg"/><Relationship Id="rId3" Type="http://schemas.openxmlformats.org/officeDocument/2006/relationships/image" Target="../media/image3.png"/><Relationship Id="rId21" Type="http://schemas.openxmlformats.org/officeDocument/2006/relationships/slide" Target="slide90.xm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slide" Target="slide44.xml"/><Relationship Id="rId25" Type="http://schemas.openxmlformats.org/officeDocument/2006/relationships/slide" Target="slide114.xml"/><Relationship Id="rId2" Type="http://schemas.openxmlformats.org/officeDocument/2006/relationships/image" Target="../media/image2.png"/><Relationship Id="rId16" Type="http://schemas.openxmlformats.org/officeDocument/2006/relationships/slide" Target="slide40.xml"/><Relationship Id="rId20" Type="http://schemas.openxmlformats.org/officeDocument/2006/relationships/slide" Target="slide8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slide" Target="slide106.xml"/><Relationship Id="rId5" Type="http://schemas.openxmlformats.org/officeDocument/2006/relationships/image" Target="../media/image5.png"/><Relationship Id="rId15" Type="http://schemas.openxmlformats.org/officeDocument/2006/relationships/slide" Target="slide11.xml"/><Relationship Id="rId23" Type="http://schemas.openxmlformats.org/officeDocument/2006/relationships/slide" Target="slide104.xml"/><Relationship Id="rId10" Type="http://schemas.openxmlformats.org/officeDocument/2006/relationships/image" Target="../media/image10.png"/><Relationship Id="rId19" Type="http://schemas.openxmlformats.org/officeDocument/2006/relationships/slide" Target="slide58.xm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slide" Target="slide2.xml"/><Relationship Id="rId22" Type="http://schemas.openxmlformats.org/officeDocument/2006/relationships/slide" Target="slide9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99F31-609F-32FF-706B-DBC1F250533C}"/>
              </a:ext>
            </a:extLst>
          </p:cNvPr>
          <p:cNvSpPr>
            <a:spLocks noGrp="1"/>
          </p:cNvSpPr>
          <p:nvPr>
            <p:ph type="title"/>
          </p:nvPr>
        </p:nvSpPr>
        <p:spPr/>
        <p:txBody>
          <a:bodyPr/>
          <a:lstStyle/>
          <a:p>
            <a:pPr algn="ctr"/>
            <a:r>
              <a:rPr lang="es-ES" dirty="0">
                <a:solidFill>
                  <a:srgbClr val="EA7600"/>
                </a:solidFill>
              </a:rPr>
              <a:t>Índex</a:t>
            </a:r>
          </a:p>
        </p:txBody>
      </p:sp>
      <mc:AlternateContent xmlns:mc="http://schemas.openxmlformats.org/markup-compatibility/2006">
        <mc:Choice xmlns:psuz="http://schemas.microsoft.com/office/powerpoint/2016/summaryzoom" Requires="psuz">
          <p:graphicFrame>
            <p:nvGraphicFramePr>
              <p:cNvPr id="5" name="Vista general de resumen 4">
                <a:extLst>
                  <a:ext uri="{FF2B5EF4-FFF2-40B4-BE49-F238E27FC236}">
                    <a16:creationId xmlns:a16="http://schemas.microsoft.com/office/drawing/2014/main" id="{FF67EC86-A8FD-3EEB-8BEA-6E45B190652E}"/>
                  </a:ext>
                </a:extLst>
              </p:cNvPr>
              <p:cNvGraphicFramePr>
                <a:graphicFrameLocks noChangeAspect="1"/>
              </p:cNvGraphicFramePr>
              <p:nvPr>
                <p:extLst>
                  <p:ext uri="{D42A27DB-BD31-4B8C-83A1-F6EECF244321}">
                    <p14:modId xmlns:p14="http://schemas.microsoft.com/office/powerpoint/2010/main" val="1791710286"/>
                  </p:ext>
                </p:extLst>
              </p:nvPr>
            </p:nvGraphicFramePr>
            <p:xfrm>
              <a:off x="628650" y="1113664"/>
              <a:ext cx="7886700" cy="4791075"/>
            </p:xfrm>
            <a:graphic>
              <a:graphicData uri="http://schemas.microsoft.com/office/powerpoint/2016/summaryzoom">
                <psuz:summaryZm>
                  <psuz:summaryZmObj sectionId="{CFB7BB5F-B4A2-41F6-B484-093D76F5033C}">
                    <psuz:zmPr id="{C15251DE-94D9-4149-977C-A67131ED78F6}" transitionDur="1000">
                      <p166:blipFill xmlns:p166="http://schemas.microsoft.com/office/powerpoint/2016/6/main">
                        <a:blip r:embed="rId2"/>
                        <a:stretch>
                          <a:fillRect/>
                        </a:stretch>
                      </p166:blipFill>
                      <p166:spPr xmlns:p166="http://schemas.microsoft.com/office/powerpoint/2016/6/main">
                        <a:xfrm>
                          <a:off x="261246" y="310492"/>
                          <a:ext cx="1774508" cy="1330880"/>
                        </a:xfrm>
                        <a:prstGeom prst="rect">
                          <a:avLst/>
                        </a:prstGeom>
                        <a:ln w="3175">
                          <a:solidFill>
                            <a:prstClr val="ltGray"/>
                          </a:solidFill>
                        </a:ln>
                      </p166:spPr>
                    </psuz:zmPr>
                  </psuz:summaryZmObj>
                  <psuz:summaryZmObj sectionId="{4E422906-DA7C-4630-BA9C-35FE596D8421}">
                    <psuz:zmPr id="{759E22CB-8850-43E8-8217-F8EC6BB013F2}" transitionDur="1000">
                      <p166:blipFill xmlns:p166="http://schemas.microsoft.com/office/powerpoint/2016/6/main">
                        <a:blip r:embed="rId3"/>
                        <a:stretch>
                          <a:fillRect/>
                        </a:stretch>
                      </p166:blipFill>
                      <p166:spPr xmlns:p166="http://schemas.microsoft.com/office/powerpoint/2016/6/main">
                        <a:xfrm>
                          <a:off x="2124479" y="310492"/>
                          <a:ext cx="1774508" cy="1330880"/>
                        </a:xfrm>
                        <a:prstGeom prst="rect">
                          <a:avLst/>
                        </a:prstGeom>
                        <a:ln w="3175">
                          <a:solidFill>
                            <a:prstClr val="ltGray"/>
                          </a:solidFill>
                        </a:ln>
                      </p166:spPr>
                    </psuz:zmPr>
                  </psuz:summaryZmObj>
                  <psuz:summaryZmObj sectionId="{115855FE-4ABF-4CDF-8312-9CD3FC930068}">
                    <psuz:zmPr id="{836B561D-BEB9-48DE-A604-6FDFFE06A56C}" transitionDur="1000">
                      <p166:blipFill xmlns:p166="http://schemas.microsoft.com/office/powerpoint/2016/6/main">
                        <a:blip r:embed="rId4"/>
                        <a:stretch>
                          <a:fillRect/>
                        </a:stretch>
                      </p166:blipFill>
                      <p166:spPr xmlns:p166="http://schemas.microsoft.com/office/powerpoint/2016/6/main">
                        <a:xfrm>
                          <a:off x="3987712" y="310492"/>
                          <a:ext cx="1774508" cy="1330880"/>
                        </a:xfrm>
                        <a:prstGeom prst="rect">
                          <a:avLst/>
                        </a:prstGeom>
                        <a:ln w="3175">
                          <a:solidFill>
                            <a:prstClr val="ltGray"/>
                          </a:solidFill>
                        </a:ln>
                      </p166:spPr>
                    </psuz:zmPr>
                  </psuz:summaryZmObj>
                  <psuz:summaryZmObj sectionId="{7D09EBBA-9017-4912-A468-4587BF333966}">
                    <psuz:zmPr id="{7BBC734E-5D66-4440-A098-F3151DFB00CB}" transitionDur="1000">
                      <p166:blipFill xmlns:p166="http://schemas.microsoft.com/office/powerpoint/2016/6/main">
                        <a:blip r:embed="rId5"/>
                        <a:stretch>
                          <a:fillRect/>
                        </a:stretch>
                      </p166:blipFill>
                      <p166:spPr xmlns:p166="http://schemas.microsoft.com/office/powerpoint/2016/6/main">
                        <a:xfrm>
                          <a:off x="5850945" y="310492"/>
                          <a:ext cx="1774508" cy="1330880"/>
                        </a:xfrm>
                        <a:prstGeom prst="rect">
                          <a:avLst/>
                        </a:prstGeom>
                        <a:ln w="3175">
                          <a:solidFill>
                            <a:prstClr val="ltGray"/>
                          </a:solidFill>
                        </a:ln>
                      </p166:spPr>
                    </psuz:zmPr>
                  </psuz:summaryZmObj>
                  <psuz:summaryZmObj sectionId="{8309E9AE-EE65-4A23-A7A5-5056439DC935}">
                    <psuz:zmPr id="{F3B1F8D6-3FA0-497B-9D48-F553FE2BCFEC}" transitionDur="1000">
                      <p166:blipFill xmlns:p166="http://schemas.microsoft.com/office/powerpoint/2016/6/main">
                        <a:blip r:embed="rId6"/>
                        <a:stretch>
                          <a:fillRect/>
                        </a:stretch>
                      </p166:blipFill>
                      <p166:spPr xmlns:p166="http://schemas.microsoft.com/office/powerpoint/2016/6/main">
                        <a:xfrm>
                          <a:off x="261246" y="1730097"/>
                          <a:ext cx="1774508" cy="1330880"/>
                        </a:xfrm>
                        <a:prstGeom prst="rect">
                          <a:avLst/>
                        </a:prstGeom>
                        <a:ln w="3175">
                          <a:solidFill>
                            <a:prstClr val="ltGray"/>
                          </a:solidFill>
                        </a:ln>
                      </p166:spPr>
                    </psuz:zmPr>
                  </psuz:summaryZmObj>
                  <psuz:summaryZmObj sectionId="{CE3AECB4-B513-42BA-969C-B50C7412B085}">
                    <psuz:zmPr id="{4356FCEE-B684-48EB-9E4F-13B6B2911D83}" transitionDur="1000">
                      <p166:blipFill xmlns:p166="http://schemas.microsoft.com/office/powerpoint/2016/6/main">
                        <a:blip r:embed="rId7"/>
                        <a:stretch>
                          <a:fillRect/>
                        </a:stretch>
                      </p166:blipFill>
                      <p166:spPr xmlns:p166="http://schemas.microsoft.com/office/powerpoint/2016/6/main">
                        <a:xfrm>
                          <a:off x="2124479" y="1730097"/>
                          <a:ext cx="1774508" cy="1330880"/>
                        </a:xfrm>
                        <a:prstGeom prst="rect">
                          <a:avLst/>
                        </a:prstGeom>
                        <a:ln w="3175">
                          <a:solidFill>
                            <a:prstClr val="ltGray"/>
                          </a:solidFill>
                        </a:ln>
                      </p166:spPr>
                    </psuz:zmPr>
                  </psuz:summaryZmObj>
                  <psuz:summaryZmObj sectionId="{6D3A2E28-3079-4C15-89B0-2A0AD1E5E2C9}">
                    <psuz:zmPr id="{99A9CAC1-4922-4C8D-A1A6-FF7B4F8B2AC8}" transitionDur="1000">
                      <p166:blipFill xmlns:p166="http://schemas.microsoft.com/office/powerpoint/2016/6/main">
                        <a:blip r:embed="rId8"/>
                        <a:stretch>
                          <a:fillRect/>
                        </a:stretch>
                      </p166:blipFill>
                      <p166:spPr xmlns:p166="http://schemas.microsoft.com/office/powerpoint/2016/6/main">
                        <a:xfrm>
                          <a:off x="3987712" y="1730097"/>
                          <a:ext cx="1774508" cy="1330880"/>
                        </a:xfrm>
                        <a:prstGeom prst="rect">
                          <a:avLst/>
                        </a:prstGeom>
                        <a:ln w="3175">
                          <a:solidFill>
                            <a:prstClr val="ltGray"/>
                          </a:solidFill>
                        </a:ln>
                      </p166:spPr>
                    </psuz:zmPr>
                  </psuz:summaryZmObj>
                  <psuz:summaryZmObj sectionId="{07D0A1A5-BF17-47BD-B458-4C2B9915B124}">
                    <psuz:zmPr id="{6A99C776-E18E-4193-953B-D6E5BD22A307}" transitionDur="1000">
                      <p166:blipFill xmlns:p166="http://schemas.microsoft.com/office/powerpoint/2016/6/main">
                        <a:blip r:embed="rId9"/>
                        <a:stretch>
                          <a:fillRect/>
                        </a:stretch>
                      </p166:blipFill>
                      <p166:spPr xmlns:p166="http://schemas.microsoft.com/office/powerpoint/2016/6/main">
                        <a:xfrm>
                          <a:off x="5850945" y="1730097"/>
                          <a:ext cx="1774508" cy="1330880"/>
                        </a:xfrm>
                        <a:prstGeom prst="rect">
                          <a:avLst/>
                        </a:prstGeom>
                        <a:ln w="3175">
                          <a:solidFill>
                            <a:prstClr val="ltGray"/>
                          </a:solidFill>
                        </a:ln>
                      </p166:spPr>
                    </psuz:zmPr>
                  </psuz:summaryZmObj>
                  <psuz:summaryZmObj sectionId="{8F934709-A479-437B-B983-538985771E63}">
                    <psuz:zmPr id="{3318981A-8AFC-4303-992E-38591E39EA2E}" transitionDur="1000">
                      <p166:blipFill xmlns:p166="http://schemas.microsoft.com/office/powerpoint/2016/6/main">
                        <a:blip r:embed="rId10"/>
                        <a:stretch>
                          <a:fillRect/>
                        </a:stretch>
                      </p166:blipFill>
                      <p166:spPr xmlns:p166="http://schemas.microsoft.com/office/powerpoint/2016/6/main">
                        <a:xfrm>
                          <a:off x="261246" y="3149702"/>
                          <a:ext cx="1774508" cy="1330880"/>
                        </a:xfrm>
                        <a:prstGeom prst="rect">
                          <a:avLst/>
                        </a:prstGeom>
                        <a:ln w="3175">
                          <a:solidFill>
                            <a:prstClr val="ltGray"/>
                          </a:solidFill>
                        </a:ln>
                      </p166:spPr>
                    </psuz:zmPr>
                  </psuz:summaryZmObj>
                  <psuz:summaryZmObj sectionId="{6291DB18-F16B-42C7-82E9-AF0B6FB1CFB3}">
                    <psuz:zmPr id="{CBF7B66C-5989-4A95-B686-95F1E16E0103}" transitionDur="1000">
                      <p166:blipFill xmlns:p166="http://schemas.microsoft.com/office/powerpoint/2016/6/main">
                        <a:blip r:embed="rId11"/>
                        <a:stretch>
                          <a:fillRect/>
                        </a:stretch>
                      </p166:blipFill>
                      <p166:spPr xmlns:p166="http://schemas.microsoft.com/office/powerpoint/2016/6/main">
                        <a:xfrm>
                          <a:off x="2124479" y="3149702"/>
                          <a:ext cx="1774508" cy="1330880"/>
                        </a:xfrm>
                        <a:prstGeom prst="rect">
                          <a:avLst/>
                        </a:prstGeom>
                        <a:ln w="3175">
                          <a:solidFill>
                            <a:prstClr val="ltGray"/>
                          </a:solidFill>
                        </a:ln>
                      </p166:spPr>
                    </psuz:zmPr>
                  </psuz:summaryZmObj>
                  <psuz:summaryZmObj sectionId="{FA4AEA59-246A-4C81-87A6-A3741EE1967B}">
                    <psuz:zmPr id="{4C7370A4-2C9C-4FED-BB71-2BBBDFF9E470}" transitionDur="1000">
                      <p166:blipFill xmlns:p166="http://schemas.microsoft.com/office/powerpoint/2016/6/main">
                        <a:blip r:embed="rId12"/>
                        <a:stretch>
                          <a:fillRect/>
                        </a:stretch>
                      </p166:blipFill>
                      <p166:spPr xmlns:p166="http://schemas.microsoft.com/office/powerpoint/2016/6/main">
                        <a:xfrm>
                          <a:off x="3987712" y="3149702"/>
                          <a:ext cx="1774508" cy="1330880"/>
                        </a:xfrm>
                        <a:prstGeom prst="rect">
                          <a:avLst/>
                        </a:prstGeom>
                        <a:ln w="3175">
                          <a:solidFill>
                            <a:prstClr val="ltGray"/>
                          </a:solidFill>
                        </a:ln>
                      </p166:spPr>
                    </psuz:zmPr>
                  </psuz:summaryZmObj>
                  <psuz:summaryZmObj sectionId="{03693B0C-3F8D-4CAB-A5ED-3E9C4F607928}">
                    <psuz:zmPr id="{5E0BB58D-5822-4013-B303-3994397BCD7C}" transitionDur="1000">
                      <p166:blipFill xmlns:p166="http://schemas.microsoft.com/office/powerpoint/2016/6/main">
                        <a:blip r:embed="rId13"/>
                        <a:stretch>
                          <a:fillRect/>
                        </a:stretch>
                      </p166:blipFill>
                      <p166:spPr xmlns:p166="http://schemas.microsoft.com/office/powerpoint/2016/6/main">
                        <a:xfrm>
                          <a:off x="5850945" y="3149702"/>
                          <a:ext cx="1774508" cy="1330880"/>
                        </a:xfrm>
                        <a:prstGeom prst="rect">
                          <a:avLst/>
                        </a:prstGeom>
                        <a:ln w="3175">
                          <a:solidFill>
                            <a:prstClr val="ltGray"/>
                          </a:solidFill>
                        </a:ln>
                      </p166:spPr>
                    </psuz:zmPr>
                  </psuz:summaryZmObj>
                  <psuz:gridLayout/>
                </psuz:summaryZm>
              </a:graphicData>
            </a:graphic>
          </p:graphicFrame>
        </mc:Choice>
        <mc:Fallback>
          <p:grpSp>
            <p:nvGrpSpPr>
              <p:cNvPr id="5" name="Vista general de resumen 4">
                <a:extLst>
                  <a:ext uri="{FF2B5EF4-FFF2-40B4-BE49-F238E27FC236}">
                    <a16:creationId xmlns:a16="http://schemas.microsoft.com/office/drawing/2014/main" id="{FF67EC86-A8FD-3EEB-8BEA-6E45B190652E}"/>
                  </a:ext>
                </a:extLst>
              </p:cNvPr>
              <p:cNvGrpSpPr>
                <a:grpSpLocks noGrp="1" noUngrp="1" noRot="1" noChangeAspect="1" noMove="1" noResize="1"/>
              </p:cNvGrpSpPr>
              <p:nvPr/>
            </p:nvGrpSpPr>
            <p:grpSpPr>
              <a:xfrm>
                <a:off x="628650" y="1113664"/>
                <a:ext cx="7886700" cy="4791075"/>
                <a:chOff x="628650" y="1113664"/>
                <a:chExt cx="7886700" cy="4791075"/>
              </a:xfrm>
            </p:grpSpPr>
            <p:pic>
              <p:nvPicPr>
                <p:cNvPr id="3" name="Imagen 3">
                  <a:hlinkClick r:id="rId14"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889896" y="1424156"/>
                  <a:ext cx="1774508" cy="1330880"/>
                </a:xfrm>
                <a:prstGeom prst="rect">
                  <a:avLst/>
                </a:prstGeom>
                <a:ln w="3175">
                  <a:solidFill>
                    <a:prstClr val="ltGray"/>
                  </a:solidFill>
                </a:ln>
              </p:spPr>
            </p:pic>
            <p:pic>
              <p:nvPicPr>
                <p:cNvPr id="4" name="Imagen 4">
                  <a:hlinkClick r:id="rId15"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2753129" y="1424156"/>
                  <a:ext cx="1774508" cy="1330880"/>
                </a:xfrm>
                <a:prstGeom prst="rect">
                  <a:avLst/>
                </a:prstGeom>
                <a:ln w="3175">
                  <a:solidFill>
                    <a:prstClr val="ltGray"/>
                  </a:solidFill>
                </a:ln>
              </p:spPr>
            </p:pic>
            <p:pic>
              <p:nvPicPr>
                <p:cNvPr id="7" name="Imagen 7">
                  <a:hlinkClick r:id="rId16"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4616362" y="1424156"/>
                  <a:ext cx="1774508" cy="1330880"/>
                </a:xfrm>
                <a:prstGeom prst="rect">
                  <a:avLst/>
                </a:prstGeom>
                <a:ln w="3175">
                  <a:solidFill>
                    <a:prstClr val="ltGray"/>
                  </a:solidFill>
                </a:ln>
              </p:spPr>
            </p:pic>
            <p:pic>
              <p:nvPicPr>
                <p:cNvPr id="8" name="Imagen 8">
                  <a:hlinkClick r:id="rId17"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6479595" y="1424156"/>
                  <a:ext cx="1774508" cy="1330880"/>
                </a:xfrm>
                <a:prstGeom prst="rect">
                  <a:avLst/>
                </a:prstGeom>
                <a:ln w="3175">
                  <a:solidFill>
                    <a:prstClr val="ltGray"/>
                  </a:solidFill>
                </a:ln>
              </p:spPr>
            </p:pic>
            <p:pic>
              <p:nvPicPr>
                <p:cNvPr id="9" name="Imagen 9">
                  <a:hlinkClick r:id="rId18"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889896" y="2843761"/>
                  <a:ext cx="1774508" cy="1330880"/>
                </a:xfrm>
                <a:prstGeom prst="rect">
                  <a:avLst/>
                </a:prstGeom>
                <a:ln w="3175">
                  <a:solidFill>
                    <a:prstClr val="ltGray"/>
                  </a:solidFill>
                </a:ln>
              </p:spPr>
            </p:pic>
            <p:pic>
              <p:nvPicPr>
                <p:cNvPr id="10" name="Imagen 10">
                  <a:hlinkClick r:id="rId19" action="ppaction://hlinksldjump"/>
                </p:cNvPr>
                <p:cNvPicPr>
                  <a:picLocks noSelect="1" noRot="1" noChangeAspect="1" noMove="1" noResize="1" noEditPoints="1" noAdjustHandles="1" noChangeArrowheads="1" noChangeShapeType="1"/>
                </p:cNvPicPr>
                <p:nvPr/>
              </p:nvPicPr>
              <p:blipFill>
                <a:blip r:embed="rId7"/>
                <a:stretch>
                  <a:fillRect/>
                </a:stretch>
              </p:blipFill>
              <p:spPr>
                <a:xfrm>
                  <a:off x="2753129" y="2843761"/>
                  <a:ext cx="1774508" cy="1330880"/>
                </a:xfrm>
                <a:prstGeom prst="rect">
                  <a:avLst/>
                </a:prstGeom>
                <a:ln w="3175">
                  <a:solidFill>
                    <a:prstClr val="ltGray"/>
                  </a:solidFill>
                </a:ln>
              </p:spPr>
            </p:pic>
            <p:pic>
              <p:nvPicPr>
                <p:cNvPr id="11" name="Imagen 11">
                  <a:hlinkClick r:id="rId20" action="ppaction://hlinksldjump"/>
                </p:cNvPr>
                <p:cNvPicPr>
                  <a:picLocks noSelect="1" noRot="1" noChangeAspect="1" noMove="1" noResize="1" noEditPoints="1" noAdjustHandles="1" noChangeArrowheads="1" noChangeShapeType="1"/>
                </p:cNvPicPr>
                <p:nvPr/>
              </p:nvPicPr>
              <p:blipFill>
                <a:blip r:embed="rId8"/>
                <a:stretch>
                  <a:fillRect/>
                </a:stretch>
              </p:blipFill>
              <p:spPr>
                <a:xfrm>
                  <a:off x="4616362" y="2843761"/>
                  <a:ext cx="1774508" cy="1330880"/>
                </a:xfrm>
                <a:prstGeom prst="rect">
                  <a:avLst/>
                </a:prstGeom>
                <a:ln w="3175">
                  <a:solidFill>
                    <a:prstClr val="ltGray"/>
                  </a:solidFill>
                </a:ln>
              </p:spPr>
            </p:pic>
            <p:pic>
              <p:nvPicPr>
                <p:cNvPr id="12" name="Imagen 12">
                  <a:hlinkClick r:id="rId21" action="ppaction://hlinksldjump"/>
                </p:cNvPr>
                <p:cNvPicPr>
                  <a:picLocks noSelect="1" noRot="1" noChangeAspect="1" noMove="1" noResize="1" noEditPoints="1" noAdjustHandles="1" noChangeArrowheads="1" noChangeShapeType="1"/>
                </p:cNvPicPr>
                <p:nvPr/>
              </p:nvPicPr>
              <p:blipFill>
                <a:blip r:embed="rId9"/>
                <a:stretch>
                  <a:fillRect/>
                </a:stretch>
              </p:blipFill>
              <p:spPr>
                <a:xfrm>
                  <a:off x="6479595" y="2843761"/>
                  <a:ext cx="1774508" cy="1330880"/>
                </a:xfrm>
                <a:prstGeom prst="rect">
                  <a:avLst/>
                </a:prstGeom>
                <a:ln w="3175">
                  <a:solidFill>
                    <a:prstClr val="ltGray"/>
                  </a:solidFill>
                </a:ln>
              </p:spPr>
            </p:pic>
            <p:pic>
              <p:nvPicPr>
                <p:cNvPr id="13" name="Imagen 13">
                  <a:hlinkClick r:id="rId22" action="ppaction://hlinksldjump"/>
                </p:cNvPr>
                <p:cNvPicPr>
                  <a:picLocks noSelect="1" noRot="1" noChangeAspect="1" noMove="1" noResize="1" noEditPoints="1" noAdjustHandles="1" noChangeArrowheads="1" noChangeShapeType="1"/>
                </p:cNvPicPr>
                <p:nvPr/>
              </p:nvPicPr>
              <p:blipFill>
                <a:blip r:embed="rId10"/>
                <a:stretch>
                  <a:fillRect/>
                </a:stretch>
              </p:blipFill>
              <p:spPr>
                <a:xfrm>
                  <a:off x="889896" y="4263366"/>
                  <a:ext cx="1774508" cy="1330880"/>
                </a:xfrm>
                <a:prstGeom prst="rect">
                  <a:avLst/>
                </a:prstGeom>
                <a:ln w="3175">
                  <a:solidFill>
                    <a:prstClr val="ltGray"/>
                  </a:solidFill>
                </a:ln>
              </p:spPr>
            </p:pic>
            <p:pic>
              <p:nvPicPr>
                <p:cNvPr id="14" name="Imagen 14">
                  <a:hlinkClick r:id="rId23" action="ppaction://hlinksldjump"/>
                </p:cNvPr>
                <p:cNvPicPr>
                  <a:picLocks noSelect="1" noRot="1" noChangeAspect="1" noMove="1" noResize="1" noEditPoints="1" noAdjustHandles="1" noChangeArrowheads="1" noChangeShapeType="1"/>
                </p:cNvPicPr>
                <p:nvPr/>
              </p:nvPicPr>
              <p:blipFill>
                <a:blip r:embed="rId11"/>
                <a:stretch>
                  <a:fillRect/>
                </a:stretch>
              </p:blipFill>
              <p:spPr>
                <a:xfrm>
                  <a:off x="2753129" y="4263366"/>
                  <a:ext cx="1774508" cy="1330880"/>
                </a:xfrm>
                <a:prstGeom prst="rect">
                  <a:avLst/>
                </a:prstGeom>
                <a:ln w="3175">
                  <a:solidFill>
                    <a:prstClr val="ltGray"/>
                  </a:solidFill>
                </a:ln>
              </p:spPr>
            </p:pic>
            <p:pic>
              <p:nvPicPr>
                <p:cNvPr id="15" name="Imagen 15">
                  <a:hlinkClick r:id="rId24" action="ppaction://hlinksldjump"/>
                </p:cNvPr>
                <p:cNvPicPr>
                  <a:picLocks noSelect="1" noRot="1" noChangeAspect="1" noMove="1" noResize="1" noEditPoints="1" noAdjustHandles="1" noChangeArrowheads="1" noChangeShapeType="1"/>
                </p:cNvPicPr>
                <p:nvPr/>
              </p:nvPicPr>
              <p:blipFill>
                <a:blip r:embed="rId12"/>
                <a:stretch>
                  <a:fillRect/>
                </a:stretch>
              </p:blipFill>
              <p:spPr>
                <a:xfrm>
                  <a:off x="4616362" y="4263366"/>
                  <a:ext cx="1774508" cy="1330880"/>
                </a:xfrm>
                <a:prstGeom prst="rect">
                  <a:avLst/>
                </a:prstGeom>
                <a:ln w="3175">
                  <a:solidFill>
                    <a:prstClr val="ltGray"/>
                  </a:solidFill>
                </a:ln>
              </p:spPr>
            </p:pic>
            <p:pic>
              <p:nvPicPr>
                <p:cNvPr id="16" name="Imagen 16">
                  <a:hlinkClick r:id="rId25" action="ppaction://hlinksldjump"/>
                </p:cNvPr>
                <p:cNvPicPr>
                  <a:picLocks noSelect="1" noRot="1" noChangeAspect="1" noMove="1" noResize="1" noEditPoints="1" noAdjustHandles="1" noChangeArrowheads="1" noChangeShapeType="1"/>
                </p:cNvPicPr>
                <p:nvPr/>
              </p:nvPicPr>
              <p:blipFill>
                <a:blip r:embed="rId13"/>
                <a:stretch>
                  <a:fillRect/>
                </a:stretch>
              </p:blipFill>
              <p:spPr>
                <a:xfrm>
                  <a:off x="6479595" y="4263366"/>
                  <a:ext cx="1774508" cy="1330880"/>
                </a:xfrm>
                <a:prstGeom prst="rect">
                  <a:avLst/>
                </a:prstGeom>
                <a:ln w="3175">
                  <a:solidFill>
                    <a:prstClr val="ltGray"/>
                  </a:solidFill>
                </a:ln>
              </p:spPr>
            </p:pic>
          </p:grpSp>
        </mc:Fallback>
      </mc:AlternateContent>
      <p:pic>
        <p:nvPicPr>
          <p:cNvPr id="6" name="Picture 6">
            <a:extLst>
              <a:ext uri="{FF2B5EF4-FFF2-40B4-BE49-F238E27FC236}">
                <a16:creationId xmlns:a16="http://schemas.microsoft.com/office/drawing/2014/main" id="{22C9C169-1806-1073-6A01-22893B602493}"/>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039052" y="6040593"/>
            <a:ext cx="1065896" cy="452281"/>
          </a:xfrm>
          <a:prstGeom prst="rect">
            <a:avLst/>
          </a:prstGeom>
        </p:spPr>
      </p:pic>
    </p:spTree>
    <p:extLst>
      <p:ext uri="{BB962C8B-B14F-4D97-AF65-F5344CB8AC3E}">
        <p14:creationId xmlns:p14="http://schemas.microsoft.com/office/powerpoint/2010/main" val="1194395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FC0638-1608-F014-947E-41EAAA6DD412}"/>
              </a:ext>
            </a:extLst>
          </p:cNvPr>
          <p:cNvSpPr>
            <a:spLocks noGrp="1"/>
          </p:cNvSpPr>
          <p:nvPr>
            <p:ph type="ctrTitle"/>
          </p:nvPr>
        </p:nvSpPr>
        <p:spPr/>
        <p:txBody>
          <a:bodyPr>
            <a:normAutofit/>
          </a:bodyPr>
          <a:lstStyle/>
          <a:p>
            <a:r>
              <a:rPr lang="es-ES" dirty="0"/>
              <a:t>PROGRAMACIÓ </a:t>
            </a:r>
            <a:br>
              <a:rPr lang="es-ES" dirty="0"/>
            </a:br>
            <a:r>
              <a:rPr lang="es-ES" dirty="0"/>
              <a:t>EN C</a:t>
            </a:r>
          </a:p>
        </p:txBody>
      </p:sp>
    </p:spTree>
    <p:extLst>
      <p:ext uri="{BB962C8B-B14F-4D97-AF65-F5344CB8AC3E}">
        <p14:creationId xmlns:p14="http://schemas.microsoft.com/office/powerpoint/2010/main" val="598886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a-ES" b="0" dirty="0"/>
              <a:t>FONAMENTS DE PROGRAMACIÓ </a:t>
            </a:r>
            <a:endParaRPr lang="ca-ES" dirty="0"/>
          </a:p>
        </p:txBody>
      </p:sp>
      <p:sp>
        <p:nvSpPr>
          <p:cNvPr id="3" name="Content Placeholder 2"/>
          <p:cNvSpPr>
            <a:spLocks noGrp="1"/>
          </p:cNvSpPr>
          <p:nvPr>
            <p:ph idx="1"/>
          </p:nvPr>
        </p:nvSpPr>
        <p:spPr/>
        <p:txBody>
          <a:bodyPr/>
          <a:lstStyle/>
          <a:p>
            <a:r>
              <a:rPr lang="ca-ES" sz="2000" dirty="0"/>
              <a:t>La feina de programar és una cosa que tots fem cada dia inconscientment. Un programa no és més que una seqüència d’instruccions, ordres, accions, etc. que s’han de realitzar per tal d’aconseguir un objectiu. </a:t>
            </a:r>
          </a:p>
          <a:p>
            <a:r>
              <a:rPr lang="ca-ES" sz="2000" dirty="0"/>
              <a:t>Per tal de realitzar aquestes instruccions, fan falta determinats objectes, eines, persones, etc</a:t>
            </a:r>
            <a:r>
              <a:rPr lang="ca-ES" dirty="0"/>
              <a:t>. </a:t>
            </a:r>
          </a:p>
        </p:txBody>
      </p:sp>
    </p:spTree>
    <p:extLst>
      <p:ext uri="{BB962C8B-B14F-4D97-AF65-F5344CB8AC3E}">
        <p14:creationId xmlns:p14="http://schemas.microsoft.com/office/powerpoint/2010/main" val="3679646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Programa zapping</a:t>
            </a:r>
            <a:endParaRPr lang="ca-ES" dirty="0"/>
          </a:p>
        </p:txBody>
      </p:sp>
      <p:sp>
        <p:nvSpPr>
          <p:cNvPr id="4" name="TextBox 7">
            <a:extLst>
              <a:ext uri="{FF2B5EF4-FFF2-40B4-BE49-F238E27FC236}">
                <a16:creationId xmlns:a16="http://schemas.microsoft.com/office/drawing/2014/main" id="{CA35FAB6-E36B-EEDE-0A1E-F9304C0EE200}"/>
              </a:ext>
            </a:extLst>
          </p:cNvPr>
          <p:cNvSpPr txBox="1"/>
          <p:nvPr/>
        </p:nvSpPr>
        <p:spPr>
          <a:xfrm>
            <a:off x="361950" y="787400"/>
            <a:ext cx="8637671" cy="5016758"/>
          </a:xfrm>
          <a:prstGeom prst="rect">
            <a:avLst/>
          </a:prstGeom>
          <a:solidFill>
            <a:schemeClr val="bg1"/>
          </a:solidFill>
          <a:ln>
            <a:solidFill>
              <a:schemeClr val="tx1"/>
            </a:solidFill>
            <a:prstDash val="lgDash"/>
          </a:ln>
        </p:spPr>
        <p:txBody>
          <a:bodyPr wrap="square" rtlCol="0">
            <a:spAutoFit/>
          </a:bodyPr>
          <a:lstStyle/>
          <a:p>
            <a:r>
              <a:rPr lang="ca-ES" sz="2000" b="1" u="sng" dirty="0"/>
              <a:t>PROGRAMA</a:t>
            </a:r>
            <a:r>
              <a:rPr lang="ca-ES" sz="2000" b="1" dirty="0"/>
              <a:t> </a:t>
            </a:r>
            <a:r>
              <a:rPr lang="ca-ES" sz="2000" b="1" dirty="0" err="1"/>
              <a:t>zapping</a:t>
            </a:r>
            <a:r>
              <a:rPr lang="ca-ES" sz="2000" b="1" dirty="0"/>
              <a:t> </a:t>
            </a:r>
          </a:p>
          <a:p>
            <a:r>
              <a:rPr lang="ca-ES" sz="2000" u="sng" dirty="0"/>
              <a:t>INICI</a:t>
            </a:r>
            <a:r>
              <a:rPr lang="ca-ES" sz="2000" dirty="0"/>
              <a:t> </a:t>
            </a:r>
          </a:p>
          <a:p>
            <a:pPr>
              <a:tabLst>
                <a:tab pos="355600" algn="l"/>
              </a:tabLst>
            </a:pPr>
            <a:r>
              <a:rPr lang="ca-ES" sz="2000" dirty="0"/>
              <a:t>	Encendre el televisor </a:t>
            </a:r>
          </a:p>
          <a:p>
            <a:pPr>
              <a:tabLst>
                <a:tab pos="355600" algn="l"/>
              </a:tabLst>
            </a:pPr>
            <a:r>
              <a:rPr lang="ca-ES" sz="2000" dirty="0"/>
              <a:t>	Agafar el comandament a distància </a:t>
            </a:r>
          </a:p>
          <a:p>
            <a:pPr>
              <a:tabLst>
                <a:tab pos="355600" algn="l"/>
              </a:tabLst>
            </a:pPr>
            <a:r>
              <a:rPr lang="ca-ES" sz="2000" dirty="0"/>
              <a:t>	Posar-nos còmodes al sofà preferit de casa </a:t>
            </a:r>
          </a:p>
          <a:p>
            <a:pPr>
              <a:tabLst>
                <a:tab pos="355600" algn="l"/>
              </a:tabLst>
            </a:pPr>
            <a:r>
              <a:rPr lang="es-ES" sz="2000" dirty="0"/>
              <a:t>	Seleccionar el primer canal de </a:t>
            </a:r>
            <a:r>
              <a:rPr lang="es-ES" sz="2000" dirty="0" err="1"/>
              <a:t>televisió</a:t>
            </a:r>
            <a:r>
              <a:rPr lang="es-ES" sz="2000" dirty="0"/>
              <a:t> </a:t>
            </a:r>
          </a:p>
          <a:p>
            <a:pPr>
              <a:tabLst>
                <a:tab pos="355600" algn="l"/>
              </a:tabLst>
            </a:pPr>
            <a:r>
              <a:rPr lang="ca-ES" sz="2000" dirty="0"/>
              <a:t>	</a:t>
            </a:r>
            <a:r>
              <a:rPr lang="ca-ES" sz="2000" u="sng" dirty="0"/>
              <a:t>MENTRE</a:t>
            </a:r>
            <a:r>
              <a:rPr lang="ca-ES" sz="2000" dirty="0"/>
              <a:t> </a:t>
            </a:r>
            <a:r>
              <a:rPr lang="ca-ES" sz="2000" b="1" u="sng" dirty="0"/>
              <a:t>NO</a:t>
            </a:r>
            <a:r>
              <a:rPr lang="ca-ES" sz="2000" dirty="0"/>
              <a:t> ens agradi el programa i </a:t>
            </a:r>
            <a:r>
              <a:rPr lang="ca-ES" sz="2000" b="1" dirty="0"/>
              <a:t>NO</a:t>
            </a:r>
            <a:r>
              <a:rPr lang="ca-ES" sz="2000" dirty="0"/>
              <a:t> ens cansem de canviar canals fer </a:t>
            </a:r>
          </a:p>
          <a:p>
            <a:pPr>
              <a:tabLst>
                <a:tab pos="355600" algn="l"/>
              </a:tabLst>
            </a:pPr>
            <a:r>
              <a:rPr lang="ca-ES" sz="2000" dirty="0"/>
              <a:t>		Canviar canal </a:t>
            </a:r>
          </a:p>
          <a:p>
            <a:pPr>
              <a:tabLst>
                <a:tab pos="355600" algn="l"/>
              </a:tabLst>
            </a:pPr>
            <a:r>
              <a:rPr lang="ca-ES" sz="2000" dirty="0"/>
              <a:t>	</a:t>
            </a:r>
            <a:r>
              <a:rPr lang="ca-ES" sz="2000" u="sng" dirty="0"/>
              <a:t>FI MENTRE</a:t>
            </a:r>
          </a:p>
          <a:p>
            <a:pPr>
              <a:tabLst>
                <a:tab pos="355600" algn="l"/>
              </a:tabLst>
            </a:pPr>
            <a:r>
              <a:rPr lang="es-ES" sz="2000" dirty="0"/>
              <a:t>	</a:t>
            </a:r>
            <a:r>
              <a:rPr lang="es-ES" sz="2000" u="sng" dirty="0"/>
              <a:t>SI</a:t>
            </a:r>
            <a:r>
              <a:rPr lang="es-ES" sz="2000" dirty="0"/>
              <a:t> </a:t>
            </a:r>
            <a:r>
              <a:rPr lang="es-ES" sz="2000" dirty="0" err="1"/>
              <a:t>ens</a:t>
            </a:r>
            <a:r>
              <a:rPr lang="es-ES" sz="2000" dirty="0"/>
              <a:t> agrada el programa </a:t>
            </a:r>
            <a:r>
              <a:rPr lang="es-ES" sz="2000" u="sng" dirty="0"/>
              <a:t>LLAVORS</a:t>
            </a:r>
          </a:p>
          <a:p>
            <a:pPr>
              <a:tabLst>
                <a:tab pos="355600" algn="l"/>
              </a:tabLst>
            </a:pPr>
            <a:r>
              <a:rPr lang="it-IT" sz="2000" dirty="0"/>
              <a:t>		Veure programa del canal seleccionat </a:t>
            </a:r>
          </a:p>
          <a:p>
            <a:pPr>
              <a:tabLst>
                <a:tab pos="355600" algn="l"/>
              </a:tabLst>
            </a:pPr>
            <a:r>
              <a:rPr lang="ca-ES" sz="2000" dirty="0"/>
              <a:t>	</a:t>
            </a:r>
            <a:r>
              <a:rPr lang="ca-ES" sz="2000" u="sng" dirty="0"/>
              <a:t>SINO</a:t>
            </a:r>
            <a:r>
              <a:rPr lang="ca-ES" sz="2000" dirty="0"/>
              <a:t> </a:t>
            </a:r>
          </a:p>
          <a:p>
            <a:pPr>
              <a:tabLst>
                <a:tab pos="355600" algn="l"/>
              </a:tabLst>
            </a:pPr>
            <a:r>
              <a:rPr lang="ca-ES" sz="2000" dirty="0"/>
              <a:t>		Apagar el televisor </a:t>
            </a:r>
          </a:p>
          <a:p>
            <a:pPr>
              <a:tabLst>
                <a:tab pos="355600" algn="l"/>
              </a:tabLst>
            </a:pPr>
            <a:r>
              <a:rPr lang="es-ES" sz="2000" dirty="0"/>
              <a:t>		</a:t>
            </a:r>
            <a:r>
              <a:rPr lang="es-ES" sz="2000" dirty="0" err="1"/>
              <a:t>Llegir</a:t>
            </a:r>
            <a:r>
              <a:rPr lang="es-ES" sz="2000" dirty="0"/>
              <a:t> un </a:t>
            </a:r>
            <a:r>
              <a:rPr lang="es-ES" sz="2000" dirty="0" err="1"/>
              <a:t>llibre</a:t>
            </a:r>
            <a:r>
              <a:rPr lang="es-ES" sz="2000" dirty="0"/>
              <a:t> //</a:t>
            </a:r>
            <a:r>
              <a:rPr lang="es-ES" sz="2000" dirty="0" err="1"/>
              <a:t>Això</a:t>
            </a:r>
            <a:r>
              <a:rPr lang="es-ES" sz="2000" dirty="0"/>
              <a:t> </a:t>
            </a:r>
            <a:r>
              <a:rPr lang="es-ES" sz="2000" dirty="0" err="1"/>
              <a:t>pot</a:t>
            </a:r>
            <a:r>
              <a:rPr lang="es-ES" sz="2000" dirty="0"/>
              <a:t> </a:t>
            </a:r>
            <a:r>
              <a:rPr lang="es-ES" sz="2000" dirty="0" err="1"/>
              <a:t>canviar</a:t>
            </a:r>
            <a:r>
              <a:rPr lang="es-ES" sz="2000" dirty="0"/>
              <a:t> </a:t>
            </a:r>
            <a:r>
              <a:rPr lang="es-ES" sz="2000" dirty="0" err="1"/>
              <a:t>depenent</a:t>
            </a:r>
            <a:r>
              <a:rPr lang="es-ES" sz="2000" dirty="0"/>
              <a:t> de la persona </a:t>
            </a:r>
          </a:p>
          <a:p>
            <a:pPr>
              <a:tabLst>
                <a:tab pos="355600" algn="l"/>
              </a:tabLst>
            </a:pPr>
            <a:r>
              <a:rPr lang="ca-ES" sz="2000" dirty="0"/>
              <a:t>	</a:t>
            </a:r>
            <a:r>
              <a:rPr lang="ca-ES" sz="2000" u="sng" dirty="0"/>
              <a:t>FI SI</a:t>
            </a:r>
          </a:p>
          <a:p>
            <a:r>
              <a:rPr lang="ca-ES" sz="2000" dirty="0"/>
              <a:t>FI PROGRAMA</a:t>
            </a:r>
          </a:p>
        </p:txBody>
      </p:sp>
    </p:spTree>
    <p:extLst>
      <p:ext uri="{BB962C8B-B14F-4D97-AF65-F5344CB8AC3E}">
        <p14:creationId xmlns:p14="http://schemas.microsoft.com/office/powerpoint/2010/main" val="517235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Comentaris</a:t>
            </a:r>
            <a:r>
              <a:rPr lang="es-ES" dirty="0"/>
              <a:t> del programa Zapping</a:t>
            </a:r>
            <a:endParaRPr lang="ca-ES" dirty="0"/>
          </a:p>
        </p:txBody>
      </p:sp>
      <p:sp>
        <p:nvSpPr>
          <p:cNvPr id="3" name="Content Placeholder 2"/>
          <p:cNvSpPr>
            <a:spLocks noGrp="1"/>
          </p:cNvSpPr>
          <p:nvPr>
            <p:ph idx="1"/>
          </p:nvPr>
        </p:nvSpPr>
        <p:spPr/>
        <p:txBody>
          <a:bodyPr>
            <a:normAutofit/>
          </a:bodyPr>
          <a:lstStyle/>
          <a:p>
            <a:r>
              <a:rPr lang="pt-BR" sz="2000" dirty="0"/>
              <a:t>En aquest programa podem distingir que hi ha paraules subratllades. </a:t>
            </a:r>
            <a:r>
              <a:rPr lang="ca-ES" sz="2000" dirty="0"/>
              <a:t>Aquestes paraules especials formen part del llenguatge de programació.</a:t>
            </a:r>
          </a:p>
          <a:p>
            <a:r>
              <a:rPr lang="ca-ES" sz="2000" dirty="0"/>
              <a:t>Podem veure també que per tal de realitzar les diferents instruccions (o accions) ens fan falta objectes. En el cas de la instrucció </a:t>
            </a:r>
            <a:r>
              <a:rPr lang="ca-ES" sz="2000" i="1" dirty="0"/>
              <a:t>encendre el televisor </a:t>
            </a:r>
            <a:r>
              <a:rPr lang="ca-ES" sz="2000" dirty="0"/>
              <a:t>ens cal un televisor</a:t>
            </a:r>
            <a:r>
              <a:rPr lang="es-ES" sz="2000" dirty="0"/>
              <a:t>.</a:t>
            </a:r>
            <a:r>
              <a:rPr lang="ca-ES" sz="2000" dirty="0"/>
              <a:t> </a:t>
            </a:r>
            <a:r>
              <a:rPr lang="pt-BR" sz="2000" dirty="0"/>
              <a:t> </a:t>
            </a:r>
            <a:endParaRPr lang="ca-ES" sz="2000" dirty="0"/>
          </a:p>
        </p:txBody>
      </p:sp>
    </p:spTree>
    <p:extLst>
      <p:ext uri="{BB962C8B-B14F-4D97-AF65-F5344CB8AC3E}">
        <p14:creationId xmlns:p14="http://schemas.microsoft.com/office/powerpoint/2010/main" val="364812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Concepte</a:t>
            </a:r>
            <a:r>
              <a:rPr lang="es-ES" dirty="0"/>
              <a:t> de programa</a:t>
            </a:r>
            <a:endParaRPr lang="ca-ES" dirty="0"/>
          </a:p>
        </p:txBody>
      </p:sp>
      <p:sp>
        <p:nvSpPr>
          <p:cNvPr id="3" name="Content Placeholder 2"/>
          <p:cNvSpPr>
            <a:spLocks noGrp="1"/>
          </p:cNvSpPr>
          <p:nvPr>
            <p:ph idx="1"/>
          </p:nvPr>
        </p:nvSpPr>
        <p:spPr/>
        <p:txBody>
          <a:bodyPr/>
          <a:lstStyle/>
          <a:p>
            <a:r>
              <a:rPr lang="es-ES" sz="2000" dirty="0"/>
              <a:t>A </a:t>
            </a:r>
            <a:r>
              <a:rPr lang="es-ES" sz="2000" dirty="0" err="1"/>
              <a:t>informàtica</a:t>
            </a:r>
            <a:r>
              <a:rPr lang="es-ES" sz="2000" dirty="0"/>
              <a:t>, un programa </a:t>
            </a:r>
            <a:r>
              <a:rPr lang="es-ES" sz="2000" dirty="0" err="1"/>
              <a:t>és</a:t>
            </a:r>
            <a:r>
              <a:rPr lang="es-ES" sz="2000" dirty="0"/>
              <a:t> una </a:t>
            </a:r>
            <a:r>
              <a:rPr lang="es-ES" sz="2000" dirty="0" err="1"/>
              <a:t>seqüència</a:t>
            </a:r>
            <a:r>
              <a:rPr lang="es-ES" sz="2000" dirty="0"/>
              <a:t> </a:t>
            </a:r>
            <a:r>
              <a:rPr lang="es-ES" sz="2000" dirty="0" err="1"/>
              <a:t>d’instruccions</a:t>
            </a:r>
            <a:r>
              <a:rPr lang="es-ES" sz="2000" dirty="0"/>
              <a:t> que </a:t>
            </a:r>
            <a:r>
              <a:rPr lang="es-ES" sz="2000" dirty="0" err="1"/>
              <a:t>l’ordinador</a:t>
            </a:r>
            <a:r>
              <a:rPr lang="es-ES" sz="2000" dirty="0"/>
              <a:t> ha </a:t>
            </a:r>
            <a:r>
              <a:rPr lang="es-ES" sz="2000" dirty="0" err="1"/>
              <a:t>d’executar</a:t>
            </a:r>
            <a:r>
              <a:rPr lang="es-ES" sz="2000" dirty="0"/>
              <a:t> per tal de </a:t>
            </a:r>
            <a:r>
              <a:rPr lang="es-ES" sz="2000" dirty="0" err="1"/>
              <a:t>produir</a:t>
            </a:r>
            <a:r>
              <a:rPr lang="es-ES" sz="2000" dirty="0"/>
              <a:t> un </a:t>
            </a:r>
            <a:r>
              <a:rPr lang="es-ES" sz="2000" dirty="0" err="1"/>
              <a:t>resultat</a:t>
            </a:r>
            <a:r>
              <a:rPr lang="es-ES" sz="2000" dirty="0"/>
              <a:t>. </a:t>
            </a:r>
            <a:r>
              <a:rPr lang="pt-BR" sz="2000" dirty="0"/>
              <a:t>Com a l’exemple anterior, moltes d’aquestes instruccions necessiten uns objectes. </a:t>
            </a:r>
            <a:r>
              <a:rPr lang="ca-ES" sz="2000" dirty="0"/>
              <a:t>En informàtica, aquests objectes necessitats per poder realitzar les instruccions, s’anomenen les dades.</a:t>
            </a:r>
          </a:p>
          <a:p>
            <a:r>
              <a:rPr lang="es-ES" sz="2000" dirty="0" err="1"/>
              <a:t>Així</a:t>
            </a:r>
            <a:r>
              <a:rPr lang="es-ES" sz="2000" dirty="0"/>
              <a:t>, un programa </a:t>
            </a:r>
            <a:r>
              <a:rPr lang="es-ES" sz="2000" dirty="0" err="1"/>
              <a:t>d’ordinador</a:t>
            </a:r>
            <a:r>
              <a:rPr lang="es-ES" sz="2000" dirty="0"/>
              <a:t> es una </a:t>
            </a:r>
            <a:r>
              <a:rPr lang="es-ES" sz="2000" dirty="0" err="1"/>
              <a:t>sèrie</a:t>
            </a:r>
            <a:r>
              <a:rPr lang="es-ES" sz="2000" dirty="0"/>
              <a:t> </a:t>
            </a:r>
            <a:r>
              <a:rPr lang="es-ES" sz="2000" dirty="0" err="1"/>
              <a:t>d’instruccions</a:t>
            </a:r>
            <a:r>
              <a:rPr lang="es-ES" sz="2000" dirty="0"/>
              <a:t> que </a:t>
            </a:r>
            <a:r>
              <a:rPr lang="es-ES" sz="2000" dirty="0" err="1"/>
              <a:t>actuen</a:t>
            </a:r>
            <a:r>
              <a:rPr lang="es-ES" sz="2000" dirty="0"/>
              <a:t> sobre unes </a:t>
            </a:r>
            <a:r>
              <a:rPr lang="es-ES" sz="2000" dirty="0" err="1"/>
              <a:t>dades</a:t>
            </a:r>
            <a:r>
              <a:rPr lang="es-ES" sz="2000" dirty="0"/>
              <a:t>, i </a:t>
            </a:r>
            <a:r>
              <a:rPr lang="es-ES" sz="2000" dirty="0" err="1"/>
              <a:t>produeixen</a:t>
            </a:r>
            <a:r>
              <a:rPr lang="es-ES" sz="2000" dirty="0"/>
              <a:t> un </a:t>
            </a:r>
            <a:r>
              <a:rPr lang="es-ES" sz="2000" dirty="0" err="1"/>
              <a:t>resultat</a:t>
            </a:r>
            <a:r>
              <a:rPr lang="es-ES" sz="2000" dirty="0"/>
              <a:t>. </a:t>
            </a:r>
            <a:r>
              <a:rPr lang="es-ES" sz="2000" dirty="0" err="1"/>
              <a:t>L’esquema</a:t>
            </a:r>
            <a:r>
              <a:rPr lang="es-ES" sz="2000" dirty="0"/>
              <a:t> </a:t>
            </a:r>
            <a:r>
              <a:rPr lang="es-ES" sz="2000" dirty="0" err="1"/>
              <a:t>bàsic</a:t>
            </a:r>
            <a:r>
              <a:rPr lang="es-ES" sz="2000" dirty="0"/>
              <a:t> </a:t>
            </a:r>
            <a:r>
              <a:rPr lang="es-ES" sz="2000" dirty="0" err="1"/>
              <a:t>d’un</a:t>
            </a:r>
            <a:r>
              <a:rPr lang="es-ES" sz="2000" dirty="0"/>
              <a:t> programa </a:t>
            </a:r>
            <a:r>
              <a:rPr lang="es-ES" sz="2000" dirty="0" err="1"/>
              <a:t>d’ordinador</a:t>
            </a:r>
            <a:r>
              <a:rPr lang="es-ES" sz="2000" dirty="0"/>
              <a:t> </a:t>
            </a:r>
            <a:r>
              <a:rPr lang="es-ES" sz="2000" dirty="0" err="1"/>
              <a:t>és</a:t>
            </a:r>
            <a:r>
              <a:rPr lang="es-ES" sz="2000" dirty="0"/>
              <a:t> el </a:t>
            </a:r>
            <a:r>
              <a:rPr lang="es-ES" sz="2000" dirty="0" err="1"/>
              <a:t>següent</a:t>
            </a:r>
            <a:r>
              <a:rPr lang="es-ES" sz="2000" dirty="0"/>
              <a:t>: </a:t>
            </a:r>
            <a:r>
              <a:rPr lang="ca-ES" sz="2000" dirty="0"/>
              <a:t> </a:t>
            </a:r>
            <a:endParaRPr lang="es-ES" sz="2000" dirty="0"/>
          </a:p>
          <a:p>
            <a:endParaRPr lang="ca-ES" dirty="0"/>
          </a:p>
        </p:txBody>
      </p:sp>
      <p:graphicFrame>
        <p:nvGraphicFramePr>
          <p:cNvPr id="6" name="Diagram 5"/>
          <p:cNvGraphicFramePr/>
          <p:nvPr>
            <p:extLst>
              <p:ext uri="{D42A27DB-BD31-4B8C-83A1-F6EECF244321}">
                <p14:modId xmlns:p14="http://schemas.microsoft.com/office/powerpoint/2010/main" val="2143254031"/>
              </p:ext>
            </p:extLst>
          </p:nvPr>
        </p:nvGraphicFramePr>
        <p:xfrm>
          <a:off x="1524000" y="2921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361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BF0764FD-199A-44C3-BB7A-D920CC70364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03F42E59-E6F5-4A0A-8D6B-C945FF460540}"/>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DD0B8294-6661-4E46-8D75-5261F03B60D2}"/>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CCF6C4-9EEC-BF28-3F6B-49C791F8C251}"/>
              </a:ext>
            </a:extLst>
          </p:cNvPr>
          <p:cNvSpPr>
            <a:spLocks noGrp="1"/>
          </p:cNvSpPr>
          <p:nvPr>
            <p:ph type="title"/>
          </p:nvPr>
        </p:nvSpPr>
        <p:spPr/>
        <p:txBody>
          <a:bodyPr/>
          <a:lstStyle/>
          <a:p>
            <a:r>
              <a:rPr lang="es-ES" dirty="0" err="1"/>
              <a:t>Repàs</a:t>
            </a:r>
            <a:r>
              <a:rPr lang="es-ES" dirty="0"/>
              <a:t> de </a:t>
            </a:r>
            <a:r>
              <a:rPr lang="es-ES" dirty="0" err="1"/>
              <a:t>lògica</a:t>
            </a:r>
            <a:endParaRPr lang="es-ES" dirty="0"/>
          </a:p>
        </p:txBody>
      </p:sp>
      <p:sp>
        <p:nvSpPr>
          <p:cNvPr id="3" name="Marcador de contenido 2">
            <a:extLst>
              <a:ext uri="{FF2B5EF4-FFF2-40B4-BE49-F238E27FC236}">
                <a16:creationId xmlns:a16="http://schemas.microsoft.com/office/drawing/2014/main" id="{78BF4B72-7CE4-F76F-5164-602D9E6B66CF}"/>
              </a:ext>
            </a:extLst>
          </p:cNvPr>
          <p:cNvSpPr>
            <a:spLocks noGrp="1"/>
          </p:cNvSpPr>
          <p:nvPr>
            <p:ph idx="1"/>
          </p:nvPr>
        </p:nvSpPr>
        <p:spPr>
          <a:xfrm>
            <a:off x="361950" y="939800"/>
            <a:ext cx="8534401" cy="5085615"/>
          </a:xfrm>
        </p:spPr>
        <p:txBody>
          <a:bodyPr/>
          <a:lstStyle/>
          <a:p>
            <a:r>
              <a:rPr lang="es-ES" sz="2000" dirty="0"/>
              <a:t>La </a:t>
            </a:r>
            <a:r>
              <a:rPr lang="es-ES" sz="2000" dirty="0" err="1"/>
              <a:t>lògica</a:t>
            </a:r>
            <a:r>
              <a:rPr lang="es-ES" sz="2000" dirty="0"/>
              <a:t> es basa en </a:t>
            </a:r>
            <a:r>
              <a:rPr lang="es-ES" sz="2000" dirty="0" err="1"/>
              <a:t>predicats</a:t>
            </a:r>
            <a:r>
              <a:rPr lang="es-ES" sz="2000" dirty="0"/>
              <a:t> que poden ser </a:t>
            </a:r>
            <a:r>
              <a:rPr lang="es-ES" sz="2000" dirty="0" err="1"/>
              <a:t>certs</a:t>
            </a:r>
            <a:r>
              <a:rPr lang="es-ES" sz="2000" dirty="0"/>
              <a:t> o falsos. Un </a:t>
            </a:r>
            <a:r>
              <a:rPr lang="es-ES" sz="2000" dirty="0" err="1"/>
              <a:t>predicat</a:t>
            </a:r>
            <a:r>
              <a:rPr lang="es-ES" sz="2000" dirty="0"/>
              <a:t> </a:t>
            </a:r>
            <a:r>
              <a:rPr lang="es-ES" sz="2000" dirty="0" err="1"/>
              <a:t>és</a:t>
            </a:r>
            <a:r>
              <a:rPr lang="es-ES" sz="2000" dirty="0"/>
              <a:t> una frase, </a:t>
            </a:r>
            <a:r>
              <a:rPr lang="es-ES" sz="2000" dirty="0" err="1"/>
              <a:t>com</a:t>
            </a:r>
            <a:r>
              <a:rPr lang="es-ES" sz="2000" dirty="0"/>
              <a:t> per </a:t>
            </a:r>
            <a:r>
              <a:rPr lang="es-ES" sz="2000" dirty="0" err="1"/>
              <a:t>exemple</a:t>
            </a:r>
            <a:r>
              <a:rPr lang="es-ES" sz="2000" dirty="0"/>
              <a:t>: </a:t>
            </a:r>
          </a:p>
          <a:p>
            <a:pPr lvl="1">
              <a:spcBef>
                <a:spcPts val="1200"/>
              </a:spcBef>
            </a:pPr>
            <a:r>
              <a:rPr lang="ca-ES" sz="1600" dirty="0">
                <a:solidFill>
                  <a:srgbClr val="FF0000"/>
                </a:solidFill>
              </a:rPr>
              <a:t>“La Terra es mou al voltant del Sol”</a:t>
            </a:r>
          </a:p>
          <a:p>
            <a:pPr lvl="1">
              <a:spcBef>
                <a:spcPts val="1200"/>
              </a:spcBef>
            </a:pPr>
            <a:r>
              <a:rPr lang="es-ES" sz="1600" dirty="0">
                <a:solidFill>
                  <a:srgbClr val="FF0000"/>
                </a:solidFill>
              </a:rPr>
              <a:t>“</a:t>
            </a:r>
            <a:r>
              <a:rPr lang="es-ES" sz="1600" dirty="0" err="1">
                <a:solidFill>
                  <a:srgbClr val="FF0000"/>
                </a:solidFill>
              </a:rPr>
              <a:t>Mart</a:t>
            </a:r>
            <a:r>
              <a:rPr lang="es-ES" sz="1600" dirty="0">
                <a:solidFill>
                  <a:srgbClr val="FF0000"/>
                </a:solidFill>
              </a:rPr>
              <a:t> </a:t>
            </a:r>
            <a:r>
              <a:rPr lang="es-ES" sz="1600" dirty="0" err="1">
                <a:solidFill>
                  <a:srgbClr val="FF0000"/>
                </a:solidFill>
              </a:rPr>
              <a:t>és</a:t>
            </a:r>
            <a:r>
              <a:rPr lang="es-ES" sz="1600" dirty="0">
                <a:solidFill>
                  <a:srgbClr val="FF0000"/>
                </a:solidFill>
              </a:rPr>
              <a:t> el planeta </a:t>
            </a:r>
            <a:r>
              <a:rPr lang="es-ES" sz="1600" dirty="0" err="1">
                <a:solidFill>
                  <a:srgbClr val="FF0000"/>
                </a:solidFill>
              </a:rPr>
              <a:t>més</a:t>
            </a:r>
            <a:r>
              <a:rPr lang="es-ES" sz="1600" dirty="0">
                <a:solidFill>
                  <a:srgbClr val="FF0000"/>
                </a:solidFill>
              </a:rPr>
              <a:t> </a:t>
            </a:r>
            <a:r>
              <a:rPr lang="es-ES" sz="1600" dirty="0" err="1">
                <a:solidFill>
                  <a:srgbClr val="FF0000"/>
                </a:solidFill>
              </a:rPr>
              <a:t>proper</a:t>
            </a:r>
            <a:r>
              <a:rPr lang="es-ES" sz="1600" dirty="0">
                <a:solidFill>
                  <a:srgbClr val="FF0000"/>
                </a:solidFill>
              </a:rPr>
              <a:t> al Sol”</a:t>
            </a:r>
            <a:r>
              <a:rPr lang="es-ES" sz="1600" dirty="0"/>
              <a:t> </a:t>
            </a:r>
          </a:p>
          <a:p>
            <a:pPr lvl="1">
              <a:spcBef>
                <a:spcPts val="1200"/>
              </a:spcBef>
            </a:pPr>
            <a:r>
              <a:rPr lang="es-ES" sz="1600" dirty="0">
                <a:solidFill>
                  <a:srgbClr val="FF0000"/>
                </a:solidFill>
              </a:rPr>
              <a:t>“a + 2 = 4”</a:t>
            </a:r>
            <a:endParaRPr lang="es-ES" sz="2000" dirty="0"/>
          </a:p>
          <a:p>
            <a:endParaRPr lang="es-ES" dirty="0"/>
          </a:p>
        </p:txBody>
      </p:sp>
      <p:sp>
        <p:nvSpPr>
          <p:cNvPr id="5" name="CuadroTexto 4">
            <a:extLst>
              <a:ext uri="{FF2B5EF4-FFF2-40B4-BE49-F238E27FC236}">
                <a16:creationId xmlns:a16="http://schemas.microsoft.com/office/drawing/2014/main" id="{1164552C-CBA7-4E3F-710F-0464B17867CF}"/>
              </a:ext>
            </a:extLst>
          </p:cNvPr>
          <p:cNvSpPr txBox="1"/>
          <p:nvPr/>
        </p:nvSpPr>
        <p:spPr>
          <a:xfrm>
            <a:off x="361950" y="3009205"/>
            <a:ext cx="8695423" cy="2769989"/>
          </a:xfrm>
          <a:prstGeom prst="rect">
            <a:avLst/>
          </a:prstGeom>
          <a:noFill/>
        </p:spPr>
        <p:txBody>
          <a:bodyPr wrap="square">
            <a:spAutoFit/>
          </a:bodyPr>
          <a:lstStyle/>
          <a:p>
            <a:pPr marL="0" indent="0">
              <a:buNone/>
            </a:pPr>
            <a:r>
              <a:rPr lang="en-US" sz="4000" b="1" dirty="0">
                <a:solidFill>
                  <a:srgbClr val="002060"/>
                </a:solidFill>
                <a:latin typeface="+mj-lt"/>
                <a:ea typeface="+mj-ea"/>
                <a:cs typeface="+mj-cs"/>
              </a:rPr>
              <a:t>Connectors </a:t>
            </a:r>
            <a:r>
              <a:rPr lang="en-US" sz="4000" b="1" dirty="0" err="1">
                <a:solidFill>
                  <a:srgbClr val="002060"/>
                </a:solidFill>
                <a:latin typeface="+mj-lt"/>
                <a:ea typeface="+mj-ea"/>
                <a:cs typeface="+mj-cs"/>
              </a:rPr>
              <a:t>lògics</a:t>
            </a:r>
            <a:r>
              <a:rPr lang="en-US" sz="4000" b="1" dirty="0">
                <a:solidFill>
                  <a:srgbClr val="002060"/>
                </a:solidFill>
                <a:latin typeface="+mj-lt"/>
                <a:ea typeface="+mj-ea"/>
                <a:cs typeface="+mj-cs"/>
              </a:rPr>
              <a:t> ( Y, O, NO) </a:t>
            </a: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rPr>
              <a:t>Els connectors </a:t>
            </a:r>
            <a:r>
              <a:rPr lang="en-US" sz="2000" dirty="0" err="1">
                <a:latin typeface="Verdana" panose="020B0604030504040204" pitchFamily="34" charset="0"/>
                <a:ea typeface="Verdana" panose="020B0604030504040204" pitchFamily="34" charset="0"/>
              </a:rPr>
              <a:t>permeten</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juntar</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més</a:t>
            </a:r>
            <a:r>
              <a:rPr lang="en-US" sz="2000" dirty="0">
                <a:latin typeface="Verdana" panose="020B0604030504040204" pitchFamily="34" charset="0"/>
                <a:ea typeface="Verdana" panose="020B0604030504040204" pitchFamily="34" charset="0"/>
              </a:rPr>
              <a:t> d’un </a:t>
            </a:r>
            <a:r>
              <a:rPr lang="en-US" sz="2000" dirty="0" err="1">
                <a:latin typeface="Verdana" panose="020B0604030504040204" pitchFamily="34" charset="0"/>
                <a:ea typeface="Verdana" panose="020B0604030504040204" pitchFamily="34" charset="0"/>
              </a:rPr>
              <a:t>predicat</a:t>
            </a:r>
            <a:r>
              <a:rPr lang="en-US" sz="2000" dirty="0">
                <a:latin typeface="Verdana" panose="020B0604030504040204" pitchFamily="34" charset="0"/>
                <a:ea typeface="Verdana" panose="020B0604030504040204" pitchFamily="34" charset="0"/>
              </a:rPr>
              <a:t>, per </a:t>
            </a:r>
            <a:r>
              <a:rPr lang="en-US" sz="2000" dirty="0" err="1">
                <a:latin typeface="Verdana" panose="020B0604030504040204" pitchFamily="34" charset="0"/>
                <a:ea typeface="Verdana" panose="020B0604030504040204" pitchFamily="34" charset="0"/>
              </a:rPr>
              <a:t>tal</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d’obtenir</a:t>
            </a:r>
            <a:r>
              <a:rPr lang="en-US" sz="2000" dirty="0">
                <a:latin typeface="Verdana" panose="020B0604030504040204" pitchFamily="34" charset="0"/>
                <a:ea typeface="Verdana" panose="020B0604030504040204" pitchFamily="34" charset="0"/>
              </a:rPr>
              <a:t> expressions </a:t>
            </a:r>
            <a:r>
              <a:rPr lang="en-US" sz="2000" dirty="0" err="1">
                <a:latin typeface="Verdana" panose="020B0604030504040204" pitchFamily="34" charset="0"/>
                <a:ea typeface="Verdana" panose="020B0604030504040204" pitchFamily="34" charset="0"/>
              </a:rPr>
              <a:t>més</a:t>
            </a:r>
            <a:r>
              <a:rPr lang="en-US" sz="2000" dirty="0">
                <a:latin typeface="Verdana" panose="020B0604030504040204" pitchFamily="34" charset="0"/>
                <a:ea typeface="Verdana" panose="020B0604030504040204" pitchFamily="34" charset="0"/>
              </a:rPr>
              <a:t> complexes</a:t>
            </a:r>
          </a:p>
          <a:p>
            <a:pPr marL="685800" lvl="1" indent="-228600" defTabSz="914400">
              <a:spcBef>
                <a:spcPts val="1200"/>
              </a:spcBef>
              <a:buFont typeface="Arial" panose="020B0604020202020204" pitchFamily="34" charset="0"/>
              <a:buChar char="•"/>
            </a:pPr>
            <a:r>
              <a:rPr lang="ca-ES" sz="1600" dirty="0">
                <a:solidFill>
                  <a:srgbClr val="FF0000"/>
                </a:solidFill>
                <a:latin typeface="Verdana" panose="020B0604030504040204" pitchFamily="34" charset="0"/>
                <a:ea typeface="Verdana" panose="020B0604030504040204" pitchFamily="34" charset="0"/>
              </a:rPr>
              <a:t>“La Terra es mou al voltant del Sol” </a:t>
            </a:r>
            <a:r>
              <a:rPr lang="ca-ES" sz="1600" dirty="0">
                <a:latin typeface="Verdana" panose="020B0604030504040204" pitchFamily="34" charset="0"/>
                <a:ea typeface="Verdana" panose="020B0604030504040204" pitchFamily="34" charset="0"/>
              </a:rPr>
              <a:t>Y</a:t>
            </a:r>
            <a:r>
              <a:rPr lang="ca-ES" sz="1600" dirty="0">
                <a:solidFill>
                  <a:srgbClr val="FF0000"/>
                </a:solidFill>
                <a:latin typeface="Verdana" panose="020B0604030504040204" pitchFamily="34" charset="0"/>
                <a:ea typeface="Verdana" panose="020B0604030504040204" pitchFamily="34" charset="0"/>
              </a:rPr>
              <a:t> “Mart és el planeta més proper al Sol” </a:t>
            </a:r>
          </a:p>
          <a:p>
            <a:pPr marL="685800" lvl="1" indent="-228600" defTabSz="914400">
              <a:spcBef>
                <a:spcPts val="1200"/>
              </a:spcBef>
              <a:buFont typeface="Arial" panose="020B0604020202020204" pitchFamily="34" charset="0"/>
              <a:buChar char="•"/>
            </a:pPr>
            <a:r>
              <a:rPr lang="ca-ES" sz="1600" dirty="0">
                <a:solidFill>
                  <a:srgbClr val="FF0000"/>
                </a:solidFill>
                <a:latin typeface="Verdana" panose="020B0604030504040204" pitchFamily="34" charset="0"/>
                <a:ea typeface="Verdana" panose="020B0604030504040204" pitchFamily="34" charset="0"/>
              </a:rPr>
              <a:t>“La Terra es mou al voltant del Sol” </a:t>
            </a:r>
            <a:r>
              <a:rPr lang="ca-ES" sz="1600" dirty="0">
                <a:latin typeface="Verdana" panose="020B0604030504040204" pitchFamily="34" charset="0"/>
                <a:ea typeface="Verdana" panose="020B0604030504040204" pitchFamily="34" charset="0"/>
              </a:rPr>
              <a:t>O</a:t>
            </a:r>
            <a:r>
              <a:rPr lang="ca-ES" sz="1600" dirty="0">
                <a:solidFill>
                  <a:srgbClr val="FF0000"/>
                </a:solidFill>
                <a:latin typeface="Verdana" panose="020B0604030504040204" pitchFamily="34" charset="0"/>
                <a:ea typeface="Verdana" panose="020B0604030504040204" pitchFamily="34" charset="0"/>
              </a:rPr>
              <a:t> “Mart és el planeta més proper al Sol” </a:t>
            </a:r>
          </a:p>
          <a:p>
            <a:pPr marL="685800" lvl="1" indent="-228600" defTabSz="914400">
              <a:spcBef>
                <a:spcPts val="1200"/>
              </a:spcBef>
              <a:buFont typeface="Arial" panose="020B0604020202020204" pitchFamily="34" charset="0"/>
              <a:buChar char="•"/>
            </a:pPr>
            <a:r>
              <a:rPr lang="ca-ES" sz="1600" dirty="0">
                <a:latin typeface="Verdana" panose="020B0604030504040204" pitchFamily="34" charset="0"/>
                <a:ea typeface="Verdana" panose="020B0604030504040204" pitchFamily="34" charset="0"/>
              </a:rPr>
              <a:t>NO</a:t>
            </a:r>
            <a:r>
              <a:rPr lang="ca-ES" sz="1600" dirty="0">
                <a:solidFill>
                  <a:srgbClr val="FF0000"/>
                </a:solidFill>
                <a:latin typeface="Verdana" panose="020B0604030504040204" pitchFamily="34" charset="0"/>
                <a:ea typeface="Verdana" panose="020B0604030504040204" pitchFamily="34" charset="0"/>
              </a:rPr>
              <a:t> “La Terra es mou al voltant del Sol”</a:t>
            </a:r>
          </a:p>
        </p:txBody>
      </p:sp>
    </p:spTree>
    <p:extLst>
      <p:ext uri="{BB962C8B-B14F-4D97-AF65-F5344CB8AC3E}">
        <p14:creationId xmlns:p14="http://schemas.microsoft.com/office/powerpoint/2010/main" val="2496889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err="1"/>
              <a:t>Taules</a:t>
            </a:r>
            <a:r>
              <a:rPr lang="es-ES" dirty="0"/>
              <a:t> de </a:t>
            </a:r>
            <a:r>
              <a:rPr lang="es-ES" dirty="0" err="1"/>
              <a:t>veritat</a:t>
            </a:r>
            <a:r>
              <a:rPr lang="es-ES" dirty="0"/>
              <a:t> </a:t>
            </a:r>
            <a:r>
              <a:rPr lang="es-ES" dirty="0" err="1"/>
              <a:t>dels</a:t>
            </a:r>
            <a:r>
              <a:rPr lang="es-ES" dirty="0"/>
              <a:t> </a:t>
            </a:r>
            <a:r>
              <a:rPr lang="es-ES" dirty="0" err="1"/>
              <a:t>connectors</a:t>
            </a:r>
            <a:r>
              <a:rPr lang="es-ES" dirty="0"/>
              <a:t> </a:t>
            </a:r>
            <a:r>
              <a:rPr lang="es-ES" dirty="0" err="1"/>
              <a:t>lògics</a:t>
            </a:r>
            <a:endParaRPr lang="ca-ES" dirty="0"/>
          </a:p>
        </p:txBody>
      </p:sp>
      <p:graphicFrame>
        <p:nvGraphicFramePr>
          <p:cNvPr id="5" name="Table 4"/>
          <p:cNvGraphicFramePr>
            <a:graphicFrameLocks noGrp="1"/>
          </p:cNvGraphicFramePr>
          <p:nvPr>
            <p:extLst>
              <p:ext uri="{D42A27DB-BD31-4B8C-83A1-F6EECF244321}">
                <p14:modId xmlns:p14="http://schemas.microsoft.com/office/powerpoint/2010/main" val="204030285"/>
              </p:ext>
            </p:extLst>
          </p:nvPr>
        </p:nvGraphicFramePr>
        <p:xfrm>
          <a:off x="474646" y="945232"/>
          <a:ext cx="2927349" cy="1879600"/>
        </p:xfrm>
        <a:graphic>
          <a:graphicData uri="http://schemas.openxmlformats.org/drawingml/2006/table">
            <a:tbl>
              <a:tblPr firstRow="1" bandRow="1">
                <a:tableStyleId>{93296810-A885-4BE3-A3E7-6D5BEEA58F35}</a:tableStyleId>
              </a:tblPr>
              <a:tblGrid>
                <a:gridCol w="975783">
                  <a:extLst>
                    <a:ext uri="{9D8B030D-6E8A-4147-A177-3AD203B41FA5}">
                      <a16:colId xmlns:a16="http://schemas.microsoft.com/office/drawing/2014/main" val="1889472603"/>
                    </a:ext>
                  </a:extLst>
                </a:gridCol>
                <a:gridCol w="975783">
                  <a:extLst>
                    <a:ext uri="{9D8B030D-6E8A-4147-A177-3AD203B41FA5}">
                      <a16:colId xmlns:a16="http://schemas.microsoft.com/office/drawing/2014/main" val="747964173"/>
                    </a:ext>
                  </a:extLst>
                </a:gridCol>
                <a:gridCol w="975783">
                  <a:extLst>
                    <a:ext uri="{9D8B030D-6E8A-4147-A177-3AD203B41FA5}">
                      <a16:colId xmlns:a16="http://schemas.microsoft.com/office/drawing/2014/main" val="2326197405"/>
                    </a:ext>
                  </a:extLst>
                </a:gridCol>
              </a:tblGrid>
              <a:tr h="375920">
                <a:tc>
                  <a:txBody>
                    <a:bodyPr/>
                    <a:lstStyle/>
                    <a:p>
                      <a:pPr algn="ctr"/>
                      <a:r>
                        <a:rPr lang="es-ES" dirty="0"/>
                        <a:t>P1</a:t>
                      </a:r>
                      <a:endParaRPr lang="ca-ES" dirty="0"/>
                    </a:p>
                  </a:txBody>
                  <a:tcPr anchor="ctr"/>
                </a:tc>
                <a:tc>
                  <a:txBody>
                    <a:bodyPr/>
                    <a:lstStyle/>
                    <a:p>
                      <a:pPr algn="ctr"/>
                      <a:r>
                        <a:rPr lang="es-ES" dirty="0"/>
                        <a:t>P2</a:t>
                      </a:r>
                      <a:endParaRPr lang="ca-ES" dirty="0"/>
                    </a:p>
                  </a:txBody>
                  <a:tcPr anchor="ctr"/>
                </a:tc>
                <a:tc>
                  <a:txBody>
                    <a:bodyPr/>
                    <a:lstStyle/>
                    <a:p>
                      <a:pPr algn="ctr"/>
                      <a:r>
                        <a:rPr lang="es-ES" dirty="0"/>
                        <a:t>P1 i P2</a:t>
                      </a:r>
                      <a:endParaRPr lang="ca-ES" dirty="0"/>
                    </a:p>
                  </a:txBody>
                  <a:tcPr anchor="ctr"/>
                </a:tc>
                <a:extLst>
                  <a:ext uri="{0D108BD9-81ED-4DB2-BD59-A6C34878D82A}">
                    <a16:rowId xmlns:a16="http://schemas.microsoft.com/office/drawing/2014/main" val="3924431108"/>
                  </a:ext>
                </a:extLst>
              </a:tr>
              <a:tr h="375920">
                <a:tc>
                  <a:txBody>
                    <a:bodyPr/>
                    <a:lstStyle/>
                    <a:p>
                      <a:pPr algn="ctr"/>
                      <a:r>
                        <a:rPr lang="es-ES" dirty="0" err="1"/>
                        <a:t>Fals</a:t>
                      </a:r>
                      <a:endParaRPr lang="ca-ES" dirty="0"/>
                    </a:p>
                  </a:txBody>
                  <a:tcPr anchor="ctr"/>
                </a:tc>
                <a:tc>
                  <a:txBody>
                    <a:bodyPr/>
                    <a:lstStyle/>
                    <a:p>
                      <a:pPr algn="ctr"/>
                      <a:r>
                        <a:rPr lang="es-ES" dirty="0" err="1"/>
                        <a:t>Fals</a:t>
                      </a:r>
                      <a:endParaRPr lang="ca-ES" dirty="0"/>
                    </a:p>
                  </a:txBody>
                  <a:tcPr anchor="ctr"/>
                </a:tc>
                <a:tc>
                  <a:txBody>
                    <a:bodyPr/>
                    <a:lstStyle/>
                    <a:p>
                      <a:pPr algn="ctr"/>
                      <a:r>
                        <a:rPr lang="es-ES" dirty="0" err="1"/>
                        <a:t>Fals</a:t>
                      </a:r>
                      <a:endParaRPr lang="ca-ES" dirty="0"/>
                    </a:p>
                  </a:txBody>
                  <a:tcPr anchor="ctr"/>
                </a:tc>
                <a:extLst>
                  <a:ext uri="{0D108BD9-81ED-4DB2-BD59-A6C34878D82A}">
                    <a16:rowId xmlns:a16="http://schemas.microsoft.com/office/drawing/2014/main" val="3003495056"/>
                  </a:ext>
                </a:extLst>
              </a:tr>
              <a:tr h="375920">
                <a:tc>
                  <a:txBody>
                    <a:bodyPr/>
                    <a:lstStyle/>
                    <a:p>
                      <a:pPr algn="ctr"/>
                      <a:r>
                        <a:rPr lang="es-ES" dirty="0" err="1"/>
                        <a:t>Fals</a:t>
                      </a:r>
                      <a:endParaRPr lang="ca-ES" dirty="0"/>
                    </a:p>
                  </a:txBody>
                  <a:tcPr anchor="ctr"/>
                </a:tc>
                <a:tc>
                  <a:txBody>
                    <a:bodyPr/>
                    <a:lstStyle/>
                    <a:p>
                      <a:pPr algn="ctr"/>
                      <a:r>
                        <a:rPr lang="es-ES" dirty="0" err="1"/>
                        <a:t>Cert</a:t>
                      </a:r>
                      <a:endParaRPr lang="ca-ES" dirty="0"/>
                    </a:p>
                  </a:txBody>
                  <a:tcPr anchor="ctr"/>
                </a:tc>
                <a:tc>
                  <a:txBody>
                    <a:bodyPr/>
                    <a:lstStyle/>
                    <a:p>
                      <a:pPr algn="ctr"/>
                      <a:r>
                        <a:rPr lang="es-ES" dirty="0" err="1"/>
                        <a:t>Fals</a:t>
                      </a:r>
                      <a:endParaRPr lang="ca-ES" dirty="0"/>
                    </a:p>
                  </a:txBody>
                  <a:tcPr anchor="ctr"/>
                </a:tc>
                <a:extLst>
                  <a:ext uri="{0D108BD9-81ED-4DB2-BD59-A6C34878D82A}">
                    <a16:rowId xmlns:a16="http://schemas.microsoft.com/office/drawing/2014/main" val="251681865"/>
                  </a:ext>
                </a:extLst>
              </a:tr>
              <a:tr h="375920">
                <a:tc>
                  <a:txBody>
                    <a:bodyPr/>
                    <a:lstStyle/>
                    <a:p>
                      <a:pPr algn="ctr"/>
                      <a:r>
                        <a:rPr lang="es-ES" dirty="0" err="1"/>
                        <a:t>Cert</a:t>
                      </a:r>
                      <a:endParaRPr lang="ca-ES" dirty="0"/>
                    </a:p>
                  </a:txBody>
                  <a:tcPr anchor="ctr"/>
                </a:tc>
                <a:tc>
                  <a:txBody>
                    <a:bodyPr/>
                    <a:lstStyle/>
                    <a:p>
                      <a:pPr algn="ctr"/>
                      <a:r>
                        <a:rPr lang="es-ES" dirty="0" err="1"/>
                        <a:t>Fals</a:t>
                      </a:r>
                      <a:endParaRPr lang="ca-ES" dirty="0"/>
                    </a:p>
                  </a:txBody>
                  <a:tcPr anchor="ctr"/>
                </a:tc>
                <a:tc>
                  <a:txBody>
                    <a:bodyPr/>
                    <a:lstStyle/>
                    <a:p>
                      <a:pPr algn="ctr"/>
                      <a:r>
                        <a:rPr lang="es-ES" dirty="0" err="1"/>
                        <a:t>Fals</a:t>
                      </a:r>
                      <a:endParaRPr lang="ca-ES" dirty="0"/>
                    </a:p>
                  </a:txBody>
                  <a:tcPr anchor="ctr"/>
                </a:tc>
                <a:extLst>
                  <a:ext uri="{0D108BD9-81ED-4DB2-BD59-A6C34878D82A}">
                    <a16:rowId xmlns:a16="http://schemas.microsoft.com/office/drawing/2014/main" val="1923083778"/>
                  </a:ext>
                </a:extLst>
              </a:tr>
              <a:tr h="375920">
                <a:tc>
                  <a:txBody>
                    <a:bodyPr/>
                    <a:lstStyle/>
                    <a:p>
                      <a:pPr algn="ctr"/>
                      <a:r>
                        <a:rPr lang="es-ES" dirty="0" err="1"/>
                        <a:t>Cert</a:t>
                      </a:r>
                      <a:endParaRPr lang="ca-ES" dirty="0"/>
                    </a:p>
                  </a:txBody>
                  <a:tcPr anchor="ctr"/>
                </a:tc>
                <a:tc>
                  <a:txBody>
                    <a:bodyPr/>
                    <a:lstStyle/>
                    <a:p>
                      <a:pPr algn="ctr"/>
                      <a:r>
                        <a:rPr lang="es-ES" dirty="0" err="1"/>
                        <a:t>Cert</a:t>
                      </a:r>
                      <a:endParaRPr lang="ca-ES" dirty="0"/>
                    </a:p>
                  </a:txBody>
                  <a:tcPr anchor="ctr"/>
                </a:tc>
                <a:tc>
                  <a:txBody>
                    <a:bodyPr/>
                    <a:lstStyle/>
                    <a:p>
                      <a:pPr algn="ctr"/>
                      <a:r>
                        <a:rPr lang="es-ES" dirty="0" err="1"/>
                        <a:t>Cert</a:t>
                      </a:r>
                      <a:endParaRPr lang="ca-ES" dirty="0"/>
                    </a:p>
                  </a:txBody>
                  <a:tcPr anchor="ctr"/>
                </a:tc>
                <a:extLst>
                  <a:ext uri="{0D108BD9-81ED-4DB2-BD59-A6C34878D82A}">
                    <a16:rowId xmlns:a16="http://schemas.microsoft.com/office/drawing/2014/main" val="93863749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841867677"/>
              </p:ext>
            </p:extLst>
          </p:nvPr>
        </p:nvGraphicFramePr>
        <p:xfrm>
          <a:off x="3613661" y="945232"/>
          <a:ext cx="2927349" cy="1879600"/>
        </p:xfrm>
        <a:graphic>
          <a:graphicData uri="http://schemas.openxmlformats.org/drawingml/2006/table">
            <a:tbl>
              <a:tblPr firstRow="1" bandRow="1">
                <a:tableStyleId>{93296810-A885-4BE3-A3E7-6D5BEEA58F35}</a:tableStyleId>
              </a:tblPr>
              <a:tblGrid>
                <a:gridCol w="975783">
                  <a:extLst>
                    <a:ext uri="{9D8B030D-6E8A-4147-A177-3AD203B41FA5}">
                      <a16:colId xmlns:a16="http://schemas.microsoft.com/office/drawing/2014/main" val="1889472603"/>
                    </a:ext>
                  </a:extLst>
                </a:gridCol>
                <a:gridCol w="975783">
                  <a:extLst>
                    <a:ext uri="{9D8B030D-6E8A-4147-A177-3AD203B41FA5}">
                      <a16:colId xmlns:a16="http://schemas.microsoft.com/office/drawing/2014/main" val="747964173"/>
                    </a:ext>
                  </a:extLst>
                </a:gridCol>
                <a:gridCol w="975783">
                  <a:extLst>
                    <a:ext uri="{9D8B030D-6E8A-4147-A177-3AD203B41FA5}">
                      <a16:colId xmlns:a16="http://schemas.microsoft.com/office/drawing/2014/main" val="2326197405"/>
                    </a:ext>
                  </a:extLst>
                </a:gridCol>
              </a:tblGrid>
              <a:tr h="375920">
                <a:tc>
                  <a:txBody>
                    <a:bodyPr/>
                    <a:lstStyle/>
                    <a:p>
                      <a:pPr algn="ctr"/>
                      <a:r>
                        <a:rPr lang="es-ES" dirty="0"/>
                        <a:t>P1</a:t>
                      </a:r>
                      <a:endParaRPr lang="ca-ES" dirty="0"/>
                    </a:p>
                  </a:txBody>
                  <a:tcPr anchor="ctr"/>
                </a:tc>
                <a:tc>
                  <a:txBody>
                    <a:bodyPr/>
                    <a:lstStyle/>
                    <a:p>
                      <a:pPr algn="ctr"/>
                      <a:r>
                        <a:rPr lang="es-ES" dirty="0"/>
                        <a:t>P2</a:t>
                      </a:r>
                      <a:endParaRPr lang="ca-ES" dirty="0"/>
                    </a:p>
                  </a:txBody>
                  <a:tcPr anchor="ctr"/>
                </a:tc>
                <a:tc>
                  <a:txBody>
                    <a:bodyPr/>
                    <a:lstStyle/>
                    <a:p>
                      <a:pPr algn="ctr"/>
                      <a:r>
                        <a:rPr lang="es-ES" dirty="0"/>
                        <a:t>P1 o P2</a:t>
                      </a:r>
                      <a:endParaRPr lang="ca-ES" dirty="0"/>
                    </a:p>
                  </a:txBody>
                  <a:tcPr anchor="ctr"/>
                </a:tc>
                <a:extLst>
                  <a:ext uri="{0D108BD9-81ED-4DB2-BD59-A6C34878D82A}">
                    <a16:rowId xmlns:a16="http://schemas.microsoft.com/office/drawing/2014/main" val="3924431108"/>
                  </a:ext>
                </a:extLst>
              </a:tr>
              <a:tr h="375920">
                <a:tc>
                  <a:txBody>
                    <a:bodyPr/>
                    <a:lstStyle/>
                    <a:p>
                      <a:pPr algn="ctr"/>
                      <a:r>
                        <a:rPr lang="es-ES" dirty="0" err="1"/>
                        <a:t>Fals</a:t>
                      </a:r>
                      <a:endParaRPr lang="ca-ES" dirty="0"/>
                    </a:p>
                  </a:txBody>
                  <a:tcPr anchor="ctr"/>
                </a:tc>
                <a:tc>
                  <a:txBody>
                    <a:bodyPr/>
                    <a:lstStyle/>
                    <a:p>
                      <a:pPr algn="ctr"/>
                      <a:r>
                        <a:rPr lang="es-ES" dirty="0" err="1"/>
                        <a:t>Fals</a:t>
                      </a:r>
                      <a:endParaRPr lang="ca-ES" dirty="0"/>
                    </a:p>
                  </a:txBody>
                  <a:tcPr anchor="ctr"/>
                </a:tc>
                <a:tc>
                  <a:txBody>
                    <a:bodyPr/>
                    <a:lstStyle/>
                    <a:p>
                      <a:pPr algn="ctr"/>
                      <a:r>
                        <a:rPr lang="es-ES" dirty="0" err="1"/>
                        <a:t>Fals</a:t>
                      </a:r>
                      <a:endParaRPr lang="ca-ES" dirty="0"/>
                    </a:p>
                  </a:txBody>
                  <a:tcPr anchor="ctr"/>
                </a:tc>
                <a:extLst>
                  <a:ext uri="{0D108BD9-81ED-4DB2-BD59-A6C34878D82A}">
                    <a16:rowId xmlns:a16="http://schemas.microsoft.com/office/drawing/2014/main" val="3003495056"/>
                  </a:ext>
                </a:extLst>
              </a:tr>
              <a:tr h="375920">
                <a:tc>
                  <a:txBody>
                    <a:bodyPr/>
                    <a:lstStyle/>
                    <a:p>
                      <a:pPr algn="ctr"/>
                      <a:r>
                        <a:rPr lang="es-ES" dirty="0" err="1"/>
                        <a:t>Fals</a:t>
                      </a:r>
                      <a:endParaRPr lang="ca-ES" dirty="0"/>
                    </a:p>
                  </a:txBody>
                  <a:tcPr anchor="ctr"/>
                </a:tc>
                <a:tc>
                  <a:txBody>
                    <a:bodyPr/>
                    <a:lstStyle/>
                    <a:p>
                      <a:pPr algn="ctr"/>
                      <a:r>
                        <a:rPr lang="es-ES" dirty="0" err="1"/>
                        <a:t>Cert</a:t>
                      </a:r>
                      <a:endParaRPr lang="ca-ES" dirty="0"/>
                    </a:p>
                  </a:txBody>
                  <a:tcPr anchor="ctr"/>
                </a:tc>
                <a:tc>
                  <a:txBody>
                    <a:bodyPr/>
                    <a:lstStyle/>
                    <a:p>
                      <a:pPr algn="ctr"/>
                      <a:r>
                        <a:rPr lang="es-ES" dirty="0" err="1"/>
                        <a:t>Cert</a:t>
                      </a:r>
                      <a:endParaRPr lang="ca-ES" dirty="0"/>
                    </a:p>
                  </a:txBody>
                  <a:tcPr anchor="ctr"/>
                </a:tc>
                <a:extLst>
                  <a:ext uri="{0D108BD9-81ED-4DB2-BD59-A6C34878D82A}">
                    <a16:rowId xmlns:a16="http://schemas.microsoft.com/office/drawing/2014/main" val="251681865"/>
                  </a:ext>
                </a:extLst>
              </a:tr>
              <a:tr h="375920">
                <a:tc>
                  <a:txBody>
                    <a:bodyPr/>
                    <a:lstStyle/>
                    <a:p>
                      <a:pPr algn="ctr"/>
                      <a:r>
                        <a:rPr lang="es-ES" dirty="0" err="1"/>
                        <a:t>Cert</a:t>
                      </a:r>
                      <a:endParaRPr lang="ca-ES" dirty="0"/>
                    </a:p>
                  </a:txBody>
                  <a:tcPr anchor="ctr"/>
                </a:tc>
                <a:tc>
                  <a:txBody>
                    <a:bodyPr/>
                    <a:lstStyle/>
                    <a:p>
                      <a:pPr algn="ctr"/>
                      <a:r>
                        <a:rPr lang="es-ES" dirty="0" err="1"/>
                        <a:t>Fals</a:t>
                      </a:r>
                      <a:endParaRPr lang="ca-ES" dirty="0"/>
                    </a:p>
                  </a:txBody>
                  <a:tcPr anchor="ctr"/>
                </a:tc>
                <a:tc>
                  <a:txBody>
                    <a:bodyPr/>
                    <a:lstStyle/>
                    <a:p>
                      <a:pPr algn="ctr"/>
                      <a:r>
                        <a:rPr lang="es-ES" dirty="0" err="1"/>
                        <a:t>Cert</a:t>
                      </a:r>
                      <a:endParaRPr lang="ca-ES" dirty="0"/>
                    </a:p>
                  </a:txBody>
                  <a:tcPr anchor="ctr"/>
                </a:tc>
                <a:extLst>
                  <a:ext uri="{0D108BD9-81ED-4DB2-BD59-A6C34878D82A}">
                    <a16:rowId xmlns:a16="http://schemas.microsoft.com/office/drawing/2014/main" val="1923083778"/>
                  </a:ext>
                </a:extLst>
              </a:tr>
              <a:tr h="375920">
                <a:tc>
                  <a:txBody>
                    <a:bodyPr/>
                    <a:lstStyle/>
                    <a:p>
                      <a:pPr algn="ctr"/>
                      <a:r>
                        <a:rPr lang="es-ES" dirty="0" err="1"/>
                        <a:t>Cert</a:t>
                      </a:r>
                      <a:endParaRPr lang="ca-ES" dirty="0"/>
                    </a:p>
                  </a:txBody>
                  <a:tcPr anchor="ctr"/>
                </a:tc>
                <a:tc>
                  <a:txBody>
                    <a:bodyPr/>
                    <a:lstStyle/>
                    <a:p>
                      <a:pPr algn="ctr"/>
                      <a:r>
                        <a:rPr lang="es-ES" dirty="0" err="1"/>
                        <a:t>Cert</a:t>
                      </a:r>
                      <a:endParaRPr lang="ca-ES" dirty="0"/>
                    </a:p>
                  </a:txBody>
                  <a:tcPr anchor="ctr"/>
                </a:tc>
                <a:tc>
                  <a:txBody>
                    <a:bodyPr/>
                    <a:lstStyle/>
                    <a:p>
                      <a:pPr algn="ctr"/>
                      <a:r>
                        <a:rPr lang="es-ES" dirty="0" err="1"/>
                        <a:t>Cert</a:t>
                      </a:r>
                      <a:endParaRPr lang="ca-ES" dirty="0"/>
                    </a:p>
                  </a:txBody>
                  <a:tcPr anchor="ctr"/>
                </a:tc>
                <a:extLst>
                  <a:ext uri="{0D108BD9-81ED-4DB2-BD59-A6C34878D82A}">
                    <a16:rowId xmlns:a16="http://schemas.microsoft.com/office/drawing/2014/main" val="93863749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27065742"/>
              </p:ext>
            </p:extLst>
          </p:nvPr>
        </p:nvGraphicFramePr>
        <p:xfrm>
          <a:off x="6752676" y="945232"/>
          <a:ext cx="1883834" cy="1109056"/>
        </p:xfrm>
        <a:graphic>
          <a:graphicData uri="http://schemas.openxmlformats.org/drawingml/2006/table">
            <a:tbl>
              <a:tblPr firstRow="1" bandRow="1">
                <a:tableStyleId>{93296810-A885-4BE3-A3E7-6D5BEEA58F35}</a:tableStyleId>
              </a:tblPr>
              <a:tblGrid>
                <a:gridCol w="941917">
                  <a:extLst>
                    <a:ext uri="{9D8B030D-6E8A-4147-A177-3AD203B41FA5}">
                      <a16:colId xmlns:a16="http://schemas.microsoft.com/office/drawing/2014/main" val="1004449672"/>
                    </a:ext>
                  </a:extLst>
                </a:gridCol>
                <a:gridCol w="941917">
                  <a:extLst>
                    <a:ext uri="{9D8B030D-6E8A-4147-A177-3AD203B41FA5}">
                      <a16:colId xmlns:a16="http://schemas.microsoft.com/office/drawing/2014/main" val="1283266392"/>
                    </a:ext>
                  </a:extLst>
                </a:gridCol>
              </a:tblGrid>
              <a:tr h="340360">
                <a:tc>
                  <a:txBody>
                    <a:bodyPr/>
                    <a:lstStyle/>
                    <a:p>
                      <a:pPr algn="ctr"/>
                      <a:r>
                        <a:rPr lang="es-ES" dirty="0"/>
                        <a:t>P1</a:t>
                      </a:r>
                      <a:endParaRPr lang="ca-ES" dirty="0"/>
                    </a:p>
                  </a:txBody>
                  <a:tcPr anchor="ctr"/>
                </a:tc>
                <a:tc>
                  <a:txBody>
                    <a:bodyPr/>
                    <a:lstStyle/>
                    <a:p>
                      <a:pPr algn="ctr"/>
                      <a:r>
                        <a:rPr lang="es-ES" dirty="0"/>
                        <a:t>no P1</a:t>
                      </a:r>
                      <a:endParaRPr lang="ca-ES" dirty="0"/>
                    </a:p>
                  </a:txBody>
                  <a:tcPr anchor="ctr"/>
                </a:tc>
                <a:extLst>
                  <a:ext uri="{0D108BD9-81ED-4DB2-BD59-A6C34878D82A}">
                    <a16:rowId xmlns:a16="http://schemas.microsoft.com/office/drawing/2014/main" val="3676631741"/>
                  </a:ext>
                </a:extLst>
              </a:tr>
              <a:tr h="371648">
                <a:tc>
                  <a:txBody>
                    <a:bodyPr/>
                    <a:lstStyle/>
                    <a:p>
                      <a:pPr algn="ctr"/>
                      <a:r>
                        <a:rPr lang="es-ES" dirty="0" err="1"/>
                        <a:t>Fals</a:t>
                      </a:r>
                      <a:endParaRPr lang="ca-ES" dirty="0"/>
                    </a:p>
                  </a:txBody>
                  <a:tcPr anchor="ctr"/>
                </a:tc>
                <a:tc>
                  <a:txBody>
                    <a:bodyPr/>
                    <a:lstStyle/>
                    <a:p>
                      <a:pPr algn="ctr"/>
                      <a:r>
                        <a:rPr lang="es-ES" dirty="0" err="1"/>
                        <a:t>Cert</a:t>
                      </a:r>
                      <a:endParaRPr lang="ca-ES" dirty="0"/>
                    </a:p>
                  </a:txBody>
                  <a:tcPr anchor="ctr"/>
                </a:tc>
                <a:extLst>
                  <a:ext uri="{0D108BD9-81ED-4DB2-BD59-A6C34878D82A}">
                    <a16:rowId xmlns:a16="http://schemas.microsoft.com/office/drawing/2014/main" val="1769988287"/>
                  </a:ext>
                </a:extLst>
              </a:tr>
              <a:tr h="371648">
                <a:tc>
                  <a:txBody>
                    <a:bodyPr/>
                    <a:lstStyle/>
                    <a:p>
                      <a:pPr algn="ctr"/>
                      <a:r>
                        <a:rPr lang="es-ES" dirty="0" err="1"/>
                        <a:t>Cert</a:t>
                      </a:r>
                      <a:endParaRPr lang="ca-ES" dirty="0"/>
                    </a:p>
                  </a:txBody>
                  <a:tcPr anchor="ctr"/>
                </a:tc>
                <a:tc>
                  <a:txBody>
                    <a:bodyPr/>
                    <a:lstStyle/>
                    <a:p>
                      <a:pPr algn="ctr"/>
                      <a:r>
                        <a:rPr lang="es-ES" dirty="0" err="1"/>
                        <a:t>Fals</a:t>
                      </a:r>
                      <a:endParaRPr lang="ca-ES" dirty="0"/>
                    </a:p>
                  </a:txBody>
                  <a:tcPr anchor="ctr"/>
                </a:tc>
                <a:extLst>
                  <a:ext uri="{0D108BD9-81ED-4DB2-BD59-A6C34878D82A}">
                    <a16:rowId xmlns:a16="http://schemas.microsoft.com/office/drawing/2014/main" val="1947759213"/>
                  </a:ext>
                </a:extLst>
              </a:tr>
            </a:tbl>
          </a:graphicData>
        </a:graphic>
      </p:graphicFrame>
      <p:sp>
        <p:nvSpPr>
          <p:cNvPr id="8" name="TextBox 7"/>
          <p:cNvSpPr txBox="1"/>
          <p:nvPr/>
        </p:nvSpPr>
        <p:spPr>
          <a:xfrm>
            <a:off x="570898" y="3221121"/>
            <a:ext cx="8191500" cy="1354217"/>
          </a:xfrm>
          <a:prstGeom prst="rect">
            <a:avLst/>
          </a:prstGeom>
          <a:solidFill>
            <a:schemeClr val="tx2">
              <a:lumMod val="20000"/>
              <a:lumOff val="80000"/>
            </a:schemeClr>
          </a:solidFill>
        </p:spPr>
        <p:txBody>
          <a:bodyPr wrap="square" rtlCol="0">
            <a:spAutoFit/>
          </a:bodyPr>
          <a:lstStyle/>
          <a:p>
            <a:pPr algn="ctr">
              <a:spcBef>
                <a:spcPts val="1200"/>
              </a:spcBef>
            </a:pPr>
            <a:r>
              <a:rPr lang="ca-ES" dirty="0">
                <a:latin typeface="Verdana" panose="020B0604030504040204" pitchFamily="34" charset="0"/>
                <a:ea typeface="Verdana" panose="020B0604030504040204" pitchFamily="34" charset="0"/>
              </a:rPr>
              <a:t>Una condició lògica formada per connectors </a:t>
            </a:r>
            <a:r>
              <a:rPr lang="ca-ES" b="1" dirty="0">
                <a:solidFill>
                  <a:srgbClr val="FF0000"/>
                </a:solidFill>
                <a:latin typeface="Verdana" panose="020B0604030504040204" pitchFamily="34" charset="0"/>
                <a:ea typeface="Verdana" panose="020B0604030504040204" pitchFamily="34" charset="0"/>
              </a:rPr>
              <a:t>Y </a:t>
            </a:r>
            <a:r>
              <a:rPr lang="ca-ES" dirty="0">
                <a:latin typeface="Verdana" panose="020B0604030504040204" pitchFamily="34" charset="0"/>
                <a:ea typeface="Verdana" panose="020B0604030504040204" pitchFamily="34" charset="0"/>
              </a:rPr>
              <a:t>només és CERTA si TOTS els predicats que la composen són CERTS. </a:t>
            </a:r>
          </a:p>
          <a:p>
            <a:pPr algn="ctr">
              <a:spcBef>
                <a:spcPts val="1200"/>
              </a:spcBef>
            </a:pPr>
            <a:r>
              <a:rPr lang="es-ES" dirty="0">
                <a:latin typeface="Verdana" panose="020B0604030504040204" pitchFamily="34" charset="0"/>
                <a:ea typeface="Verdana" panose="020B0604030504040204" pitchFamily="34" charset="0"/>
              </a:rPr>
              <a:t>Una </a:t>
            </a:r>
            <a:r>
              <a:rPr lang="es-ES" dirty="0" err="1">
                <a:latin typeface="Verdana" panose="020B0604030504040204" pitchFamily="34" charset="0"/>
                <a:ea typeface="Verdana" panose="020B0604030504040204" pitchFamily="34" charset="0"/>
              </a:rPr>
              <a:t>condició</a:t>
            </a:r>
            <a:r>
              <a:rPr lang="es-ES" dirty="0">
                <a:latin typeface="Verdana" panose="020B0604030504040204" pitchFamily="34" charset="0"/>
                <a:ea typeface="Verdana" panose="020B0604030504040204" pitchFamily="34" charset="0"/>
              </a:rPr>
              <a:t> </a:t>
            </a:r>
            <a:r>
              <a:rPr lang="es-ES" dirty="0" err="1">
                <a:latin typeface="Verdana" panose="020B0604030504040204" pitchFamily="34" charset="0"/>
                <a:ea typeface="Verdana" panose="020B0604030504040204" pitchFamily="34" charset="0"/>
              </a:rPr>
              <a:t>lògica</a:t>
            </a:r>
            <a:r>
              <a:rPr lang="es-ES" dirty="0">
                <a:latin typeface="Verdana" panose="020B0604030504040204" pitchFamily="34" charset="0"/>
                <a:ea typeface="Verdana" panose="020B0604030504040204" pitchFamily="34" charset="0"/>
              </a:rPr>
              <a:t> formada per </a:t>
            </a:r>
            <a:r>
              <a:rPr lang="es-ES" dirty="0" err="1">
                <a:latin typeface="Verdana" panose="020B0604030504040204" pitchFamily="34" charset="0"/>
                <a:ea typeface="Verdana" panose="020B0604030504040204" pitchFamily="34" charset="0"/>
              </a:rPr>
              <a:t>connectors</a:t>
            </a:r>
            <a:r>
              <a:rPr lang="es-ES" dirty="0">
                <a:latin typeface="Verdana" panose="020B0604030504040204" pitchFamily="34" charset="0"/>
                <a:ea typeface="Verdana" panose="020B0604030504040204" pitchFamily="34" charset="0"/>
              </a:rPr>
              <a:t> </a:t>
            </a:r>
            <a:r>
              <a:rPr lang="es-ES" b="1" dirty="0">
                <a:solidFill>
                  <a:srgbClr val="FF0000"/>
                </a:solidFill>
                <a:latin typeface="Verdana" panose="020B0604030504040204" pitchFamily="34" charset="0"/>
                <a:ea typeface="Verdana" panose="020B0604030504040204" pitchFamily="34" charset="0"/>
              </a:rPr>
              <a:t>O</a:t>
            </a:r>
            <a:r>
              <a:rPr lang="es-ES" b="1" dirty="0">
                <a:latin typeface="Verdana" panose="020B0604030504040204" pitchFamily="34" charset="0"/>
                <a:ea typeface="Verdana" panose="020B0604030504040204" pitchFamily="34" charset="0"/>
              </a:rPr>
              <a:t> </a:t>
            </a:r>
            <a:r>
              <a:rPr lang="es-ES" dirty="0" err="1">
                <a:latin typeface="Verdana" panose="020B0604030504040204" pitchFamily="34" charset="0"/>
                <a:ea typeface="Verdana" panose="020B0604030504040204" pitchFamily="34" charset="0"/>
              </a:rPr>
              <a:t>només</a:t>
            </a:r>
            <a:r>
              <a:rPr lang="es-ES" dirty="0">
                <a:latin typeface="Verdana" panose="020B0604030504040204" pitchFamily="34" charset="0"/>
                <a:ea typeface="Verdana" panose="020B0604030504040204" pitchFamily="34" charset="0"/>
              </a:rPr>
              <a:t> és FALSA si TOTS </a:t>
            </a:r>
            <a:r>
              <a:rPr lang="es-ES" dirty="0" err="1">
                <a:latin typeface="Verdana" panose="020B0604030504040204" pitchFamily="34" charset="0"/>
                <a:ea typeface="Verdana" panose="020B0604030504040204" pitchFamily="34" charset="0"/>
              </a:rPr>
              <a:t>els</a:t>
            </a:r>
            <a:r>
              <a:rPr lang="es-ES" dirty="0">
                <a:latin typeface="Verdana" panose="020B0604030504040204" pitchFamily="34" charset="0"/>
                <a:ea typeface="Verdana" panose="020B0604030504040204" pitchFamily="34" charset="0"/>
              </a:rPr>
              <a:t> </a:t>
            </a:r>
            <a:r>
              <a:rPr lang="es-ES" dirty="0" err="1">
                <a:latin typeface="Verdana" panose="020B0604030504040204" pitchFamily="34" charset="0"/>
                <a:ea typeface="Verdana" panose="020B0604030504040204" pitchFamily="34" charset="0"/>
              </a:rPr>
              <a:t>predicats</a:t>
            </a:r>
            <a:r>
              <a:rPr lang="es-ES" dirty="0">
                <a:latin typeface="Verdana" panose="020B0604030504040204" pitchFamily="34" charset="0"/>
                <a:ea typeface="Verdana" panose="020B0604030504040204" pitchFamily="34" charset="0"/>
              </a:rPr>
              <a:t> que la </a:t>
            </a:r>
            <a:r>
              <a:rPr lang="es-ES" dirty="0" err="1">
                <a:latin typeface="Verdana" panose="020B0604030504040204" pitchFamily="34" charset="0"/>
                <a:ea typeface="Verdana" panose="020B0604030504040204" pitchFamily="34" charset="0"/>
              </a:rPr>
              <a:t>composen</a:t>
            </a:r>
            <a:r>
              <a:rPr lang="es-ES" dirty="0">
                <a:latin typeface="Verdana" panose="020B0604030504040204" pitchFamily="34" charset="0"/>
                <a:ea typeface="Verdana" panose="020B0604030504040204" pitchFamily="34" charset="0"/>
              </a:rPr>
              <a:t> </a:t>
            </a:r>
            <a:r>
              <a:rPr lang="es-ES" dirty="0" err="1">
                <a:latin typeface="Verdana" panose="020B0604030504040204" pitchFamily="34" charset="0"/>
                <a:ea typeface="Verdana" panose="020B0604030504040204" pitchFamily="34" charset="0"/>
              </a:rPr>
              <a:t>són</a:t>
            </a:r>
            <a:r>
              <a:rPr lang="es-ES" dirty="0">
                <a:latin typeface="Verdana" panose="020B0604030504040204" pitchFamily="34" charset="0"/>
                <a:ea typeface="Verdana" panose="020B0604030504040204" pitchFamily="34" charset="0"/>
              </a:rPr>
              <a:t> FALSOS </a:t>
            </a:r>
            <a:endParaRPr lang="ca-ES"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74470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5645"/>
            <a:ext cx="8534400" cy="462425"/>
          </a:xfrm>
        </p:spPr>
        <p:txBody>
          <a:bodyPr>
            <a:normAutofit fontScale="90000"/>
          </a:bodyPr>
          <a:lstStyle/>
          <a:p>
            <a:r>
              <a:rPr lang="es-ES" sz="4000" dirty="0"/>
              <a:t>Avaluar </a:t>
            </a:r>
            <a:r>
              <a:rPr lang="es-ES" sz="4000" dirty="0" err="1"/>
              <a:t>els</a:t>
            </a:r>
            <a:r>
              <a:rPr lang="es-ES" sz="4000" dirty="0"/>
              <a:t> </a:t>
            </a:r>
            <a:r>
              <a:rPr lang="es-ES" sz="4000" dirty="0" err="1"/>
              <a:t>següents</a:t>
            </a:r>
            <a:r>
              <a:rPr lang="es-ES" sz="4000" dirty="0"/>
              <a:t> </a:t>
            </a:r>
            <a:r>
              <a:rPr lang="es-ES" sz="4000" dirty="0" err="1"/>
              <a:t>predicats</a:t>
            </a:r>
            <a:endParaRPr lang="ca-ES" sz="4000" dirty="0"/>
          </a:p>
        </p:txBody>
      </p:sp>
      <p:sp>
        <p:nvSpPr>
          <p:cNvPr id="3" name="Marcador de contenido 2">
            <a:extLst>
              <a:ext uri="{FF2B5EF4-FFF2-40B4-BE49-F238E27FC236}">
                <a16:creationId xmlns:a16="http://schemas.microsoft.com/office/drawing/2014/main" id="{7F040491-41DE-19FE-1FD5-1B20BC653F84}"/>
              </a:ext>
            </a:extLst>
          </p:cNvPr>
          <p:cNvSpPr>
            <a:spLocks noGrp="1"/>
          </p:cNvSpPr>
          <p:nvPr>
            <p:ph idx="1"/>
          </p:nvPr>
        </p:nvSpPr>
        <p:spPr>
          <a:xfrm>
            <a:off x="304800" y="686630"/>
            <a:ext cx="8534401" cy="5872184"/>
          </a:xfrm>
        </p:spPr>
        <p:txBody>
          <a:bodyPr/>
          <a:lstStyle/>
          <a:p>
            <a:pPr>
              <a:spcBef>
                <a:spcPts val="1200"/>
              </a:spcBef>
            </a:pPr>
            <a:r>
              <a:rPr lang="es-ES" dirty="0" err="1"/>
              <a:t>Avui</a:t>
            </a:r>
            <a:r>
              <a:rPr lang="es-ES" dirty="0"/>
              <a:t> </a:t>
            </a:r>
            <a:r>
              <a:rPr lang="es-ES" dirty="0" err="1"/>
              <a:t>és</a:t>
            </a:r>
            <a:r>
              <a:rPr lang="es-ES" dirty="0"/>
              <a:t> </a:t>
            </a:r>
            <a:r>
              <a:rPr lang="es-ES" dirty="0" err="1"/>
              <a:t>dimarts</a:t>
            </a:r>
            <a:r>
              <a:rPr lang="es-ES" dirty="0"/>
              <a:t> </a:t>
            </a:r>
          </a:p>
          <a:p>
            <a:pPr>
              <a:spcBef>
                <a:spcPts val="1200"/>
              </a:spcBef>
            </a:pPr>
            <a:r>
              <a:rPr lang="es-ES" dirty="0" err="1"/>
              <a:t>Avui</a:t>
            </a:r>
            <a:r>
              <a:rPr lang="es-ES" dirty="0"/>
              <a:t> </a:t>
            </a:r>
            <a:r>
              <a:rPr lang="es-ES" dirty="0" err="1"/>
              <a:t>és</a:t>
            </a:r>
            <a:r>
              <a:rPr lang="es-ES" dirty="0"/>
              <a:t> </a:t>
            </a:r>
            <a:r>
              <a:rPr lang="es-ES" dirty="0" err="1"/>
              <a:t>dimarts</a:t>
            </a:r>
            <a:r>
              <a:rPr lang="es-ES" dirty="0"/>
              <a:t> Y </a:t>
            </a:r>
            <a:r>
              <a:rPr lang="es-ES" dirty="0" err="1"/>
              <a:t>Avui</a:t>
            </a:r>
            <a:r>
              <a:rPr lang="es-ES" dirty="0"/>
              <a:t> </a:t>
            </a:r>
            <a:r>
              <a:rPr lang="es-ES" dirty="0" err="1"/>
              <a:t>és</a:t>
            </a:r>
            <a:r>
              <a:rPr lang="es-ES" dirty="0"/>
              <a:t> </a:t>
            </a:r>
            <a:r>
              <a:rPr lang="es-ES" dirty="0" err="1"/>
              <a:t>cap</a:t>
            </a:r>
            <a:r>
              <a:rPr lang="es-ES" dirty="0"/>
              <a:t> de </a:t>
            </a:r>
            <a:r>
              <a:rPr lang="es-ES" dirty="0" err="1"/>
              <a:t>setmana</a:t>
            </a:r>
            <a:endParaRPr lang="es-ES" dirty="0"/>
          </a:p>
          <a:p>
            <a:pPr>
              <a:spcBef>
                <a:spcPts val="1200"/>
              </a:spcBef>
            </a:pPr>
            <a:r>
              <a:rPr lang="es-ES" dirty="0" err="1"/>
              <a:t>Avui</a:t>
            </a:r>
            <a:r>
              <a:rPr lang="es-ES" dirty="0"/>
              <a:t> </a:t>
            </a:r>
            <a:r>
              <a:rPr lang="es-ES" dirty="0" err="1"/>
              <a:t>és</a:t>
            </a:r>
            <a:r>
              <a:rPr lang="es-ES" dirty="0"/>
              <a:t> </a:t>
            </a:r>
            <a:r>
              <a:rPr lang="es-ES" dirty="0" err="1"/>
              <a:t>dimart</a:t>
            </a:r>
            <a:r>
              <a:rPr lang="es-ES" dirty="0"/>
              <a:t> O </a:t>
            </a:r>
            <a:r>
              <a:rPr lang="es-ES" dirty="0" err="1"/>
              <a:t>Avui</a:t>
            </a:r>
            <a:r>
              <a:rPr lang="es-ES" dirty="0"/>
              <a:t> </a:t>
            </a:r>
            <a:r>
              <a:rPr lang="es-ES" dirty="0" err="1"/>
              <a:t>és</a:t>
            </a:r>
            <a:r>
              <a:rPr lang="es-ES" dirty="0"/>
              <a:t> </a:t>
            </a:r>
            <a:r>
              <a:rPr lang="es-ES" dirty="0" err="1"/>
              <a:t>cap</a:t>
            </a:r>
            <a:r>
              <a:rPr lang="es-ES" dirty="0"/>
              <a:t> de semana</a:t>
            </a:r>
          </a:p>
          <a:p>
            <a:pPr>
              <a:spcBef>
                <a:spcPts val="1200"/>
              </a:spcBef>
            </a:pPr>
            <a:r>
              <a:rPr lang="es-ES" dirty="0" err="1"/>
              <a:t>Avui</a:t>
            </a:r>
            <a:r>
              <a:rPr lang="es-ES" dirty="0"/>
              <a:t> </a:t>
            </a:r>
            <a:r>
              <a:rPr lang="es-ES" dirty="0" err="1"/>
              <a:t>és</a:t>
            </a:r>
            <a:r>
              <a:rPr lang="es-ES" dirty="0"/>
              <a:t> </a:t>
            </a:r>
            <a:r>
              <a:rPr lang="es-ES" dirty="0" err="1"/>
              <a:t>dimarts</a:t>
            </a:r>
            <a:r>
              <a:rPr lang="es-ES" dirty="0"/>
              <a:t> O </a:t>
            </a:r>
            <a:r>
              <a:rPr lang="es-ES" dirty="0" err="1"/>
              <a:t>Avui</a:t>
            </a:r>
            <a:r>
              <a:rPr lang="es-ES" dirty="0"/>
              <a:t> </a:t>
            </a:r>
            <a:r>
              <a:rPr lang="es-ES" dirty="0" err="1"/>
              <a:t>és</a:t>
            </a:r>
            <a:r>
              <a:rPr lang="es-ES" dirty="0"/>
              <a:t> </a:t>
            </a:r>
            <a:r>
              <a:rPr lang="es-ES" dirty="0" err="1"/>
              <a:t>dimecres</a:t>
            </a:r>
            <a:r>
              <a:rPr lang="es-ES" dirty="0"/>
              <a:t> Y </a:t>
            </a:r>
            <a:r>
              <a:rPr lang="es-ES" dirty="0" err="1"/>
              <a:t>Plou</a:t>
            </a:r>
            <a:endParaRPr lang="es-ES" dirty="0"/>
          </a:p>
          <a:p>
            <a:pPr>
              <a:spcBef>
                <a:spcPts val="1200"/>
              </a:spcBef>
            </a:pPr>
            <a:r>
              <a:rPr lang="es-ES" dirty="0"/>
              <a:t>(</a:t>
            </a:r>
            <a:r>
              <a:rPr lang="es-ES" dirty="0" err="1"/>
              <a:t>Avui</a:t>
            </a:r>
            <a:r>
              <a:rPr lang="es-ES" dirty="0"/>
              <a:t> </a:t>
            </a:r>
            <a:r>
              <a:rPr lang="es-ES" dirty="0" err="1"/>
              <a:t>és</a:t>
            </a:r>
            <a:r>
              <a:rPr lang="es-ES" dirty="0"/>
              <a:t> </a:t>
            </a:r>
            <a:r>
              <a:rPr lang="es-ES" dirty="0" err="1"/>
              <a:t>dimarts</a:t>
            </a:r>
            <a:r>
              <a:rPr lang="es-ES" dirty="0"/>
              <a:t> O </a:t>
            </a:r>
            <a:r>
              <a:rPr lang="es-ES" dirty="0" err="1"/>
              <a:t>Avui</a:t>
            </a:r>
            <a:r>
              <a:rPr lang="es-ES" dirty="0"/>
              <a:t> </a:t>
            </a:r>
            <a:r>
              <a:rPr lang="es-ES" dirty="0" err="1"/>
              <a:t>és</a:t>
            </a:r>
            <a:r>
              <a:rPr lang="es-ES" dirty="0"/>
              <a:t> </a:t>
            </a:r>
            <a:r>
              <a:rPr lang="es-ES" dirty="0" err="1"/>
              <a:t>dimecres</a:t>
            </a:r>
            <a:r>
              <a:rPr lang="es-ES" dirty="0"/>
              <a:t>) Y </a:t>
            </a:r>
            <a:r>
              <a:rPr lang="es-ES" dirty="0" err="1"/>
              <a:t>Plou</a:t>
            </a:r>
            <a:endParaRPr lang="es-ES" dirty="0"/>
          </a:p>
          <a:p>
            <a:pPr>
              <a:spcBef>
                <a:spcPts val="1200"/>
              </a:spcBef>
            </a:pPr>
            <a:r>
              <a:rPr lang="ca-ES" dirty="0"/>
              <a:t>Agost tenim vacances O Setembre comencen les classes</a:t>
            </a:r>
            <a:endParaRPr lang="es-ES" dirty="0"/>
          </a:p>
        </p:txBody>
      </p:sp>
    </p:spTree>
    <p:extLst>
      <p:ext uri="{BB962C8B-B14F-4D97-AF65-F5344CB8AC3E}">
        <p14:creationId xmlns:p14="http://schemas.microsoft.com/office/powerpoint/2010/main" val="3766558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ca-ES" dirty="0"/>
              <a:t>Funcions matemàtiques importants </a:t>
            </a:r>
          </a:p>
        </p:txBody>
      </p:sp>
      <p:sp>
        <p:nvSpPr>
          <p:cNvPr id="3" name="Content Placeholder 2"/>
          <p:cNvSpPr>
            <a:spLocks noGrp="1"/>
          </p:cNvSpPr>
          <p:nvPr>
            <p:ph idx="1"/>
          </p:nvPr>
        </p:nvSpPr>
        <p:spPr/>
        <p:txBody>
          <a:bodyPr>
            <a:normAutofit/>
          </a:bodyPr>
          <a:lstStyle/>
          <a:p>
            <a:r>
              <a:rPr lang="ca-ES" sz="2000" dirty="0"/>
              <a:t>Suma (+), resta (-), multiplicació (*) i divisió entera (/). </a:t>
            </a:r>
          </a:p>
          <a:p>
            <a:pPr marL="457200" lvl="1" indent="0">
              <a:buNone/>
            </a:pPr>
            <a:r>
              <a:rPr lang="ca-ES" sz="1800" dirty="0"/>
              <a:t>La divisió entera és un tipus especial de divisió, en que el resultat de la divisió mai conté decimals. </a:t>
            </a:r>
          </a:p>
          <a:p>
            <a:pPr marL="457200" lvl="1" indent="0">
              <a:buNone/>
            </a:pPr>
            <a:r>
              <a:rPr lang="ca-ES" sz="1800" dirty="0"/>
              <a:t>Per exemple 5 / 2 = 2, no 2.5 com seria la divisió real, sinó 2, sense decimals </a:t>
            </a:r>
          </a:p>
          <a:p>
            <a:r>
              <a:rPr lang="ca-ES" sz="2000" dirty="0"/>
              <a:t>Mòdul o residu de la divisió entera (%). </a:t>
            </a:r>
          </a:p>
          <a:p>
            <a:pPr marL="457200" lvl="1" indent="0">
              <a:buNone/>
            </a:pPr>
            <a:r>
              <a:rPr lang="ca-ES" sz="1800" dirty="0"/>
              <a:t>Per tal de conèixer quin ha estat el residu d’una divisió entera, es fa servir aquesta operació, Així 5 MOD 2 = 1, per que 5 dividit entre 2 es igual a 2, i sobra 1</a:t>
            </a:r>
            <a:r>
              <a:rPr lang="ca-ES" sz="1600" dirty="0"/>
              <a:t>. </a:t>
            </a:r>
          </a:p>
        </p:txBody>
      </p:sp>
      <p:graphicFrame>
        <p:nvGraphicFramePr>
          <p:cNvPr id="6" name="Table 5"/>
          <p:cNvGraphicFramePr>
            <a:graphicFrameLocks noGrp="1"/>
          </p:cNvGraphicFramePr>
          <p:nvPr>
            <p:extLst>
              <p:ext uri="{D42A27DB-BD31-4B8C-83A1-F6EECF244321}">
                <p14:modId xmlns:p14="http://schemas.microsoft.com/office/powerpoint/2010/main" val="3224507661"/>
              </p:ext>
            </p:extLst>
          </p:nvPr>
        </p:nvGraphicFramePr>
        <p:xfrm>
          <a:off x="1712912" y="4442262"/>
          <a:ext cx="1117600" cy="792480"/>
        </p:xfrm>
        <a:graphic>
          <a:graphicData uri="http://schemas.openxmlformats.org/drawingml/2006/table">
            <a:tbl>
              <a:tblPr firstRow="1" bandRow="1">
                <a:tableStyleId>{2D5ABB26-0587-4C30-8999-92F81FD0307C}</a:tableStyleId>
              </a:tblPr>
              <a:tblGrid>
                <a:gridCol w="558800">
                  <a:extLst>
                    <a:ext uri="{9D8B030D-6E8A-4147-A177-3AD203B41FA5}">
                      <a16:colId xmlns:a16="http://schemas.microsoft.com/office/drawing/2014/main" val="3123613320"/>
                    </a:ext>
                  </a:extLst>
                </a:gridCol>
                <a:gridCol w="558800">
                  <a:extLst>
                    <a:ext uri="{9D8B030D-6E8A-4147-A177-3AD203B41FA5}">
                      <a16:colId xmlns:a16="http://schemas.microsoft.com/office/drawing/2014/main" val="4087921634"/>
                    </a:ext>
                  </a:extLst>
                </a:gridCol>
              </a:tblGrid>
              <a:tr h="389225">
                <a:tc>
                  <a:txBody>
                    <a:bodyPr/>
                    <a:lstStyle/>
                    <a:p>
                      <a:r>
                        <a:rPr lang="es-ES" sz="2000" dirty="0">
                          <a:latin typeface="Verdana" panose="020B0604030504040204" pitchFamily="34" charset="0"/>
                          <a:ea typeface="Verdana" panose="020B0604030504040204" pitchFamily="34" charset="0"/>
                          <a:cs typeface="Verdana" panose="020B0604030504040204" pitchFamily="34" charset="0"/>
                        </a:rPr>
                        <a:t>7</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2000" dirty="0">
                          <a:latin typeface="Verdana" panose="020B0604030504040204" pitchFamily="34" charset="0"/>
                          <a:ea typeface="Verdana" panose="020B0604030504040204" pitchFamily="34" charset="0"/>
                          <a:cs typeface="Verdana" panose="020B0604030504040204" pitchFamily="34" charset="0"/>
                        </a:rPr>
                        <a:t>2</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763548806"/>
                  </a:ext>
                </a:extLst>
              </a:tr>
              <a:tr h="389225">
                <a:tc>
                  <a:txBody>
                    <a:bodyPr/>
                    <a:lstStyle/>
                    <a:p>
                      <a:r>
                        <a:rPr lang="es-ES" sz="2000" dirty="0">
                          <a:latin typeface="Verdana" panose="020B0604030504040204" pitchFamily="34" charset="0"/>
                          <a:ea typeface="Verdana" panose="020B0604030504040204" pitchFamily="34" charset="0"/>
                          <a:cs typeface="Verdana" panose="020B0604030504040204" pitchFamily="34" charset="0"/>
                        </a:rPr>
                        <a:t>1</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2000" dirty="0">
                          <a:latin typeface="Verdana" panose="020B0604030504040204" pitchFamily="34" charset="0"/>
                          <a:ea typeface="Verdana" panose="020B0604030504040204" pitchFamily="34" charset="0"/>
                          <a:cs typeface="Verdana" panose="020B0604030504040204" pitchFamily="34" charset="0"/>
                        </a:rPr>
                        <a:t>3</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643287002"/>
                  </a:ext>
                </a:extLst>
              </a:tr>
            </a:tbl>
          </a:graphicData>
        </a:graphic>
      </p:graphicFrame>
      <p:cxnSp>
        <p:nvCxnSpPr>
          <p:cNvPr id="12" name="Straight Connector 11"/>
          <p:cNvCxnSpPr/>
          <p:nvPr/>
        </p:nvCxnSpPr>
        <p:spPr>
          <a:xfrm>
            <a:off x="2135187" y="4491097"/>
            <a:ext cx="6350" cy="31750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2141537" y="4807387"/>
            <a:ext cx="419100" cy="0"/>
          </a:xfrm>
          <a:prstGeom prst="line">
            <a:avLst/>
          </a:prstGeom>
        </p:spPr>
        <p:style>
          <a:lnRef idx="3">
            <a:schemeClr val="dk1"/>
          </a:lnRef>
          <a:fillRef idx="0">
            <a:schemeClr val="dk1"/>
          </a:fillRef>
          <a:effectRef idx="2">
            <a:schemeClr val="dk1"/>
          </a:effectRef>
          <a:fontRef idx="minor">
            <a:schemeClr val="tx1"/>
          </a:fontRef>
        </p:style>
      </p:cxnSp>
      <p:sp>
        <p:nvSpPr>
          <p:cNvPr id="18" name="Oval 17"/>
          <p:cNvSpPr/>
          <p:nvPr/>
        </p:nvSpPr>
        <p:spPr>
          <a:xfrm>
            <a:off x="2009818" y="5425121"/>
            <a:ext cx="1667473" cy="105371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7/2=3</a:t>
            </a:r>
          </a:p>
          <a:p>
            <a:pPr algn="ctr"/>
            <a:r>
              <a:rPr lang="es-ES" dirty="0" err="1"/>
              <a:t>Trunc</a:t>
            </a:r>
            <a:r>
              <a:rPr lang="es-ES" dirty="0"/>
              <a:t>(7/2)</a:t>
            </a:r>
            <a:endParaRPr lang="ca-ES" dirty="0"/>
          </a:p>
        </p:txBody>
      </p:sp>
      <p:sp>
        <p:nvSpPr>
          <p:cNvPr id="22" name="Oval 21"/>
          <p:cNvSpPr/>
          <p:nvPr/>
        </p:nvSpPr>
        <p:spPr>
          <a:xfrm>
            <a:off x="168470" y="5234424"/>
            <a:ext cx="1667473" cy="65202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7%2=1</a:t>
            </a:r>
          </a:p>
          <a:p>
            <a:pPr algn="ctr"/>
            <a:r>
              <a:rPr lang="es-ES" dirty="0"/>
              <a:t>7 MOD 2</a:t>
            </a:r>
            <a:endParaRPr lang="ca-ES" dirty="0"/>
          </a:p>
        </p:txBody>
      </p:sp>
      <p:cxnSp>
        <p:nvCxnSpPr>
          <p:cNvPr id="23" name="Straight Connector 22"/>
          <p:cNvCxnSpPr/>
          <p:nvPr/>
        </p:nvCxnSpPr>
        <p:spPr>
          <a:xfrm flipH="1">
            <a:off x="1252537" y="5108257"/>
            <a:ext cx="412750" cy="12833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27" name="Table 26"/>
          <p:cNvGraphicFramePr>
            <a:graphicFrameLocks noGrp="1"/>
          </p:cNvGraphicFramePr>
          <p:nvPr>
            <p:extLst>
              <p:ext uri="{D42A27DB-BD31-4B8C-83A1-F6EECF244321}">
                <p14:modId xmlns:p14="http://schemas.microsoft.com/office/powerpoint/2010/main" val="3095321860"/>
              </p:ext>
            </p:extLst>
          </p:nvPr>
        </p:nvGraphicFramePr>
        <p:xfrm>
          <a:off x="4490345" y="4423783"/>
          <a:ext cx="1206500" cy="1188720"/>
        </p:xfrm>
        <a:graphic>
          <a:graphicData uri="http://schemas.openxmlformats.org/drawingml/2006/table">
            <a:tbl>
              <a:tblPr firstRow="1" bandRow="1">
                <a:tableStyleId>{2D5ABB26-0587-4C30-8999-92F81FD0307C}</a:tableStyleId>
              </a:tblPr>
              <a:tblGrid>
                <a:gridCol w="603250">
                  <a:extLst>
                    <a:ext uri="{9D8B030D-6E8A-4147-A177-3AD203B41FA5}">
                      <a16:colId xmlns:a16="http://schemas.microsoft.com/office/drawing/2014/main" val="3123613320"/>
                    </a:ext>
                  </a:extLst>
                </a:gridCol>
                <a:gridCol w="603250">
                  <a:extLst>
                    <a:ext uri="{9D8B030D-6E8A-4147-A177-3AD203B41FA5}">
                      <a16:colId xmlns:a16="http://schemas.microsoft.com/office/drawing/2014/main" val="4087921634"/>
                    </a:ext>
                  </a:extLst>
                </a:gridCol>
              </a:tblGrid>
              <a:tr h="389225">
                <a:tc>
                  <a:txBody>
                    <a:bodyPr/>
                    <a:lstStyle/>
                    <a:p>
                      <a:r>
                        <a:rPr lang="es-ES" sz="2000" dirty="0">
                          <a:latin typeface="Verdana" panose="020B0604030504040204" pitchFamily="34" charset="0"/>
                          <a:ea typeface="Verdana" panose="020B0604030504040204" pitchFamily="34" charset="0"/>
                          <a:cs typeface="Verdana" panose="020B0604030504040204" pitchFamily="34" charset="0"/>
                        </a:rPr>
                        <a:t>17</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2000" dirty="0">
                          <a:latin typeface="Verdana" panose="020B0604030504040204" pitchFamily="34" charset="0"/>
                          <a:ea typeface="Verdana" panose="020B0604030504040204" pitchFamily="34" charset="0"/>
                          <a:cs typeface="Verdana" panose="020B0604030504040204" pitchFamily="34" charset="0"/>
                        </a:rPr>
                        <a:t>5</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763548806"/>
                  </a:ext>
                </a:extLst>
              </a:tr>
              <a:tr h="389225">
                <a:tc>
                  <a:txBody>
                    <a:bodyPr/>
                    <a:lstStyle/>
                    <a:p>
                      <a:pPr algn="ctr"/>
                      <a:r>
                        <a:rPr lang="es-ES" sz="2000" dirty="0">
                          <a:latin typeface="Verdana" panose="020B0604030504040204" pitchFamily="34" charset="0"/>
                          <a:ea typeface="Verdana" panose="020B0604030504040204" pitchFamily="34" charset="0"/>
                          <a:cs typeface="Verdana" panose="020B0604030504040204" pitchFamily="34" charset="0"/>
                        </a:rPr>
                        <a:t>2</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2000" dirty="0">
                          <a:latin typeface="Verdana" panose="020B0604030504040204" pitchFamily="34" charset="0"/>
                          <a:ea typeface="Verdana" panose="020B0604030504040204" pitchFamily="34" charset="0"/>
                          <a:cs typeface="Verdana" panose="020B0604030504040204" pitchFamily="34" charset="0"/>
                        </a:rPr>
                        <a:t>3</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643287002"/>
                  </a:ext>
                </a:extLst>
              </a:tr>
              <a:tr h="389225">
                <a:tc>
                  <a:txBody>
                    <a:bodyPr/>
                    <a:lstStyle/>
                    <a:p>
                      <a:pPr algn="ctr"/>
                      <a:r>
                        <a:rPr lang="es-ES" sz="2000" dirty="0">
                          <a:latin typeface="Verdana" panose="020B0604030504040204" pitchFamily="34" charset="0"/>
                          <a:ea typeface="Verdana" panose="020B0604030504040204" pitchFamily="34" charset="0"/>
                          <a:cs typeface="Verdana" panose="020B0604030504040204" pitchFamily="34" charset="0"/>
                        </a:rPr>
                        <a:t> </a:t>
                      </a:r>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ca-ES" sz="20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3520879592"/>
                  </a:ext>
                </a:extLst>
              </a:tr>
            </a:tbl>
          </a:graphicData>
        </a:graphic>
      </p:graphicFrame>
      <p:cxnSp>
        <p:nvCxnSpPr>
          <p:cNvPr id="28" name="Straight Connector 27"/>
          <p:cNvCxnSpPr/>
          <p:nvPr/>
        </p:nvCxnSpPr>
        <p:spPr>
          <a:xfrm>
            <a:off x="5059565" y="4469563"/>
            <a:ext cx="6350" cy="317500"/>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p:cNvCxnSpPr/>
          <p:nvPr/>
        </p:nvCxnSpPr>
        <p:spPr>
          <a:xfrm>
            <a:off x="5055495" y="4787063"/>
            <a:ext cx="419100" cy="0"/>
          </a:xfrm>
          <a:prstGeom prst="line">
            <a:avLst/>
          </a:prstGeom>
        </p:spPr>
        <p:style>
          <a:lnRef idx="3">
            <a:schemeClr val="dk1"/>
          </a:lnRef>
          <a:fillRef idx="0">
            <a:schemeClr val="dk1"/>
          </a:fillRef>
          <a:effectRef idx="2">
            <a:schemeClr val="dk1"/>
          </a:effectRef>
          <a:fontRef idx="minor">
            <a:schemeClr val="tx1"/>
          </a:fontRef>
        </p:style>
      </p:cxnSp>
      <p:sp>
        <p:nvSpPr>
          <p:cNvPr id="30" name="Oval 29"/>
          <p:cNvSpPr/>
          <p:nvPr/>
        </p:nvSpPr>
        <p:spPr>
          <a:xfrm>
            <a:off x="5030094" y="5243507"/>
            <a:ext cx="1812430" cy="99257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17/5=3</a:t>
            </a:r>
          </a:p>
          <a:p>
            <a:pPr algn="ctr"/>
            <a:r>
              <a:rPr lang="es-ES" dirty="0" err="1"/>
              <a:t>Trunc</a:t>
            </a:r>
            <a:r>
              <a:rPr lang="es-ES" dirty="0"/>
              <a:t>(17/5)</a:t>
            </a:r>
            <a:endParaRPr lang="ca-ES" dirty="0"/>
          </a:p>
        </p:txBody>
      </p:sp>
      <p:sp>
        <p:nvSpPr>
          <p:cNvPr id="32" name="Oval 31"/>
          <p:cNvSpPr/>
          <p:nvPr/>
        </p:nvSpPr>
        <p:spPr>
          <a:xfrm>
            <a:off x="3627386" y="5241841"/>
            <a:ext cx="1667473" cy="63857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17%5=2</a:t>
            </a:r>
          </a:p>
          <a:p>
            <a:pPr algn="ctr"/>
            <a:r>
              <a:rPr lang="es-ES" dirty="0"/>
              <a:t>17 MOD 5</a:t>
            </a:r>
            <a:endParaRPr lang="ca-ES" dirty="0"/>
          </a:p>
        </p:txBody>
      </p:sp>
      <p:cxnSp>
        <p:nvCxnSpPr>
          <p:cNvPr id="33" name="Straight Connector 32"/>
          <p:cNvCxnSpPr/>
          <p:nvPr/>
        </p:nvCxnSpPr>
        <p:spPr>
          <a:xfrm flipH="1">
            <a:off x="4166495" y="5087933"/>
            <a:ext cx="412750" cy="128330"/>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36" name="Table 35"/>
          <p:cNvGraphicFramePr>
            <a:graphicFrameLocks noGrp="1"/>
          </p:cNvGraphicFramePr>
          <p:nvPr>
            <p:extLst>
              <p:ext uri="{D42A27DB-BD31-4B8C-83A1-F6EECF244321}">
                <p14:modId xmlns:p14="http://schemas.microsoft.com/office/powerpoint/2010/main" val="4135841761"/>
              </p:ext>
            </p:extLst>
          </p:nvPr>
        </p:nvGraphicFramePr>
        <p:xfrm>
          <a:off x="6926659" y="4312920"/>
          <a:ext cx="1701800" cy="1649732"/>
        </p:xfrm>
        <a:graphic>
          <a:graphicData uri="http://schemas.openxmlformats.org/drawingml/2006/table">
            <a:tbl>
              <a:tblPr firstRow="1" bandRow="1">
                <a:tableStyleId>{2D5ABB26-0587-4C30-8999-92F81FD0307C}</a:tableStyleId>
              </a:tblPr>
              <a:tblGrid>
                <a:gridCol w="340360">
                  <a:extLst>
                    <a:ext uri="{9D8B030D-6E8A-4147-A177-3AD203B41FA5}">
                      <a16:colId xmlns:a16="http://schemas.microsoft.com/office/drawing/2014/main" val="736304322"/>
                    </a:ext>
                  </a:extLst>
                </a:gridCol>
                <a:gridCol w="340360">
                  <a:extLst>
                    <a:ext uri="{9D8B030D-6E8A-4147-A177-3AD203B41FA5}">
                      <a16:colId xmlns:a16="http://schemas.microsoft.com/office/drawing/2014/main" val="569808908"/>
                    </a:ext>
                  </a:extLst>
                </a:gridCol>
                <a:gridCol w="340360">
                  <a:extLst>
                    <a:ext uri="{9D8B030D-6E8A-4147-A177-3AD203B41FA5}">
                      <a16:colId xmlns:a16="http://schemas.microsoft.com/office/drawing/2014/main" val="3907869824"/>
                    </a:ext>
                  </a:extLst>
                </a:gridCol>
                <a:gridCol w="340360">
                  <a:extLst>
                    <a:ext uri="{9D8B030D-6E8A-4147-A177-3AD203B41FA5}">
                      <a16:colId xmlns:a16="http://schemas.microsoft.com/office/drawing/2014/main" val="3178588982"/>
                    </a:ext>
                  </a:extLst>
                </a:gridCol>
                <a:gridCol w="340360">
                  <a:extLst>
                    <a:ext uri="{9D8B030D-6E8A-4147-A177-3AD203B41FA5}">
                      <a16:colId xmlns:a16="http://schemas.microsoft.com/office/drawing/2014/main" val="1886843285"/>
                    </a:ext>
                  </a:extLst>
                </a:gridCol>
              </a:tblGrid>
              <a:tr h="235676">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55256522"/>
                  </a:ext>
                </a:extLst>
              </a:tr>
              <a:tr h="235676">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862844451"/>
                  </a:ext>
                </a:extLst>
              </a:tr>
              <a:tr h="235676">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75719656"/>
                  </a:ext>
                </a:extLst>
              </a:tr>
              <a:tr h="235676">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146377"/>
                  </a:ext>
                </a:extLst>
              </a:tr>
              <a:tr h="235676">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3261889"/>
                  </a:ext>
                </a:extLst>
              </a:tr>
              <a:tr h="235676">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4074870"/>
                  </a:ext>
                </a:extLst>
              </a:tr>
              <a:tr h="235676">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ca-E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606420"/>
                  </a:ext>
                </a:extLst>
              </a:tr>
            </a:tbl>
          </a:graphicData>
        </a:graphic>
      </p:graphicFrame>
      <p:cxnSp>
        <p:nvCxnSpPr>
          <p:cNvPr id="38" name="Straight Connector 37"/>
          <p:cNvCxnSpPr>
            <a:cxnSpLocks/>
            <a:endCxn id="18" idx="0"/>
          </p:cNvCxnSpPr>
          <p:nvPr/>
        </p:nvCxnSpPr>
        <p:spPr>
          <a:xfrm>
            <a:off x="2506513" y="5179068"/>
            <a:ext cx="337042" cy="246053"/>
          </a:xfrm>
          <a:prstGeom prst="line">
            <a:avLst/>
          </a:prstGeom>
        </p:spPr>
        <p:style>
          <a:lnRef idx="3">
            <a:schemeClr val="accent6"/>
          </a:lnRef>
          <a:fillRef idx="0">
            <a:schemeClr val="accent6"/>
          </a:fillRef>
          <a:effectRef idx="2">
            <a:schemeClr val="accent6"/>
          </a:effectRef>
          <a:fontRef idx="minor">
            <a:schemeClr val="tx1"/>
          </a:fontRef>
        </p:style>
      </p:cxnSp>
      <p:cxnSp>
        <p:nvCxnSpPr>
          <p:cNvPr id="39" name="Straight Connector 38"/>
          <p:cNvCxnSpPr>
            <a:cxnSpLocks/>
            <a:endCxn id="30" idx="0"/>
          </p:cNvCxnSpPr>
          <p:nvPr/>
        </p:nvCxnSpPr>
        <p:spPr>
          <a:xfrm>
            <a:off x="5412684" y="5126261"/>
            <a:ext cx="523625" cy="117246"/>
          </a:xfrm>
          <a:prstGeom prst="line">
            <a:avLst/>
          </a:prstGeom>
        </p:spPr>
        <p:style>
          <a:lnRef idx="3">
            <a:schemeClr val="accent6"/>
          </a:lnRef>
          <a:fillRef idx="0">
            <a:schemeClr val="accent6"/>
          </a:fillRef>
          <a:effectRef idx="2">
            <a:schemeClr val="accent6"/>
          </a:effectRef>
          <a:fontRef idx="minor">
            <a:schemeClr val="tx1"/>
          </a:fontRef>
        </p:style>
      </p:cxnSp>
      <p:cxnSp>
        <p:nvCxnSpPr>
          <p:cNvPr id="41" name="Straight Connector 40"/>
          <p:cNvCxnSpPr/>
          <p:nvPr/>
        </p:nvCxnSpPr>
        <p:spPr>
          <a:xfrm>
            <a:off x="6805017" y="4312920"/>
            <a:ext cx="8533" cy="779264"/>
          </a:xfrm>
          <a:prstGeom prst="line">
            <a:avLst/>
          </a:prstGeom>
        </p:spPr>
        <p:style>
          <a:lnRef idx="3">
            <a:schemeClr val="accent6"/>
          </a:lnRef>
          <a:fillRef idx="0">
            <a:schemeClr val="accent6"/>
          </a:fillRef>
          <a:effectRef idx="2">
            <a:schemeClr val="accent6"/>
          </a:effectRef>
          <a:fontRef idx="minor">
            <a:schemeClr val="tx1"/>
          </a:fontRef>
        </p:style>
      </p:cxnSp>
      <p:sp>
        <p:nvSpPr>
          <p:cNvPr id="43" name="TextBox 42"/>
          <p:cNvSpPr txBox="1"/>
          <p:nvPr/>
        </p:nvSpPr>
        <p:spPr>
          <a:xfrm>
            <a:off x="6446242" y="4560909"/>
            <a:ext cx="358775" cy="369332"/>
          </a:xfrm>
          <a:prstGeom prst="rect">
            <a:avLst/>
          </a:prstGeom>
          <a:noFill/>
        </p:spPr>
        <p:txBody>
          <a:bodyPr wrap="square" rtlCol="0">
            <a:spAutoFit/>
          </a:bodyPr>
          <a:lstStyle/>
          <a:p>
            <a:r>
              <a:rPr lang="es-ES" dirty="0"/>
              <a:t>3</a:t>
            </a:r>
            <a:endParaRPr lang="ca-ES" dirty="0"/>
          </a:p>
        </p:txBody>
      </p:sp>
      <p:cxnSp>
        <p:nvCxnSpPr>
          <p:cNvPr id="44" name="Straight Connector 43"/>
          <p:cNvCxnSpPr/>
          <p:nvPr/>
        </p:nvCxnSpPr>
        <p:spPr>
          <a:xfrm>
            <a:off x="7013673" y="5144740"/>
            <a:ext cx="559397" cy="9704"/>
          </a:xfrm>
          <a:prstGeom prst="line">
            <a:avLst/>
          </a:prstGeom>
        </p:spPr>
        <p:style>
          <a:lnRef idx="3">
            <a:schemeClr val="accent6"/>
          </a:lnRef>
          <a:fillRef idx="0">
            <a:schemeClr val="accent6"/>
          </a:fillRef>
          <a:effectRef idx="2">
            <a:schemeClr val="accent6"/>
          </a:effectRef>
          <a:fontRef idx="minor">
            <a:schemeClr val="tx1"/>
          </a:fontRef>
        </p:style>
      </p:cxnSp>
      <p:sp>
        <p:nvSpPr>
          <p:cNvPr id="47" name="TextBox 46"/>
          <p:cNvSpPr txBox="1"/>
          <p:nvPr/>
        </p:nvSpPr>
        <p:spPr>
          <a:xfrm>
            <a:off x="7179370" y="5179068"/>
            <a:ext cx="358775" cy="369332"/>
          </a:xfrm>
          <a:prstGeom prst="rect">
            <a:avLst/>
          </a:prstGeom>
          <a:noFill/>
        </p:spPr>
        <p:txBody>
          <a:bodyPr wrap="square" rtlCol="0">
            <a:spAutoFit/>
          </a:bodyPr>
          <a:lstStyle/>
          <a:p>
            <a:r>
              <a:rPr lang="es-ES" dirty="0"/>
              <a:t>2</a:t>
            </a:r>
            <a:endParaRPr lang="ca-ES" dirty="0"/>
          </a:p>
        </p:txBody>
      </p:sp>
      <p:sp>
        <p:nvSpPr>
          <p:cNvPr id="48" name="TextBox 47"/>
          <p:cNvSpPr txBox="1"/>
          <p:nvPr/>
        </p:nvSpPr>
        <p:spPr>
          <a:xfrm>
            <a:off x="6689725" y="5986264"/>
            <a:ext cx="2253258" cy="600164"/>
          </a:xfrm>
          <a:prstGeom prst="rect">
            <a:avLst/>
          </a:prstGeom>
          <a:noFill/>
        </p:spPr>
        <p:txBody>
          <a:bodyPr wrap="square" rtlCol="0">
            <a:spAutoFit/>
          </a:bodyPr>
          <a:lstStyle/>
          <a:p>
            <a:pPr algn="ctr"/>
            <a:r>
              <a:rPr lang="es-ES" sz="1100" dirty="0">
                <a:latin typeface="Verdana" panose="020B0604030504040204" pitchFamily="34" charset="0"/>
                <a:ea typeface="Verdana" panose="020B0604030504040204" pitchFamily="34" charset="0"/>
                <a:cs typeface="Verdana" panose="020B0604030504040204" pitchFamily="34" charset="0"/>
              </a:rPr>
              <a:t>Per </a:t>
            </a:r>
            <a:r>
              <a:rPr lang="es-ES" sz="1100" dirty="0" err="1">
                <a:latin typeface="Verdana" panose="020B0604030504040204" pitchFamily="34" charset="0"/>
                <a:ea typeface="Verdana" panose="020B0604030504040204" pitchFamily="34" charset="0"/>
                <a:cs typeface="Verdana" panose="020B0604030504040204" pitchFamily="34" charset="0"/>
              </a:rPr>
              <a:t>omplir</a:t>
            </a:r>
            <a:r>
              <a:rPr lang="es-ES" sz="1100" dirty="0">
                <a:latin typeface="Verdana" panose="020B0604030504040204" pitchFamily="34" charset="0"/>
                <a:ea typeface="Verdana" panose="020B0604030504040204" pitchFamily="34" charset="0"/>
                <a:cs typeface="Verdana" panose="020B0604030504040204" pitchFamily="34" charset="0"/>
              </a:rPr>
              <a:t> 17 </a:t>
            </a:r>
            <a:r>
              <a:rPr lang="es-ES" sz="1100" dirty="0" err="1">
                <a:latin typeface="Verdana" panose="020B0604030504040204" pitchFamily="34" charset="0"/>
                <a:ea typeface="Verdana" panose="020B0604030504040204" pitchFamily="34" charset="0"/>
                <a:cs typeface="Verdana" panose="020B0604030504040204" pitchFamily="34" charset="0"/>
              </a:rPr>
              <a:t>espais</a:t>
            </a:r>
            <a:r>
              <a:rPr lang="es-ES" sz="1100" dirty="0">
                <a:latin typeface="Verdana" panose="020B0604030504040204" pitchFamily="34" charset="0"/>
                <a:ea typeface="Verdana" panose="020B0604030504040204" pitchFamily="34" charset="0"/>
                <a:cs typeface="Verdana" panose="020B0604030504040204" pitchFamily="34" charset="0"/>
              </a:rPr>
              <a:t>, </a:t>
            </a:r>
            <a:r>
              <a:rPr lang="es-ES" sz="1100" dirty="0" err="1">
                <a:latin typeface="Verdana" panose="020B0604030504040204" pitchFamily="34" charset="0"/>
                <a:ea typeface="Verdana" panose="020B0604030504040204" pitchFamily="34" charset="0"/>
                <a:cs typeface="Verdana" panose="020B0604030504040204" pitchFamily="34" charset="0"/>
              </a:rPr>
              <a:t>ens</a:t>
            </a:r>
            <a:r>
              <a:rPr lang="es-ES" sz="1100" dirty="0">
                <a:latin typeface="Verdana" panose="020B0604030504040204" pitchFamily="34" charset="0"/>
                <a:ea typeface="Verdana" panose="020B0604030504040204" pitchFamily="34" charset="0"/>
                <a:cs typeface="Verdana" panose="020B0604030504040204" pitchFamily="34" charset="0"/>
              </a:rPr>
              <a:t> </a:t>
            </a:r>
            <a:r>
              <a:rPr lang="es-ES" sz="1100" dirty="0" err="1">
                <a:latin typeface="Verdana" panose="020B0604030504040204" pitchFamily="34" charset="0"/>
                <a:ea typeface="Verdana" panose="020B0604030504040204" pitchFamily="34" charset="0"/>
                <a:cs typeface="Verdana" panose="020B0604030504040204" pitchFamily="34" charset="0"/>
              </a:rPr>
              <a:t>caldran</a:t>
            </a:r>
            <a:r>
              <a:rPr lang="es-ES" sz="1100" dirty="0">
                <a:latin typeface="Verdana" panose="020B0604030504040204" pitchFamily="34" charset="0"/>
                <a:ea typeface="Verdana" panose="020B0604030504040204" pitchFamily="34" charset="0"/>
                <a:cs typeface="Verdana" panose="020B0604030504040204" pitchFamily="34" charset="0"/>
              </a:rPr>
              <a:t> 3 files </a:t>
            </a:r>
            <a:r>
              <a:rPr lang="es-ES" sz="1100" dirty="0" err="1">
                <a:latin typeface="Verdana" panose="020B0604030504040204" pitchFamily="34" charset="0"/>
                <a:ea typeface="Verdana" panose="020B0604030504040204" pitchFamily="34" charset="0"/>
                <a:cs typeface="Verdana" panose="020B0604030504040204" pitchFamily="34" charset="0"/>
              </a:rPr>
              <a:t>plenes</a:t>
            </a:r>
            <a:r>
              <a:rPr lang="es-ES" sz="1100" dirty="0">
                <a:latin typeface="Verdana" panose="020B0604030504040204" pitchFamily="34" charset="0"/>
                <a:ea typeface="Verdana" panose="020B0604030504040204" pitchFamily="34" charset="0"/>
                <a:cs typeface="Verdana" panose="020B0604030504040204" pitchFamily="34" charset="0"/>
              </a:rPr>
              <a:t> i 2 </a:t>
            </a:r>
            <a:r>
              <a:rPr lang="es-ES" sz="1100" dirty="0" err="1">
                <a:latin typeface="Verdana" panose="020B0604030504040204" pitchFamily="34" charset="0"/>
                <a:ea typeface="Verdana" panose="020B0604030504040204" pitchFamily="34" charset="0"/>
                <a:cs typeface="Verdana" panose="020B0604030504040204" pitchFamily="34" charset="0"/>
              </a:rPr>
              <a:t>espais</a:t>
            </a:r>
            <a:r>
              <a:rPr lang="es-ES" sz="1100" dirty="0">
                <a:latin typeface="Verdana" panose="020B0604030504040204" pitchFamily="34" charset="0"/>
                <a:ea typeface="Verdana" panose="020B0604030504040204" pitchFamily="34" charset="0"/>
                <a:cs typeface="Verdana" panose="020B0604030504040204" pitchFamily="34" charset="0"/>
              </a:rPr>
              <a:t> </a:t>
            </a:r>
            <a:r>
              <a:rPr lang="es-ES" sz="1100" dirty="0" err="1">
                <a:latin typeface="Verdana" panose="020B0604030504040204" pitchFamily="34" charset="0"/>
                <a:ea typeface="Verdana" panose="020B0604030504040204" pitchFamily="34" charset="0"/>
                <a:cs typeface="Verdana" panose="020B0604030504040204" pitchFamily="34" charset="0"/>
              </a:rPr>
              <a:t>més</a:t>
            </a:r>
            <a:r>
              <a:rPr lang="es-ES" sz="1100" dirty="0">
                <a:latin typeface="Verdana" panose="020B0604030504040204" pitchFamily="34" charset="0"/>
                <a:ea typeface="Verdana" panose="020B0604030504040204" pitchFamily="34" charset="0"/>
                <a:cs typeface="Verdana" panose="020B0604030504040204" pitchFamily="34" charset="0"/>
              </a:rPr>
              <a:t> de la </a:t>
            </a:r>
            <a:r>
              <a:rPr lang="es-ES" sz="1100" dirty="0" err="1">
                <a:latin typeface="Verdana" panose="020B0604030504040204" pitchFamily="34" charset="0"/>
                <a:ea typeface="Verdana" panose="020B0604030504040204" pitchFamily="34" charset="0"/>
                <a:cs typeface="Verdana" panose="020B0604030504040204" pitchFamily="34" charset="0"/>
              </a:rPr>
              <a:t>següent</a:t>
            </a:r>
            <a:r>
              <a:rPr lang="es-ES" sz="1100" dirty="0">
                <a:latin typeface="Verdana" panose="020B0604030504040204" pitchFamily="34" charset="0"/>
                <a:ea typeface="Verdana" panose="020B0604030504040204" pitchFamily="34" charset="0"/>
                <a:cs typeface="Verdana" panose="020B0604030504040204" pitchFamily="34" charset="0"/>
              </a:rPr>
              <a:t> fila</a:t>
            </a:r>
            <a:endParaRPr lang="ca-ES" sz="11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49966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30" grpId="0" animBg="1"/>
      <p:bldP spid="32" grpId="0" animBg="1"/>
      <p:bldP spid="43"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EC686E-E0D4-7715-E44B-2335B9152B89}"/>
              </a:ext>
            </a:extLst>
          </p:cNvPr>
          <p:cNvSpPr>
            <a:spLocks noGrp="1"/>
          </p:cNvSpPr>
          <p:nvPr>
            <p:ph type="ctrTitle"/>
          </p:nvPr>
        </p:nvSpPr>
        <p:spPr/>
        <p:txBody>
          <a:bodyPr>
            <a:normAutofit fontScale="90000"/>
          </a:bodyPr>
          <a:lstStyle/>
          <a:p>
            <a:r>
              <a:rPr lang="es-ES" dirty="0"/>
              <a:t>ESTRUCTURA D’UN PROGRAMA - VARIABLES</a:t>
            </a:r>
          </a:p>
        </p:txBody>
      </p:sp>
    </p:spTree>
    <p:extLst>
      <p:ext uri="{BB962C8B-B14F-4D97-AF65-F5344CB8AC3E}">
        <p14:creationId xmlns:p14="http://schemas.microsoft.com/office/powerpoint/2010/main" val="1818478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55A0C4-B7A8-16DF-4DCB-F9FD4A52B853}"/>
              </a:ext>
            </a:extLst>
          </p:cNvPr>
          <p:cNvSpPr>
            <a:spLocks noGrp="1"/>
          </p:cNvSpPr>
          <p:nvPr>
            <p:ph type="title"/>
          </p:nvPr>
        </p:nvSpPr>
        <p:spPr>
          <a:xfrm>
            <a:off x="304800" y="41033"/>
            <a:ext cx="8534400" cy="642130"/>
          </a:xfrm>
        </p:spPr>
        <p:txBody>
          <a:bodyPr/>
          <a:lstStyle/>
          <a:p>
            <a:r>
              <a:rPr lang="ca-ES" dirty="0"/>
              <a:t>Estructura d’un programa </a:t>
            </a:r>
            <a:endParaRPr lang="es-ES" dirty="0"/>
          </a:p>
        </p:txBody>
      </p:sp>
      <p:grpSp>
        <p:nvGrpSpPr>
          <p:cNvPr id="31" name="Grupo 30">
            <a:extLst>
              <a:ext uri="{FF2B5EF4-FFF2-40B4-BE49-F238E27FC236}">
                <a16:creationId xmlns:a16="http://schemas.microsoft.com/office/drawing/2014/main" id="{7D709358-AC86-28DC-40ED-3C8A7C07A85D}"/>
              </a:ext>
            </a:extLst>
          </p:cNvPr>
          <p:cNvGrpSpPr/>
          <p:nvPr/>
        </p:nvGrpSpPr>
        <p:grpSpPr>
          <a:xfrm>
            <a:off x="5943381" y="563324"/>
            <a:ext cx="2488137" cy="847000"/>
            <a:chOff x="5922335" y="800907"/>
            <a:chExt cx="2583711" cy="942833"/>
          </a:xfrm>
        </p:grpSpPr>
        <p:sp>
          <p:nvSpPr>
            <p:cNvPr id="5" name="TextBox 8">
              <a:extLst>
                <a:ext uri="{FF2B5EF4-FFF2-40B4-BE49-F238E27FC236}">
                  <a16:creationId xmlns:a16="http://schemas.microsoft.com/office/drawing/2014/main" id="{21F83F28-01B7-59BC-E77E-71A73E343D2D}"/>
                </a:ext>
              </a:extLst>
            </p:cNvPr>
            <p:cNvSpPr txBox="1"/>
            <p:nvPr/>
          </p:nvSpPr>
          <p:spPr>
            <a:xfrm>
              <a:off x="6506410" y="1064549"/>
              <a:ext cx="1999636" cy="338554"/>
            </a:xfrm>
            <a:prstGeom prst="rect">
              <a:avLst/>
            </a:prstGeom>
            <a:noFill/>
          </p:spPr>
          <p:txBody>
            <a:bodyPr wrap="square" rtlCol="0">
              <a:spAutoFit/>
            </a:bodyPr>
            <a:lstStyle/>
            <a:p>
              <a:r>
                <a:rPr lang="es-ES" sz="1600" dirty="0" err="1">
                  <a:latin typeface="Verdana" panose="020B0604030504040204" pitchFamily="34" charset="0"/>
                  <a:ea typeface="Verdana" panose="020B0604030504040204" pitchFamily="34" charset="0"/>
                  <a:cs typeface="Verdana" panose="020B0604030504040204" pitchFamily="34" charset="0"/>
                </a:rPr>
                <a:t>Llibreries</a:t>
              </a:r>
              <a:endParaRPr lang="ca-ES" sz="1600" dirty="0">
                <a:latin typeface="Verdana" panose="020B0604030504040204" pitchFamily="34" charset="0"/>
                <a:ea typeface="Verdana" panose="020B0604030504040204" pitchFamily="34" charset="0"/>
                <a:cs typeface="Verdana" panose="020B0604030504040204" pitchFamily="34" charset="0"/>
              </a:endParaRPr>
            </a:p>
          </p:txBody>
        </p:sp>
        <p:sp>
          <p:nvSpPr>
            <p:cNvPr id="20" name="Cerrar llave 19">
              <a:extLst>
                <a:ext uri="{FF2B5EF4-FFF2-40B4-BE49-F238E27FC236}">
                  <a16:creationId xmlns:a16="http://schemas.microsoft.com/office/drawing/2014/main" id="{FE8F91AE-0A2D-4A9D-3455-1644929A0313}"/>
                </a:ext>
              </a:extLst>
            </p:cNvPr>
            <p:cNvSpPr/>
            <p:nvPr/>
          </p:nvSpPr>
          <p:spPr>
            <a:xfrm>
              <a:off x="5922335" y="800907"/>
              <a:ext cx="393405" cy="942833"/>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grpSp>
      <p:grpSp>
        <p:nvGrpSpPr>
          <p:cNvPr id="32" name="Grupo 31">
            <a:extLst>
              <a:ext uri="{FF2B5EF4-FFF2-40B4-BE49-F238E27FC236}">
                <a16:creationId xmlns:a16="http://schemas.microsoft.com/office/drawing/2014/main" id="{B96BFD9A-717E-4046-AFD9-CCACB40424F0}"/>
              </a:ext>
            </a:extLst>
          </p:cNvPr>
          <p:cNvGrpSpPr/>
          <p:nvPr/>
        </p:nvGrpSpPr>
        <p:grpSpPr>
          <a:xfrm>
            <a:off x="5943381" y="1484016"/>
            <a:ext cx="2463262" cy="525337"/>
            <a:chOff x="5948165" y="1848293"/>
            <a:chExt cx="2557881" cy="584776"/>
          </a:xfrm>
        </p:grpSpPr>
        <p:sp>
          <p:nvSpPr>
            <p:cNvPr id="21" name="TextBox 8">
              <a:extLst>
                <a:ext uri="{FF2B5EF4-FFF2-40B4-BE49-F238E27FC236}">
                  <a16:creationId xmlns:a16="http://schemas.microsoft.com/office/drawing/2014/main" id="{27BD220D-A01F-FE85-D80E-9AB94892FB7E}"/>
                </a:ext>
              </a:extLst>
            </p:cNvPr>
            <p:cNvSpPr txBox="1"/>
            <p:nvPr/>
          </p:nvSpPr>
          <p:spPr>
            <a:xfrm>
              <a:off x="6506410" y="1848294"/>
              <a:ext cx="1999636" cy="584775"/>
            </a:xfrm>
            <a:prstGeom prst="rect">
              <a:avLst/>
            </a:prstGeom>
            <a:noFill/>
          </p:spPr>
          <p:txBody>
            <a:bodyPr wrap="square" rtlCol="0">
              <a:spAutoFit/>
            </a:bodyPr>
            <a:lstStyle/>
            <a:p>
              <a:r>
                <a:rPr lang="es-ES" sz="1600" dirty="0" err="1">
                  <a:latin typeface="Verdana" panose="020B0604030504040204" pitchFamily="34" charset="0"/>
                  <a:ea typeface="Verdana" panose="020B0604030504040204" pitchFamily="34" charset="0"/>
                  <a:cs typeface="Verdana" panose="020B0604030504040204" pitchFamily="34" charset="0"/>
                </a:rPr>
                <a:t>Definició</a:t>
              </a:r>
              <a:r>
                <a:rPr lang="es-ES" sz="1600" dirty="0">
                  <a:latin typeface="Verdana" panose="020B0604030504040204" pitchFamily="34" charset="0"/>
                  <a:ea typeface="Verdana" panose="020B0604030504040204" pitchFamily="34" charset="0"/>
                  <a:cs typeface="Verdana" panose="020B0604030504040204" pitchFamily="34" charset="0"/>
                </a:rPr>
                <a:t> de </a:t>
              </a:r>
              <a:r>
                <a:rPr lang="es-ES" sz="1600" dirty="0" err="1">
                  <a:latin typeface="Verdana" panose="020B0604030504040204" pitchFamily="34" charset="0"/>
                  <a:ea typeface="Verdana" panose="020B0604030504040204" pitchFamily="34" charset="0"/>
                  <a:cs typeface="Verdana" panose="020B0604030504040204" pitchFamily="34" charset="0"/>
                </a:rPr>
                <a:t>constants</a:t>
              </a:r>
              <a:endParaRPr lang="ca-ES" sz="1600" dirty="0">
                <a:latin typeface="Verdana" panose="020B0604030504040204" pitchFamily="34" charset="0"/>
                <a:ea typeface="Verdana" panose="020B0604030504040204" pitchFamily="34" charset="0"/>
                <a:cs typeface="Verdana" panose="020B0604030504040204" pitchFamily="34" charset="0"/>
              </a:endParaRPr>
            </a:p>
          </p:txBody>
        </p:sp>
        <p:sp>
          <p:nvSpPr>
            <p:cNvPr id="22" name="Cerrar llave 21">
              <a:extLst>
                <a:ext uri="{FF2B5EF4-FFF2-40B4-BE49-F238E27FC236}">
                  <a16:creationId xmlns:a16="http://schemas.microsoft.com/office/drawing/2014/main" id="{9E1857E7-6B9C-43F8-B262-1BFA7D3AAF32}"/>
                </a:ext>
              </a:extLst>
            </p:cNvPr>
            <p:cNvSpPr/>
            <p:nvPr/>
          </p:nvSpPr>
          <p:spPr>
            <a:xfrm>
              <a:off x="5948165" y="1848293"/>
              <a:ext cx="393405" cy="58477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grpSp>
      <p:grpSp>
        <p:nvGrpSpPr>
          <p:cNvPr id="33" name="Grupo 32">
            <a:extLst>
              <a:ext uri="{FF2B5EF4-FFF2-40B4-BE49-F238E27FC236}">
                <a16:creationId xmlns:a16="http://schemas.microsoft.com/office/drawing/2014/main" id="{26241694-1374-BF46-4A22-86E8F363F409}"/>
              </a:ext>
            </a:extLst>
          </p:cNvPr>
          <p:cNvGrpSpPr/>
          <p:nvPr/>
        </p:nvGrpSpPr>
        <p:grpSpPr>
          <a:xfrm>
            <a:off x="5943381" y="2430191"/>
            <a:ext cx="2463262" cy="525337"/>
            <a:chOff x="5968255" y="2959490"/>
            <a:chExt cx="2557881" cy="584776"/>
          </a:xfrm>
        </p:grpSpPr>
        <p:sp>
          <p:nvSpPr>
            <p:cNvPr id="23" name="TextBox 8">
              <a:extLst>
                <a:ext uri="{FF2B5EF4-FFF2-40B4-BE49-F238E27FC236}">
                  <a16:creationId xmlns:a16="http://schemas.microsoft.com/office/drawing/2014/main" id="{53BA42A1-D56D-A349-BA19-BC5737605E7A}"/>
                </a:ext>
              </a:extLst>
            </p:cNvPr>
            <p:cNvSpPr txBox="1"/>
            <p:nvPr/>
          </p:nvSpPr>
          <p:spPr>
            <a:xfrm>
              <a:off x="6526500" y="2959491"/>
              <a:ext cx="1999636" cy="584775"/>
            </a:xfrm>
            <a:prstGeom prst="rect">
              <a:avLst/>
            </a:prstGeom>
            <a:noFill/>
          </p:spPr>
          <p:txBody>
            <a:bodyPr wrap="square" rtlCol="0">
              <a:spAutoFit/>
            </a:bodyPr>
            <a:lstStyle/>
            <a:p>
              <a:r>
                <a:rPr lang="es-ES" sz="1600" dirty="0" err="1">
                  <a:latin typeface="Verdana" panose="020B0604030504040204" pitchFamily="34" charset="0"/>
                  <a:ea typeface="Verdana" panose="020B0604030504040204" pitchFamily="34" charset="0"/>
                  <a:cs typeface="Verdana" panose="020B0604030504040204" pitchFamily="34" charset="0"/>
                </a:rPr>
                <a:t>Definició</a:t>
              </a:r>
              <a:r>
                <a:rPr lang="es-ES" sz="1600" dirty="0">
                  <a:latin typeface="Verdana" panose="020B0604030504040204" pitchFamily="34" charset="0"/>
                  <a:ea typeface="Verdana" panose="020B0604030504040204" pitchFamily="34" charset="0"/>
                  <a:cs typeface="Verdana" panose="020B0604030504040204" pitchFamily="34" charset="0"/>
                </a:rPr>
                <a:t> de variables</a:t>
              </a:r>
              <a:endParaRPr lang="ca-ES" sz="1600" dirty="0">
                <a:latin typeface="Verdana" panose="020B0604030504040204" pitchFamily="34" charset="0"/>
                <a:ea typeface="Verdana" panose="020B0604030504040204" pitchFamily="34" charset="0"/>
                <a:cs typeface="Verdana" panose="020B0604030504040204" pitchFamily="34" charset="0"/>
              </a:endParaRPr>
            </a:p>
          </p:txBody>
        </p:sp>
        <p:sp>
          <p:nvSpPr>
            <p:cNvPr id="24" name="Cerrar llave 23">
              <a:extLst>
                <a:ext uri="{FF2B5EF4-FFF2-40B4-BE49-F238E27FC236}">
                  <a16:creationId xmlns:a16="http://schemas.microsoft.com/office/drawing/2014/main" id="{56EBC8CE-65DB-D245-1F4C-4AF29D9865E1}"/>
                </a:ext>
              </a:extLst>
            </p:cNvPr>
            <p:cNvSpPr/>
            <p:nvPr/>
          </p:nvSpPr>
          <p:spPr>
            <a:xfrm>
              <a:off x="5968255" y="2959490"/>
              <a:ext cx="393405" cy="58477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grpSp>
      <p:grpSp>
        <p:nvGrpSpPr>
          <p:cNvPr id="34" name="Grupo 33">
            <a:extLst>
              <a:ext uri="{FF2B5EF4-FFF2-40B4-BE49-F238E27FC236}">
                <a16:creationId xmlns:a16="http://schemas.microsoft.com/office/drawing/2014/main" id="{79A229F0-D189-C0EF-E23D-E896CE9DB248}"/>
              </a:ext>
            </a:extLst>
          </p:cNvPr>
          <p:cNvGrpSpPr/>
          <p:nvPr/>
        </p:nvGrpSpPr>
        <p:grpSpPr>
          <a:xfrm>
            <a:off x="5991448" y="3215142"/>
            <a:ext cx="2463262" cy="525337"/>
            <a:chOff x="5968255" y="3854470"/>
            <a:chExt cx="2557881" cy="584776"/>
          </a:xfrm>
        </p:grpSpPr>
        <p:sp>
          <p:nvSpPr>
            <p:cNvPr id="25" name="TextBox 8">
              <a:extLst>
                <a:ext uri="{FF2B5EF4-FFF2-40B4-BE49-F238E27FC236}">
                  <a16:creationId xmlns:a16="http://schemas.microsoft.com/office/drawing/2014/main" id="{DAB0DFDA-CF0E-0306-CD02-936DFBC9C2CD}"/>
                </a:ext>
              </a:extLst>
            </p:cNvPr>
            <p:cNvSpPr txBox="1"/>
            <p:nvPr/>
          </p:nvSpPr>
          <p:spPr>
            <a:xfrm>
              <a:off x="6526500" y="3854471"/>
              <a:ext cx="1999636" cy="338554"/>
            </a:xfrm>
            <a:prstGeom prst="rect">
              <a:avLst/>
            </a:prstGeom>
            <a:noFill/>
          </p:spPr>
          <p:txBody>
            <a:bodyPr wrap="square" rtlCol="0">
              <a:spAutoFit/>
            </a:bodyPr>
            <a:lstStyle/>
            <a:p>
              <a:r>
                <a:rPr lang="es-ES" sz="1600" dirty="0" err="1">
                  <a:latin typeface="Verdana" panose="020B0604030504040204" pitchFamily="34" charset="0"/>
                  <a:ea typeface="Verdana" panose="020B0604030504040204" pitchFamily="34" charset="0"/>
                  <a:cs typeface="Verdana" panose="020B0604030504040204" pitchFamily="34" charset="0"/>
                </a:rPr>
                <a:t>Demanar</a:t>
              </a:r>
              <a:r>
                <a:rPr lang="es-ES" sz="1600" dirty="0">
                  <a:latin typeface="Verdana" panose="020B0604030504040204" pitchFamily="34" charset="0"/>
                  <a:ea typeface="Verdana" panose="020B0604030504040204" pitchFamily="34" charset="0"/>
                  <a:cs typeface="Verdana" panose="020B0604030504040204" pitchFamily="34" charset="0"/>
                </a:rPr>
                <a:t> dades</a:t>
              </a:r>
              <a:endParaRPr lang="ca-ES" sz="1600" dirty="0">
                <a:latin typeface="Verdana" panose="020B0604030504040204" pitchFamily="34" charset="0"/>
                <a:ea typeface="Verdana" panose="020B0604030504040204" pitchFamily="34" charset="0"/>
                <a:cs typeface="Verdana" panose="020B0604030504040204" pitchFamily="34" charset="0"/>
              </a:endParaRPr>
            </a:p>
          </p:txBody>
        </p:sp>
        <p:sp>
          <p:nvSpPr>
            <p:cNvPr id="26" name="Cerrar llave 25">
              <a:extLst>
                <a:ext uri="{FF2B5EF4-FFF2-40B4-BE49-F238E27FC236}">
                  <a16:creationId xmlns:a16="http://schemas.microsoft.com/office/drawing/2014/main" id="{0F7B4BD2-4759-C8EB-089F-D2B9F16E9DAB}"/>
                </a:ext>
              </a:extLst>
            </p:cNvPr>
            <p:cNvSpPr/>
            <p:nvPr/>
          </p:nvSpPr>
          <p:spPr>
            <a:xfrm>
              <a:off x="5968255" y="3854470"/>
              <a:ext cx="393405" cy="58477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grpSp>
      <p:grpSp>
        <p:nvGrpSpPr>
          <p:cNvPr id="35" name="Grupo 34">
            <a:extLst>
              <a:ext uri="{FF2B5EF4-FFF2-40B4-BE49-F238E27FC236}">
                <a16:creationId xmlns:a16="http://schemas.microsoft.com/office/drawing/2014/main" id="{2ED03FBC-7146-22B0-D914-5C36C8194878}"/>
              </a:ext>
            </a:extLst>
          </p:cNvPr>
          <p:cNvGrpSpPr/>
          <p:nvPr/>
        </p:nvGrpSpPr>
        <p:grpSpPr>
          <a:xfrm>
            <a:off x="6010427" y="3850751"/>
            <a:ext cx="2523973" cy="525337"/>
            <a:chOff x="5991448" y="4605159"/>
            <a:chExt cx="2620924" cy="584776"/>
          </a:xfrm>
        </p:grpSpPr>
        <p:sp>
          <p:nvSpPr>
            <p:cNvPr id="27" name="TextBox 8">
              <a:extLst>
                <a:ext uri="{FF2B5EF4-FFF2-40B4-BE49-F238E27FC236}">
                  <a16:creationId xmlns:a16="http://schemas.microsoft.com/office/drawing/2014/main" id="{9170F64E-5318-8349-EF55-EADB694A6BE3}"/>
                </a:ext>
              </a:extLst>
            </p:cNvPr>
            <p:cNvSpPr txBox="1"/>
            <p:nvPr/>
          </p:nvSpPr>
          <p:spPr>
            <a:xfrm>
              <a:off x="6612736" y="4684468"/>
              <a:ext cx="1999636" cy="338554"/>
            </a:xfrm>
            <a:prstGeom prst="rect">
              <a:avLst/>
            </a:prstGeom>
            <a:noFill/>
          </p:spPr>
          <p:txBody>
            <a:bodyPr wrap="square" rtlCol="0">
              <a:spAutoFit/>
            </a:bodyPr>
            <a:lstStyle/>
            <a:p>
              <a:r>
                <a:rPr lang="es-ES" sz="1600" dirty="0">
                  <a:latin typeface="Verdana" panose="020B0604030504040204" pitchFamily="34" charset="0"/>
                  <a:ea typeface="Verdana" panose="020B0604030504040204" pitchFamily="34" charset="0"/>
                  <a:cs typeface="Verdana" panose="020B0604030504040204" pitchFamily="34" charset="0"/>
                </a:rPr>
                <a:t>Cos del programa</a:t>
              </a:r>
              <a:endParaRPr lang="ca-ES" sz="1600" dirty="0">
                <a:latin typeface="Verdana" panose="020B0604030504040204" pitchFamily="34" charset="0"/>
                <a:ea typeface="Verdana" panose="020B0604030504040204" pitchFamily="34" charset="0"/>
                <a:cs typeface="Verdana" panose="020B0604030504040204" pitchFamily="34" charset="0"/>
              </a:endParaRPr>
            </a:p>
          </p:txBody>
        </p:sp>
        <p:sp>
          <p:nvSpPr>
            <p:cNvPr id="28" name="Cerrar llave 27">
              <a:extLst>
                <a:ext uri="{FF2B5EF4-FFF2-40B4-BE49-F238E27FC236}">
                  <a16:creationId xmlns:a16="http://schemas.microsoft.com/office/drawing/2014/main" id="{0B0741BA-B5C1-1C0E-2B1C-7BC6521B6CCD}"/>
                </a:ext>
              </a:extLst>
            </p:cNvPr>
            <p:cNvSpPr/>
            <p:nvPr/>
          </p:nvSpPr>
          <p:spPr>
            <a:xfrm>
              <a:off x="5991448" y="4605159"/>
              <a:ext cx="393405" cy="58477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grpSp>
      <p:grpSp>
        <p:nvGrpSpPr>
          <p:cNvPr id="36" name="Grupo 35">
            <a:extLst>
              <a:ext uri="{FF2B5EF4-FFF2-40B4-BE49-F238E27FC236}">
                <a16:creationId xmlns:a16="http://schemas.microsoft.com/office/drawing/2014/main" id="{A2209F8E-24B6-AA71-A467-4A0C59303142}"/>
              </a:ext>
            </a:extLst>
          </p:cNvPr>
          <p:cNvGrpSpPr/>
          <p:nvPr/>
        </p:nvGrpSpPr>
        <p:grpSpPr>
          <a:xfrm>
            <a:off x="5991448" y="4497677"/>
            <a:ext cx="2523973" cy="525337"/>
            <a:chOff x="6010427" y="5277881"/>
            <a:chExt cx="2620924" cy="584776"/>
          </a:xfrm>
        </p:grpSpPr>
        <p:sp>
          <p:nvSpPr>
            <p:cNvPr id="29" name="TextBox 8">
              <a:extLst>
                <a:ext uri="{FF2B5EF4-FFF2-40B4-BE49-F238E27FC236}">
                  <a16:creationId xmlns:a16="http://schemas.microsoft.com/office/drawing/2014/main" id="{98E63241-1D78-5281-553D-296BA972EBEE}"/>
                </a:ext>
              </a:extLst>
            </p:cNvPr>
            <p:cNvSpPr txBox="1"/>
            <p:nvPr/>
          </p:nvSpPr>
          <p:spPr>
            <a:xfrm>
              <a:off x="6631715" y="5400992"/>
              <a:ext cx="1999636" cy="338554"/>
            </a:xfrm>
            <a:prstGeom prst="rect">
              <a:avLst/>
            </a:prstGeom>
            <a:noFill/>
          </p:spPr>
          <p:txBody>
            <a:bodyPr wrap="square" rtlCol="0">
              <a:spAutoFit/>
            </a:bodyPr>
            <a:lstStyle/>
            <a:p>
              <a:r>
                <a:rPr lang="es-ES" sz="1600" dirty="0">
                  <a:latin typeface="Verdana" panose="020B0604030504040204" pitchFamily="34" charset="0"/>
                  <a:ea typeface="Verdana" panose="020B0604030504040204" pitchFamily="34" charset="0"/>
                  <a:cs typeface="Verdana" panose="020B0604030504040204" pitchFamily="34" charset="0"/>
                </a:rPr>
                <a:t>Mostrar </a:t>
              </a:r>
              <a:r>
                <a:rPr lang="es-ES" sz="1600" dirty="0" err="1">
                  <a:latin typeface="Verdana" panose="020B0604030504040204" pitchFamily="34" charset="0"/>
                  <a:ea typeface="Verdana" panose="020B0604030504040204" pitchFamily="34" charset="0"/>
                  <a:cs typeface="Verdana" panose="020B0604030504040204" pitchFamily="34" charset="0"/>
                </a:rPr>
                <a:t>resultat</a:t>
              </a:r>
              <a:endParaRPr lang="ca-ES" sz="1600" dirty="0">
                <a:latin typeface="Verdana" panose="020B0604030504040204" pitchFamily="34" charset="0"/>
                <a:ea typeface="Verdana" panose="020B0604030504040204" pitchFamily="34" charset="0"/>
                <a:cs typeface="Verdana" panose="020B0604030504040204" pitchFamily="34" charset="0"/>
              </a:endParaRPr>
            </a:p>
          </p:txBody>
        </p:sp>
        <p:sp>
          <p:nvSpPr>
            <p:cNvPr id="30" name="Cerrar llave 29">
              <a:extLst>
                <a:ext uri="{FF2B5EF4-FFF2-40B4-BE49-F238E27FC236}">
                  <a16:creationId xmlns:a16="http://schemas.microsoft.com/office/drawing/2014/main" id="{894554F8-E0D6-0107-5B11-2E49E0AA4E81}"/>
                </a:ext>
              </a:extLst>
            </p:cNvPr>
            <p:cNvSpPr/>
            <p:nvPr/>
          </p:nvSpPr>
          <p:spPr>
            <a:xfrm>
              <a:off x="6010427" y="5277881"/>
              <a:ext cx="393405" cy="58477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grpSp>
      <p:sp>
        <p:nvSpPr>
          <p:cNvPr id="38" name="CuadroTexto 37">
            <a:extLst>
              <a:ext uri="{FF2B5EF4-FFF2-40B4-BE49-F238E27FC236}">
                <a16:creationId xmlns:a16="http://schemas.microsoft.com/office/drawing/2014/main" id="{A4A8BA61-7F0B-6AFB-30A7-487B0C67DA18}"/>
              </a:ext>
            </a:extLst>
          </p:cNvPr>
          <p:cNvSpPr txBox="1"/>
          <p:nvPr/>
        </p:nvSpPr>
        <p:spPr>
          <a:xfrm>
            <a:off x="385060" y="673596"/>
            <a:ext cx="5338868" cy="5139869"/>
          </a:xfrm>
          <a:prstGeom prst="rect">
            <a:avLst/>
          </a:prstGeom>
          <a:noFill/>
          <a:ln>
            <a:solidFill>
              <a:schemeClr val="tx1"/>
            </a:solidFill>
            <a:prstDash val="dash"/>
          </a:ln>
        </p:spPr>
        <p:txBody>
          <a:bodyPr wrap="square">
            <a:spAutoFit/>
          </a:bodyPr>
          <a:lstStyle/>
          <a:p>
            <a:r>
              <a:rPr lang="es-ES" sz="1600" b="0" dirty="0">
                <a:solidFill>
                  <a:srgbClr val="0000FF"/>
                </a:solidFill>
                <a:effectLst/>
                <a:latin typeface="Consolas" panose="020B0609020204030204" pitchFamily="49" charset="0"/>
              </a:rPr>
              <a:t>#include </a:t>
            </a:r>
            <a:r>
              <a:rPr lang="es-ES" sz="1600" b="0" dirty="0">
                <a:solidFill>
                  <a:srgbClr val="A31515"/>
                </a:solidFill>
                <a:effectLst/>
                <a:latin typeface="Consolas" panose="020B0609020204030204" pitchFamily="49" charset="0"/>
              </a:rPr>
              <a:t>&lt;</a:t>
            </a:r>
            <a:r>
              <a:rPr lang="es-ES" sz="1600" b="0" dirty="0" err="1">
                <a:solidFill>
                  <a:srgbClr val="A31515"/>
                </a:solidFill>
                <a:effectLst/>
                <a:latin typeface="Consolas" panose="020B0609020204030204" pitchFamily="49" charset="0"/>
              </a:rPr>
              <a:t>stdio.h</a:t>
            </a:r>
            <a:r>
              <a:rPr lang="es-ES" sz="1600" b="0" dirty="0">
                <a:solidFill>
                  <a:srgbClr val="A31515"/>
                </a:solidFill>
                <a:effectLst/>
                <a:latin typeface="Consolas" panose="020B0609020204030204" pitchFamily="49" charset="0"/>
              </a:rPr>
              <a:t>&gt;</a:t>
            </a:r>
            <a:endParaRPr lang="es-ES" sz="1600" b="0" dirty="0">
              <a:solidFill>
                <a:srgbClr val="000000"/>
              </a:solidFill>
              <a:effectLst/>
              <a:latin typeface="Consolas" panose="020B0609020204030204" pitchFamily="49" charset="0"/>
            </a:endParaRPr>
          </a:p>
          <a:p>
            <a:r>
              <a:rPr lang="es-ES" sz="1600" b="0" dirty="0">
                <a:solidFill>
                  <a:srgbClr val="0000FF"/>
                </a:solidFill>
                <a:effectLst/>
                <a:latin typeface="Consolas" panose="020B0609020204030204" pitchFamily="49" charset="0"/>
              </a:rPr>
              <a:t>#include </a:t>
            </a:r>
            <a:r>
              <a:rPr lang="es-ES" sz="1600" b="0" dirty="0">
                <a:solidFill>
                  <a:srgbClr val="A31515"/>
                </a:solidFill>
                <a:effectLst/>
                <a:latin typeface="Consolas" panose="020B0609020204030204" pitchFamily="49" charset="0"/>
              </a:rPr>
              <a:t>&lt;</a:t>
            </a:r>
            <a:r>
              <a:rPr lang="es-ES" sz="1600" b="0" dirty="0" err="1">
                <a:solidFill>
                  <a:srgbClr val="A31515"/>
                </a:solidFill>
                <a:effectLst/>
                <a:latin typeface="Consolas" panose="020B0609020204030204" pitchFamily="49" charset="0"/>
              </a:rPr>
              <a:t>stdlib.h</a:t>
            </a:r>
            <a:r>
              <a:rPr lang="es-ES" sz="1600" b="0" dirty="0">
                <a:solidFill>
                  <a:srgbClr val="A31515"/>
                </a:solidFill>
                <a:effectLst/>
                <a:latin typeface="Consolas" panose="020B0609020204030204" pitchFamily="49" charset="0"/>
              </a:rPr>
              <a:t>&gt;</a:t>
            </a:r>
          </a:p>
          <a:p>
            <a:endParaRPr lang="es-ES" sz="1600" b="0" dirty="0">
              <a:solidFill>
                <a:srgbClr val="000000"/>
              </a:solidFill>
              <a:effectLst/>
              <a:latin typeface="Consolas" panose="020B0609020204030204" pitchFamily="49" charset="0"/>
            </a:endParaRPr>
          </a:p>
          <a:p>
            <a:r>
              <a:rPr lang="es-ES" sz="1600" b="0" dirty="0">
                <a:solidFill>
                  <a:srgbClr val="0000FF"/>
                </a:solidFill>
                <a:effectLst/>
                <a:latin typeface="Consolas" panose="020B0609020204030204" pitchFamily="49" charset="0"/>
              </a:rPr>
              <a:t>#define PI </a:t>
            </a:r>
            <a:r>
              <a:rPr lang="es-ES" sz="1600" b="0" dirty="0">
                <a:solidFill>
                  <a:srgbClr val="098658"/>
                </a:solidFill>
                <a:effectLst/>
                <a:latin typeface="Consolas" panose="020B0609020204030204" pitchFamily="49" charset="0"/>
              </a:rPr>
              <a:t>3.1415</a:t>
            </a:r>
          </a:p>
          <a:p>
            <a:endParaRPr lang="es-ES" sz="1600" b="0" dirty="0">
              <a:solidFill>
                <a:srgbClr val="000000"/>
              </a:solidFill>
              <a:effectLst/>
              <a:latin typeface="Consolas" panose="020B0609020204030204" pitchFamily="49" charset="0"/>
            </a:endParaRPr>
          </a:p>
          <a:p>
            <a:r>
              <a:rPr lang="es-ES" sz="1600" b="0" dirty="0" err="1">
                <a:solidFill>
                  <a:srgbClr val="0000FF"/>
                </a:solidFill>
                <a:effectLst/>
                <a:latin typeface="Consolas" panose="020B0609020204030204" pitchFamily="49" charset="0"/>
              </a:rPr>
              <a:t>int</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main</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float</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radi</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float</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perimetre</a:t>
            </a:r>
            <a:r>
              <a:rPr lang="es-ES" sz="1600" b="0" dirty="0">
                <a:solidFill>
                  <a:srgbClr val="000000"/>
                </a:solidFill>
                <a:effectLst/>
                <a:latin typeface="Consolas" panose="020B0609020204030204" pitchFamily="49" charset="0"/>
              </a:rPr>
              <a:t>;</a:t>
            </a:r>
          </a:p>
          <a:p>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printf</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a:t>
            </a:r>
            <a:r>
              <a:rPr lang="es-ES" sz="1600" b="0" dirty="0" err="1">
                <a:solidFill>
                  <a:srgbClr val="A31515"/>
                </a:solidFill>
                <a:effectLst/>
                <a:latin typeface="Consolas" panose="020B0609020204030204" pitchFamily="49" charset="0"/>
              </a:rPr>
              <a:t>Introdueix</a:t>
            </a:r>
            <a:r>
              <a:rPr lang="es-ES" sz="1600" b="0" dirty="0">
                <a:solidFill>
                  <a:srgbClr val="A31515"/>
                </a:solidFill>
                <a:effectLst/>
                <a:latin typeface="Consolas" panose="020B0609020204030204" pitchFamily="49" charset="0"/>
              </a:rPr>
              <a:t> el </a:t>
            </a:r>
            <a:r>
              <a:rPr lang="es-ES" sz="1600" b="0" dirty="0" err="1">
                <a:solidFill>
                  <a:srgbClr val="A31515"/>
                </a:solidFill>
                <a:effectLst/>
                <a:latin typeface="Consolas" panose="020B0609020204030204" pitchFamily="49" charset="0"/>
              </a:rPr>
              <a:t>radi</a:t>
            </a:r>
            <a:r>
              <a:rPr lang="es-ES" sz="1600" b="0" dirty="0">
                <a:solidFill>
                  <a:srgbClr val="A31515"/>
                </a:solidFill>
                <a:effectLst/>
                <a:latin typeface="Consolas" panose="020B0609020204030204" pitchFamily="49" charset="0"/>
              </a:rPr>
              <a:t>: "</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scanf</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"%f"</a:t>
            </a:r>
            <a:r>
              <a:rPr lang="es-ES" sz="1600" b="0" dirty="0">
                <a:solidFill>
                  <a:srgbClr val="000000"/>
                </a:solidFill>
                <a:effectLst/>
                <a:latin typeface="Consolas" panose="020B0609020204030204" pitchFamily="49" charset="0"/>
              </a:rPr>
              <a:t>,&amp;</a:t>
            </a:r>
            <a:r>
              <a:rPr lang="es-ES" sz="1600" b="0" dirty="0" err="1">
                <a:solidFill>
                  <a:srgbClr val="000000"/>
                </a:solidFill>
                <a:effectLst/>
                <a:latin typeface="Consolas" panose="020B0609020204030204" pitchFamily="49" charset="0"/>
              </a:rPr>
              <a:t>radi</a:t>
            </a:r>
            <a:r>
              <a:rPr lang="es-ES" sz="1600" b="0" dirty="0">
                <a:solidFill>
                  <a:srgbClr val="000000"/>
                </a:solidFill>
                <a:effectLst/>
                <a:latin typeface="Consolas" panose="020B0609020204030204" pitchFamily="49" charset="0"/>
              </a:rPr>
              <a:t>);</a:t>
            </a:r>
          </a:p>
          <a:p>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perimetre</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2</a:t>
            </a:r>
            <a:r>
              <a:rPr lang="es-ES" sz="1600" b="0" dirty="0">
                <a:solidFill>
                  <a:srgbClr val="000000"/>
                </a:solidFill>
                <a:effectLst/>
                <a:latin typeface="Consolas" panose="020B0609020204030204" pitchFamily="49" charset="0"/>
              </a:rPr>
              <a:t>*</a:t>
            </a:r>
            <a:r>
              <a:rPr lang="es-ES" sz="1600" b="0" dirty="0">
                <a:solidFill>
                  <a:srgbClr val="0000FF"/>
                </a:solidFill>
                <a:effectLst/>
                <a:latin typeface="Consolas" panose="020B0609020204030204" pitchFamily="49" charset="0"/>
              </a:rPr>
              <a:t>PI</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radi</a:t>
            </a:r>
            <a:r>
              <a:rPr lang="es-ES" sz="1600" b="0" dirty="0">
                <a:solidFill>
                  <a:srgbClr val="000000"/>
                </a:solidFill>
                <a:effectLst/>
                <a:latin typeface="Consolas" panose="020B0609020204030204" pitchFamily="49" charset="0"/>
              </a:rPr>
              <a:t>;</a:t>
            </a:r>
          </a:p>
          <a:p>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printf</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a:t>
            </a:r>
            <a:r>
              <a:rPr lang="es-ES" sz="1600" b="0" dirty="0" err="1">
                <a:solidFill>
                  <a:srgbClr val="A31515"/>
                </a:solidFill>
                <a:effectLst/>
                <a:latin typeface="Consolas" panose="020B0609020204030204" pitchFamily="49" charset="0"/>
              </a:rPr>
              <a:t>Perimetre</a:t>
            </a:r>
            <a:r>
              <a:rPr lang="es-ES" sz="1600" b="0" dirty="0">
                <a:solidFill>
                  <a:srgbClr val="A31515"/>
                </a:solidFill>
                <a:effectLst/>
                <a:latin typeface="Consolas" panose="020B0609020204030204" pitchFamily="49" charset="0"/>
              </a:rPr>
              <a:t> %.2f "</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perimetre</a:t>
            </a:r>
            <a:r>
              <a:rPr lang="es-ES" sz="1600" b="0" dirty="0">
                <a:solidFill>
                  <a:srgbClr val="000000"/>
                </a:solidFill>
                <a:effectLst/>
                <a:latin typeface="Consolas" panose="020B0609020204030204" pitchFamily="49" charset="0"/>
              </a:rPr>
              <a:t>);</a:t>
            </a:r>
          </a:p>
          <a:p>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acabament</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return</a:t>
            </a:r>
            <a:r>
              <a:rPr lang="es-ES" sz="1600" b="0" dirty="0">
                <a:solidFill>
                  <a:srgbClr val="000000"/>
                </a:solidFill>
                <a:effectLst/>
                <a:latin typeface="Consolas" panose="020B0609020204030204" pitchFamily="49" charset="0"/>
              </a:rPr>
              <a:t> </a:t>
            </a:r>
            <a:r>
              <a:rPr lang="es-ES" sz="1600" b="0" dirty="0">
                <a:solidFill>
                  <a:srgbClr val="098658"/>
                </a:solidFill>
                <a:effectLst/>
                <a:latin typeface="Consolas" panose="020B0609020204030204" pitchFamily="49" charset="0"/>
              </a:rPr>
              <a:t>0</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777033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a-ES" dirty="0"/>
              <a:t>Inclusió de llibreries</a:t>
            </a:r>
          </a:p>
        </p:txBody>
      </p:sp>
      <p:sp>
        <p:nvSpPr>
          <p:cNvPr id="3" name="Content Placeholder 2"/>
          <p:cNvSpPr>
            <a:spLocks noGrp="1"/>
          </p:cNvSpPr>
          <p:nvPr>
            <p:ph idx="1"/>
          </p:nvPr>
        </p:nvSpPr>
        <p:spPr/>
        <p:txBody>
          <a:bodyPr>
            <a:normAutofit/>
          </a:bodyPr>
          <a:lstStyle/>
          <a:p>
            <a:r>
              <a:rPr lang="ca-ES" dirty="0">
                <a:solidFill>
                  <a:srgbClr val="FF0000"/>
                </a:solidFill>
              </a:rPr>
              <a:t>Inclusió de llibreries</a:t>
            </a:r>
          </a:p>
          <a:p>
            <a:pPr marL="266700" lvl="1" indent="0">
              <a:spcBef>
                <a:spcPts val="0"/>
              </a:spcBef>
              <a:buNone/>
            </a:pPr>
            <a:r>
              <a:rPr lang="es-ES" sz="1800" dirty="0"/>
              <a:t>Les </a:t>
            </a:r>
            <a:r>
              <a:rPr lang="es-ES" sz="1800" dirty="0" err="1"/>
              <a:t>llibreries</a:t>
            </a:r>
            <a:r>
              <a:rPr lang="es-ES" sz="1800" dirty="0"/>
              <a:t> </a:t>
            </a:r>
            <a:r>
              <a:rPr lang="es-ES" sz="1800" dirty="0" err="1"/>
              <a:t>permeten</a:t>
            </a:r>
            <a:r>
              <a:rPr lang="es-ES" sz="1800" dirty="0"/>
              <a:t> utilizar </a:t>
            </a:r>
            <a:r>
              <a:rPr lang="es-ES" sz="1800" dirty="0" err="1"/>
              <a:t>funcions</a:t>
            </a:r>
            <a:r>
              <a:rPr lang="es-ES" sz="1800" dirty="0"/>
              <a:t> que ja están </a:t>
            </a:r>
            <a:r>
              <a:rPr lang="es-ES" sz="1800" dirty="0" err="1"/>
              <a:t>implementades</a:t>
            </a:r>
            <a:r>
              <a:rPr lang="es-ES" sz="1800" dirty="0"/>
              <a:t> i que per </a:t>
            </a:r>
            <a:r>
              <a:rPr lang="es-ES" sz="1800" dirty="0" err="1"/>
              <a:t>tant</a:t>
            </a:r>
            <a:r>
              <a:rPr lang="es-ES" sz="1800" dirty="0"/>
              <a:t> les </a:t>
            </a:r>
            <a:r>
              <a:rPr lang="es-ES" sz="1800" dirty="0" err="1"/>
              <a:t>podem</a:t>
            </a:r>
            <a:r>
              <a:rPr lang="es-ES" sz="1800" dirty="0"/>
              <a:t> utilizar </a:t>
            </a:r>
            <a:r>
              <a:rPr lang="es-ES" sz="1800" dirty="0" err="1"/>
              <a:t>sense</a:t>
            </a:r>
            <a:r>
              <a:rPr lang="es-ES" sz="1800" dirty="0"/>
              <a:t> </a:t>
            </a:r>
            <a:r>
              <a:rPr lang="es-ES" sz="1800" dirty="0" err="1"/>
              <a:t>haver</a:t>
            </a:r>
            <a:r>
              <a:rPr lang="es-ES" sz="1800" dirty="0"/>
              <a:t> de programar-les. Per </a:t>
            </a:r>
            <a:r>
              <a:rPr lang="es-ES" sz="1800" dirty="0" err="1"/>
              <a:t>exemple</a:t>
            </a:r>
            <a:r>
              <a:rPr lang="es-ES" sz="1800" dirty="0"/>
              <a:t> </a:t>
            </a:r>
            <a:r>
              <a:rPr lang="es-ES" sz="1800" dirty="0" err="1"/>
              <a:t>funcions</a:t>
            </a:r>
            <a:r>
              <a:rPr lang="es-ES" sz="1800" dirty="0"/>
              <a:t> per </a:t>
            </a:r>
            <a:r>
              <a:rPr lang="es-ES" sz="1800" dirty="0" err="1"/>
              <a:t>escriure</a:t>
            </a:r>
            <a:r>
              <a:rPr lang="es-ES" sz="1800" dirty="0"/>
              <a:t> per pantalla, per agafar </a:t>
            </a:r>
            <a:r>
              <a:rPr lang="es-ES" sz="1800" dirty="0" err="1"/>
              <a:t>valors</a:t>
            </a:r>
            <a:r>
              <a:rPr lang="es-ES" sz="1800" dirty="0"/>
              <a:t> del </a:t>
            </a:r>
            <a:r>
              <a:rPr lang="es-ES" sz="1800" dirty="0" err="1"/>
              <a:t>teclat</a:t>
            </a:r>
            <a:r>
              <a:rPr lang="es-ES" sz="1800" dirty="0"/>
              <a:t>, etc..</a:t>
            </a:r>
          </a:p>
          <a:p>
            <a:pPr marL="714375" lvl="1" indent="-447675">
              <a:spcBef>
                <a:spcPts val="0"/>
              </a:spcBef>
              <a:buNone/>
            </a:pPr>
            <a:r>
              <a:rPr lang="es-ES" sz="1800" dirty="0">
                <a:latin typeface="Courier New" panose="02070309020205020404" pitchFamily="49" charset="0"/>
                <a:cs typeface="Courier New" panose="02070309020205020404" pitchFamily="49" charset="0"/>
              </a:rPr>
              <a:t>	</a:t>
            </a:r>
            <a:r>
              <a:rPr lang="ca-ES" dirty="0" err="1">
                <a:latin typeface="Courier New" panose="02070309020205020404" pitchFamily="49" charset="0"/>
                <a:cs typeface="Courier New" panose="02070309020205020404" pitchFamily="49" charset="0"/>
              </a:rPr>
              <a:t>stdio.h</a:t>
            </a:r>
            <a:r>
              <a:rPr lang="ca-ES" dirty="0">
                <a:latin typeface="Courier New" panose="02070309020205020404" pitchFamily="49" charset="0"/>
                <a:cs typeface="Courier New" panose="02070309020205020404" pitchFamily="49" charset="0"/>
              </a:rPr>
              <a:t>, stdlib.h, string.h, window.h, time.h, rlutil.h, etc..</a:t>
            </a:r>
            <a:endParaRPr lang="ca-ES"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72218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Variables</a:t>
            </a:r>
            <a:endParaRPr lang="ca-ES" dirty="0"/>
          </a:p>
        </p:txBody>
      </p:sp>
      <p:sp>
        <p:nvSpPr>
          <p:cNvPr id="3" name="Content Placeholder 2"/>
          <p:cNvSpPr>
            <a:spLocks noGrp="1"/>
          </p:cNvSpPr>
          <p:nvPr>
            <p:ph idx="1"/>
          </p:nvPr>
        </p:nvSpPr>
        <p:spPr/>
        <p:txBody>
          <a:bodyPr>
            <a:normAutofit/>
          </a:bodyPr>
          <a:lstStyle/>
          <a:p>
            <a:r>
              <a:rPr lang="ca-ES" sz="1800" dirty="0"/>
              <a:t>Permet emmagatzemar una informació a un programa per poder fer-la servir desprès, cal indicar de quin tipus de valor es tracta. No és el mateix treballar amb valors de tipus enter, que amb valors de tipus caràcter. </a:t>
            </a:r>
            <a:endParaRPr lang="ca-ES" sz="1400" dirty="0"/>
          </a:p>
          <a:p>
            <a:r>
              <a:rPr lang="ca-ES" sz="1800" dirty="0"/>
              <a:t>Una variable és un valor que varia, o sigui, que el seu valor pot canviar al llarg de l’execució d’un programa. </a:t>
            </a:r>
          </a:p>
          <a:p>
            <a:pPr lvl="1"/>
            <a:r>
              <a:rPr lang="ca-ES" sz="1400" dirty="0"/>
              <a:t>Per exemple, l’opció de menú que triï un usuari pot ser una al començament del programa, i després triar una altra. </a:t>
            </a:r>
          </a:p>
          <a:p>
            <a:r>
              <a:rPr lang="ca-ES" sz="1800" dirty="0"/>
              <a:t>Per tal de definir una variable, cal indicar de quin tipus de dades és, per tal de que el sistema operatiu reservi una quantitat de memòria adient a la mida d’aquesta variable. No es necessita la mateixa memòria per emmagatzemar un caràcter que un nombre real! </a:t>
            </a:r>
          </a:p>
          <a:p>
            <a:pPr lvl="1">
              <a:buFont typeface="Wingdings" panose="05000000000000000000" pitchFamily="2" charset="2"/>
              <a:buChar char="§"/>
            </a:pPr>
            <a:r>
              <a:rPr lang="ca-ES" sz="1400" dirty="0"/>
              <a:t>Caràcter= 1 byte</a:t>
            </a:r>
          </a:p>
          <a:p>
            <a:pPr lvl="1">
              <a:buFont typeface="Wingdings" panose="05000000000000000000" pitchFamily="2" charset="2"/>
              <a:buChar char="§"/>
            </a:pPr>
            <a:r>
              <a:rPr lang="ca-ES" sz="1400" dirty="0"/>
              <a:t>Real = 8 bytes</a:t>
            </a:r>
          </a:p>
        </p:txBody>
      </p:sp>
    </p:spTree>
    <p:extLst>
      <p:ext uri="{BB962C8B-B14F-4D97-AF65-F5344CB8AC3E}">
        <p14:creationId xmlns:p14="http://schemas.microsoft.com/office/powerpoint/2010/main" val="761168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a 2">
            <a:extLst>
              <a:ext uri="{FF2B5EF4-FFF2-40B4-BE49-F238E27FC236}">
                <a16:creationId xmlns:a16="http://schemas.microsoft.com/office/drawing/2014/main" id="{3F0B5EC7-FDCB-85E4-367A-B3931FDA3BCD}"/>
              </a:ext>
            </a:extLst>
          </p:cNvPr>
          <p:cNvGraphicFramePr/>
          <p:nvPr>
            <p:extLst>
              <p:ext uri="{D42A27DB-BD31-4B8C-83A1-F6EECF244321}">
                <p14:modId xmlns:p14="http://schemas.microsoft.com/office/powerpoint/2010/main" val="4159556403"/>
              </p:ext>
            </p:extLst>
          </p:nvPr>
        </p:nvGraphicFramePr>
        <p:xfrm>
          <a:off x="446864" y="681317"/>
          <a:ext cx="8250272" cy="45119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1 Título"/>
          <p:cNvSpPr>
            <a:spLocks noGrp="1"/>
          </p:cNvSpPr>
          <p:nvPr>
            <p:ph type="title"/>
          </p:nvPr>
        </p:nvSpPr>
        <p:spPr/>
        <p:txBody>
          <a:bodyPr anchor="ctr">
            <a:normAutofit/>
          </a:bodyPr>
          <a:lstStyle/>
          <a:p>
            <a:r>
              <a:rPr lang="ca-ES" dirty="0"/>
              <a:t>Tipus de dades comuns</a:t>
            </a:r>
          </a:p>
        </p:txBody>
      </p:sp>
    </p:spTree>
    <p:extLst>
      <p:ext uri="{BB962C8B-B14F-4D97-AF65-F5344CB8AC3E}">
        <p14:creationId xmlns:p14="http://schemas.microsoft.com/office/powerpoint/2010/main" val="1538075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1C245D-C766-A139-9A4F-1CAF30DDB152}"/>
              </a:ext>
            </a:extLst>
          </p:cNvPr>
          <p:cNvSpPr>
            <a:spLocks noGrp="1"/>
          </p:cNvSpPr>
          <p:nvPr>
            <p:ph type="title"/>
          </p:nvPr>
        </p:nvSpPr>
        <p:spPr/>
        <p:txBody>
          <a:bodyPr/>
          <a:lstStyle/>
          <a:p>
            <a:r>
              <a:rPr lang="ca-ES" dirty="0"/>
              <a:t>Tipus de dades bàsics</a:t>
            </a:r>
            <a:endParaRPr lang="es-ES" dirty="0"/>
          </a:p>
        </p:txBody>
      </p:sp>
      <p:sp>
        <p:nvSpPr>
          <p:cNvPr id="3" name="Marcador de contenido 2">
            <a:extLst>
              <a:ext uri="{FF2B5EF4-FFF2-40B4-BE49-F238E27FC236}">
                <a16:creationId xmlns:a16="http://schemas.microsoft.com/office/drawing/2014/main" id="{C64C4CD5-2623-B948-97C9-5061BE8FC072}"/>
              </a:ext>
            </a:extLst>
          </p:cNvPr>
          <p:cNvSpPr>
            <a:spLocks noGrp="1"/>
          </p:cNvSpPr>
          <p:nvPr>
            <p:ph idx="1"/>
          </p:nvPr>
        </p:nvSpPr>
        <p:spPr/>
        <p:txBody>
          <a:bodyPr>
            <a:normAutofit/>
          </a:bodyPr>
          <a:lstStyle/>
          <a:p>
            <a:r>
              <a:rPr lang="ca-ES" b="1" noProof="1"/>
              <a:t>Numèriques</a:t>
            </a:r>
          </a:p>
          <a:p>
            <a:pPr lvl="1"/>
            <a:r>
              <a:rPr lang="ca-ES" sz="1600" b="1" noProof="1"/>
              <a:t>short</a:t>
            </a:r>
            <a:r>
              <a:rPr lang="ca-ES" sz="1600" noProof="1"/>
              <a:t>: Números sencers “petits”.</a:t>
            </a:r>
          </a:p>
          <a:p>
            <a:pPr lvl="1"/>
            <a:r>
              <a:rPr lang="ca-ES" sz="1600" b="1" noProof="1"/>
              <a:t>int</a:t>
            </a:r>
            <a:r>
              <a:rPr lang="ca-ES" sz="1600" noProof="1"/>
              <a:t>: Números sencers.</a:t>
            </a:r>
          </a:p>
          <a:p>
            <a:pPr lvl="1"/>
            <a:r>
              <a:rPr lang="ca-ES" sz="1600" b="1" noProof="1"/>
              <a:t>long</a:t>
            </a:r>
            <a:r>
              <a:rPr lang="ca-ES" sz="1600" noProof="1"/>
              <a:t>: Números sencers “grans”.</a:t>
            </a:r>
          </a:p>
          <a:p>
            <a:pPr lvl="1"/>
            <a:r>
              <a:rPr lang="ca-ES" sz="1600" b="1" noProof="1"/>
              <a:t>float</a:t>
            </a:r>
            <a:r>
              <a:rPr lang="ca-ES" sz="1600" noProof="1"/>
              <a:t>: Números amb decimals.</a:t>
            </a:r>
          </a:p>
          <a:p>
            <a:pPr lvl="1"/>
            <a:r>
              <a:rPr lang="ca-ES" sz="1600" b="1" noProof="1"/>
              <a:t>double</a:t>
            </a:r>
            <a:r>
              <a:rPr lang="ca-ES" sz="1600" noProof="1"/>
              <a:t>: Números amb decimals de major precisió.</a:t>
            </a:r>
          </a:p>
          <a:p>
            <a:r>
              <a:rPr lang="ca-ES" b="1" noProof="1"/>
              <a:t>Text</a:t>
            </a:r>
          </a:p>
          <a:p>
            <a:pPr lvl="1"/>
            <a:r>
              <a:rPr lang="ca-ES" sz="1600" b="1" noProof="1"/>
              <a:t>char: </a:t>
            </a:r>
            <a:r>
              <a:rPr lang="ca-ES" sz="1600" noProof="1"/>
              <a:t>Per desar un únic caràcter.</a:t>
            </a:r>
          </a:p>
          <a:p>
            <a:r>
              <a:rPr lang="ca-ES" b="1" noProof="1"/>
              <a:t>Lògics</a:t>
            </a:r>
          </a:p>
          <a:p>
            <a:pPr lvl="1"/>
            <a:r>
              <a:rPr lang="ca-ES" sz="1600" b="1" noProof="1"/>
              <a:t>bool: </a:t>
            </a:r>
            <a:r>
              <a:rPr lang="ca-ES" sz="1600" noProof="1"/>
              <a:t>Disponible si s’utilitza la llibreria &lt;stdbool.h&gt;. 0=false, 1=true</a:t>
            </a:r>
            <a:endParaRPr lang="es-ES" sz="1600" dirty="0"/>
          </a:p>
        </p:txBody>
      </p:sp>
    </p:spTree>
    <p:extLst>
      <p:ext uri="{BB962C8B-B14F-4D97-AF65-F5344CB8AC3E}">
        <p14:creationId xmlns:p14="http://schemas.microsoft.com/office/powerpoint/2010/main" val="1914231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F7B336-B92E-DC48-D61B-9504C75F1626}"/>
              </a:ext>
            </a:extLst>
          </p:cNvPr>
          <p:cNvSpPr>
            <a:spLocks noGrp="1"/>
          </p:cNvSpPr>
          <p:nvPr>
            <p:ph type="title"/>
          </p:nvPr>
        </p:nvSpPr>
        <p:spPr/>
        <p:txBody>
          <a:bodyPr/>
          <a:lstStyle/>
          <a:p>
            <a:r>
              <a:rPr lang="ca-ES" dirty="0"/>
              <a:t>Tipus de dades</a:t>
            </a:r>
          </a:p>
        </p:txBody>
      </p:sp>
      <p:graphicFrame>
        <p:nvGraphicFramePr>
          <p:cNvPr id="4" name="Marcador de contenido 3">
            <a:extLst>
              <a:ext uri="{FF2B5EF4-FFF2-40B4-BE49-F238E27FC236}">
                <a16:creationId xmlns:a16="http://schemas.microsoft.com/office/drawing/2014/main" id="{4E99705F-0BC0-376B-263D-E8DFE04FE10F}"/>
              </a:ext>
            </a:extLst>
          </p:cNvPr>
          <p:cNvGraphicFramePr>
            <a:graphicFrameLocks noGrp="1"/>
          </p:cNvGraphicFramePr>
          <p:nvPr>
            <p:ph idx="1"/>
          </p:nvPr>
        </p:nvGraphicFramePr>
        <p:xfrm>
          <a:off x="369888" y="939800"/>
          <a:ext cx="8534400" cy="5684520"/>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284383494"/>
                    </a:ext>
                  </a:extLst>
                </a:gridCol>
                <a:gridCol w="1012941">
                  <a:extLst>
                    <a:ext uri="{9D8B030D-6E8A-4147-A177-3AD203B41FA5}">
                      <a16:colId xmlns:a16="http://schemas.microsoft.com/office/drawing/2014/main" val="333450962"/>
                    </a:ext>
                  </a:extLst>
                </a:gridCol>
                <a:gridCol w="2945331">
                  <a:extLst>
                    <a:ext uri="{9D8B030D-6E8A-4147-A177-3AD203B41FA5}">
                      <a16:colId xmlns:a16="http://schemas.microsoft.com/office/drawing/2014/main" val="1350430370"/>
                    </a:ext>
                  </a:extLst>
                </a:gridCol>
                <a:gridCol w="1982804">
                  <a:extLst>
                    <a:ext uri="{9D8B030D-6E8A-4147-A177-3AD203B41FA5}">
                      <a16:colId xmlns:a16="http://schemas.microsoft.com/office/drawing/2014/main" val="3118369839"/>
                    </a:ext>
                  </a:extLst>
                </a:gridCol>
                <a:gridCol w="886444">
                  <a:extLst>
                    <a:ext uri="{9D8B030D-6E8A-4147-A177-3AD203B41FA5}">
                      <a16:colId xmlns:a16="http://schemas.microsoft.com/office/drawing/2014/main" val="23650621"/>
                    </a:ext>
                  </a:extLst>
                </a:gridCol>
              </a:tblGrid>
              <a:tr h="370840">
                <a:tc>
                  <a:txBody>
                    <a:bodyPr/>
                    <a:lstStyle/>
                    <a:p>
                      <a:pPr algn="l"/>
                      <a:r>
                        <a:rPr lang="ca-ES" dirty="0"/>
                        <a:t>Nom</a:t>
                      </a:r>
                    </a:p>
                  </a:txBody>
                  <a:tcPr anchor="ctr"/>
                </a:tc>
                <a:tc>
                  <a:txBody>
                    <a:bodyPr/>
                    <a:lstStyle/>
                    <a:p>
                      <a:pPr algn="l"/>
                      <a:r>
                        <a:rPr lang="ca-ES" dirty="0"/>
                        <a:t>Espai</a:t>
                      </a:r>
                    </a:p>
                  </a:txBody>
                  <a:tcPr anchor="ctr"/>
                </a:tc>
                <a:tc>
                  <a:txBody>
                    <a:bodyPr/>
                    <a:lstStyle/>
                    <a:p>
                      <a:pPr algn="l"/>
                      <a:r>
                        <a:rPr lang="ca-ES" dirty="0"/>
                        <a:t>Valors</a:t>
                      </a:r>
                    </a:p>
                  </a:txBody>
                  <a:tcPr anchor="ctr"/>
                </a:tc>
                <a:tc>
                  <a:txBody>
                    <a:bodyPr/>
                    <a:lstStyle/>
                    <a:p>
                      <a:pPr algn="l"/>
                      <a:r>
                        <a:rPr lang="ca-ES" dirty="0" err="1"/>
                        <a:t>Definció</a:t>
                      </a:r>
                      <a:endParaRPr lang="ca-ES" dirty="0"/>
                    </a:p>
                  </a:txBody>
                  <a:tcPr anchor="ctr"/>
                </a:tc>
                <a:tc>
                  <a:txBody>
                    <a:bodyPr/>
                    <a:lstStyle/>
                    <a:p>
                      <a:pPr algn="l"/>
                      <a:r>
                        <a:rPr lang="ca-ES" sz="1600" dirty="0"/>
                        <a:t>Escriure</a:t>
                      </a:r>
                    </a:p>
                  </a:txBody>
                  <a:tcPr anchor="ctr"/>
                </a:tc>
                <a:extLst>
                  <a:ext uri="{0D108BD9-81ED-4DB2-BD59-A6C34878D82A}">
                    <a16:rowId xmlns:a16="http://schemas.microsoft.com/office/drawing/2014/main" val="973124026"/>
                  </a:ext>
                </a:extLst>
              </a:tr>
              <a:tr h="370840">
                <a:tc>
                  <a:txBody>
                    <a:bodyPr/>
                    <a:lstStyle/>
                    <a:p>
                      <a:r>
                        <a:rPr lang="ca-ES" dirty="0" err="1"/>
                        <a:t>short</a:t>
                      </a:r>
                      <a:endParaRPr lang="ca-ES" dirty="0"/>
                    </a:p>
                  </a:txBody>
                  <a:tcPr/>
                </a:tc>
                <a:tc>
                  <a:txBody>
                    <a:bodyPr/>
                    <a:lstStyle/>
                    <a:p>
                      <a:r>
                        <a:rPr lang="ca-ES" dirty="0"/>
                        <a:t>2 bytes</a:t>
                      </a:r>
                    </a:p>
                  </a:txBody>
                  <a:tcPr/>
                </a:tc>
                <a:tc>
                  <a:txBody>
                    <a:bodyPr/>
                    <a:lstStyle/>
                    <a:p>
                      <a:r>
                        <a:rPr lang="es-ES" dirty="0"/>
                        <a:t>-32,768 a 32,767</a:t>
                      </a:r>
                      <a:endParaRPr lang="ca-ES" dirty="0"/>
                    </a:p>
                  </a:txBody>
                  <a:tcPr/>
                </a:tc>
                <a:tc>
                  <a:txBody>
                    <a:bodyPr/>
                    <a:lstStyle/>
                    <a:p>
                      <a:r>
                        <a:rPr lang="ca-ES" dirty="0"/>
                        <a:t>Short n =5</a:t>
                      </a:r>
                    </a:p>
                  </a:txBody>
                  <a:tcPr/>
                </a:tc>
                <a:tc>
                  <a:txBody>
                    <a:bodyPr/>
                    <a:lstStyle/>
                    <a:p>
                      <a:r>
                        <a:rPr lang="ca-ES" dirty="0"/>
                        <a:t>%</a:t>
                      </a:r>
                      <a:r>
                        <a:rPr lang="ca-ES" dirty="0" err="1"/>
                        <a:t>hd</a:t>
                      </a:r>
                      <a:endParaRPr lang="ca-ES" dirty="0"/>
                    </a:p>
                  </a:txBody>
                  <a:tcPr/>
                </a:tc>
                <a:extLst>
                  <a:ext uri="{0D108BD9-81ED-4DB2-BD59-A6C34878D82A}">
                    <a16:rowId xmlns:a16="http://schemas.microsoft.com/office/drawing/2014/main" val="73877592"/>
                  </a:ext>
                </a:extLst>
              </a:tr>
              <a:tr h="370840">
                <a:tc>
                  <a:txBody>
                    <a:bodyPr/>
                    <a:lstStyle/>
                    <a:p>
                      <a:r>
                        <a:rPr lang="ca-ES" dirty="0" err="1"/>
                        <a:t>int</a:t>
                      </a:r>
                      <a:endParaRPr lang="ca-ES" dirty="0"/>
                    </a:p>
                  </a:txBody>
                  <a:tcPr/>
                </a:tc>
                <a:tc>
                  <a:txBody>
                    <a:bodyPr/>
                    <a:lstStyle/>
                    <a:p>
                      <a:r>
                        <a:rPr lang="ca-ES" dirty="0"/>
                        <a:t>4 bytes</a:t>
                      </a:r>
                    </a:p>
                  </a:txBody>
                  <a:tcPr/>
                </a:tc>
                <a:tc>
                  <a:txBody>
                    <a:bodyPr/>
                    <a:lstStyle/>
                    <a:p>
                      <a:r>
                        <a:rPr lang="es-ES" dirty="0"/>
                        <a:t>-2,147,483,648 a 2,147,483,647</a:t>
                      </a:r>
                      <a:endParaRPr lang="ca-ES" dirty="0"/>
                    </a:p>
                  </a:txBody>
                  <a:tcPr/>
                </a:tc>
                <a:tc>
                  <a:txBody>
                    <a:bodyPr/>
                    <a:lstStyle/>
                    <a:p>
                      <a:r>
                        <a:rPr lang="ca-ES" dirty="0" err="1"/>
                        <a:t>int</a:t>
                      </a:r>
                      <a:r>
                        <a:rPr lang="ca-ES" dirty="0"/>
                        <a:t> n=6</a:t>
                      </a:r>
                    </a:p>
                  </a:txBody>
                  <a:tcPr/>
                </a:tc>
                <a:tc>
                  <a:txBody>
                    <a:bodyPr/>
                    <a:lstStyle/>
                    <a:p>
                      <a:r>
                        <a:rPr lang="ca-ES" dirty="0"/>
                        <a:t>%d</a:t>
                      </a:r>
                    </a:p>
                  </a:txBody>
                  <a:tcPr/>
                </a:tc>
                <a:extLst>
                  <a:ext uri="{0D108BD9-81ED-4DB2-BD59-A6C34878D82A}">
                    <a16:rowId xmlns:a16="http://schemas.microsoft.com/office/drawing/2014/main" val="1592977155"/>
                  </a:ext>
                </a:extLst>
              </a:tr>
              <a:tr h="370840">
                <a:tc>
                  <a:txBody>
                    <a:bodyPr/>
                    <a:lstStyle/>
                    <a:p>
                      <a:r>
                        <a:rPr lang="ca-ES" dirty="0"/>
                        <a:t>long (sense decimals)</a:t>
                      </a:r>
                    </a:p>
                  </a:txBody>
                  <a:tcPr/>
                </a:tc>
                <a:tc>
                  <a:txBody>
                    <a:bodyPr/>
                    <a:lstStyle/>
                    <a:p>
                      <a:r>
                        <a:rPr lang="ca-ES" dirty="0"/>
                        <a:t>4 bytes</a:t>
                      </a:r>
                    </a:p>
                    <a:p>
                      <a:endParaRPr lang="ca-ES" dirty="0"/>
                    </a:p>
                    <a:p>
                      <a:endParaRPr lang="ca-ES" dirty="0"/>
                    </a:p>
                    <a:p>
                      <a:r>
                        <a:rPr lang="ca-ES" dirty="0"/>
                        <a:t>8 bytes</a:t>
                      </a:r>
                    </a:p>
                  </a:txBody>
                  <a:tcPr/>
                </a:tc>
                <a:tc>
                  <a:txBody>
                    <a:bodyPr/>
                    <a:lstStyle/>
                    <a:p>
                      <a:r>
                        <a:rPr lang="es-ES" dirty="0"/>
                        <a:t>2,147,483,648 a 2,147,483,647</a:t>
                      </a:r>
                    </a:p>
                    <a:p>
                      <a:endParaRPr lang="es-ES" dirty="0"/>
                    </a:p>
                    <a:p>
                      <a:r>
                        <a:rPr lang="es-ES" dirty="0"/>
                        <a:t>-9,223,372,036,854,775,808 a 9,223,372,036,854,775,807</a:t>
                      </a:r>
                      <a:endParaRPr lang="ca-ES" dirty="0"/>
                    </a:p>
                  </a:txBody>
                  <a:tcPr/>
                </a:tc>
                <a:tc>
                  <a:txBody>
                    <a:bodyPr/>
                    <a:lstStyle/>
                    <a:p>
                      <a:r>
                        <a:rPr lang="es-ES" dirty="0" err="1"/>
                        <a:t>long</a:t>
                      </a:r>
                      <a:r>
                        <a:rPr lang="es-ES" dirty="0"/>
                        <a:t> a = 1000000L</a:t>
                      </a:r>
                      <a:endParaRPr lang="ca-ES" dirty="0"/>
                    </a:p>
                  </a:txBody>
                  <a:tcPr/>
                </a:tc>
                <a:tc>
                  <a:txBody>
                    <a:bodyPr/>
                    <a:lstStyle/>
                    <a:p>
                      <a:r>
                        <a:rPr lang="es-ES" dirty="0"/>
                        <a:t>%</a:t>
                      </a:r>
                      <a:r>
                        <a:rPr lang="es-ES" dirty="0" err="1"/>
                        <a:t>ld</a:t>
                      </a:r>
                      <a:endParaRPr lang="ca-ES" dirty="0"/>
                    </a:p>
                  </a:txBody>
                  <a:tcPr/>
                </a:tc>
                <a:extLst>
                  <a:ext uri="{0D108BD9-81ED-4DB2-BD59-A6C34878D82A}">
                    <a16:rowId xmlns:a16="http://schemas.microsoft.com/office/drawing/2014/main" val="3587991129"/>
                  </a:ext>
                </a:extLst>
              </a:tr>
              <a:tr h="370840">
                <a:tc>
                  <a:txBody>
                    <a:bodyPr/>
                    <a:lstStyle/>
                    <a:p>
                      <a:r>
                        <a:rPr lang="ca-ES" dirty="0" err="1"/>
                        <a:t>Float</a:t>
                      </a:r>
                      <a:r>
                        <a:rPr lang="ca-ES" dirty="0"/>
                        <a:t> (decimals)</a:t>
                      </a:r>
                    </a:p>
                  </a:txBody>
                  <a:tcPr/>
                </a:tc>
                <a:tc>
                  <a:txBody>
                    <a:bodyPr/>
                    <a:lstStyle/>
                    <a:p>
                      <a:r>
                        <a:rPr lang="ca-ES" dirty="0"/>
                        <a:t>4 bytes</a:t>
                      </a:r>
                    </a:p>
                  </a:txBody>
                  <a:tcPr/>
                </a:tc>
                <a:tc>
                  <a:txBody>
                    <a:bodyPr/>
                    <a:lstStyle/>
                    <a:p>
                      <a:r>
                        <a:rPr lang="pt-BR" dirty="0"/>
                        <a:t>±1.5 × 10^−45 a ±3.4 × 10^38.</a:t>
                      </a:r>
                      <a:endParaRPr lang="ca-ES" dirty="0"/>
                    </a:p>
                  </a:txBody>
                  <a:tcPr/>
                </a:tc>
                <a:tc>
                  <a:txBody>
                    <a:bodyPr/>
                    <a:lstStyle/>
                    <a:p>
                      <a:r>
                        <a:rPr lang="es-ES" dirty="0" err="1"/>
                        <a:t>float</a:t>
                      </a:r>
                      <a:r>
                        <a:rPr lang="es-ES" dirty="0"/>
                        <a:t> i = 3.14;</a:t>
                      </a:r>
                      <a:endParaRPr lang="ca-ES" dirty="0"/>
                    </a:p>
                  </a:txBody>
                  <a:tcPr/>
                </a:tc>
                <a:tc>
                  <a:txBody>
                    <a:bodyPr/>
                    <a:lstStyle/>
                    <a:p>
                      <a:r>
                        <a:rPr lang="ca-ES" dirty="0"/>
                        <a:t>%f</a:t>
                      </a:r>
                    </a:p>
                    <a:p>
                      <a:r>
                        <a:rPr lang="ca-ES" dirty="0"/>
                        <a:t>%.2f</a:t>
                      </a:r>
                    </a:p>
                  </a:txBody>
                  <a:tcPr/>
                </a:tc>
                <a:extLst>
                  <a:ext uri="{0D108BD9-81ED-4DB2-BD59-A6C34878D82A}">
                    <a16:rowId xmlns:a16="http://schemas.microsoft.com/office/drawing/2014/main" val="3473385119"/>
                  </a:ext>
                </a:extLst>
              </a:tr>
              <a:tr h="370840">
                <a:tc>
                  <a:txBody>
                    <a:bodyPr/>
                    <a:lstStyle/>
                    <a:p>
                      <a:r>
                        <a:rPr lang="ca-ES" dirty="0" err="1"/>
                        <a:t>Double</a:t>
                      </a:r>
                      <a:endParaRPr lang="ca-ES" dirty="0"/>
                    </a:p>
                  </a:txBody>
                  <a:tcPr/>
                </a:tc>
                <a:tc>
                  <a:txBody>
                    <a:bodyPr/>
                    <a:lstStyle/>
                    <a:p>
                      <a:r>
                        <a:rPr lang="ca-ES" dirty="0"/>
                        <a:t>8 bytes</a:t>
                      </a:r>
                    </a:p>
                    <a:p>
                      <a:r>
                        <a:rPr lang="ca-ES" dirty="0"/>
                        <a:t>16 decimals</a:t>
                      </a:r>
                    </a:p>
                  </a:txBody>
                  <a:tcPr/>
                </a:tc>
                <a:tc>
                  <a:txBody>
                    <a:bodyPr/>
                    <a:lstStyle/>
                    <a:p>
                      <a:r>
                        <a:rPr lang="pt-BR" dirty="0"/>
                        <a:t>5.0 × 10^−324 a ±1.7 × 10^308</a:t>
                      </a:r>
                      <a:endParaRPr lang="ca-ES" dirty="0"/>
                    </a:p>
                  </a:txBody>
                  <a:tcPr/>
                </a:tc>
                <a:tc>
                  <a:txBody>
                    <a:bodyPr/>
                    <a:lstStyle/>
                    <a:p>
                      <a:r>
                        <a:rPr lang="es-ES" dirty="0" err="1"/>
                        <a:t>double</a:t>
                      </a:r>
                      <a:r>
                        <a:rPr lang="es-ES" dirty="0"/>
                        <a:t> j = 3.14159265358979</a:t>
                      </a:r>
                      <a:endParaRPr lang="ca-ES" dirty="0"/>
                    </a:p>
                  </a:txBody>
                  <a:tcPr/>
                </a:tc>
                <a:tc>
                  <a:txBody>
                    <a:bodyPr/>
                    <a:lstStyle/>
                    <a:p>
                      <a:r>
                        <a:rPr lang="es-ES" dirty="0"/>
                        <a:t>%</a:t>
                      </a:r>
                      <a:r>
                        <a:rPr lang="es-ES" dirty="0" err="1"/>
                        <a:t>lf</a:t>
                      </a:r>
                      <a:endParaRPr lang="ca-ES" dirty="0"/>
                    </a:p>
                  </a:txBody>
                  <a:tcPr/>
                </a:tc>
                <a:extLst>
                  <a:ext uri="{0D108BD9-81ED-4DB2-BD59-A6C34878D82A}">
                    <a16:rowId xmlns:a16="http://schemas.microsoft.com/office/drawing/2014/main" val="3543903814"/>
                  </a:ext>
                </a:extLst>
              </a:tr>
              <a:tr h="370840">
                <a:tc>
                  <a:txBody>
                    <a:bodyPr/>
                    <a:lstStyle/>
                    <a:p>
                      <a:r>
                        <a:rPr lang="ca-ES" dirty="0" err="1"/>
                        <a:t>char</a:t>
                      </a:r>
                      <a:endParaRPr lang="ca-ES" dirty="0"/>
                    </a:p>
                  </a:txBody>
                  <a:tcPr/>
                </a:tc>
                <a:tc>
                  <a:txBody>
                    <a:bodyPr/>
                    <a:lstStyle/>
                    <a:p>
                      <a:r>
                        <a:rPr lang="ca-ES" dirty="0"/>
                        <a:t>1 byte</a:t>
                      </a:r>
                    </a:p>
                  </a:txBody>
                  <a:tcPr/>
                </a:tc>
                <a:tc>
                  <a:txBody>
                    <a:bodyPr/>
                    <a:lstStyle/>
                    <a:p>
                      <a:endParaRPr lang="ca-ES" dirty="0"/>
                    </a:p>
                  </a:txBody>
                  <a:tcPr/>
                </a:tc>
                <a:tc>
                  <a:txBody>
                    <a:bodyPr/>
                    <a:lstStyle/>
                    <a:p>
                      <a:r>
                        <a:rPr lang="es-ES" dirty="0" err="1"/>
                        <a:t>char</a:t>
                      </a:r>
                      <a:r>
                        <a:rPr lang="es-ES" dirty="0"/>
                        <a:t> g = 'A';</a:t>
                      </a:r>
                      <a:endParaRPr lang="ca-ES" dirty="0"/>
                    </a:p>
                  </a:txBody>
                  <a:tcPr/>
                </a:tc>
                <a:tc>
                  <a:txBody>
                    <a:bodyPr/>
                    <a:lstStyle/>
                    <a:p>
                      <a:r>
                        <a:rPr lang="ca-ES" dirty="0"/>
                        <a:t>%c</a:t>
                      </a:r>
                    </a:p>
                  </a:txBody>
                  <a:tcPr/>
                </a:tc>
                <a:extLst>
                  <a:ext uri="{0D108BD9-81ED-4DB2-BD59-A6C34878D82A}">
                    <a16:rowId xmlns:a16="http://schemas.microsoft.com/office/drawing/2014/main" val="1621016549"/>
                  </a:ext>
                </a:extLst>
              </a:tr>
              <a:tr h="370840">
                <a:tc>
                  <a:txBody>
                    <a:bodyPr/>
                    <a:lstStyle/>
                    <a:p>
                      <a:r>
                        <a:rPr lang="ca-ES" dirty="0" err="1"/>
                        <a:t>bool</a:t>
                      </a:r>
                      <a:endParaRPr lang="ca-ES" dirty="0"/>
                    </a:p>
                    <a:p>
                      <a:r>
                        <a:rPr lang="ca-ES" dirty="0"/>
                        <a:t>&lt;</a:t>
                      </a:r>
                      <a:r>
                        <a:rPr lang="ca-ES" dirty="0" err="1"/>
                        <a:t>stdbool.h</a:t>
                      </a:r>
                      <a:r>
                        <a:rPr lang="ca-ES" dirty="0"/>
                        <a:t>&gt;</a:t>
                      </a:r>
                    </a:p>
                    <a:p>
                      <a:endParaRPr lang="ca-ES" dirty="0"/>
                    </a:p>
                  </a:txBody>
                  <a:tcPr/>
                </a:tc>
                <a:tc>
                  <a:txBody>
                    <a:bodyPr/>
                    <a:lstStyle/>
                    <a:p>
                      <a:r>
                        <a:rPr lang="ca-ES" dirty="0" err="1"/>
                        <a:t>True</a:t>
                      </a:r>
                      <a:r>
                        <a:rPr lang="ca-ES" dirty="0"/>
                        <a:t> o </a:t>
                      </a:r>
                      <a:r>
                        <a:rPr lang="ca-ES" dirty="0" err="1"/>
                        <a:t>False</a:t>
                      </a:r>
                      <a:endParaRPr lang="ca-ES" dirty="0"/>
                    </a:p>
                  </a:txBody>
                  <a:tcPr/>
                </a:tc>
                <a:tc>
                  <a:txBody>
                    <a:bodyPr/>
                    <a:lstStyle/>
                    <a:p>
                      <a:endParaRPr lang="ca-ES" dirty="0"/>
                    </a:p>
                  </a:txBody>
                  <a:tcPr/>
                </a:tc>
                <a:tc>
                  <a:txBody>
                    <a:bodyPr/>
                    <a:lstStyle/>
                    <a:p>
                      <a:endParaRPr lang="ca-ES" dirty="0"/>
                    </a:p>
                  </a:txBody>
                  <a:tcPr/>
                </a:tc>
                <a:tc>
                  <a:txBody>
                    <a:bodyPr/>
                    <a:lstStyle/>
                    <a:p>
                      <a:endParaRPr lang="ca-ES" dirty="0"/>
                    </a:p>
                  </a:txBody>
                  <a:tcPr/>
                </a:tc>
                <a:extLst>
                  <a:ext uri="{0D108BD9-81ED-4DB2-BD59-A6C34878D82A}">
                    <a16:rowId xmlns:a16="http://schemas.microsoft.com/office/drawing/2014/main" val="1309529959"/>
                  </a:ext>
                </a:extLst>
              </a:tr>
            </a:tbl>
          </a:graphicData>
        </a:graphic>
      </p:graphicFrame>
    </p:spTree>
    <p:extLst>
      <p:ext uri="{BB962C8B-B14F-4D97-AF65-F5344CB8AC3E}">
        <p14:creationId xmlns:p14="http://schemas.microsoft.com/office/powerpoint/2010/main" val="3377073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43C2CB-ABB4-29A4-4F60-0DC1FC66EEB7}"/>
              </a:ext>
            </a:extLst>
          </p:cNvPr>
          <p:cNvSpPr>
            <a:spLocks noGrp="1"/>
          </p:cNvSpPr>
          <p:nvPr>
            <p:ph type="title"/>
          </p:nvPr>
        </p:nvSpPr>
        <p:spPr/>
        <p:txBody>
          <a:bodyPr/>
          <a:lstStyle/>
          <a:p>
            <a:r>
              <a:rPr lang="ca-ES" dirty="0"/>
              <a:t>Tipus de dades bàsics</a:t>
            </a:r>
            <a:endParaRPr lang="es-ES" dirty="0"/>
          </a:p>
        </p:txBody>
      </p:sp>
      <p:graphicFrame>
        <p:nvGraphicFramePr>
          <p:cNvPr id="5" name="Table 2">
            <a:extLst>
              <a:ext uri="{FF2B5EF4-FFF2-40B4-BE49-F238E27FC236}">
                <a16:creationId xmlns:a16="http://schemas.microsoft.com/office/drawing/2014/main" id="{A8964D71-72D8-C296-6A50-D205D9AD7AAB}"/>
              </a:ext>
            </a:extLst>
          </p:cNvPr>
          <p:cNvGraphicFramePr>
            <a:graphicFrameLocks noGrp="1"/>
          </p:cNvGraphicFramePr>
          <p:nvPr>
            <p:extLst>
              <p:ext uri="{D42A27DB-BD31-4B8C-83A1-F6EECF244321}">
                <p14:modId xmlns:p14="http://schemas.microsoft.com/office/powerpoint/2010/main" val="2732308711"/>
              </p:ext>
            </p:extLst>
          </p:nvPr>
        </p:nvGraphicFramePr>
        <p:xfrm>
          <a:off x="581004" y="960120"/>
          <a:ext cx="8096291" cy="4937760"/>
        </p:xfrm>
        <a:graphic>
          <a:graphicData uri="http://schemas.openxmlformats.org/drawingml/2006/table">
            <a:tbl>
              <a:tblPr firstRow="1" bandRow="1">
                <a:tableStyleId>{2A488322-F2BA-4B5B-9748-0D474271808F}</a:tableStyleId>
              </a:tblPr>
              <a:tblGrid>
                <a:gridCol w="1115962">
                  <a:extLst>
                    <a:ext uri="{9D8B030D-6E8A-4147-A177-3AD203B41FA5}">
                      <a16:colId xmlns:a16="http://schemas.microsoft.com/office/drawing/2014/main" val="457105637"/>
                    </a:ext>
                  </a:extLst>
                </a:gridCol>
                <a:gridCol w="1115962">
                  <a:extLst>
                    <a:ext uri="{9D8B030D-6E8A-4147-A177-3AD203B41FA5}">
                      <a16:colId xmlns:a16="http://schemas.microsoft.com/office/drawing/2014/main" val="3640043668"/>
                    </a:ext>
                  </a:extLst>
                </a:gridCol>
                <a:gridCol w="1327118">
                  <a:extLst>
                    <a:ext uri="{9D8B030D-6E8A-4147-A177-3AD203B41FA5}">
                      <a16:colId xmlns:a16="http://schemas.microsoft.com/office/drawing/2014/main" val="537804986"/>
                    </a:ext>
                  </a:extLst>
                </a:gridCol>
                <a:gridCol w="1327118">
                  <a:extLst>
                    <a:ext uri="{9D8B030D-6E8A-4147-A177-3AD203B41FA5}">
                      <a16:colId xmlns:a16="http://schemas.microsoft.com/office/drawing/2014/main" val="3082748458"/>
                    </a:ext>
                  </a:extLst>
                </a:gridCol>
                <a:gridCol w="1327118">
                  <a:extLst>
                    <a:ext uri="{9D8B030D-6E8A-4147-A177-3AD203B41FA5}">
                      <a16:colId xmlns:a16="http://schemas.microsoft.com/office/drawing/2014/main" val="1647496750"/>
                    </a:ext>
                  </a:extLst>
                </a:gridCol>
                <a:gridCol w="1883013">
                  <a:extLst>
                    <a:ext uri="{9D8B030D-6E8A-4147-A177-3AD203B41FA5}">
                      <a16:colId xmlns:a16="http://schemas.microsoft.com/office/drawing/2014/main" val="616367729"/>
                    </a:ext>
                  </a:extLst>
                </a:gridCol>
              </a:tblGrid>
              <a:tr h="297180">
                <a:tc>
                  <a:txBody>
                    <a:bodyPr/>
                    <a:lstStyle/>
                    <a:p>
                      <a:pPr algn="l"/>
                      <a:r>
                        <a:rPr lang="es-ES" noProof="1"/>
                        <a:t>Signe</a:t>
                      </a:r>
                    </a:p>
                  </a:txBody>
                  <a:tcPr marL="34290" marR="34290" marT="34290" marB="34290" anchor="ctr"/>
                </a:tc>
                <a:tc>
                  <a:txBody>
                    <a:bodyPr/>
                    <a:lstStyle/>
                    <a:p>
                      <a:pPr algn="l"/>
                      <a:r>
                        <a:rPr lang="es-ES" noProof="1"/>
                        <a:t>Tipus</a:t>
                      </a:r>
                    </a:p>
                  </a:txBody>
                  <a:tcPr marL="34290" marR="34290" marT="34290" marB="34290" anchor="ctr"/>
                </a:tc>
                <a:tc>
                  <a:txBody>
                    <a:bodyPr/>
                    <a:lstStyle/>
                    <a:p>
                      <a:pPr algn="l"/>
                      <a:r>
                        <a:rPr lang="es-ES" noProof="1"/>
                        <a:t>Mida</a:t>
                      </a:r>
                    </a:p>
                  </a:txBody>
                  <a:tcPr marL="34290" marR="34290" marT="34290" marB="34290" anchor="ctr"/>
                </a:tc>
                <a:tc>
                  <a:txBody>
                    <a:bodyPr/>
                    <a:lstStyle/>
                    <a:p>
                      <a:pPr algn="l"/>
                      <a:r>
                        <a:rPr lang="es-ES" noProof="1"/>
                        <a:t>Rang (Mín)</a:t>
                      </a:r>
                    </a:p>
                  </a:txBody>
                  <a:tcPr marL="34290" marR="34290" marT="34290" marB="34290" anchor="ctr"/>
                </a:tc>
                <a:tc>
                  <a:txBody>
                    <a:bodyPr/>
                    <a:lstStyle/>
                    <a:p>
                      <a:pPr algn="l"/>
                      <a:r>
                        <a:rPr lang="es-ES" noProof="1"/>
                        <a:t>Rang (Màx)</a:t>
                      </a:r>
                    </a:p>
                  </a:txBody>
                  <a:tcPr marL="34290" marR="34290" marT="34290" marB="34290" anchor="ctr"/>
                </a:tc>
                <a:tc>
                  <a:txBody>
                    <a:bodyPr/>
                    <a:lstStyle/>
                    <a:p>
                      <a:pPr algn="l"/>
                      <a:r>
                        <a:rPr lang="es-ES" noProof="1"/>
                        <a:t>Format (printf)</a:t>
                      </a:r>
                    </a:p>
                  </a:txBody>
                  <a:tcPr marL="34290" marR="34290" marT="34290" marB="34290" anchor="ctr"/>
                </a:tc>
                <a:extLst>
                  <a:ext uri="{0D108BD9-81ED-4DB2-BD59-A6C34878D82A}">
                    <a16:rowId xmlns:a16="http://schemas.microsoft.com/office/drawing/2014/main" val="4184248687"/>
                  </a:ext>
                </a:extLst>
              </a:tr>
              <a:tr h="274320">
                <a:tc>
                  <a:txBody>
                    <a:bodyPr/>
                    <a:lstStyle/>
                    <a:p>
                      <a:pPr>
                        <a:lnSpc>
                          <a:spcPct val="100000"/>
                        </a:lnSpc>
                      </a:pPr>
                      <a:endParaRPr lang="es-ES" noProof="1"/>
                    </a:p>
                  </a:txBody>
                  <a:tcPr marL="34290" marR="34290" marT="34290" marB="34290" anchor="ctr"/>
                </a:tc>
                <a:tc>
                  <a:txBody>
                    <a:bodyPr/>
                    <a:lstStyle/>
                    <a:p>
                      <a:pPr>
                        <a:lnSpc>
                          <a:spcPct val="100000"/>
                        </a:lnSpc>
                      </a:pPr>
                      <a:r>
                        <a:rPr lang="es-ES" b="1" noProof="1">
                          <a:solidFill>
                            <a:srgbClr val="FF0000"/>
                          </a:solidFill>
                        </a:rPr>
                        <a:t>char</a:t>
                      </a:r>
                    </a:p>
                  </a:txBody>
                  <a:tcPr marL="34290" marR="34290" marT="34290" marB="34290" anchor="ctr"/>
                </a:tc>
                <a:tc>
                  <a:txBody>
                    <a:bodyPr/>
                    <a:lstStyle/>
                    <a:p>
                      <a:pPr>
                        <a:lnSpc>
                          <a:spcPct val="100000"/>
                        </a:lnSpc>
                      </a:pPr>
                      <a:r>
                        <a:rPr lang="es-ES" noProof="1"/>
                        <a:t>1 byte</a:t>
                      </a:r>
                    </a:p>
                  </a:txBody>
                  <a:tcPr marL="34290" marR="34290" marT="34290" marB="34290" anchor="ctr"/>
                </a:tc>
                <a:tc>
                  <a:txBody>
                    <a:bodyPr/>
                    <a:lstStyle/>
                    <a:p>
                      <a:pPr>
                        <a:lnSpc>
                          <a:spcPct val="100000"/>
                        </a:lnSpc>
                      </a:pPr>
                      <a:r>
                        <a:rPr lang="es-ES" noProof="1"/>
                        <a:t>-128</a:t>
                      </a:r>
                    </a:p>
                  </a:txBody>
                  <a:tcPr marL="34290" marR="34290" marT="34290" marB="34290" anchor="ctr"/>
                </a:tc>
                <a:tc>
                  <a:txBody>
                    <a:bodyPr/>
                    <a:lstStyle/>
                    <a:p>
                      <a:pPr>
                        <a:lnSpc>
                          <a:spcPct val="100000"/>
                        </a:lnSpc>
                      </a:pPr>
                      <a:r>
                        <a:rPr lang="es-ES" noProof="1"/>
                        <a:t>127</a:t>
                      </a:r>
                    </a:p>
                  </a:txBody>
                  <a:tcPr marL="34290" marR="34290" marT="34290" marB="34290" anchor="ctr"/>
                </a:tc>
                <a:tc>
                  <a:txBody>
                    <a:bodyPr/>
                    <a:lstStyle/>
                    <a:p>
                      <a:pPr>
                        <a:lnSpc>
                          <a:spcPct val="100000"/>
                        </a:lnSpc>
                      </a:pPr>
                      <a:r>
                        <a:rPr lang="es-ES" noProof="1"/>
                        <a:t>%c</a:t>
                      </a:r>
                    </a:p>
                  </a:txBody>
                  <a:tcPr marL="34290" marR="34290" marT="34290" marB="34290" anchor="ctr"/>
                </a:tc>
                <a:extLst>
                  <a:ext uri="{0D108BD9-81ED-4DB2-BD59-A6C34878D82A}">
                    <a16:rowId xmlns:a16="http://schemas.microsoft.com/office/drawing/2014/main" val="4158166076"/>
                  </a:ext>
                </a:extLst>
              </a:tr>
              <a:tr h="274320">
                <a:tc>
                  <a:txBody>
                    <a:bodyPr/>
                    <a:lstStyle/>
                    <a:p>
                      <a:pPr>
                        <a:lnSpc>
                          <a:spcPct val="100000"/>
                        </a:lnSpc>
                      </a:pPr>
                      <a:r>
                        <a:rPr lang="es-ES" noProof="1"/>
                        <a:t>unsigned</a:t>
                      </a:r>
                    </a:p>
                  </a:txBody>
                  <a:tcPr marL="34290" marR="34290" marT="34290" marB="34290" anchor="ctr"/>
                </a:tc>
                <a:tc>
                  <a:txBody>
                    <a:bodyPr/>
                    <a:lstStyle/>
                    <a:p>
                      <a:pPr>
                        <a:lnSpc>
                          <a:spcPct val="100000"/>
                        </a:lnSpc>
                      </a:pPr>
                      <a:r>
                        <a:rPr lang="es-ES" noProof="1"/>
                        <a:t>char</a:t>
                      </a:r>
                    </a:p>
                  </a:txBody>
                  <a:tcPr marL="34290" marR="34290" marT="34290" marB="34290" anchor="ctr"/>
                </a:tc>
                <a:tc>
                  <a:txBody>
                    <a:bodyPr/>
                    <a:lstStyle/>
                    <a:p>
                      <a:pPr>
                        <a:lnSpc>
                          <a:spcPct val="100000"/>
                        </a:lnSpc>
                      </a:pPr>
                      <a:r>
                        <a:rPr lang="es-ES" noProof="1"/>
                        <a:t>1 byte</a:t>
                      </a:r>
                    </a:p>
                  </a:txBody>
                  <a:tcPr marL="34290" marR="34290" marT="34290" marB="34290" anchor="ctr"/>
                </a:tc>
                <a:tc>
                  <a:txBody>
                    <a:bodyPr/>
                    <a:lstStyle/>
                    <a:p>
                      <a:pPr>
                        <a:lnSpc>
                          <a:spcPct val="100000"/>
                        </a:lnSpc>
                      </a:pPr>
                      <a:r>
                        <a:rPr lang="es-ES" noProof="1"/>
                        <a:t>0</a:t>
                      </a:r>
                    </a:p>
                  </a:txBody>
                  <a:tcPr marL="34290" marR="34290" marT="34290" marB="34290" anchor="ctr"/>
                </a:tc>
                <a:tc>
                  <a:txBody>
                    <a:bodyPr/>
                    <a:lstStyle/>
                    <a:p>
                      <a:pPr>
                        <a:lnSpc>
                          <a:spcPct val="100000"/>
                        </a:lnSpc>
                      </a:pPr>
                      <a:r>
                        <a:rPr lang="es-ES" noProof="1"/>
                        <a:t>255</a:t>
                      </a:r>
                    </a:p>
                  </a:txBody>
                  <a:tcPr marL="34290" marR="34290" marT="34290" marB="34290" anchor="ctr"/>
                </a:tc>
                <a:tc>
                  <a:txBody>
                    <a:bodyPr/>
                    <a:lstStyle/>
                    <a:p>
                      <a:pPr>
                        <a:lnSpc>
                          <a:spcPct val="100000"/>
                        </a:lnSpc>
                      </a:pPr>
                      <a:r>
                        <a:rPr lang="es-ES" noProof="1"/>
                        <a:t>%c</a:t>
                      </a:r>
                    </a:p>
                  </a:txBody>
                  <a:tcPr marL="34290" marR="34290" marT="34290" marB="34290" anchor="ctr"/>
                </a:tc>
                <a:extLst>
                  <a:ext uri="{0D108BD9-81ED-4DB2-BD59-A6C34878D82A}">
                    <a16:rowId xmlns:a16="http://schemas.microsoft.com/office/drawing/2014/main" val="1476892582"/>
                  </a:ext>
                </a:extLst>
              </a:tr>
              <a:tr h="274320">
                <a:tc>
                  <a:txBody>
                    <a:bodyPr/>
                    <a:lstStyle/>
                    <a:p>
                      <a:pPr>
                        <a:lnSpc>
                          <a:spcPct val="100000"/>
                        </a:lnSpc>
                      </a:pPr>
                      <a:endParaRPr lang="es-ES" noProof="1"/>
                    </a:p>
                  </a:txBody>
                  <a:tcPr marL="34290" marR="34290" marT="34290" marB="34290" anchor="ctr"/>
                </a:tc>
                <a:tc>
                  <a:txBody>
                    <a:bodyPr/>
                    <a:lstStyle/>
                    <a:p>
                      <a:pPr>
                        <a:lnSpc>
                          <a:spcPct val="100000"/>
                        </a:lnSpc>
                      </a:pPr>
                      <a:r>
                        <a:rPr lang="es-ES" noProof="1"/>
                        <a:t>short</a:t>
                      </a:r>
                    </a:p>
                  </a:txBody>
                  <a:tcPr marL="34290" marR="34290" marT="34290" marB="34290" anchor="ctr"/>
                </a:tc>
                <a:tc>
                  <a:txBody>
                    <a:bodyPr/>
                    <a:lstStyle/>
                    <a:p>
                      <a:pPr>
                        <a:lnSpc>
                          <a:spcPct val="100000"/>
                        </a:lnSpc>
                      </a:pPr>
                      <a:r>
                        <a:rPr lang="es-ES" noProof="1"/>
                        <a:t>2 bytes</a:t>
                      </a:r>
                    </a:p>
                  </a:txBody>
                  <a:tcPr marL="34290" marR="34290" marT="34290" marB="34290" anchor="ctr"/>
                </a:tc>
                <a:tc>
                  <a:txBody>
                    <a:bodyPr/>
                    <a:lstStyle/>
                    <a:p>
                      <a:pPr>
                        <a:lnSpc>
                          <a:spcPct val="100000"/>
                        </a:lnSpc>
                      </a:pPr>
                      <a:r>
                        <a:rPr lang="es-ES" noProof="1"/>
                        <a:t>-32768</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32767</a:t>
                      </a:r>
                    </a:p>
                  </a:txBody>
                  <a:tcPr marL="34290" marR="34290" marT="34290" marB="34290" anchor="ctr"/>
                </a:tc>
                <a:tc>
                  <a:txBody>
                    <a:bodyPr/>
                    <a:lstStyle/>
                    <a:p>
                      <a:pPr>
                        <a:lnSpc>
                          <a:spcPct val="100000"/>
                        </a:lnSpc>
                      </a:pPr>
                      <a:r>
                        <a:rPr lang="es-ES" noProof="1"/>
                        <a:t>%hd</a:t>
                      </a:r>
                    </a:p>
                  </a:txBody>
                  <a:tcPr marL="34290" marR="34290" marT="34290" marB="34290" anchor="ctr"/>
                </a:tc>
                <a:extLst>
                  <a:ext uri="{0D108BD9-81ED-4DB2-BD59-A6C34878D82A}">
                    <a16:rowId xmlns:a16="http://schemas.microsoft.com/office/drawing/2014/main" val="3172409948"/>
                  </a:ext>
                </a:extLst>
              </a:tr>
              <a:tr h="274320">
                <a:tc>
                  <a:txBody>
                    <a:bodyPr/>
                    <a:lstStyle/>
                    <a:p>
                      <a:pPr>
                        <a:lnSpc>
                          <a:spcPct val="100000"/>
                        </a:lnSpc>
                      </a:pPr>
                      <a:r>
                        <a:rPr lang="es-ES" noProof="1"/>
                        <a:t>unsigned</a:t>
                      </a:r>
                    </a:p>
                  </a:txBody>
                  <a:tcPr marL="34290" marR="34290" marT="34290" marB="34290" anchor="ctr"/>
                </a:tc>
                <a:tc>
                  <a:txBody>
                    <a:bodyPr/>
                    <a:lstStyle/>
                    <a:p>
                      <a:pPr>
                        <a:lnSpc>
                          <a:spcPct val="100000"/>
                        </a:lnSpc>
                      </a:pPr>
                      <a:r>
                        <a:rPr lang="es-ES" noProof="1"/>
                        <a:t>short</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2 bytes</a:t>
                      </a:r>
                    </a:p>
                  </a:txBody>
                  <a:tcPr marL="34290" marR="34290" marT="34290" marB="34290" anchor="ctr"/>
                </a:tc>
                <a:tc>
                  <a:txBody>
                    <a:bodyPr/>
                    <a:lstStyle/>
                    <a:p>
                      <a:pPr>
                        <a:lnSpc>
                          <a:spcPct val="100000"/>
                        </a:lnSpc>
                      </a:pPr>
                      <a:r>
                        <a:rPr lang="es-ES" noProof="1"/>
                        <a:t>0</a:t>
                      </a:r>
                    </a:p>
                  </a:txBody>
                  <a:tcPr marL="34290" marR="34290" marT="34290" marB="34290" anchor="ctr"/>
                </a:tc>
                <a:tc>
                  <a:txBody>
                    <a:bodyPr/>
                    <a:lstStyle/>
                    <a:p>
                      <a:pPr>
                        <a:lnSpc>
                          <a:spcPct val="100000"/>
                        </a:lnSpc>
                      </a:pPr>
                      <a:r>
                        <a:rPr lang="es-ES" noProof="1"/>
                        <a:t>65535</a:t>
                      </a:r>
                    </a:p>
                  </a:txBody>
                  <a:tcPr marL="34290" marR="34290" marT="34290" marB="34290" anchor="ctr"/>
                </a:tc>
                <a:tc>
                  <a:txBody>
                    <a:bodyPr/>
                    <a:lstStyle/>
                    <a:p>
                      <a:pPr>
                        <a:lnSpc>
                          <a:spcPct val="100000"/>
                        </a:lnSpc>
                      </a:pPr>
                      <a:r>
                        <a:rPr lang="es-ES" noProof="1"/>
                        <a:t>%hu</a:t>
                      </a:r>
                    </a:p>
                  </a:txBody>
                  <a:tcPr marL="34290" marR="34290" marT="34290" marB="34290" anchor="ctr"/>
                </a:tc>
                <a:extLst>
                  <a:ext uri="{0D108BD9-81ED-4DB2-BD59-A6C34878D82A}">
                    <a16:rowId xmlns:a16="http://schemas.microsoft.com/office/drawing/2014/main" val="1128615520"/>
                  </a:ext>
                </a:extLst>
              </a:tr>
              <a:tr h="274320">
                <a:tc>
                  <a:txBody>
                    <a:bodyPr/>
                    <a:lstStyle/>
                    <a:p>
                      <a:pPr>
                        <a:lnSpc>
                          <a:spcPct val="100000"/>
                        </a:lnSpc>
                      </a:pPr>
                      <a:endParaRPr lang="es-ES" noProof="1"/>
                    </a:p>
                  </a:txBody>
                  <a:tcPr marL="34290" marR="34290" marT="34290" marB="34290" anchor="ctr"/>
                </a:tc>
                <a:tc>
                  <a:txBody>
                    <a:bodyPr/>
                    <a:lstStyle/>
                    <a:p>
                      <a:pPr>
                        <a:lnSpc>
                          <a:spcPct val="100000"/>
                        </a:lnSpc>
                      </a:pPr>
                      <a:r>
                        <a:rPr lang="es-ES" b="1" noProof="1">
                          <a:solidFill>
                            <a:srgbClr val="FF0000"/>
                          </a:solidFill>
                        </a:rPr>
                        <a:t>int</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4 bytes</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-2147483648</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2147483647</a:t>
                      </a:r>
                    </a:p>
                  </a:txBody>
                  <a:tcPr marL="34290" marR="34290" marT="34290" marB="34290" anchor="ctr"/>
                </a:tc>
                <a:tc>
                  <a:txBody>
                    <a:bodyPr/>
                    <a:lstStyle/>
                    <a:p>
                      <a:pPr>
                        <a:lnSpc>
                          <a:spcPct val="100000"/>
                        </a:lnSpc>
                      </a:pPr>
                      <a:r>
                        <a:rPr lang="es-ES" noProof="1"/>
                        <a:t>%d </a:t>
                      </a:r>
                      <a:r>
                        <a:rPr lang="es-ES" noProof="1">
                          <a:sym typeface="Wingdings" panose="05000000000000000000" pitchFamily="2" charset="2"/>
                        </a:rPr>
                        <a:t> Padding %03d</a:t>
                      </a:r>
                      <a:endParaRPr lang="es-ES" noProof="1"/>
                    </a:p>
                  </a:txBody>
                  <a:tcPr marL="34290" marR="34290" marT="34290" marB="34290" anchor="ctr"/>
                </a:tc>
                <a:extLst>
                  <a:ext uri="{0D108BD9-81ED-4DB2-BD59-A6C34878D82A}">
                    <a16:rowId xmlns:a16="http://schemas.microsoft.com/office/drawing/2014/main" val="2260964158"/>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unsigned</a:t>
                      </a:r>
                    </a:p>
                  </a:txBody>
                  <a:tcPr marL="34290" marR="34290" marT="34290" marB="34290" anchor="ctr"/>
                </a:tc>
                <a:tc>
                  <a:txBody>
                    <a:bodyPr/>
                    <a:lstStyle/>
                    <a:p>
                      <a:pPr>
                        <a:lnSpc>
                          <a:spcPct val="100000"/>
                        </a:lnSpc>
                      </a:pPr>
                      <a:r>
                        <a:rPr lang="es-ES" noProof="1"/>
                        <a:t>Int</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4 bytes</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0</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4294967295</a:t>
                      </a:r>
                    </a:p>
                  </a:txBody>
                  <a:tcPr marL="34290" marR="34290" marT="34290" marB="34290" anchor="ctr"/>
                </a:tc>
                <a:tc>
                  <a:txBody>
                    <a:bodyPr/>
                    <a:lstStyle/>
                    <a:p>
                      <a:pPr>
                        <a:lnSpc>
                          <a:spcPct val="100000"/>
                        </a:lnSpc>
                      </a:pPr>
                      <a:r>
                        <a:rPr lang="es-ES" noProof="1"/>
                        <a:t>%u</a:t>
                      </a:r>
                    </a:p>
                  </a:txBody>
                  <a:tcPr marL="34290" marR="34290" marT="34290" marB="34290" anchor="ctr"/>
                </a:tc>
                <a:extLst>
                  <a:ext uri="{0D108BD9-81ED-4DB2-BD59-A6C34878D82A}">
                    <a16:rowId xmlns:a16="http://schemas.microsoft.com/office/drawing/2014/main" val="3505244365"/>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noProof="1"/>
                    </a:p>
                  </a:txBody>
                  <a:tcPr marL="34290" marR="34290" marT="34290" marB="34290" anchor="ctr"/>
                </a:tc>
                <a:tc>
                  <a:txBody>
                    <a:bodyPr/>
                    <a:lstStyle/>
                    <a:p>
                      <a:pPr>
                        <a:lnSpc>
                          <a:spcPct val="100000"/>
                        </a:lnSpc>
                      </a:pPr>
                      <a:r>
                        <a:rPr lang="es-ES" noProof="1"/>
                        <a:t>long</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4 bytes</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-2147483648</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2147483647</a:t>
                      </a:r>
                    </a:p>
                  </a:txBody>
                  <a:tcPr marL="34290" marR="34290" marT="34290" marB="34290" anchor="ctr"/>
                </a:tc>
                <a:tc>
                  <a:txBody>
                    <a:bodyPr/>
                    <a:lstStyle/>
                    <a:p>
                      <a:pPr>
                        <a:lnSpc>
                          <a:spcPct val="100000"/>
                        </a:lnSpc>
                      </a:pPr>
                      <a:r>
                        <a:rPr lang="es-ES" noProof="1"/>
                        <a:t>%ld</a:t>
                      </a:r>
                    </a:p>
                  </a:txBody>
                  <a:tcPr marL="34290" marR="34290" marT="34290" marB="34290" anchor="ctr"/>
                </a:tc>
                <a:extLst>
                  <a:ext uri="{0D108BD9-81ED-4DB2-BD59-A6C34878D82A}">
                    <a16:rowId xmlns:a16="http://schemas.microsoft.com/office/drawing/2014/main" val="3289352865"/>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unsigned</a:t>
                      </a:r>
                    </a:p>
                  </a:txBody>
                  <a:tcPr marL="34290" marR="34290" marT="34290" marB="34290" anchor="ctr"/>
                </a:tc>
                <a:tc>
                  <a:txBody>
                    <a:bodyPr/>
                    <a:lstStyle/>
                    <a:p>
                      <a:pPr>
                        <a:lnSpc>
                          <a:spcPct val="100000"/>
                        </a:lnSpc>
                      </a:pPr>
                      <a:r>
                        <a:rPr lang="es-ES" noProof="1"/>
                        <a:t>long</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4 bytes</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0</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4294967295</a:t>
                      </a:r>
                    </a:p>
                  </a:txBody>
                  <a:tcPr marL="34290" marR="34290" marT="34290" marB="34290" anchor="ctr"/>
                </a:tc>
                <a:tc>
                  <a:txBody>
                    <a:bodyPr/>
                    <a:lstStyle/>
                    <a:p>
                      <a:pPr>
                        <a:lnSpc>
                          <a:spcPct val="100000"/>
                        </a:lnSpc>
                      </a:pPr>
                      <a:r>
                        <a:rPr lang="es-ES" noProof="1"/>
                        <a:t>%lu</a:t>
                      </a:r>
                    </a:p>
                  </a:txBody>
                  <a:tcPr marL="34290" marR="34290" marT="34290" marB="34290" anchor="ctr"/>
                </a:tc>
                <a:extLst>
                  <a:ext uri="{0D108BD9-81ED-4DB2-BD59-A6C34878D82A}">
                    <a16:rowId xmlns:a16="http://schemas.microsoft.com/office/drawing/2014/main" val="3453829817"/>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noProof="1"/>
                    </a:p>
                  </a:txBody>
                  <a:tcPr marL="34290" marR="34290" marT="34290" marB="34290" anchor="ctr"/>
                </a:tc>
                <a:tc>
                  <a:txBody>
                    <a:bodyPr/>
                    <a:lstStyle/>
                    <a:p>
                      <a:pPr>
                        <a:lnSpc>
                          <a:spcPct val="100000"/>
                        </a:lnSpc>
                      </a:pPr>
                      <a:r>
                        <a:rPr lang="es-ES" b="1" noProof="1">
                          <a:solidFill>
                            <a:srgbClr val="FF0000"/>
                          </a:solidFill>
                        </a:rPr>
                        <a:t>float</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4 bytes</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-3.4E 38</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3.4E 38</a:t>
                      </a:r>
                    </a:p>
                  </a:txBody>
                  <a:tcPr marL="34290" marR="34290" marT="34290" marB="34290" anchor="ctr"/>
                </a:tc>
                <a:tc>
                  <a:txBody>
                    <a:bodyPr/>
                    <a:lstStyle/>
                    <a:p>
                      <a:pPr>
                        <a:lnSpc>
                          <a:spcPct val="100000"/>
                        </a:lnSpc>
                      </a:pPr>
                      <a:r>
                        <a:rPr lang="es-ES" noProof="1"/>
                        <a:t>%f  </a:t>
                      </a:r>
                      <a:r>
                        <a:rPr lang="es-ES" noProof="1">
                          <a:sym typeface="Wingdings" panose="05000000000000000000" pitchFamily="2" charset="2"/>
                        </a:rPr>
                        <a:t> Decimals %.2f</a:t>
                      </a:r>
                      <a:endParaRPr lang="es-ES" noProof="1"/>
                    </a:p>
                  </a:txBody>
                  <a:tcPr marL="34290" marR="34290" marT="34290" marB="34290" anchor="ctr"/>
                </a:tc>
                <a:extLst>
                  <a:ext uri="{0D108BD9-81ED-4DB2-BD59-A6C34878D82A}">
                    <a16:rowId xmlns:a16="http://schemas.microsoft.com/office/drawing/2014/main" val="434788146"/>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noProof="1"/>
                    </a:p>
                  </a:txBody>
                  <a:tcPr marL="34290" marR="34290" marT="34290" marB="34290" anchor="ctr"/>
                </a:tc>
                <a:tc>
                  <a:txBody>
                    <a:bodyPr/>
                    <a:lstStyle/>
                    <a:p>
                      <a:pPr>
                        <a:lnSpc>
                          <a:spcPct val="100000"/>
                        </a:lnSpc>
                      </a:pPr>
                      <a:r>
                        <a:rPr lang="es-ES" noProof="1"/>
                        <a:t>double</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8 bytes</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-1.7E 308</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1.7E 308</a:t>
                      </a:r>
                    </a:p>
                  </a:txBody>
                  <a:tcPr marL="34290" marR="34290" marT="34290" marB="34290" anchor="ctr"/>
                </a:tc>
                <a:tc>
                  <a:txBody>
                    <a:bodyPr/>
                    <a:lstStyle/>
                    <a:p>
                      <a:pPr>
                        <a:lnSpc>
                          <a:spcPct val="100000"/>
                        </a:lnSpc>
                      </a:pPr>
                      <a:r>
                        <a:rPr lang="es-ES" noProof="1"/>
                        <a:t>%lf</a:t>
                      </a:r>
                    </a:p>
                  </a:txBody>
                  <a:tcPr marL="34290" marR="34290" marT="34290" marB="34290" anchor="ctr"/>
                </a:tc>
                <a:extLst>
                  <a:ext uri="{0D108BD9-81ED-4DB2-BD59-A6C34878D82A}">
                    <a16:rowId xmlns:a16="http://schemas.microsoft.com/office/drawing/2014/main" val="695583618"/>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noProof="1"/>
                    </a:p>
                  </a:txBody>
                  <a:tcPr marL="34290" marR="34290" marT="34290" marB="34290" anchor="ctr"/>
                </a:tc>
                <a:tc>
                  <a:txBody>
                    <a:bodyPr/>
                    <a:lstStyle/>
                    <a:p>
                      <a:pPr>
                        <a:lnSpc>
                          <a:spcPct val="100000"/>
                        </a:lnSpc>
                      </a:pPr>
                      <a:r>
                        <a:rPr lang="es-ES" b="1" noProof="1">
                          <a:solidFill>
                            <a:srgbClr val="FF0000"/>
                          </a:solidFill>
                        </a:rPr>
                        <a:t>bool</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1 byte</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0</a:t>
                      </a:r>
                    </a:p>
                  </a:txBody>
                  <a:tcPr marL="34290" marR="3429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noProof="1"/>
                        <a:t>1</a:t>
                      </a:r>
                    </a:p>
                  </a:txBody>
                  <a:tcPr marL="34290" marR="34290" marT="34290" marB="34290" anchor="ctr"/>
                </a:tc>
                <a:tc>
                  <a:txBody>
                    <a:bodyPr/>
                    <a:lstStyle/>
                    <a:p>
                      <a:pPr>
                        <a:lnSpc>
                          <a:spcPct val="100000"/>
                        </a:lnSpc>
                      </a:pPr>
                      <a:r>
                        <a:rPr lang="es-ES" noProof="1"/>
                        <a:t>%d (req. “stdbool.h”)</a:t>
                      </a:r>
                    </a:p>
                  </a:txBody>
                  <a:tcPr marL="34290" marR="34290" marT="34290" marB="34290" anchor="ctr"/>
                </a:tc>
                <a:extLst>
                  <a:ext uri="{0D108BD9-81ED-4DB2-BD59-A6C34878D82A}">
                    <a16:rowId xmlns:a16="http://schemas.microsoft.com/office/drawing/2014/main" val="3074550084"/>
                  </a:ext>
                </a:extLst>
              </a:tr>
            </a:tbl>
          </a:graphicData>
        </a:graphic>
      </p:graphicFrame>
    </p:spTree>
    <p:extLst>
      <p:ext uri="{BB962C8B-B14F-4D97-AF65-F5344CB8AC3E}">
        <p14:creationId xmlns:p14="http://schemas.microsoft.com/office/powerpoint/2010/main" val="1485662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Tipus</a:t>
            </a:r>
            <a:r>
              <a:rPr lang="es-ES" dirty="0"/>
              <a:t> de dades </a:t>
            </a:r>
            <a:r>
              <a:rPr lang="es-ES" dirty="0" err="1"/>
              <a:t>més</a:t>
            </a:r>
            <a:r>
              <a:rPr lang="es-ES" dirty="0"/>
              <a:t> </a:t>
            </a:r>
            <a:r>
              <a:rPr lang="es-ES" dirty="0" err="1"/>
              <a:t>utilitzats</a:t>
            </a:r>
            <a:endParaRPr lang="ca-ES" dirty="0"/>
          </a:p>
        </p:txBody>
      </p:sp>
      <p:sp>
        <p:nvSpPr>
          <p:cNvPr id="3" name="Content Placeholder 2"/>
          <p:cNvSpPr>
            <a:spLocks noGrp="1"/>
          </p:cNvSpPr>
          <p:nvPr>
            <p:ph idx="1"/>
          </p:nvPr>
        </p:nvSpPr>
        <p:spPr>
          <a:xfrm>
            <a:off x="496997" y="939800"/>
            <a:ext cx="8264306" cy="5772930"/>
          </a:xfrm>
        </p:spPr>
        <p:txBody>
          <a:bodyPr>
            <a:normAutofit/>
          </a:bodyPr>
          <a:lstStyle/>
          <a:p>
            <a:pPr marL="0" indent="0">
              <a:buNone/>
            </a:pPr>
            <a:r>
              <a:rPr lang="ca-ES" sz="2000" dirty="0">
                <a:solidFill>
                  <a:schemeClr val="accent1"/>
                </a:solidFill>
              </a:rPr>
              <a:t>SENCERS: </a:t>
            </a:r>
            <a:r>
              <a:rPr lang="ca-ES" sz="2000" dirty="0" err="1">
                <a:solidFill>
                  <a:schemeClr val="accent1"/>
                </a:solidFill>
              </a:rPr>
              <a:t>int</a:t>
            </a:r>
            <a:endParaRPr lang="ca-ES" sz="2000" dirty="0">
              <a:solidFill>
                <a:schemeClr val="accent1"/>
              </a:solidFill>
            </a:endParaRPr>
          </a:p>
          <a:p>
            <a:pPr lvl="1"/>
            <a:r>
              <a:rPr lang="ca-ES" sz="1800" dirty="0"/>
              <a:t>Números negatius i positius sense decimals, amb el 0 inclòs. </a:t>
            </a:r>
          </a:p>
          <a:p>
            <a:pPr lvl="1"/>
            <a:r>
              <a:rPr lang="ca-ES" sz="1800" dirty="0"/>
              <a:t>Rang: -2</a:t>
            </a:r>
            <a:r>
              <a:rPr lang="ca-ES" sz="1800" baseline="30000" dirty="0"/>
              <a:t>n-1</a:t>
            </a:r>
            <a:r>
              <a:rPr lang="ca-ES" sz="1800" dirty="0"/>
              <a:t>..2</a:t>
            </a:r>
            <a:r>
              <a:rPr lang="ca-ES" sz="1800" baseline="30000" dirty="0"/>
              <a:t>n-1</a:t>
            </a:r>
            <a:r>
              <a:rPr lang="ca-ES" sz="1800" dirty="0"/>
              <a:t>-1 </a:t>
            </a:r>
          </a:p>
          <a:p>
            <a:pPr lvl="1"/>
            <a:r>
              <a:rPr lang="ca-ES" sz="1800" dirty="0" err="1"/>
              <a:t>Integer</a:t>
            </a:r>
            <a:r>
              <a:rPr lang="ca-ES" sz="1800" dirty="0"/>
              <a:t> ocupa 4 bytes = 4bytes x 8bits/1byte = 32 bits</a:t>
            </a:r>
          </a:p>
          <a:p>
            <a:pPr lvl="1"/>
            <a:r>
              <a:rPr lang="ca-ES" sz="1800" dirty="0" err="1"/>
              <a:t>Integer</a:t>
            </a:r>
            <a:r>
              <a:rPr lang="ca-ES" sz="1800" dirty="0"/>
              <a:t> -2</a:t>
            </a:r>
            <a:r>
              <a:rPr lang="ca-ES" sz="1800" baseline="30000" dirty="0"/>
              <a:t>31</a:t>
            </a:r>
            <a:r>
              <a:rPr lang="ca-ES" sz="1800" dirty="0"/>
              <a:t>,2</a:t>
            </a:r>
            <a:r>
              <a:rPr lang="ca-ES" sz="1800" baseline="30000" dirty="0"/>
              <a:t>31</a:t>
            </a:r>
            <a:r>
              <a:rPr lang="ca-ES" sz="1800" dirty="0"/>
              <a:t>-1 =-2147483648, 2147483647</a:t>
            </a:r>
          </a:p>
          <a:p>
            <a:pPr lvl="1"/>
            <a:r>
              <a:rPr lang="ca-ES" sz="1800" dirty="0"/>
              <a:t>Operacions bàsiques: +, -, *, /, % </a:t>
            </a:r>
          </a:p>
          <a:p>
            <a:pPr marL="0" indent="0">
              <a:buNone/>
            </a:pPr>
            <a:endParaRPr lang="ca-ES" sz="2000" b="1" u="sng" dirty="0"/>
          </a:p>
          <a:p>
            <a:pPr marL="0" indent="0">
              <a:buNone/>
            </a:pPr>
            <a:r>
              <a:rPr lang="ca-ES" sz="2000" dirty="0">
                <a:solidFill>
                  <a:schemeClr val="accent1"/>
                </a:solidFill>
              </a:rPr>
              <a:t>REALS: </a:t>
            </a:r>
            <a:r>
              <a:rPr lang="ca-ES" sz="2000" dirty="0" err="1">
                <a:solidFill>
                  <a:schemeClr val="accent1"/>
                </a:solidFill>
              </a:rPr>
              <a:t>float</a:t>
            </a:r>
            <a:endParaRPr lang="ca-ES" sz="2000" dirty="0">
              <a:solidFill>
                <a:schemeClr val="accent1"/>
              </a:solidFill>
            </a:endParaRPr>
          </a:p>
          <a:p>
            <a:pPr lvl="1"/>
            <a:r>
              <a:rPr lang="ca-ES" sz="1800" dirty="0"/>
              <a:t>Números amb decimals</a:t>
            </a:r>
          </a:p>
          <a:p>
            <a:pPr lvl="1"/>
            <a:r>
              <a:rPr lang="ca-ES" sz="1800" dirty="0"/>
              <a:t>Operacions bàsiques: +, -, *, /</a:t>
            </a:r>
          </a:p>
        </p:txBody>
      </p:sp>
    </p:spTree>
    <p:extLst>
      <p:ext uri="{BB962C8B-B14F-4D97-AF65-F5344CB8AC3E}">
        <p14:creationId xmlns:p14="http://schemas.microsoft.com/office/powerpoint/2010/main" val="2685608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Tipus</a:t>
            </a:r>
            <a:r>
              <a:rPr lang="es-ES" dirty="0"/>
              <a:t> de dades </a:t>
            </a:r>
            <a:r>
              <a:rPr lang="es-ES" dirty="0" err="1"/>
              <a:t>més</a:t>
            </a:r>
            <a:r>
              <a:rPr lang="es-ES" dirty="0"/>
              <a:t> </a:t>
            </a:r>
            <a:r>
              <a:rPr lang="es-ES" dirty="0" err="1"/>
              <a:t>utilitzats</a:t>
            </a:r>
            <a:endParaRPr lang="ca-ES" dirty="0"/>
          </a:p>
        </p:txBody>
      </p:sp>
      <p:sp>
        <p:nvSpPr>
          <p:cNvPr id="3" name="Content Placeholder 2"/>
          <p:cNvSpPr>
            <a:spLocks noGrp="1"/>
          </p:cNvSpPr>
          <p:nvPr>
            <p:ph idx="1"/>
          </p:nvPr>
        </p:nvSpPr>
        <p:spPr>
          <a:xfrm>
            <a:off x="496997" y="939800"/>
            <a:ext cx="8264306" cy="5772930"/>
          </a:xfrm>
        </p:spPr>
        <p:txBody>
          <a:bodyPr>
            <a:normAutofit/>
          </a:bodyPr>
          <a:lstStyle/>
          <a:p>
            <a:pPr marL="0" indent="0">
              <a:buNone/>
            </a:pPr>
            <a:r>
              <a:rPr lang="ca-ES" sz="2000" dirty="0">
                <a:solidFill>
                  <a:schemeClr val="accent1"/>
                </a:solidFill>
              </a:rPr>
              <a:t>BOOLEAN: </a:t>
            </a:r>
            <a:r>
              <a:rPr lang="ca-ES" sz="2000" dirty="0" err="1">
                <a:solidFill>
                  <a:schemeClr val="accent1"/>
                </a:solidFill>
              </a:rPr>
              <a:t>bool</a:t>
            </a:r>
            <a:endParaRPr lang="ca-ES" sz="2000" dirty="0">
              <a:solidFill>
                <a:schemeClr val="accent1"/>
              </a:solidFill>
            </a:endParaRPr>
          </a:p>
          <a:p>
            <a:r>
              <a:rPr lang="ca-ES" dirty="0"/>
              <a:t>Només poden tenir un dels dos valors:  CERT o FALS. </a:t>
            </a:r>
          </a:p>
          <a:p>
            <a:r>
              <a:rPr lang="ca-ES" dirty="0"/>
              <a:t>El contrari de CERT és FALS i el contrari de FALS és CERT.</a:t>
            </a:r>
          </a:p>
          <a:p>
            <a:r>
              <a:rPr lang="ca-ES" dirty="0"/>
              <a:t>El número “1” representa CERT i el número “0” FALS.</a:t>
            </a:r>
          </a:p>
          <a:p>
            <a:r>
              <a:rPr lang="ca-ES" dirty="0"/>
              <a:t>Serveixen per a comprovar si en un cert punt del programa és compleix una condició o no.                                                                                                                                                                                                                                                                                                                                                                                                                                                                                                                                                                                                                                 </a:t>
            </a:r>
          </a:p>
          <a:p>
            <a:r>
              <a:rPr lang="ca-ES" dirty="0"/>
              <a:t>Operadors lògics: </a:t>
            </a:r>
          </a:p>
          <a:p>
            <a:pPr lvl="1"/>
            <a:r>
              <a:rPr lang="ca-ES" sz="1800" dirty="0"/>
              <a:t>i (</a:t>
            </a:r>
            <a:r>
              <a:rPr lang="ca-ES" sz="1800" b="1" dirty="0"/>
              <a:t>AND</a:t>
            </a:r>
            <a:r>
              <a:rPr lang="ca-ES" sz="1800" dirty="0"/>
              <a:t> ‘</a:t>
            </a:r>
            <a:r>
              <a:rPr lang="ca-ES" sz="1800" b="1" dirty="0"/>
              <a:t>&amp;&amp;</a:t>
            </a:r>
            <a:r>
              <a:rPr lang="ca-ES" sz="1800" dirty="0"/>
              <a:t>’) </a:t>
            </a:r>
            <a:r>
              <a:rPr lang="ca-ES" sz="1800" dirty="0">
                <a:sym typeface="Wingdings" panose="05000000000000000000" pitchFamily="2" charset="2"/>
              </a:rPr>
              <a:t> Retorna cert sols si tots els operands són certs.</a:t>
            </a:r>
            <a:endParaRPr lang="ca-ES" sz="1800" dirty="0"/>
          </a:p>
          <a:p>
            <a:pPr lvl="1"/>
            <a:r>
              <a:rPr lang="ca-ES" sz="1800" dirty="0"/>
              <a:t>o (</a:t>
            </a:r>
            <a:r>
              <a:rPr lang="ca-ES" sz="1800" b="1" dirty="0"/>
              <a:t>OR</a:t>
            </a:r>
            <a:r>
              <a:rPr lang="ca-ES" sz="1800" dirty="0"/>
              <a:t> ‘</a:t>
            </a:r>
            <a:r>
              <a:rPr lang="ca-ES" sz="1800" b="1" dirty="0"/>
              <a:t>||</a:t>
            </a:r>
            <a:r>
              <a:rPr lang="ca-ES" sz="1800" dirty="0"/>
              <a:t>’) </a:t>
            </a:r>
            <a:r>
              <a:rPr lang="ca-ES" sz="1800" dirty="0">
                <a:sym typeface="Wingdings" panose="05000000000000000000" pitchFamily="2" charset="2"/>
              </a:rPr>
              <a:t> Retorna fals sols si tots els operands són falsos.</a:t>
            </a:r>
            <a:endParaRPr lang="ca-ES" sz="1800" dirty="0"/>
          </a:p>
          <a:p>
            <a:pPr lvl="1"/>
            <a:r>
              <a:rPr lang="ca-ES" sz="1800" dirty="0"/>
              <a:t>no (</a:t>
            </a:r>
            <a:r>
              <a:rPr lang="ca-ES" sz="1800" b="1" dirty="0"/>
              <a:t>NOT</a:t>
            </a:r>
            <a:r>
              <a:rPr lang="ca-ES" sz="1800" dirty="0"/>
              <a:t> ‘</a:t>
            </a:r>
            <a:r>
              <a:rPr lang="ca-ES" sz="1800" b="1" dirty="0"/>
              <a:t>!</a:t>
            </a:r>
            <a:r>
              <a:rPr lang="ca-ES" sz="1800" dirty="0"/>
              <a:t>’) </a:t>
            </a:r>
            <a:r>
              <a:rPr lang="ca-ES" sz="1800" dirty="0">
                <a:sym typeface="Wingdings" panose="05000000000000000000" pitchFamily="2" charset="2"/>
              </a:rPr>
              <a:t> Retorna el contrari de l’operand.</a:t>
            </a:r>
            <a:endParaRPr lang="ca-ES" sz="1800" dirty="0"/>
          </a:p>
        </p:txBody>
      </p:sp>
    </p:spTree>
    <p:extLst>
      <p:ext uri="{BB962C8B-B14F-4D97-AF65-F5344CB8AC3E}">
        <p14:creationId xmlns:p14="http://schemas.microsoft.com/office/powerpoint/2010/main" val="322771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a-ES" dirty="0"/>
              <a:t>Tipus de dades bàsics: Alfanumèrics</a:t>
            </a:r>
          </a:p>
        </p:txBody>
      </p:sp>
      <p:sp>
        <p:nvSpPr>
          <p:cNvPr id="3" name="Content Placeholder 2"/>
          <p:cNvSpPr>
            <a:spLocks noGrp="1"/>
          </p:cNvSpPr>
          <p:nvPr>
            <p:ph idx="1"/>
          </p:nvPr>
        </p:nvSpPr>
        <p:spPr>
          <a:xfrm>
            <a:off x="496997" y="939800"/>
            <a:ext cx="8264306" cy="5772930"/>
          </a:xfrm>
        </p:spPr>
        <p:txBody>
          <a:bodyPr>
            <a:normAutofit/>
          </a:bodyPr>
          <a:lstStyle/>
          <a:p>
            <a:pPr marL="0" indent="0">
              <a:buNone/>
            </a:pPr>
            <a:r>
              <a:rPr lang="ca-ES" sz="2000" dirty="0">
                <a:solidFill>
                  <a:schemeClr val="accent1"/>
                </a:solidFill>
              </a:rPr>
              <a:t>CARÀCTERS: </a:t>
            </a:r>
            <a:r>
              <a:rPr lang="ca-ES" sz="2000" dirty="0" err="1">
                <a:solidFill>
                  <a:schemeClr val="accent1"/>
                </a:solidFill>
              </a:rPr>
              <a:t>char</a:t>
            </a:r>
            <a:endParaRPr lang="ca-ES" sz="2000" dirty="0">
              <a:solidFill>
                <a:schemeClr val="accent1"/>
              </a:solidFill>
            </a:endParaRPr>
          </a:p>
          <a:p>
            <a:pPr lvl="1"/>
            <a:r>
              <a:rPr lang="ca-ES" sz="1800" dirty="0"/>
              <a:t>Les dades son símbols (anomenats caràcters), que representen tant números i lletres com caràcters del tipus: ‘&amp;’ o ‘#’. </a:t>
            </a:r>
          </a:p>
          <a:p>
            <a:pPr lvl="1"/>
            <a:r>
              <a:rPr lang="ca-ES" sz="1800" dirty="0"/>
              <a:t>Els caràcters es representen entre cometes simples (‘’).</a:t>
            </a:r>
          </a:p>
          <a:p>
            <a:pPr lvl="1"/>
            <a:endParaRPr lang="ca-ES" sz="2200" dirty="0"/>
          </a:p>
          <a:p>
            <a:pPr marL="0" indent="0">
              <a:buNone/>
            </a:pPr>
            <a:r>
              <a:rPr lang="ca-ES" sz="2000" dirty="0">
                <a:solidFill>
                  <a:schemeClr val="accent1"/>
                </a:solidFill>
              </a:rPr>
              <a:t>CADENES DE CARÀCTERS </a:t>
            </a:r>
            <a:r>
              <a:rPr lang="ca-ES" sz="2000" dirty="0" err="1">
                <a:solidFill>
                  <a:schemeClr val="accent1"/>
                </a:solidFill>
              </a:rPr>
              <a:t>char</a:t>
            </a:r>
            <a:r>
              <a:rPr lang="ca-ES" sz="2000" dirty="0">
                <a:solidFill>
                  <a:schemeClr val="accent1"/>
                </a:solidFill>
              </a:rPr>
              <a:t> cadena[]</a:t>
            </a:r>
          </a:p>
          <a:p>
            <a:pPr lvl="1" algn="just"/>
            <a:r>
              <a:rPr lang="ca-ES" sz="1800" dirty="0"/>
              <a:t>Aquest tipus de dades consta d’una sèrie de caràcters que formen una paraula o frase. Així doncs, les cadenes estan formades per una seqüència de símbols de la taula de codificació de caràcters corresponent. </a:t>
            </a:r>
          </a:p>
          <a:p>
            <a:pPr lvl="1" algn="just"/>
            <a:r>
              <a:rPr lang="ca-ES" sz="1800" dirty="0"/>
              <a:t>Les cadenes es representen entre cometes dobles (“”) .</a:t>
            </a:r>
          </a:p>
        </p:txBody>
      </p:sp>
    </p:spTree>
    <p:extLst>
      <p:ext uri="{BB962C8B-B14F-4D97-AF65-F5344CB8AC3E}">
        <p14:creationId xmlns:p14="http://schemas.microsoft.com/office/powerpoint/2010/main" val="3488673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le:ASCII-Table-wide.svg">
            <a:extLst>
              <a:ext uri="{FF2B5EF4-FFF2-40B4-BE49-F238E27FC236}">
                <a16:creationId xmlns:a16="http://schemas.microsoft.com/office/drawing/2014/main" id="{1AB68F3B-3AFA-0DC3-73E0-B1E8EAA507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317" y="436525"/>
            <a:ext cx="8689473" cy="57785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360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DCD9E0-ACB3-DA7B-F9EC-610B38A2B1A5}"/>
              </a:ext>
            </a:extLst>
          </p:cNvPr>
          <p:cNvSpPr>
            <a:spLocks noGrp="1"/>
          </p:cNvSpPr>
          <p:nvPr>
            <p:ph type="title"/>
          </p:nvPr>
        </p:nvSpPr>
        <p:spPr/>
        <p:txBody>
          <a:bodyPr/>
          <a:lstStyle/>
          <a:p>
            <a:r>
              <a:rPr lang="es-ES" dirty="0" err="1"/>
              <a:t>Codis</a:t>
            </a:r>
            <a:r>
              <a:rPr lang="es-ES" dirty="0"/>
              <a:t> ASCII</a:t>
            </a:r>
          </a:p>
        </p:txBody>
      </p:sp>
      <p:sp>
        <p:nvSpPr>
          <p:cNvPr id="3" name="Marcador de contenido 2">
            <a:extLst>
              <a:ext uri="{FF2B5EF4-FFF2-40B4-BE49-F238E27FC236}">
                <a16:creationId xmlns:a16="http://schemas.microsoft.com/office/drawing/2014/main" id="{E4BBB11A-BE41-1F50-9C50-63292AD94702}"/>
              </a:ext>
            </a:extLst>
          </p:cNvPr>
          <p:cNvSpPr>
            <a:spLocks noGrp="1"/>
          </p:cNvSpPr>
          <p:nvPr>
            <p:ph idx="1"/>
          </p:nvPr>
        </p:nvSpPr>
        <p:spPr/>
        <p:txBody>
          <a:bodyPr/>
          <a:lstStyle/>
          <a:p>
            <a:pPr marL="0" indent="0">
              <a:buNone/>
            </a:pPr>
            <a:r>
              <a:rPr lang="ca-ES" noProof="1"/>
              <a:t>Per representar un caràcter, s’indica sempre entre cometes simples (‘’) </a:t>
            </a:r>
          </a:p>
          <a:p>
            <a:pPr marL="0" indent="0">
              <a:buNone/>
            </a:pPr>
            <a:r>
              <a:rPr lang="ca-ES" noProof="1"/>
              <a:t>Exemple: el caràcter “a” es representa per ‘a’ i el seu codi ASCII és el 97. </a:t>
            </a:r>
          </a:p>
          <a:p>
            <a:pPr marL="0" indent="0">
              <a:buNone/>
            </a:pPr>
            <a:endParaRPr lang="ca-ES" noProof="1"/>
          </a:p>
          <a:p>
            <a:pPr marL="0" indent="0">
              <a:buNone/>
            </a:pPr>
            <a:r>
              <a:rPr lang="ca-ES" sz="1800" noProof="1"/>
              <a:t>Codi ASCII 00 = </a:t>
            </a:r>
            <a:r>
              <a:rPr lang="ca-ES" sz="1800" b="1" noProof="1"/>
              <a:t>NULL</a:t>
            </a:r>
            <a:r>
              <a:rPr lang="ca-ES" sz="1800" noProof="1"/>
              <a:t> ( Caràcter nul )</a:t>
            </a:r>
            <a:br>
              <a:rPr lang="ca-ES" sz="1800" noProof="1"/>
            </a:br>
            <a:r>
              <a:rPr lang="ca-ES" sz="1800" noProof="1"/>
              <a:t>Codi ASCII 07 = </a:t>
            </a:r>
            <a:r>
              <a:rPr lang="ca-ES" sz="1800" b="1" noProof="1"/>
              <a:t>BEL</a:t>
            </a:r>
            <a:r>
              <a:rPr lang="ca-ES" sz="1800" noProof="1"/>
              <a:t> ( Timbre )</a:t>
            </a:r>
            <a:br>
              <a:rPr lang="ca-ES" sz="1800" noProof="1"/>
            </a:br>
            <a:r>
              <a:rPr lang="ca-ES" sz="1800" noProof="1"/>
              <a:t>Codi ASCII 10 = </a:t>
            </a:r>
            <a:r>
              <a:rPr lang="ca-ES" sz="1800" b="1" noProof="1"/>
              <a:t>LF</a:t>
            </a:r>
            <a:r>
              <a:rPr lang="ca-ES" sz="1800" noProof="1"/>
              <a:t> ( Nova línia - salt de línea ‘\n’)</a:t>
            </a:r>
            <a:br>
              <a:rPr lang="ca-ES" sz="1800" noProof="1"/>
            </a:br>
            <a:r>
              <a:rPr lang="ca-ES" sz="1800" noProof="1"/>
              <a:t>Codi ASCII 13 = </a:t>
            </a:r>
            <a:r>
              <a:rPr lang="ca-ES" sz="1800" b="1" noProof="1"/>
              <a:t>CR</a:t>
            </a:r>
            <a:r>
              <a:rPr lang="ca-ES" sz="1800" noProof="1"/>
              <a:t> (Retorn de carro [moure el cursor al principi de línia] ‘\r’)</a:t>
            </a:r>
            <a:br>
              <a:rPr lang="ca-ES" sz="1800" noProof="1"/>
            </a:br>
            <a:r>
              <a:rPr lang="ca-ES" sz="1800" noProof="1"/>
              <a:t>Codi ASCII 27 = </a:t>
            </a:r>
            <a:r>
              <a:rPr lang="ca-ES" sz="1800" b="1" noProof="1"/>
              <a:t>ESC</a:t>
            </a:r>
            <a:r>
              <a:rPr lang="ca-ES" sz="1800" noProof="1"/>
              <a:t> ( Esc - escape )</a:t>
            </a:r>
            <a:br>
              <a:rPr lang="ca-ES" sz="1800" noProof="1"/>
            </a:br>
            <a:r>
              <a:rPr lang="ca-ES" sz="1800" noProof="1"/>
              <a:t>Codi ASCII 32 = </a:t>
            </a:r>
            <a:r>
              <a:rPr lang="ca-ES" sz="1800" b="1" noProof="1"/>
              <a:t>SPACE</a:t>
            </a:r>
            <a:r>
              <a:rPr lang="ca-ES" sz="1800" noProof="1"/>
              <a:t> ( Espai en blanc )</a:t>
            </a:r>
            <a:br>
              <a:rPr lang="ca-ES" sz="1800" noProof="1"/>
            </a:br>
            <a:endParaRPr lang="es-ES" dirty="0"/>
          </a:p>
        </p:txBody>
      </p:sp>
    </p:spTree>
    <p:extLst>
      <p:ext uri="{BB962C8B-B14F-4D97-AF65-F5344CB8AC3E}">
        <p14:creationId xmlns:p14="http://schemas.microsoft.com/office/powerpoint/2010/main" val="2168073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blaco Cajonera de Madera - Varios Colores | Cajonera, Madera, Madera y  acero">
            <a:extLst>
              <a:ext uri="{FF2B5EF4-FFF2-40B4-BE49-F238E27FC236}">
                <a16:creationId xmlns:a16="http://schemas.microsoft.com/office/drawing/2014/main" id="{0D5AF982-5418-49AF-AF68-45C923A5E6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137" t="13544" r="19669" b="15775"/>
          <a:stretch/>
        </p:blipFill>
        <p:spPr bwMode="auto">
          <a:xfrm>
            <a:off x="565151" y="1312466"/>
            <a:ext cx="2964656" cy="3369191"/>
          </a:xfrm>
          <a:prstGeom prst="rect">
            <a:avLst/>
          </a:prstGeom>
          <a:solidFill>
            <a:srgbClr val="FFFFFF"/>
          </a:solidFill>
        </p:spPr>
      </p:pic>
      <p:sp>
        <p:nvSpPr>
          <p:cNvPr id="2" name="1 Título"/>
          <p:cNvSpPr>
            <a:spLocks noGrp="1"/>
          </p:cNvSpPr>
          <p:nvPr>
            <p:ph type="title"/>
          </p:nvPr>
        </p:nvSpPr>
        <p:spPr/>
        <p:txBody>
          <a:bodyPr anchor="ctr">
            <a:normAutofit/>
          </a:bodyPr>
          <a:lstStyle/>
          <a:p>
            <a:r>
              <a:rPr lang="ca-ES" dirty="0"/>
              <a:t>Variables: Analogia</a:t>
            </a:r>
          </a:p>
        </p:txBody>
      </p:sp>
      <p:sp>
        <p:nvSpPr>
          <p:cNvPr id="10" name="Marcador de contenido 1">
            <a:extLst>
              <a:ext uri="{FF2B5EF4-FFF2-40B4-BE49-F238E27FC236}">
                <a16:creationId xmlns:a16="http://schemas.microsoft.com/office/drawing/2014/main" id="{87AE77D3-A280-40CC-A40D-FC11282598A5}"/>
              </a:ext>
            </a:extLst>
          </p:cNvPr>
          <p:cNvSpPr>
            <a:spLocks noGrp="1"/>
          </p:cNvSpPr>
          <p:nvPr>
            <p:ph idx="1"/>
          </p:nvPr>
        </p:nvSpPr>
        <p:spPr>
          <a:xfrm>
            <a:off x="3916917" y="1117600"/>
            <a:ext cx="4661932" cy="4800600"/>
          </a:xfrm>
        </p:spPr>
        <p:txBody>
          <a:bodyPr>
            <a:normAutofit/>
          </a:bodyPr>
          <a:lstStyle/>
          <a:p>
            <a:pPr marL="0" indent="0">
              <a:buNone/>
            </a:pPr>
            <a:r>
              <a:rPr lang="ca-ES" dirty="0"/>
              <a:t>Calaixera </a:t>
            </a:r>
            <a:r>
              <a:rPr lang="ca-ES" dirty="0">
                <a:sym typeface="Wingdings" panose="05000000000000000000" pitchFamily="2" charset="2"/>
              </a:rPr>
              <a:t> Memòria RAM</a:t>
            </a:r>
          </a:p>
          <a:p>
            <a:pPr marL="0" indent="0">
              <a:buNone/>
            </a:pPr>
            <a:r>
              <a:rPr lang="ca-ES" dirty="0">
                <a:sym typeface="Wingdings" panose="05000000000000000000" pitchFamily="2" charset="2"/>
              </a:rPr>
              <a:t>Calaixos  Espais de Memòria</a:t>
            </a:r>
          </a:p>
          <a:p>
            <a:pPr marL="0" indent="0">
              <a:buNone/>
            </a:pPr>
            <a:r>
              <a:rPr lang="ca-ES" dirty="0">
                <a:sym typeface="Wingdings" panose="05000000000000000000" pitchFamily="2" charset="2"/>
              </a:rPr>
              <a:t>Mida dels Calaixos  Tipus de Dades</a:t>
            </a:r>
            <a:endParaRPr lang="ca-ES" dirty="0"/>
          </a:p>
          <a:p>
            <a:pPr marL="0" indent="0">
              <a:buNone/>
            </a:pPr>
            <a:r>
              <a:rPr lang="ca-ES" dirty="0">
                <a:sym typeface="Wingdings" panose="05000000000000000000" pitchFamily="2" charset="2"/>
              </a:rPr>
              <a:t>Contingut Calaixos  Dades</a:t>
            </a:r>
          </a:p>
          <a:p>
            <a:pPr marL="0" indent="0">
              <a:buNone/>
            </a:pPr>
            <a:r>
              <a:rPr lang="ca-ES" dirty="0">
                <a:sym typeface="Wingdings" panose="05000000000000000000" pitchFamily="2" charset="2"/>
              </a:rPr>
              <a:t>Etiquetar un calaix  Declarar una variable</a:t>
            </a:r>
          </a:p>
          <a:p>
            <a:pPr marL="0" indent="0">
              <a:buNone/>
            </a:pPr>
            <a:endParaRPr lang="ca-ES" dirty="0">
              <a:sym typeface="Wingdings" panose="05000000000000000000" pitchFamily="2" charset="2"/>
            </a:endParaRPr>
          </a:p>
          <a:p>
            <a:pPr marL="0" indent="0" algn="just">
              <a:buNone/>
            </a:pPr>
            <a:r>
              <a:rPr lang="ca-ES" dirty="0">
                <a:sym typeface="Wingdings" panose="05000000000000000000" pitchFamily="2" charset="2"/>
              </a:rPr>
              <a:t>Per desar unes claus ens cal sols un calaix petit, pel contrari, per desar un llibre el calaix ja haurà de ser més gran.</a:t>
            </a:r>
          </a:p>
          <a:p>
            <a:pPr marL="0" indent="0" algn="just">
              <a:buNone/>
            </a:pPr>
            <a:endParaRPr lang="ca-ES" dirty="0">
              <a:sym typeface="Wingdings" panose="05000000000000000000" pitchFamily="2" charset="2"/>
            </a:endParaRPr>
          </a:p>
          <a:p>
            <a:pPr marL="0" indent="0" algn="just">
              <a:buNone/>
            </a:pPr>
            <a:r>
              <a:rPr lang="ca-ES" dirty="0">
                <a:sym typeface="Wingdings" panose="05000000000000000000" pitchFamily="2" charset="2"/>
              </a:rPr>
              <a:t>Si no etiquetem els calaixos i la nostra calaixera té milions de calaixos, com serem capaços de saber on vàrem desar les claus??</a:t>
            </a:r>
          </a:p>
        </p:txBody>
      </p:sp>
    </p:spTree>
    <p:extLst>
      <p:ext uri="{BB962C8B-B14F-4D97-AF65-F5344CB8AC3E}">
        <p14:creationId xmlns:p14="http://schemas.microsoft.com/office/powerpoint/2010/main" val="1972819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a-ES" dirty="0"/>
              <a:t>Operadors bàsics</a:t>
            </a:r>
          </a:p>
        </p:txBody>
      </p:sp>
      <p:sp>
        <p:nvSpPr>
          <p:cNvPr id="3" name="Content Placeholder 2"/>
          <p:cNvSpPr>
            <a:spLocks noGrp="1"/>
          </p:cNvSpPr>
          <p:nvPr>
            <p:ph idx="1"/>
          </p:nvPr>
        </p:nvSpPr>
        <p:spPr>
          <a:xfrm>
            <a:off x="247650" y="787400"/>
            <a:ext cx="8534400" cy="5772930"/>
          </a:xfrm>
        </p:spPr>
        <p:txBody>
          <a:bodyPr>
            <a:normAutofit/>
          </a:bodyPr>
          <a:lstStyle/>
          <a:p>
            <a:r>
              <a:rPr lang="es-ES" sz="2000" dirty="0">
                <a:solidFill>
                  <a:schemeClr val="accent1"/>
                </a:solidFill>
              </a:rPr>
              <a:t>ASSIGNACIÓ</a:t>
            </a:r>
          </a:p>
          <a:p>
            <a:pPr lvl="1" algn="just"/>
            <a:r>
              <a:rPr lang="ca-ES" sz="1800" dirty="0"/>
              <a:t>Serveix per donar un valor a una variable. </a:t>
            </a:r>
          </a:p>
          <a:p>
            <a:pPr lvl="1"/>
            <a:r>
              <a:rPr lang="ca-ES" sz="1800" dirty="0"/>
              <a:t>Quan es declara una variable, el valor que hi ha per defecte és desconegut, però hi ha un valor, que d’altra banda, no té cap significat. Això és així per que el sistema operatiu reserva una quantitat de memòria determinada, però aquesta zona de memòria no està neta, sinó que hi ha restes de dades d’altres programes</a:t>
            </a:r>
            <a:r>
              <a:rPr lang="ca-ES" dirty="0"/>
              <a:t>. 	</a:t>
            </a:r>
            <a:endParaRPr lang="ca-ES" sz="1200" dirty="0"/>
          </a:p>
        </p:txBody>
      </p:sp>
      <p:sp>
        <p:nvSpPr>
          <p:cNvPr id="26" name="CuadroTexto 25">
            <a:extLst>
              <a:ext uri="{FF2B5EF4-FFF2-40B4-BE49-F238E27FC236}">
                <a16:creationId xmlns:a16="http://schemas.microsoft.com/office/drawing/2014/main" id="{DAE89EDA-16C7-E53D-3F19-E11731B9AF2C}"/>
              </a:ext>
            </a:extLst>
          </p:cNvPr>
          <p:cNvSpPr txBox="1"/>
          <p:nvPr/>
        </p:nvSpPr>
        <p:spPr>
          <a:xfrm>
            <a:off x="928158" y="3318344"/>
            <a:ext cx="6403976" cy="2339102"/>
          </a:xfrm>
          <a:prstGeom prst="rect">
            <a:avLst/>
          </a:prstGeom>
          <a:noFill/>
          <a:ln>
            <a:solidFill>
              <a:schemeClr val="tx1"/>
            </a:solidFill>
            <a:prstDash val="dash"/>
            <a:extLst>
              <a:ext uri="{C807C97D-BFC1-408E-A445-0C87EB9F89A2}">
                <ask:lineSketchStyleProps xmlns:ask="http://schemas.microsoft.com/office/drawing/2018/sketchyshapes">
                  <ask:type>
                    <ask:lineSketchNone/>
                  </ask:type>
                </ask:lineSketchStyleProps>
              </a:ext>
            </a:extLst>
          </a:ln>
        </p:spPr>
        <p:txBody>
          <a:bodyPr wrap="square">
            <a:spAutoFit/>
          </a:bodyPr>
          <a:lstStyle/>
          <a:p>
            <a:r>
              <a:rPr lang="pt-BR" sz="1600" b="0" dirty="0" err="1">
                <a:solidFill>
                  <a:srgbClr val="0000FF"/>
                </a:solidFill>
                <a:effectLst/>
                <a:latin typeface="Consolas" panose="020B0609020204030204" pitchFamily="49" charset="0"/>
              </a:rPr>
              <a:t>int</a:t>
            </a:r>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main</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FF"/>
                </a:solidFill>
                <a:effectLst/>
                <a:latin typeface="Consolas" panose="020B0609020204030204" pitchFamily="49" charset="0"/>
              </a:rPr>
              <a:t>int</a:t>
            </a:r>
            <a:r>
              <a:rPr lang="pt-BR" sz="1600" b="0" dirty="0">
                <a:solidFill>
                  <a:srgbClr val="000000"/>
                </a:solidFill>
                <a:effectLst/>
                <a:latin typeface="Consolas" panose="020B0609020204030204" pitchFamily="49" charset="0"/>
              </a:rPr>
              <a:t> num;</a:t>
            </a:r>
          </a:p>
          <a:p>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printf</a:t>
            </a:r>
            <a:r>
              <a:rPr lang="pt-BR" sz="1600" b="0" dirty="0">
                <a:solidFill>
                  <a:srgbClr val="000000"/>
                </a:solidFill>
                <a:effectLst/>
                <a:latin typeface="Consolas" panose="020B0609020204030204" pitchFamily="49" charset="0"/>
              </a:rPr>
              <a:t>(</a:t>
            </a:r>
            <a:r>
              <a:rPr lang="pt-BR" sz="1600" b="0" dirty="0">
                <a:solidFill>
                  <a:srgbClr val="A31515"/>
                </a:solidFill>
                <a:effectLst/>
                <a:latin typeface="Consolas" panose="020B0609020204030204" pitchFamily="49" charset="0"/>
              </a:rPr>
              <a:t>"El valor de num es: %</a:t>
            </a:r>
            <a:r>
              <a:rPr lang="pt-BR" sz="1600" b="0" dirty="0" err="1">
                <a:solidFill>
                  <a:srgbClr val="A31515"/>
                </a:solidFill>
                <a:effectLst/>
                <a:latin typeface="Consolas" panose="020B0609020204030204" pitchFamily="49" charset="0"/>
              </a:rPr>
              <a:t>d"</a:t>
            </a:r>
            <a:r>
              <a:rPr lang="pt-BR" sz="1600" b="0" dirty="0" err="1">
                <a:solidFill>
                  <a:srgbClr val="000000"/>
                </a:solidFill>
                <a:effectLst/>
                <a:latin typeface="Consolas" panose="020B0609020204030204" pitchFamily="49" charset="0"/>
              </a:rPr>
              <a:t>,num</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a:solidFill>
                  <a:srgbClr val="008000"/>
                </a:solidFill>
                <a:effectLst/>
                <a:latin typeface="Consolas" panose="020B0609020204030204" pitchFamily="49" charset="0"/>
              </a:rPr>
              <a:t>//</a:t>
            </a:r>
            <a:r>
              <a:rPr lang="pt-BR" sz="1600" b="0" dirty="0" err="1">
                <a:solidFill>
                  <a:srgbClr val="008000"/>
                </a:solidFill>
                <a:effectLst/>
                <a:latin typeface="Consolas" panose="020B0609020204030204" pitchFamily="49" charset="0"/>
              </a:rPr>
              <a:t>assignacio</a:t>
            </a:r>
            <a:endParaRPr lang="pt-BR" sz="1600" b="0" dirty="0">
              <a:solidFill>
                <a:srgbClr val="000000"/>
              </a:solidFill>
              <a:effectLst/>
              <a:latin typeface="Consolas" panose="020B0609020204030204" pitchFamily="49" charset="0"/>
            </a:endParaRPr>
          </a:p>
          <a:p>
            <a:r>
              <a:rPr lang="pt-BR" sz="1600" b="0" dirty="0">
                <a:solidFill>
                  <a:srgbClr val="000000"/>
                </a:solidFill>
                <a:effectLst/>
                <a:latin typeface="Consolas" panose="020B0609020204030204" pitchFamily="49" charset="0"/>
              </a:rPr>
              <a:t>    num=</a:t>
            </a:r>
            <a:r>
              <a:rPr lang="pt-BR" sz="1600" b="0" dirty="0">
                <a:solidFill>
                  <a:srgbClr val="098658"/>
                </a:solidFill>
                <a:effectLst/>
                <a:latin typeface="Consolas" panose="020B0609020204030204" pitchFamily="49" charset="0"/>
              </a:rPr>
              <a:t>3</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printf</a:t>
            </a:r>
            <a:r>
              <a:rPr lang="pt-BR" sz="1600" b="0" dirty="0">
                <a:solidFill>
                  <a:srgbClr val="000000"/>
                </a:solidFill>
                <a:effectLst/>
                <a:latin typeface="Consolas" panose="020B0609020204030204" pitchFamily="49" charset="0"/>
              </a:rPr>
              <a:t>(</a:t>
            </a:r>
            <a:r>
              <a:rPr lang="pt-BR" sz="1600" b="0" dirty="0">
                <a:solidFill>
                  <a:srgbClr val="A31515"/>
                </a:solidFill>
                <a:effectLst/>
                <a:latin typeface="Consolas" panose="020B0609020204030204" pitchFamily="49" charset="0"/>
              </a:rPr>
              <a:t>"\n\</a:t>
            </a:r>
            <a:r>
              <a:rPr lang="pt-BR" sz="1600" b="0" dirty="0" err="1">
                <a:solidFill>
                  <a:srgbClr val="A31515"/>
                </a:solidFill>
                <a:effectLst/>
                <a:latin typeface="Consolas" panose="020B0609020204030204" pitchFamily="49" charset="0"/>
              </a:rPr>
              <a:t>nEl</a:t>
            </a:r>
            <a:r>
              <a:rPr lang="pt-BR" sz="1600" b="0" dirty="0">
                <a:solidFill>
                  <a:srgbClr val="A31515"/>
                </a:solidFill>
                <a:effectLst/>
                <a:latin typeface="Consolas" panose="020B0609020204030204" pitchFamily="49" charset="0"/>
              </a:rPr>
              <a:t> valor de num es: %</a:t>
            </a:r>
            <a:r>
              <a:rPr lang="pt-BR" sz="1600" b="0" dirty="0" err="1">
                <a:solidFill>
                  <a:srgbClr val="A31515"/>
                </a:solidFill>
                <a:effectLst/>
                <a:latin typeface="Consolas" panose="020B0609020204030204" pitchFamily="49" charset="0"/>
              </a:rPr>
              <a:t>d"</a:t>
            </a:r>
            <a:r>
              <a:rPr lang="pt-BR" sz="1600" b="0" dirty="0" err="1">
                <a:solidFill>
                  <a:srgbClr val="000000"/>
                </a:solidFill>
                <a:effectLst/>
                <a:latin typeface="Consolas" panose="020B0609020204030204" pitchFamily="49" charset="0"/>
              </a:rPr>
              <a:t>,num</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acabament</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FF"/>
                </a:solidFill>
                <a:effectLst/>
                <a:latin typeface="Consolas" panose="020B0609020204030204" pitchFamily="49" charset="0"/>
              </a:rPr>
              <a:t>return</a:t>
            </a:r>
            <a:r>
              <a:rPr lang="pt-BR" sz="1600" b="0" dirty="0">
                <a:solidFill>
                  <a:srgbClr val="000000"/>
                </a:solidFill>
                <a:effectLst/>
                <a:latin typeface="Consolas" panose="020B0609020204030204" pitchFamily="49" charset="0"/>
              </a:rPr>
              <a:t> </a:t>
            </a:r>
            <a:r>
              <a:rPr lang="pt-BR" sz="1600" b="0" dirty="0">
                <a:solidFill>
                  <a:srgbClr val="098658"/>
                </a:solidFill>
                <a:effectLst/>
                <a:latin typeface="Consolas" panose="020B0609020204030204" pitchFamily="49" charset="0"/>
              </a:rPr>
              <a:t>0</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863606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chor="ctr">
            <a:normAutofit/>
          </a:bodyPr>
          <a:lstStyle/>
          <a:p>
            <a:r>
              <a:rPr lang="ca-ES" dirty="0"/>
              <a:t>Operadors bàsics:</a:t>
            </a:r>
          </a:p>
        </p:txBody>
      </p:sp>
      <p:sp>
        <p:nvSpPr>
          <p:cNvPr id="10" name="Marcador de contenido 1">
            <a:extLst>
              <a:ext uri="{FF2B5EF4-FFF2-40B4-BE49-F238E27FC236}">
                <a16:creationId xmlns:a16="http://schemas.microsoft.com/office/drawing/2014/main" id="{87AE77D3-A280-40CC-A40D-FC11282598A5}"/>
              </a:ext>
            </a:extLst>
          </p:cNvPr>
          <p:cNvSpPr>
            <a:spLocks noGrp="1"/>
          </p:cNvSpPr>
          <p:nvPr>
            <p:ph idx="1"/>
          </p:nvPr>
        </p:nvSpPr>
        <p:spPr/>
        <p:txBody>
          <a:bodyPr>
            <a:normAutofit/>
          </a:bodyPr>
          <a:lstStyle/>
          <a:p>
            <a:pPr marL="0" indent="0">
              <a:buNone/>
            </a:pPr>
            <a:r>
              <a:rPr lang="ca-ES" noProof="1">
                <a:solidFill>
                  <a:srgbClr val="FF0000"/>
                </a:solidFill>
              </a:rPr>
              <a:t>          </a:t>
            </a:r>
            <a:r>
              <a:rPr lang="ca-ES" sz="2000" noProof="1">
                <a:solidFill>
                  <a:schemeClr val="accent1"/>
                </a:solidFill>
              </a:rPr>
              <a:t>Relacionals                Aritmètics	         Lògics</a:t>
            </a:r>
          </a:p>
          <a:p>
            <a:endParaRPr lang="es-ES" dirty="0"/>
          </a:p>
          <a:p>
            <a:endParaRPr lang="es-ES" sz="1200" dirty="0"/>
          </a:p>
          <a:p>
            <a:endParaRPr lang="es-ES" sz="1200" dirty="0"/>
          </a:p>
          <a:p>
            <a:endParaRPr lang="es-ES" sz="1200" dirty="0"/>
          </a:p>
          <a:p>
            <a:endParaRPr lang="es-ES" sz="1200" dirty="0"/>
          </a:p>
          <a:p>
            <a:endParaRPr lang="es-ES" sz="1200" dirty="0"/>
          </a:p>
          <a:p>
            <a:endParaRPr lang="es-ES" sz="1200" dirty="0"/>
          </a:p>
          <a:p>
            <a:endParaRPr lang="es-ES" sz="1200" dirty="0"/>
          </a:p>
          <a:p>
            <a:endParaRPr lang="es-ES" sz="1200" dirty="0"/>
          </a:p>
          <a:p>
            <a:endParaRPr lang="es-ES" sz="100" dirty="0"/>
          </a:p>
        </p:txBody>
      </p:sp>
      <p:graphicFrame>
        <p:nvGraphicFramePr>
          <p:cNvPr id="7" name="Table 3">
            <a:extLst>
              <a:ext uri="{FF2B5EF4-FFF2-40B4-BE49-F238E27FC236}">
                <a16:creationId xmlns:a16="http://schemas.microsoft.com/office/drawing/2014/main" id="{F2F84E1D-B3C3-4D01-BF06-00E9B01FAF05}"/>
              </a:ext>
            </a:extLst>
          </p:cNvPr>
          <p:cNvGraphicFramePr>
            <a:graphicFrameLocks noGrp="1"/>
          </p:cNvGraphicFramePr>
          <p:nvPr>
            <p:extLst>
              <p:ext uri="{D42A27DB-BD31-4B8C-83A1-F6EECF244321}">
                <p14:modId xmlns:p14="http://schemas.microsoft.com/office/powerpoint/2010/main" val="2929026273"/>
              </p:ext>
            </p:extLst>
          </p:nvPr>
        </p:nvGraphicFramePr>
        <p:xfrm>
          <a:off x="533969" y="1384858"/>
          <a:ext cx="2647381" cy="1947120"/>
        </p:xfrm>
        <a:graphic>
          <a:graphicData uri="http://schemas.openxmlformats.org/drawingml/2006/table">
            <a:tbl>
              <a:tblPr firstRow="1" bandRow="1">
                <a:tableStyleId>{912C8C85-51F0-491E-9774-3900AFEF0FD7}</a:tableStyleId>
              </a:tblPr>
              <a:tblGrid>
                <a:gridCol w="1164110">
                  <a:extLst>
                    <a:ext uri="{9D8B030D-6E8A-4147-A177-3AD203B41FA5}">
                      <a16:colId xmlns:a16="http://schemas.microsoft.com/office/drawing/2014/main" val="3296026710"/>
                    </a:ext>
                  </a:extLst>
                </a:gridCol>
                <a:gridCol w="1483271">
                  <a:extLst>
                    <a:ext uri="{9D8B030D-6E8A-4147-A177-3AD203B41FA5}">
                      <a16:colId xmlns:a16="http://schemas.microsoft.com/office/drawing/2014/main" val="2476538856"/>
                    </a:ext>
                  </a:extLst>
                </a:gridCol>
              </a:tblGrid>
              <a:tr h="242232">
                <a:tc>
                  <a:txBody>
                    <a:bodyPr/>
                    <a:lstStyle/>
                    <a:p>
                      <a:r>
                        <a:rPr lang="es-ES" sz="1400" dirty="0"/>
                        <a:t>Operador</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Propòsit</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2190330338"/>
                  </a:ext>
                </a:extLst>
              </a:tr>
              <a:tr h="260253">
                <a:tc>
                  <a:txBody>
                    <a:bodyPr/>
                    <a:lstStyle/>
                    <a:p>
                      <a:r>
                        <a:rPr lang="es-ES" sz="1400" dirty="0"/>
                        <a:t>&lt;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a:t>Menor</a:t>
                      </a:r>
                      <a:r>
                        <a:rPr lang="ca-ES" sz="1400" baseline="0" noProof="0"/>
                        <a:t> que</a:t>
                      </a:r>
                      <a:endParaRPr lang="ca-ES" sz="1400" noProof="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1988150660"/>
                  </a:ext>
                </a:extLst>
              </a:tr>
              <a:tr h="260253">
                <a:tc>
                  <a:txBody>
                    <a:bodyPr/>
                    <a:lstStyle/>
                    <a:p>
                      <a:r>
                        <a:rPr lang="es-ES" sz="1400" dirty="0"/>
                        <a:t>&lt;=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a:t>Menor o</a:t>
                      </a:r>
                      <a:r>
                        <a:rPr lang="ca-ES" sz="1400" baseline="0" noProof="0"/>
                        <a:t> igual que</a:t>
                      </a:r>
                      <a:endParaRPr lang="ca-ES" sz="1400" noProof="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4117307627"/>
                  </a:ext>
                </a:extLst>
              </a:tr>
              <a:tr h="260253">
                <a:tc>
                  <a:txBody>
                    <a:bodyPr/>
                    <a:lstStyle/>
                    <a:p>
                      <a:r>
                        <a:rPr lang="es-ES" sz="1400" dirty="0"/>
                        <a:t>&gt;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a:t>Major que</a:t>
                      </a:r>
                      <a:endParaRPr lang="ca-ES" sz="1400" noProof="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762097785"/>
                  </a:ext>
                </a:extLst>
              </a:tr>
              <a:tr h="260253">
                <a:tc>
                  <a:txBody>
                    <a:bodyPr/>
                    <a:lstStyle/>
                    <a:p>
                      <a:r>
                        <a:rPr lang="es-ES" sz="1400" dirty="0"/>
                        <a:t>&gt;=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a:t>Major</a:t>
                      </a:r>
                      <a:r>
                        <a:rPr lang="ca-ES" sz="1400" baseline="0" noProof="0"/>
                        <a:t> o igual que</a:t>
                      </a:r>
                      <a:endParaRPr lang="ca-ES" sz="1400" noProof="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576464969"/>
                  </a:ext>
                </a:extLst>
              </a:tr>
              <a:tr h="260253">
                <a:tc>
                  <a:txBody>
                    <a:bodyPr/>
                    <a:lstStyle/>
                    <a:p>
                      <a:r>
                        <a:rPr lang="es-ES" sz="1400" dirty="0"/>
                        <a: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a:t>Igual que</a:t>
                      </a:r>
                      <a:endParaRPr lang="ca-ES" sz="1400" noProof="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1921657430"/>
                  </a:ext>
                </a:extLst>
              </a:tr>
              <a:tr h="260253">
                <a:tc>
                  <a:txBody>
                    <a:bodyPr/>
                    <a:lstStyle/>
                    <a:p>
                      <a:r>
                        <a:rPr lang="es-ES" sz="1400" dirty="0"/>
                        <a:t>!= (&lt;&gt;)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Diferent a</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2739287404"/>
                  </a:ext>
                </a:extLst>
              </a:tr>
            </a:tbl>
          </a:graphicData>
        </a:graphic>
      </p:graphicFrame>
      <p:graphicFrame>
        <p:nvGraphicFramePr>
          <p:cNvPr id="13" name="Table 3">
            <a:extLst>
              <a:ext uri="{FF2B5EF4-FFF2-40B4-BE49-F238E27FC236}">
                <a16:creationId xmlns:a16="http://schemas.microsoft.com/office/drawing/2014/main" id="{52259241-5471-481D-82C9-9B0CA06BB69B}"/>
              </a:ext>
            </a:extLst>
          </p:cNvPr>
          <p:cNvGraphicFramePr>
            <a:graphicFrameLocks noGrp="1"/>
          </p:cNvGraphicFramePr>
          <p:nvPr>
            <p:extLst>
              <p:ext uri="{D42A27DB-BD31-4B8C-83A1-F6EECF244321}">
                <p14:modId xmlns:p14="http://schemas.microsoft.com/office/powerpoint/2010/main" val="4101539269"/>
              </p:ext>
            </p:extLst>
          </p:nvPr>
        </p:nvGraphicFramePr>
        <p:xfrm>
          <a:off x="3475909" y="1389350"/>
          <a:ext cx="2456096" cy="1947120"/>
        </p:xfrm>
        <a:graphic>
          <a:graphicData uri="http://schemas.openxmlformats.org/drawingml/2006/table">
            <a:tbl>
              <a:tblPr firstRow="1" bandRow="1">
                <a:tableStyleId>{912C8C85-51F0-491E-9774-3900AFEF0FD7}</a:tableStyleId>
              </a:tblPr>
              <a:tblGrid>
                <a:gridCol w="1079998">
                  <a:extLst>
                    <a:ext uri="{9D8B030D-6E8A-4147-A177-3AD203B41FA5}">
                      <a16:colId xmlns:a16="http://schemas.microsoft.com/office/drawing/2014/main" val="3296026710"/>
                    </a:ext>
                  </a:extLst>
                </a:gridCol>
                <a:gridCol w="1376098">
                  <a:extLst>
                    <a:ext uri="{9D8B030D-6E8A-4147-A177-3AD203B41FA5}">
                      <a16:colId xmlns:a16="http://schemas.microsoft.com/office/drawing/2014/main" val="2476538856"/>
                    </a:ext>
                  </a:extLst>
                </a:gridCol>
              </a:tblGrid>
              <a:tr h="243541">
                <a:tc>
                  <a:txBody>
                    <a:bodyPr/>
                    <a:lstStyle/>
                    <a:p>
                      <a:r>
                        <a:rPr lang="es-ES" sz="1400" dirty="0"/>
                        <a:t>Operador</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Propòsit</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2190330338"/>
                  </a:ext>
                </a:extLst>
              </a:tr>
              <a:tr h="260253">
                <a:tc>
                  <a:txBody>
                    <a:bodyPr/>
                    <a:lstStyle/>
                    <a:p>
                      <a:r>
                        <a:rPr lang="es-ES" sz="1400" dirty="0"/>
                        <a: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Suma</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1988150660"/>
                  </a:ext>
                </a:extLst>
              </a:tr>
              <a:tr h="260253">
                <a:tc>
                  <a:txBody>
                    <a:bodyPr/>
                    <a:lstStyle/>
                    <a:p>
                      <a:r>
                        <a:rPr lang="es-ES" sz="1400" dirty="0"/>
                        <a: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Resta</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4117307627"/>
                  </a:ext>
                </a:extLst>
              </a:tr>
              <a:tr h="260253">
                <a:tc>
                  <a:txBody>
                    <a:bodyPr/>
                    <a:lstStyle/>
                    <a:p>
                      <a:r>
                        <a:rPr lang="es-ES" sz="1400" dirty="0"/>
                        <a: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Multiplicació</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762097785"/>
                  </a:ext>
                </a:extLst>
              </a:tr>
              <a:tr h="260253">
                <a:tc>
                  <a:txBody>
                    <a:bodyPr/>
                    <a:lstStyle/>
                    <a:p>
                      <a:r>
                        <a:rPr lang="es-ES" sz="1400" dirty="0"/>
                        <a: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Divisió</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576464969"/>
                  </a:ext>
                </a:extLst>
              </a:tr>
              <a:tr h="260253">
                <a:tc>
                  <a:txBody>
                    <a:bodyPr/>
                    <a:lstStyle/>
                    <a:p>
                      <a:r>
                        <a:rPr lang="es-ES" sz="1400" dirty="0"/>
                        <a: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Potència</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1921657430"/>
                  </a:ext>
                </a:extLst>
              </a:tr>
              <a:tr h="260253">
                <a:tc>
                  <a:txBody>
                    <a:bodyPr/>
                    <a:lstStyle/>
                    <a:p>
                      <a:r>
                        <a:rPr lang="es-ES" sz="1400" dirty="0"/>
                        <a:t>%</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Mòdul</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2739287404"/>
                  </a:ext>
                </a:extLst>
              </a:tr>
            </a:tbl>
          </a:graphicData>
        </a:graphic>
      </p:graphicFrame>
      <p:graphicFrame>
        <p:nvGraphicFramePr>
          <p:cNvPr id="14" name="Table 3">
            <a:extLst>
              <a:ext uri="{FF2B5EF4-FFF2-40B4-BE49-F238E27FC236}">
                <a16:creationId xmlns:a16="http://schemas.microsoft.com/office/drawing/2014/main" id="{B0FF71B6-24C9-4D64-8403-71A60173AF82}"/>
              </a:ext>
            </a:extLst>
          </p:cNvPr>
          <p:cNvGraphicFramePr>
            <a:graphicFrameLocks noGrp="1"/>
          </p:cNvGraphicFramePr>
          <p:nvPr>
            <p:extLst>
              <p:ext uri="{D42A27DB-BD31-4B8C-83A1-F6EECF244321}">
                <p14:modId xmlns:p14="http://schemas.microsoft.com/office/powerpoint/2010/main" val="3459690941"/>
              </p:ext>
            </p:extLst>
          </p:nvPr>
        </p:nvGraphicFramePr>
        <p:xfrm>
          <a:off x="6189820" y="1384858"/>
          <a:ext cx="2456096" cy="1112640"/>
        </p:xfrm>
        <a:graphic>
          <a:graphicData uri="http://schemas.openxmlformats.org/drawingml/2006/table">
            <a:tbl>
              <a:tblPr firstRow="1" bandRow="1">
                <a:tableStyleId>{912C8C85-51F0-491E-9774-3900AFEF0FD7}</a:tableStyleId>
              </a:tblPr>
              <a:tblGrid>
                <a:gridCol w="1079998">
                  <a:extLst>
                    <a:ext uri="{9D8B030D-6E8A-4147-A177-3AD203B41FA5}">
                      <a16:colId xmlns:a16="http://schemas.microsoft.com/office/drawing/2014/main" val="3296026710"/>
                    </a:ext>
                  </a:extLst>
                </a:gridCol>
                <a:gridCol w="1376098">
                  <a:extLst>
                    <a:ext uri="{9D8B030D-6E8A-4147-A177-3AD203B41FA5}">
                      <a16:colId xmlns:a16="http://schemas.microsoft.com/office/drawing/2014/main" val="2476538856"/>
                    </a:ext>
                  </a:extLst>
                </a:gridCol>
              </a:tblGrid>
              <a:tr h="278078">
                <a:tc>
                  <a:txBody>
                    <a:bodyPr/>
                    <a:lstStyle/>
                    <a:p>
                      <a:r>
                        <a:rPr lang="es-ES" sz="1400" dirty="0"/>
                        <a:t>Operador</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a:t>Propòsit</a:t>
                      </a:r>
                      <a:endParaRPr lang="ca-ES" sz="1400" noProof="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2190330338"/>
                  </a:ext>
                </a:extLst>
              </a:tr>
              <a:tr h="260253">
                <a:tc>
                  <a:txBody>
                    <a:bodyPr/>
                    <a:lstStyle/>
                    <a:p>
                      <a:r>
                        <a:rPr lang="es-ES" sz="1400" dirty="0"/>
                        <a:t>y (&amp;)</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AND</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1988150660"/>
                  </a:ext>
                </a:extLst>
              </a:tr>
              <a:tr h="260253">
                <a:tc>
                  <a:txBody>
                    <a:bodyPr/>
                    <a:lstStyle/>
                    <a:p>
                      <a:r>
                        <a:rPr lang="es-ES" sz="1400" dirty="0"/>
                        <a:t>o (|)</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OR</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4117307627"/>
                  </a:ext>
                </a:extLst>
              </a:tr>
              <a:tr h="260253">
                <a:tc>
                  <a:txBody>
                    <a:bodyPr/>
                    <a:lstStyle/>
                    <a:p>
                      <a:r>
                        <a:rPr lang="es-ES" sz="1400" dirty="0"/>
                        <a:t>no , (!)</a:t>
                      </a:r>
                      <a:endParaRPr lang="ca-ES" sz="140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tc>
                  <a:txBody>
                    <a:bodyPr/>
                    <a:lstStyle/>
                    <a:p>
                      <a:r>
                        <a:rPr lang="ca-ES" sz="1400" noProof="0" dirty="0"/>
                        <a:t>NOT</a:t>
                      </a:r>
                      <a:endParaRPr lang="ca-ES" sz="1400" noProof="0" dirty="0">
                        <a:latin typeface="Verdana" panose="020B0604030504040204" pitchFamily="34" charset="0"/>
                        <a:ea typeface="Verdana" panose="020B0604030504040204" pitchFamily="34" charset="0"/>
                        <a:cs typeface="Verdana" panose="020B0604030504040204" pitchFamily="34" charset="0"/>
                      </a:endParaRPr>
                    </a:p>
                  </a:txBody>
                  <a:tcPr marL="64800" marR="64800" marT="32400" marB="32400"/>
                </a:tc>
                <a:extLst>
                  <a:ext uri="{0D108BD9-81ED-4DB2-BD59-A6C34878D82A}">
                    <a16:rowId xmlns:a16="http://schemas.microsoft.com/office/drawing/2014/main" val="762097785"/>
                  </a:ext>
                </a:extLst>
              </a:tr>
            </a:tbl>
          </a:graphicData>
        </a:graphic>
      </p:graphicFrame>
    </p:spTree>
    <p:extLst>
      <p:ext uri="{BB962C8B-B14F-4D97-AF65-F5344CB8AC3E}">
        <p14:creationId xmlns:p14="http://schemas.microsoft.com/office/powerpoint/2010/main" val="107921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8F29EC-9CC5-E162-0703-B9AD52461E77}"/>
              </a:ext>
            </a:extLst>
          </p:cNvPr>
          <p:cNvSpPr>
            <a:spLocks noGrp="1"/>
          </p:cNvSpPr>
          <p:nvPr>
            <p:ph type="title"/>
          </p:nvPr>
        </p:nvSpPr>
        <p:spPr/>
        <p:txBody>
          <a:bodyPr/>
          <a:lstStyle/>
          <a:p>
            <a:r>
              <a:rPr lang="ca-ES" dirty="0"/>
              <a:t>Instruccions d’entrada i sortida</a:t>
            </a:r>
            <a:endParaRPr lang="es-ES" dirty="0"/>
          </a:p>
        </p:txBody>
      </p:sp>
      <p:sp>
        <p:nvSpPr>
          <p:cNvPr id="3" name="Marcador de contenido 2">
            <a:extLst>
              <a:ext uri="{FF2B5EF4-FFF2-40B4-BE49-F238E27FC236}">
                <a16:creationId xmlns:a16="http://schemas.microsoft.com/office/drawing/2014/main" id="{C3266C52-573A-8D27-0CC9-F4E9020A0327}"/>
              </a:ext>
            </a:extLst>
          </p:cNvPr>
          <p:cNvSpPr>
            <a:spLocks noGrp="1"/>
          </p:cNvSpPr>
          <p:nvPr>
            <p:ph idx="1"/>
          </p:nvPr>
        </p:nvSpPr>
        <p:spPr/>
        <p:txBody>
          <a:bodyPr>
            <a:normAutofit/>
          </a:bodyPr>
          <a:lstStyle/>
          <a:p>
            <a:r>
              <a:rPr lang="ca-ES" sz="1800" dirty="0"/>
              <a:t>Un programa consta d’unes dades d’entrada, un procés i unes dades de sortida o resultats. Per tal de poder indicar-li al programa que ha d’obtenir unes dades d’entrada o que ha de mostrar per pantalla unes dades de sortida, existeixen les instruccions d’entrada i sortida. </a:t>
            </a:r>
          </a:p>
          <a:p>
            <a:r>
              <a:rPr lang="ca-ES" dirty="0"/>
              <a:t>Instrucció de sortida</a:t>
            </a:r>
          </a:p>
          <a:p>
            <a:pPr marL="0" indent="0">
              <a:buNone/>
            </a:pPr>
            <a:r>
              <a:rPr lang="ca-ES" dirty="0"/>
              <a:t>	</a:t>
            </a:r>
            <a:r>
              <a:rPr kumimoji="0" lang="es-ES" altLang="es-ES" sz="18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int</a:t>
            </a:r>
            <a:r>
              <a:rPr kumimoji="0" lang="es-ES" altLang="es-ES" sz="18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a:t>
            </a:r>
            <a:r>
              <a:rPr kumimoji="0" lang="es-ES" altLang="es-ES" sz="18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printf</a:t>
            </a:r>
            <a:r>
              <a:rPr kumimoji="0" lang="es-ES" altLang="es-ES" sz="18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 </a:t>
            </a:r>
            <a:r>
              <a:rPr kumimoji="0" lang="es-ES" altLang="es-ES" sz="18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const</a:t>
            </a:r>
            <a:r>
              <a:rPr kumimoji="0" lang="es-ES" altLang="es-ES" sz="18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a:t>
            </a:r>
            <a:r>
              <a:rPr kumimoji="0" lang="es-ES" altLang="es-ES" sz="18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char</a:t>
            </a:r>
            <a:r>
              <a:rPr kumimoji="0" lang="es-ES" altLang="es-ES" sz="18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 </a:t>
            </a:r>
            <a:r>
              <a:rPr kumimoji="0" lang="es-ES" altLang="es-ES" sz="18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format</a:t>
            </a:r>
            <a:r>
              <a:rPr kumimoji="0" lang="es-ES" altLang="es-ES" sz="18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 );</a:t>
            </a:r>
            <a:endParaRPr lang="ca-ES" dirty="0"/>
          </a:p>
          <a:p>
            <a:r>
              <a:rPr lang="ca-ES" sz="1800" dirty="0"/>
              <a:t>Instrucció d’entrada</a:t>
            </a:r>
          </a:p>
          <a:p>
            <a:pPr marL="457200" lvl="1" indent="0">
              <a:buNone/>
            </a:pPr>
            <a:r>
              <a:rPr lang="es-ES" altLang="es-ES" sz="1800" dirty="0">
                <a:solidFill>
                  <a:srgbClr val="008000"/>
                </a:solidFill>
              </a:rPr>
              <a:t>	</a:t>
            </a:r>
            <a:r>
              <a:rPr lang="es-ES" altLang="es-ES" sz="1800" dirty="0" err="1">
                <a:solidFill>
                  <a:srgbClr val="008000"/>
                </a:solidFill>
              </a:rPr>
              <a:t>int</a:t>
            </a:r>
            <a:r>
              <a:rPr lang="es-ES" altLang="es-ES" sz="1800" dirty="0">
                <a:solidFill>
                  <a:srgbClr val="008000"/>
                </a:solidFill>
              </a:rPr>
              <a:t> </a:t>
            </a:r>
            <a:r>
              <a:rPr lang="es-ES" altLang="es-ES" sz="1800" dirty="0" err="1">
                <a:solidFill>
                  <a:srgbClr val="008000"/>
                </a:solidFill>
              </a:rPr>
              <a:t>scanf</a:t>
            </a:r>
            <a:r>
              <a:rPr lang="es-ES" altLang="es-ES" sz="1800" dirty="0">
                <a:solidFill>
                  <a:srgbClr val="008000"/>
                </a:solidFill>
              </a:rPr>
              <a:t> ( </a:t>
            </a:r>
            <a:r>
              <a:rPr lang="es-ES" altLang="es-ES" sz="1800" dirty="0" err="1">
                <a:solidFill>
                  <a:srgbClr val="008000"/>
                </a:solidFill>
              </a:rPr>
              <a:t>const</a:t>
            </a:r>
            <a:r>
              <a:rPr lang="es-ES" altLang="es-ES" sz="1800" dirty="0">
                <a:solidFill>
                  <a:srgbClr val="008000"/>
                </a:solidFill>
              </a:rPr>
              <a:t> </a:t>
            </a:r>
            <a:r>
              <a:rPr lang="es-ES" altLang="es-ES" sz="1800" dirty="0" err="1">
                <a:solidFill>
                  <a:srgbClr val="008000"/>
                </a:solidFill>
              </a:rPr>
              <a:t>char</a:t>
            </a:r>
            <a:r>
              <a:rPr lang="es-ES" altLang="es-ES" sz="1800" dirty="0">
                <a:solidFill>
                  <a:srgbClr val="008000"/>
                </a:solidFill>
              </a:rPr>
              <a:t> * </a:t>
            </a:r>
            <a:r>
              <a:rPr lang="es-ES" altLang="es-ES" sz="1800" dirty="0" err="1">
                <a:solidFill>
                  <a:srgbClr val="008000"/>
                </a:solidFill>
              </a:rPr>
              <a:t>format</a:t>
            </a:r>
            <a:r>
              <a:rPr lang="es-ES" altLang="es-ES" sz="1800" dirty="0">
                <a:solidFill>
                  <a:srgbClr val="008000"/>
                </a:solidFill>
              </a:rPr>
              <a:t>, ... ); </a:t>
            </a:r>
            <a:endParaRPr lang="es-ES" sz="1800" dirty="0">
              <a:solidFill>
                <a:srgbClr val="008000"/>
              </a:solidFill>
            </a:endParaRPr>
          </a:p>
          <a:p>
            <a:pPr marL="457200" lvl="1" indent="0">
              <a:buNone/>
            </a:pPr>
            <a:endParaRPr lang="ca-ES" dirty="0"/>
          </a:p>
          <a:p>
            <a:pPr marL="0" indent="0">
              <a:buNone/>
            </a:pPr>
            <a:r>
              <a:rPr lang="ca-ES" sz="1800" dirty="0"/>
              <a:t>	</a:t>
            </a:r>
          </a:p>
          <a:p>
            <a:endParaRPr lang="es-ES" dirty="0"/>
          </a:p>
        </p:txBody>
      </p:sp>
      <p:sp>
        <p:nvSpPr>
          <p:cNvPr id="5" name="Rectangle 2">
            <a:extLst>
              <a:ext uri="{FF2B5EF4-FFF2-40B4-BE49-F238E27FC236}">
                <a16:creationId xmlns:a16="http://schemas.microsoft.com/office/drawing/2014/main" id="{00EAE6D3-BBA7-33F6-421D-619F75554CF6}"/>
              </a:ext>
            </a:extLst>
          </p:cNvPr>
          <p:cNvSpPr>
            <a:spLocks noChangeArrowheads="1"/>
          </p:cNvSpPr>
          <p:nvPr/>
        </p:nvSpPr>
        <p:spPr bwMode="auto">
          <a:xfrm>
            <a:off x="723900" y="2452829"/>
            <a:ext cx="39052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2943354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8F29EC-9CC5-E162-0703-B9AD52461E77}"/>
              </a:ext>
            </a:extLst>
          </p:cNvPr>
          <p:cNvSpPr>
            <a:spLocks noGrp="1"/>
          </p:cNvSpPr>
          <p:nvPr>
            <p:ph type="title"/>
          </p:nvPr>
        </p:nvSpPr>
        <p:spPr/>
        <p:txBody>
          <a:bodyPr/>
          <a:lstStyle/>
          <a:p>
            <a:r>
              <a:rPr lang="ca-ES" dirty="0"/>
              <a:t>Instrucció de sortida</a:t>
            </a:r>
            <a:endParaRPr lang="es-ES" dirty="0"/>
          </a:p>
        </p:txBody>
      </p:sp>
      <p:sp>
        <p:nvSpPr>
          <p:cNvPr id="5" name="Rectangle 2">
            <a:extLst>
              <a:ext uri="{FF2B5EF4-FFF2-40B4-BE49-F238E27FC236}">
                <a16:creationId xmlns:a16="http://schemas.microsoft.com/office/drawing/2014/main" id="{00EAE6D3-BBA7-33F6-421D-619F75554CF6}"/>
              </a:ext>
            </a:extLst>
          </p:cNvPr>
          <p:cNvSpPr>
            <a:spLocks noChangeArrowheads="1"/>
          </p:cNvSpPr>
          <p:nvPr/>
        </p:nvSpPr>
        <p:spPr bwMode="auto">
          <a:xfrm>
            <a:off x="723900" y="2452829"/>
            <a:ext cx="39052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a:t>
            </a:r>
          </a:p>
        </p:txBody>
      </p:sp>
      <p:graphicFrame>
        <p:nvGraphicFramePr>
          <p:cNvPr id="4" name="Tabla 3">
            <a:extLst>
              <a:ext uri="{FF2B5EF4-FFF2-40B4-BE49-F238E27FC236}">
                <a16:creationId xmlns:a16="http://schemas.microsoft.com/office/drawing/2014/main" id="{D3038F84-ED82-E964-D4B1-D8D6F831881F}"/>
              </a:ext>
            </a:extLst>
          </p:cNvPr>
          <p:cNvGraphicFramePr>
            <a:graphicFrameLocks noGrp="1"/>
          </p:cNvGraphicFramePr>
          <p:nvPr>
            <p:extLst>
              <p:ext uri="{D42A27DB-BD31-4B8C-83A1-F6EECF244321}">
                <p14:modId xmlns:p14="http://schemas.microsoft.com/office/powerpoint/2010/main" val="2411757967"/>
              </p:ext>
            </p:extLst>
          </p:nvPr>
        </p:nvGraphicFramePr>
        <p:xfrm>
          <a:off x="459658" y="4019689"/>
          <a:ext cx="7960442" cy="1532776"/>
        </p:xfrm>
        <a:graphic>
          <a:graphicData uri="http://schemas.openxmlformats.org/drawingml/2006/table">
            <a:tbl>
              <a:tblPr/>
              <a:tblGrid>
                <a:gridCol w="929871">
                  <a:extLst>
                    <a:ext uri="{9D8B030D-6E8A-4147-A177-3AD203B41FA5}">
                      <a16:colId xmlns:a16="http://schemas.microsoft.com/office/drawing/2014/main" val="4084301062"/>
                    </a:ext>
                  </a:extLst>
                </a:gridCol>
                <a:gridCol w="7030571">
                  <a:extLst>
                    <a:ext uri="{9D8B030D-6E8A-4147-A177-3AD203B41FA5}">
                      <a16:colId xmlns:a16="http://schemas.microsoft.com/office/drawing/2014/main" val="3228951014"/>
                    </a:ext>
                  </a:extLst>
                </a:gridCol>
              </a:tblGrid>
              <a:tr h="133437">
                <a:tc>
                  <a:txBody>
                    <a:bodyPr/>
                    <a:lstStyle/>
                    <a:p>
                      <a:r>
                        <a:rPr lang="es-ES" sz="1200" i="1" dirty="0" err="1">
                          <a:effectLst/>
                          <a:latin typeface="Verdana" panose="020B0604030504040204" pitchFamily="34" charset="0"/>
                          <a:ea typeface="Verdana" panose="020B0604030504040204" pitchFamily="34" charset="0"/>
                        </a:rPr>
                        <a:t>flags</a:t>
                      </a:r>
                      <a:endParaRPr lang="es-ES" sz="1200" dirty="0">
                        <a:effectLst/>
                        <a:latin typeface="Verdana" panose="020B0604030504040204" pitchFamily="34" charset="0"/>
                        <a:ea typeface="Verdana" panose="020B0604030504040204" pitchFamily="34" charset="0"/>
                      </a:endParaRP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r>
                        <a:rPr lang="es-ES" sz="1200" dirty="0" err="1">
                          <a:effectLst/>
                          <a:latin typeface="Verdana" panose="020B0604030504040204" pitchFamily="34" charset="0"/>
                          <a:ea typeface="Verdana" panose="020B0604030504040204" pitchFamily="34" charset="0"/>
                        </a:rPr>
                        <a:t>description</a:t>
                      </a:r>
                      <a:endParaRPr lang="es-ES" sz="1200" dirty="0">
                        <a:effectLst/>
                        <a:latin typeface="Verdana" panose="020B0604030504040204" pitchFamily="34" charset="0"/>
                        <a:ea typeface="Verdana" panose="020B0604030504040204" pitchFamily="34" charset="0"/>
                      </a:endParaRP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3752999544"/>
                  </a:ext>
                </a:extLst>
              </a:tr>
              <a:tr h="331432">
                <a:tc>
                  <a:txBody>
                    <a:bodyPr/>
                    <a:lstStyle/>
                    <a:p>
                      <a:r>
                        <a:rPr lang="es-ES" sz="1200">
                          <a:effectLst/>
                          <a:latin typeface="Verdana" panose="020B0604030504040204" pitchFamily="34" charset="0"/>
                          <a:ea typeface="Verdana" panose="020B0604030504040204" pitchFamily="34" charset="0"/>
                        </a:rPr>
                        <a:t>-</a:t>
                      </a: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1200" dirty="0">
                          <a:effectLst/>
                          <a:latin typeface="Verdana" panose="020B0604030504040204" pitchFamily="34" charset="0"/>
                          <a:ea typeface="Verdana" panose="020B0604030504040204" pitchFamily="34" charset="0"/>
                        </a:rPr>
                        <a:t>Left-justify within the given field width; Right justification is the default (see </a:t>
                      </a:r>
                      <a:r>
                        <a:rPr lang="en-US" sz="1200" i="1" dirty="0">
                          <a:effectLst/>
                          <a:latin typeface="Verdana" panose="020B0604030504040204" pitchFamily="34" charset="0"/>
                          <a:ea typeface="Verdana" panose="020B0604030504040204" pitchFamily="34" charset="0"/>
                        </a:rPr>
                        <a:t>width</a:t>
                      </a:r>
                      <a:r>
                        <a:rPr lang="en-US" sz="1200" dirty="0">
                          <a:effectLst/>
                          <a:latin typeface="Verdana" panose="020B0604030504040204" pitchFamily="34" charset="0"/>
                          <a:ea typeface="Verdana" panose="020B0604030504040204" pitchFamily="34" charset="0"/>
                        </a:rPr>
                        <a:t> sub-specifier).</a:t>
                      </a: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49711038"/>
                  </a:ext>
                </a:extLst>
              </a:tr>
              <a:tr h="437068">
                <a:tc>
                  <a:txBody>
                    <a:bodyPr/>
                    <a:lstStyle/>
                    <a:p>
                      <a:r>
                        <a:rPr lang="es-ES" sz="1200">
                          <a:effectLst/>
                          <a:latin typeface="Verdana" panose="020B0604030504040204" pitchFamily="34" charset="0"/>
                          <a:ea typeface="Verdana" panose="020B0604030504040204" pitchFamily="34" charset="0"/>
                        </a:rPr>
                        <a:t>+</a:t>
                      </a: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1200" dirty="0">
                          <a:effectLst/>
                          <a:latin typeface="Verdana" panose="020B0604030504040204" pitchFamily="34" charset="0"/>
                          <a:ea typeface="Verdana" panose="020B0604030504040204" pitchFamily="34" charset="0"/>
                        </a:rPr>
                        <a:t>Forces to </a:t>
                      </a:r>
                      <a:r>
                        <a:rPr lang="en-US" sz="1200" dirty="0" err="1">
                          <a:effectLst/>
                          <a:latin typeface="Verdana" panose="020B0604030504040204" pitchFamily="34" charset="0"/>
                          <a:ea typeface="Verdana" panose="020B0604030504040204" pitchFamily="34" charset="0"/>
                        </a:rPr>
                        <a:t>preceed</a:t>
                      </a:r>
                      <a:r>
                        <a:rPr lang="en-US" sz="1200" dirty="0">
                          <a:effectLst/>
                          <a:latin typeface="Verdana" panose="020B0604030504040204" pitchFamily="34" charset="0"/>
                          <a:ea typeface="Verdana" panose="020B0604030504040204" pitchFamily="34" charset="0"/>
                        </a:rPr>
                        <a:t> the result with a plus or minus sign (+ or -) even for positive numbers. By default, only negative numbers are preceded with a - sign.</a:t>
                      </a: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84624345"/>
                  </a:ext>
                </a:extLst>
              </a:tr>
              <a:tr h="331432">
                <a:tc>
                  <a:txBody>
                    <a:bodyPr/>
                    <a:lstStyle/>
                    <a:p>
                      <a:r>
                        <a:rPr lang="es-ES" sz="1200">
                          <a:effectLst/>
                          <a:latin typeface="Verdana" panose="020B0604030504040204" pitchFamily="34" charset="0"/>
                          <a:ea typeface="Verdana" panose="020B0604030504040204" pitchFamily="34" charset="0"/>
                        </a:rPr>
                        <a:t>0</a:t>
                      </a: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1200" dirty="0">
                          <a:effectLst/>
                          <a:latin typeface="Verdana" panose="020B0604030504040204" pitchFamily="34" charset="0"/>
                          <a:ea typeface="Verdana" panose="020B0604030504040204" pitchFamily="34" charset="0"/>
                        </a:rPr>
                        <a:t>Left-pads the number with zeroes (0) instead of spaces when padding is specified (see </a:t>
                      </a:r>
                      <a:r>
                        <a:rPr lang="en-US" sz="1200" i="1" dirty="0">
                          <a:effectLst/>
                          <a:latin typeface="Verdana" panose="020B0604030504040204" pitchFamily="34" charset="0"/>
                          <a:ea typeface="Verdana" panose="020B0604030504040204" pitchFamily="34" charset="0"/>
                        </a:rPr>
                        <a:t>width</a:t>
                      </a:r>
                      <a:r>
                        <a:rPr lang="en-US" sz="1200" dirty="0">
                          <a:effectLst/>
                          <a:latin typeface="Verdana" panose="020B0604030504040204" pitchFamily="34" charset="0"/>
                          <a:ea typeface="Verdana" panose="020B0604030504040204" pitchFamily="34" charset="0"/>
                        </a:rPr>
                        <a:t> sub-specifier).</a:t>
                      </a:r>
                    </a:p>
                  </a:txBody>
                  <a:tcPr marL="60435" marR="60435" marT="30218" marB="3021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47520312"/>
                  </a:ext>
                </a:extLst>
              </a:tr>
            </a:tbl>
          </a:graphicData>
        </a:graphic>
      </p:graphicFrame>
      <p:graphicFrame>
        <p:nvGraphicFramePr>
          <p:cNvPr id="6" name="Tabla 5">
            <a:extLst>
              <a:ext uri="{FF2B5EF4-FFF2-40B4-BE49-F238E27FC236}">
                <a16:creationId xmlns:a16="http://schemas.microsoft.com/office/drawing/2014/main" id="{2A48D803-59E9-42B4-0585-78DB66503DE9}"/>
              </a:ext>
            </a:extLst>
          </p:cNvPr>
          <p:cNvGraphicFramePr>
            <a:graphicFrameLocks noGrp="1"/>
          </p:cNvGraphicFramePr>
          <p:nvPr>
            <p:extLst>
              <p:ext uri="{D42A27DB-BD31-4B8C-83A1-F6EECF244321}">
                <p14:modId xmlns:p14="http://schemas.microsoft.com/office/powerpoint/2010/main" val="2089919413"/>
              </p:ext>
            </p:extLst>
          </p:nvPr>
        </p:nvGraphicFramePr>
        <p:xfrm>
          <a:off x="459658" y="5659889"/>
          <a:ext cx="7960442" cy="914400"/>
        </p:xfrm>
        <a:graphic>
          <a:graphicData uri="http://schemas.openxmlformats.org/drawingml/2006/table">
            <a:tbl>
              <a:tblPr/>
              <a:tblGrid>
                <a:gridCol w="1234671">
                  <a:extLst>
                    <a:ext uri="{9D8B030D-6E8A-4147-A177-3AD203B41FA5}">
                      <a16:colId xmlns:a16="http://schemas.microsoft.com/office/drawing/2014/main" val="1125940513"/>
                    </a:ext>
                  </a:extLst>
                </a:gridCol>
                <a:gridCol w="6725771">
                  <a:extLst>
                    <a:ext uri="{9D8B030D-6E8A-4147-A177-3AD203B41FA5}">
                      <a16:colId xmlns:a16="http://schemas.microsoft.com/office/drawing/2014/main" val="1231204372"/>
                    </a:ext>
                  </a:extLst>
                </a:gridCol>
              </a:tblGrid>
              <a:tr h="0">
                <a:tc>
                  <a:txBody>
                    <a:bodyPr/>
                    <a:lstStyle/>
                    <a:p>
                      <a:r>
                        <a:rPr lang="es-ES" sz="1200" i="1" dirty="0">
                          <a:effectLst/>
                          <a:latin typeface="Verdana" panose="020B0604030504040204" pitchFamily="34" charset="0"/>
                          <a:ea typeface="Verdana" panose="020B0604030504040204" pitchFamily="34" charset="0"/>
                        </a:rPr>
                        <a:t>.</a:t>
                      </a:r>
                      <a:r>
                        <a:rPr lang="es-ES" sz="1200" i="1" dirty="0" err="1">
                          <a:effectLst/>
                          <a:latin typeface="Verdana" panose="020B0604030504040204" pitchFamily="34" charset="0"/>
                          <a:ea typeface="Verdana" panose="020B0604030504040204" pitchFamily="34" charset="0"/>
                        </a:rPr>
                        <a:t>precision</a:t>
                      </a:r>
                      <a:endParaRPr lang="es-ES" sz="1200" dirty="0">
                        <a:effectLst/>
                        <a:latin typeface="Verdana" panose="020B0604030504040204" pitchFamily="34" charset="0"/>
                        <a:ea typeface="Verdana" panose="020B0604030504040204" pitchFamily="34"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r>
                        <a:rPr lang="es-ES" sz="1200">
                          <a:effectLst/>
                          <a:latin typeface="Verdana" panose="020B0604030504040204" pitchFamily="34" charset="0"/>
                          <a:ea typeface="Verdana" panose="020B0604030504040204" pitchFamily="34" charset="0"/>
                        </a:rPr>
                        <a:t>description</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2157032795"/>
                  </a:ext>
                </a:extLst>
              </a:tr>
              <a:tr h="0">
                <a:tc>
                  <a:txBody>
                    <a:bodyPr/>
                    <a:lstStyle/>
                    <a:p>
                      <a:r>
                        <a:rPr lang="es-ES" sz="1200">
                          <a:effectLst/>
                          <a:latin typeface="Verdana" panose="020B0604030504040204" pitchFamily="34" charset="0"/>
                          <a:ea typeface="Verdana" panose="020B0604030504040204" pitchFamily="34" charset="0"/>
                        </a:rPr>
                        <a:t>.</a:t>
                      </a:r>
                      <a:r>
                        <a:rPr lang="es-ES" sz="1200" i="1">
                          <a:effectLst/>
                          <a:latin typeface="Verdana" panose="020B0604030504040204" pitchFamily="34" charset="0"/>
                          <a:ea typeface="Verdana" panose="020B0604030504040204" pitchFamily="34" charset="0"/>
                        </a:rPr>
                        <a:t>number</a:t>
                      </a:r>
                      <a:endParaRPr lang="es-ES" sz="1200">
                        <a:effectLst/>
                        <a:latin typeface="Verdana" panose="020B0604030504040204" pitchFamily="34" charset="0"/>
                        <a:ea typeface="Verdana" panose="020B0604030504040204" pitchFamily="34"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1200" dirty="0">
                          <a:effectLst/>
                          <a:latin typeface="Verdana" panose="020B0604030504040204" pitchFamily="34" charset="0"/>
                          <a:ea typeface="Verdana" panose="020B0604030504040204" pitchFamily="34" charset="0"/>
                        </a:rPr>
                        <a:t>For integer specifiers (d, </a:t>
                      </a:r>
                      <a:r>
                        <a:rPr lang="en-US" sz="1200" dirty="0" err="1">
                          <a:effectLst/>
                          <a:latin typeface="Verdana" panose="020B0604030504040204" pitchFamily="34" charset="0"/>
                          <a:ea typeface="Verdana" panose="020B0604030504040204" pitchFamily="34" charset="0"/>
                        </a:rPr>
                        <a:t>i</a:t>
                      </a:r>
                      <a:r>
                        <a:rPr lang="en-US" sz="1200" dirty="0">
                          <a:effectLst/>
                          <a:latin typeface="Verdana" panose="020B0604030504040204" pitchFamily="34" charset="0"/>
                          <a:ea typeface="Verdana" panose="020B0604030504040204" pitchFamily="34" charset="0"/>
                        </a:rPr>
                        <a:t>, o, u, x, X): </a:t>
                      </a:r>
                      <a:r>
                        <a:rPr lang="en-US" sz="1200" i="1" dirty="0">
                          <a:effectLst/>
                          <a:latin typeface="Verdana" panose="020B0604030504040204" pitchFamily="34" charset="0"/>
                          <a:ea typeface="Verdana" panose="020B0604030504040204" pitchFamily="34" charset="0"/>
                        </a:rPr>
                        <a:t>precision</a:t>
                      </a:r>
                      <a:r>
                        <a:rPr lang="en-US" sz="1200" dirty="0">
                          <a:effectLst/>
                          <a:latin typeface="Verdana" panose="020B0604030504040204" pitchFamily="34" charset="0"/>
                          <a:ea typeface="Verdana" panose="020B0604030504040204" pitchFamily="34" charset="0"/>
                        </a:rPr>
                        <a:t> specifies the minimum number of digits to be written. If the value to be written is shorter than this number, the result is padded with leading zeros.</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6385209"/>
                  </a:ext>
                </a:extLst>
              </a:tr>
            </a:tbl>
          </a:graphicData>
        </a:graphic>
      </p:graphicFrame>
      <p:graphicFrame>
        <p:nvGraphicFramePr>
          <p:cNvPr id="9" name="Tabla 8">
            <a:extLst>
              <a:ext uri="{FF2B5EF4-FFF2-40B4-BE49-F238E27FC236}">
                <a16:creationId xmlns:a16="http://schemas.microsoft.com/office/drawing/2014/main" id="{AC321B91-A229-8DC1-8DA0-5967A6A5EB90}"/>
              </a:ext>
            </a:extLst>
          </p:cNvPr>
          <p:cNvGraphicFramePr>
            <a:graphicFrameLocks noGrp="1"/>
          </p:cNvGraphicFramePr>
          <p:nvPr>
            <p:extLst>
              <p:ext uri="{D42A27DB-BD31-4B8C-83A1-F6EECF244321}">
                <p14:modId xmlns:p14="http://schemas.microsoft.com/office/powerpoint/2010/main" val="2710229804"/>
              </p:ext>
            </p:extLst>
          </p:nvPr>
        </p:nvGraphicFramePr>
        <p:xfrm>
          <a:off x="459658" y="1978278"/>
          <a:ext cx="7960442" cy="1933987"/>
        </p:xfrm>
        <a:graphic>
          <a:graphicData uri="http://schemas.openxmlformats.org/drawingml/2006/table">
            <a:tbl>
              <a:tblPr/>
              <a:tblGrid>
                <a:gridCol w="798672">
                  <a:extLst>
                    <a:ext uri="{9D8B030D-6E8A-4147-A177-3AD203B41FA5}">
                      <a16:colId xmlns:a16="http://schemas.microsoft.com/office/drawing/2014/main" val="3869502523"/>
                    </a:ext>
                  </a:extLst>
                </a:gridCol>
                <a:gridCol w="4548684">
                  <a:extLst>
                    <a:ext uri="{9D8B030D-6E8A-4147-A177-3AD203B41FA5}">
                      <a16:colId xmlns:a16="http://schemas.microsoft.com/office/drawing/2014/main" val="1419371077"/>
                    </a:ext>
                  </a:extLst>
                </a:gridCol>
                <a:gridCol w="2613086">
                  <a:extLst>
                    <a:ext uri="{9D8B030D-6E8A-4147-A177-3AD203B41FA5}">
                      <a16:colId xmlns:a16="http://schemas.microsoft.com/office/drawing/2014/main" val="2207858831"/>
                    </a:ext>
                  </a:extLst>
                </a:gridCol>
              </a:tblGrid>
              <a:tr h="239647">
                <a:tc>
                  <a:txBody>
                    <a:bodyPr/>
                    <a:lstStyle/>
                    <a:p>
                      <a:r>
                        <a:rPr lang="es-ES" sz="1200" i="1" dirty="0" err="1">
                          <a:effectLst/>
                          <a:latin typeface="Verdana" panose="020B0604030504040204" pitchFamily="34" charset="0"/>
                          <a:ea typeface="Verdana" panose="020B0604030504040204" pitchFamily="34" charset="0"/>
                        </a:rPr>
                        <a:t>specifier</a:t>
                      </a:r>
                      <a:endParaRPr lang="es-ES" sz="1200" dirty="0">
                        <a:effectLst/>
                        <a:latin typeface="Verdana" panose="020B0604030504040204" pitchFamily="34" charset="0"/>
                        <a:ea typeface="Verdana" panose="020B0604030504040204" pitchFamily="34" charset="0"/>
                      </a:endParaRP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r>
                        <a:rPr lang="es-ES" sz="1200" dirty="0">
                          <a:effectLst/>
                          <a:latin typeface="Verdana" panose="020B0604030504040204" pitchFamily="34" charset="0"/>
                          <a:ea typeface="Verdana" panose="020B0604030504040204" pitchFamily="34" charset="0"/>
                        </a:rPr>
                        <a:t>Output</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tc>
                  <a:txBody>
                    <a:bodyPr/>
                    <a:lstStyle/>
                    <a:p>
                      <a:r>
                        <a:rPr lang="es-ES" sz="1200" dirty="0" err="1">
                          <a:effectLst/>
                          <a:latin typeface="Verdana" panose="020B0604030504040204" pitchFamily="34" charset="0"/>
                          <a:ea typeface="Verdana" panose="020B0604030504040204" pitchFamily="34" charset="0"/>
                        </a:rPr>
                        <a:t>Example</a:t>
                      </a:r>
                      <a:endParaRPr lang="es-ES" sz="1200" dirty="0">
                        <a:effectLst/>
                        <a:latin typeface="Verdana" panose="020B0604030504040204" pitchFamily="34" charset="0"/>
                        <a:ea typeface="Verdana" panose="020B0604030504040204" pitchFamily="34" charset="0"/>
                      </a:endParaRP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0F0F0"/>
                    </a:solidFill>
                  </a:tcPr>
                </a:tc>
                <a:extLst>
                  <a:ext uri="{0D108BD9-81ED-4DB2-BD59-A6C34878D82A}">
                    <a16:rowId xmlns:a16="http://schemas.microsoft.com/office/drawing/2014/main" val="2597473496"/>
                  </a:ext>
                </a:extLst>
              </a:tr>
              <a:tr h="239647">
                <a:tc>
                  <a:txBody>
                    <a:bodyPr/>
                    <a:lstStyle/>
                    <a:p>
                      <a:r>
                        <a:rPr lang="es-ES" sz="1200" dirty="0">
                          <a:effectLst/>
                          <a:latin typeface="Verdana" panose="020B0604030504040204" pitchFamily="34" charset="0"/>
                          <a:ea typeface="Verdana" panose="020B0604030504040204" pitchFamily="34" charset="0"/>
                        </a:rPr>
                        <a:t>d </a:t>
                      </a:r>
                      <a:r>
                        <a:rPr lang="es-ES" sz="1200" i="1" dirty="0" err="1">
                          <a:effectLst/>
                          <a:latin typeface="Verdana" panose="020B0604030504040204" pitchFamily="34" charset="0"/>
                          <a:ea typeface="Verdana" panose="020B0604030504040204" pitchFamily="34" charset="0"/>
                        </a:rPr>
                        <a:t>or</a:t>
                      </a:r>
                      <a:r>
                        <a:rPr lang="es-ES" sz="1200" dirty="0">
                          <a:effectLst/>
                          <a:latin typeface="Verdana" panose="020B0604030504040204" pitchFamily="34" charset="0"/>
                          <a:ea typeface="Verdana" panose="020B0604030504040204" pitchFamily="34" charset="0"/>
                        </a:rPr>
                        <a:t> i</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err="1">
                          <a:effectLst/>
                          <a:latin typeface="Verdana" panose="020B0604030504040204" pitchFamily="34" charset="0"/>
                          <a:ea typeface="Verdana" panose="020B0604030504040204" pitchFamily="34" charset="0"/>
                        </a:rPr>
                        <a:t>Signed</a:t>
                      </a:r>
                      <a:r>
                        <a:rPr lang="es-ES" sz="1200" dirty="0">
                          <a:effectLst/>
                          <a:latin typeface="Verdana" panose="020B0604030504040204" pitchFamily="34" charset="0"/>
                          <a:ea typeface="Verdana" panose="020B0604030504040204" pitchFamily="34" charset="0"/>
                        </a:rPr>
                        <a:t> decimal </a:t>
                      </a:r>
                      <a:r>
                        <a:rPr lang="es-ES" sz="1200" dirty="0" err="1">
                          <a:effectLst/>
                          <a:latin typeface="Verdana" panose="020B0604030504040204" pitchFamily="34" charset="0"/>
                          <a:ea typeface="Verdana" panose="020B0604030504040204" pitchFamily="34" charset="0"/>
                        </a:rPr>
                        <a:t>integer</a:t>
                      </a:r>
                      <a:endParaRPr lang="es-ES" sz="1200" dirty="0">
                        <a:effectLst/>
                        <a:latin typeface="Verdana" panose="020B0604030504040204" pitchFamily="34" charset="0"/>
                        <a:ea typeface="Verdana" panose="020B0604030504040204" pitchFamily="34" charset="0"/>
                      </a:endParaRP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a:effectLst/>
                          <a:latin typeface="Verdana" panose="020B0604030504040204" pitchFamily="34" charset="0"/>
                          <a:ea typeface="Verdana" panose="020B0604030504040204" pitchFamily="34" charset="0"/>
                        </a:rPr>
                        <a:t>392</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60506866"/>
                  </a:ext>
                </a:extLst>
              </a:tr>
              <a:tr h="239647">
                <a:tc>
                  <a:txBody>
                    <a:bodyPr/>
                    <a:lstStyle/>
                    <a:p>
                      <a:r>
                        <a:rPr lang="es-ES" sz="1200" dirty="0">
                          <a:effectLst/>
                          <a:latin typeface="Verdana" panose="020B0604030504040204" pitchFamily="34" charset="0"/>
                          <a:ea typeface="Verdana" panose="020B0604030504040204" pitchFamily="34" charset="0"/>
                        </a:rPr>
                        <a:t>u</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err="1">
                          <a:effectLst/>
                          <a:latin typeface="Verdana" panose="020B0604030504040204" pitchFamily="34" charset="0"/>
                          <a:ea typeface="Verdana" panose="020B0604030504040204" pitchFamily="34" charset="0"/>
                        </a:rPr>
                        <a:t>Unsigned</a:t>
                      </a:r>
                      <a:r>
                        <a:rPr lang="es-ES" sz="1200" dirty="0">
                          <a:effectLst/>
                          <a:latin typeface="Verdana" panose="020B0604030504040204" pitchFamily="34" charset="0"/>
                          <a:ea typeface="Verdana" panose="020B0604030504040204" pitchFamily="34" charset="0"/>
                        </a:rPr>
                        <a:t> decimal </a:t>
                      </a:r>
                      <a:r>
                        <a:rPr lang="es-ES" sz="1200" dirty="0" err="1">
                          <a:effectLst/>
                          <a:latin typeface="Verdana" panose="020B0604030504040204" pitchFamily="34" charset="0"/>
                          <a:ea typeface="Verdana" panose="020B0604030504040204" pitchFamily="34" charset="0"/>
                        </a:rPr>
                        <a:t>integer</a:t>
                      </a:r>
                      <a:endParaRPr lang="es-ES" sz="1200" dirty="0">
                        <a:effectLst/>
                        <a:latin typeface="Verdana" panose="020B0604030504040204" pitchFamily="34" charset="0"/>
                        <a:ea typeface="Verdana" panose="020B0604030504040204" pitchFamily="34" charset="0"/>
                      </a:endParaRP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a:effectLst/>
                          <a:latin typeface="Verdana" panose="020B0604030504040204" pitchFamily="34" charset="0"/>
                          <a:ea typeface="Verdana" panose="020B0604030504040204" pitchFamily="34" charset="0"/>
                        </a:rPr>
                        <a:t>7235</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60494451"/>
                  </a:ext>
                </a:extLst>
              </a:tr>
              <a:tr h="257513">
                <a:tc>
                  <a:txBody>
                    <a:bodyPr/>
                    <a:lstStyle/>
                    <a:p>
                      <a:r>
                        <a:rPr lang="es-ES" sz="1200">
                          <a:effectLst/>
                          <a:latin typeface="Verdana" panose="020B0604030504040204" pitchFamily="34" charset="0"/>
                          <a:ea typeface="Verdana" panose="020B0604030504040204" pitchFamily="34" charset="0"/>
                        </a:rPr>
                        <a:t>f</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a:effectLst/>
                          <a:latin typeface="Verdana" panose="020B0604030504040204" pitchFamily="34" charset="0"/>
                          <a:ea typeface="Verdana" panose="020B0604030504040204" pitchFamily="34" charset="0"/>
                        </a:rPr>
                        <a:t>Decimal </a:t>
                      </a:r>
                      <a:r>
                        <a:rPr lang="es-ES" sz="1200" dirty="0" err="1">
                          <a:effectLst/>
                          <a:latin typeface="Verdana" panose="020B0604030504040204" pitchFamily="34" charset="0"/>
                          <a:ea typeface="Verdana" panose="020B0604030504040204" pitchFamily="34" charset="0"/>
                        </a:rPr>
                        <a:t>floating</a:t>
                      </a:r>
                      <a:r>
                        <a:rPr lang="es-ES" sz="1200" dirty="0">
                          <a:effectLst/>
                          <a:latin typeface="Verdana" panose="020B0604030504040204" pitchFamily="34" charset="0"/>
                          <a:ea typeface="Verdana" panose="020B0604030504040204" pitchFamily="34" charset="0"/>
                        </a:rPr>
                        <a:t> </a:t>
                      </a:r>
                      <a:r>
                        <a:rPr lang="es-ES" sz="1200" dirty="0" err="1">
                          <a:effectLst/>
                          <a:latin typeface="Verdana" panose="020B0604030504040204" pitchFamily="34" charset="0"/>
                          <a:ea typeface="Verdana" panose="020B0604030504040204" pitchFamily="34" charset="0"/>
                        </a:rPr>
                        <a:t>point</a:t>
                      </a:r>
                      <a:r>
                        <a:rPr lang="es-ES" sz="1200" dirty="0">
                          <a:effectLst/>
                          <a:latin typeface="Verdana" panose="020B0604030504040204" pitchFamily="34" charset="0"/>
                          <a:ea typeface="Verdana" panose="020B0604030504040204" pitchFamily="34" charset="0"/>
                        </a:rPr>
                        <a:t>, </a:t>
                      </a:r>
                      <a:r>
                        <a:rPr lang="es-ES" sz="1200" dirty="0" err="1">
                          <a:effectLst/>
                          <a:latin typeface="Verdana" panose="020B0604030504040204" pitchFamily="34" charset="0"/>
                          <a:ea typeface="Verdana" panose="020B0604030504040204" pitchFamily="34" charset="0"/>
                        </a:rPr>
                        <a:t>lowercase</a:t>
                      </a:r>
                      <a:endParaRPr lang="es-ES" sz="1200" dirty="0">
                        <a:effectLst/>
                        <a:latin typeface="Verdana" panose="020B0604030504040204" pitchFamily="34" charset="0"/>
                        <a:ea typeface="Verdana" panose="020B0604030504040204" pitchFamily="34" charset="0"/>
                      </a:endParaRP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a:effectLst/>
                          <a:latin typeface="Verdana" panose="020B0604030504040204" pitchFamily="34" charset="0"/>
                          <a:ea typeface="Verdana" panose="020B0604030504040204" pitchFamily="34" charset="0"/>
                        </a:rPr>
                        <a:t>392.65</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9790281"/>
                  </a:ext>
                </a:extLst>
              </a:tr>
              <a:tr h="239647">
                <a:tc>
                  <a:txBody>
                    <a:bodyPr/>
                    <a:lstStyle/>
                    <a:p>
                      <a:r>
                        <a:rPr lang="es-ES" sz="1200">
                          <a:effectLst/>
                          <a:latin typeface="Verdana" panose="020B0604030504040204" pitchFamily="34" charset="0"/>
                          <a:ea typeface="Verdana" panose="020B0604030504040204" pitchFamily="34" charset="0"/>
                        </a:rPr>
                        <a:t>c</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a:effectLst/>
                          <a:latin typeface="Verdana" panose="020B0604030504040204" pitchFamily="34" charset="0"/>
                          <a:ea typeface="Verdana" panose="020B0604030504040204" pitchFamily="34" charset="0"/>
                        </a:rPr>
                        <a:t>Character</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a:effectLst/>
                          <a:latin typeface="Verdana" panose="020B0604030504040204" pitchFamily="34" charset="0"/>
                          <a:ea typeface="Verdana" panose="020B0604030504040204" pitchFamily="34" charset="0"/>
                        </a:rPr>
                        <a:t>a</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71962727"/>
                  </a:ext>
                </a:extLst>
              </a:tr>
              <a:tr h="239647">
                <a:tc>
                  <a:txBody>
                    <a:bodyPr/>
                    <a:lstStyle/>
                    <a:p>
                      <a:r>
                        <a:rPr lang="es-ES" sz="1200">
                          <a:effectLst/>
                          <a:latin typeface="Verdana" panose="020B0604030504040204" pitchFamily="34" charset="0"/>
                          <a:ea typeface="Verdana" panose="020B0604030504040204" pitchFamily="34" charset="0"/>
                        </a:rPr>
                        <a:t>s</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a:effectLst/>
                          <a:latin typeface="Verdana" panose="020B0604030504040204" pitchFamily="34" charset="0"/>
                          <a:ea typeface="Verdana" panose="020B0604030504040204" pitchFamily="34" charset="0"/>
                        </a:rPr>
                        <a:t>String of characters</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err="1">
                          <a:effectLst/>
                          <a:latin typeface="Verdana" panose="020B0604030504040204" pitchFamily="34" charset="0"/>
                          <a:ea typeface="Verdana" panose="020B0604030504040204" pitchFamily="34" charset="0"/>
                        </a:rPr>
                        <a:t>sample</a:t>
                      </a:r>
                      <a:endParaRPr lang="es-ES" sz="1200" dirty="0">
                        <a:effectLst/>
                        <a:latin typeface="Verdana" panose="020B0604030504040204" pitchFamily="34" charset="0"/>
                        <a:ea typeface="Verdana" panose="020B0604030504040204" pitchFamily="34" charset="0"/>
                      </a:endParaRP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86813874"/>
                  </a:ext>
                </a:extLst>
              </a:tr>
              <a:tr h="478239">
                <a:tc>
                  <a:txBody>
                    <a:bodyPr/>
                    <a:lstStyle/>
                    <a:p>
                      <a:r>
                        <a:rPr lang="es-ES" sz="1200">
                          <a:effectLst/>
                          <a:latin typeface="Verdana" panose="020B0604030504040204" pitchFamily="34" charset="0"/>
                          <a:ea typeface="Verdana" panose="020B0604030504040204" pitchFamily="34" charset="0"/>
                        </a:rPr>
                        <a:t>%</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1200" dirty="0">
                          <a:effectLst/>
                          <a:latin typeface="Verdana" panose="020B0604030504040204" pitchFamily="34" charset="0"/>
                          <a:ea typeface="Verdana" panose="020B0604030504040204" pitchFamily="34" charset="0"/>
                        </a:rPr>
                        <a:t>A % followed by another % character will write a single % to the stream.</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s-ES" sz="1200" dirty="0">
                          <a:effectLst/>
                          <a:latin typeface="Verdana" panose="020B0604030504040204" pitchFamily="34" charset="0"/>
                          <a:ea typeface="Verdana" panose="020B0604030504040204" pitchFamily="34" charset="0"/>
                        </a:rPr>
                        <a:t>%</a:t>
                      </a:r>
                    </a:p>
                  </a:txBody>
                  <a:tcPr marL="31305" marR="31305" marT="15652" marB="156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96903014"/>
                  </a:ext>
                </a:extLst>
              </a:tr>
            </a:tbl>
          </a:graphicData>
        </a:graphic>
      </p:graphicFrame>
      <p:sp>
        <p:nvSpPr>
          <p:cNvPr id="11" name="Marcador de contenido 2">
            <a:extLst>
              <a:ext uri="{FF2B5EF4-FFF2-40B4-BE49-F238E27FC236}">
                <a16:creationId xmlns:a16="http://schemas.microsoft.com/office/drawing/2014/main" id="{38B674DC-F1BE-6E83-E268-29CC91A1BA84}"/>
              </a:ext>
            </a:extLst>
          </p:cNvPr>
          <p:cNvSpPr>
            <a:spLocks noGrp="1"/>
          </p:cNvSpPr>
          <p:nvPr>
            <p:ph idx="1"/>
          </p:nvPr>
        </p:nvSpPr>
        <p:spPr>
          <a:xfrm>
            <a:off x="459657" y="797023"/>
            <a:ext cx="7960443" cy="1212272"/>
          </a:xfrm>
        </p:spPr>
        <p:txBody>
          <a:bodyPr/>
          <a:lstStyle/>
          <a:p>
            <a:r>
              <a:rPr lang="es-ES" sz="1600" dirty="0"/>
              <a:t>Per introducir dades  per pantalla: </a:t>
            </a:r>
          </a:p>
          <a:p>
            <a:pPr marL="0" indent="0">
              <a:buNone/>
            </a:pPr>
            <a:r>
              <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a:t>
            </a:r>
            <a:r>
              <a:rPr kumimoji="0" lang="es-ES" altLang="es-ES" sz="16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int</a:t>
            </a:r>
            <a:r>
              <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a:t>
            </a:r>
            <a:r>
              <a:rPr kumimoji="0" lang="es-ES" altLang="es-ES" sz="16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printf</a:t>
            </a:r>
            <a:r>
              <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 </a:t>
            </a:r>
            <a:r>
              <a:rPr kumimoji="0" lang="es-ES" altLang="es-ES" sz="16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const</a:t>
            </a:r>
            <a:r>
              <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a:t>
            </a:r>
            <a:r>
              <a:rPr kumimoji="0" lang="es-ES" altLang="es-ES" sz="16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char</a:t>
            </a:r>
            <a:r>
              <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 </a:t>
            </a:r>
            <a:r>
              <a:rPr kumimoji="0" lang="es-ES" altLang="es-ES" sz="1600" b="0" i="0" u="none" strike="noStrike" cap="none" normalizeH="0" baseline="0" dirty="0" err="1">
                <a:ln>
                  <a:noFill/>
                </a:ln>
                <a:solidFill>
                  <a:srgbClr val="008000"/>
                </a:solidFill>
                <a:effectLst/>
                <a:latin typeface="Verdana" panose="020B0604030504040204" pitchFamily="34" charset="0"/>
                <a:ea typeface="Verdana" panose="020B0604030504040204" pitchFamily="34" charset="0"/>
              </a:rPr>
              <a:t>format</a:t>
            </a:r>
            <a:r>
              <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rPr>
              <a:t>, ... );</a:t>
            </a:r>
          </a:p>
          <a:p>
            <a:pPr marL="0" indent="0">
              <a:buNone/>
            </a:pPr>
            <a:r>
              <a:rPr lang="es-ES" sz="1600" dirty="0">
                <a:solidFill>
                  <a:srgbClr val="008000"/>
                </a:solidFill>
              </a:rPr>
              <a:t>	%[</a:t>
            </a:r>
            <a:r>
              <a:rPr lang="es-ES" sz="1600" dirty="0" err="1">
                <a:solidFill>
                  <a:srgbClr val="008000"/>
                </a:solidFill>
              </a:rPr>
              <a:t>flags</a:t>
            </a:r>
            <a:r>
              <a:rPr lang="es-ES" sz="1600" dirty="0">
                <a:solidFill>
                  <a:srgbClr val="008000"/>
                </a:solidFill>
              </a:rPr>
              <a:t>][</a:t>
            </a:r>
            <a:r>
              <a:rPr lang="es-ES" sz="1600" dirty="0" err="1">
                <a:solidFill>
                  <a:srgbClr val="008000"/>
                </a:solidFill>
              </a:rPr>
              <a:t>width</a:t>
            </a:r>
            <a:r>
              <a:rPr lang="es-ES" sz="1600" dirty="0">
                <a:solidFill>
                  <a:srgbClr val="008000"/>
                </a:solidFill>
              </a:rPr>
              <a:t>][.precisión][</a:t>
            </a:r>
            <a:r>
              <a:rPr lang="es-ES" sz="1600" dirty="0" err="1">
                <a:solidFill>
                  <a:srgbClr val="008000"/>
                </a:solidFill>
              </a:rPr>
              <a:t>length</a:t>
            </a:r>
            <a:r>
              <a:rPr lang="es-ES" sz="1600" dirty="0">
                <a:solidFill>
                  <a:srgbClr val="008000"/>
                </a:solidFill>
              </a:rPr>
              <a:t>]</a:t>
            </a:r>
            <a:r>
              <a:rPr lang="es-ES" sz="1600" dirty="0" err="1">
                <a:solidFill>
                  <a:srgbClr val="008000"/>
                </a:solidFill>
              </a:rPr>
              <a:t>specifier</a:t>
            </a:r>
            <a:endParaRPr lang="es-ES" sz="1600" dirty="0">
              <a:solidFill>
                <a:srgbClr val="008000"/>
              </a:solidFill>
            </a:endParaRPr>
          </a:p>
          <a:p>
            <a:endParaRPr lang="es-ES" dirty="0"/>
          </a:p>
        </p:txBody>
      </p:sp>
    </p:spTree>
    <p:extLst>
      <p:ext uri="{BB962C8B-B14F-4D97-AF65-F5344CB8AC3E}">
        <p14:creationId xmlns:p14="http://schemas.microsoft.com/office/powerpoint/2010/main" val="1501715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F233AD-8270-9BD6-EB20-539FD1CBB397}"/>
              </a:ext>
            </a:extLst>
          </p:cNvPr>
          <p:cNvSpPr>
            <a:spLocks noGrp="1"/>
          </p:cNvSpPr>
          <p:nvPr>
            <p:ph type="title"/>
          </p:nvPr>
        </p:nvSpPr>
        <p:spPr>
          <a:xfrm>
            <a:off x="486700" y="-51142"/>
            <a:ext cx="8534400" cy="642130"/>
          </a:xfrm>
        </p:spPr>
        <p:txBody>
          <a:bodyPr/>
          <a:lstStyle/>
          <a:p>
            <a:r>
              <a:rPr lang="es-ES" sz="3600" dirty="0" err="1"/>
              <a:t>printf</a:t>
            </a:r>
            <a:endParaRPr lang="es-ES" sz="3600" dirty="0"/>
          </a:p>
        </p:txBody>
      </p:sp>
      <p:sp>
        <p:nvSpPr>
          <p:cNvPr id="11" name="CuadroTexto 10">
            <a:extLst>
              <a:ext uri="{FF2B5EF4-FFF2-40B4-BE49-F238E27FC236}">
                <a16:creationId xmlns:a16="http://schemas.microsoft.com/office/drawing/2014/main" id="{0A1820C4-5BD4-2AEE-A21A-185344477600}"/>
              </a:ext>
            </a:extLst>
          </p:cNvPr>
          <p:cNvSpPr txBox="1"/>
          <p:nvPr/>
        </p:nvSpPr>
        <p:spPr>
          <a:xfrm>
            <a:off x="618565" y="548757"/>
            <a:ext cx="7947919" cy="3970318"/>
          </a:xfrm>
          <a:prstGeom prst="rect">
            <a:avLst/>
          </a:prstGeom>
          <a:noFill/>
          <a:ln>
            <a:solidFill>
              <a:schemeClr val="tx1"/>
            </a:solidFill>
            <a:prstDash val="dashDot"/>
          </a:ln>
        </p:spPr>
        <p:txBody>
          <a:bodyPr wrap="square">
            <a:spAutoFit/>
          </a:bodyPr>
          <a:lstStyle/>
          <a:p>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main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srand</a:t>
            </a:r>
            <a:r>
              <a:rPr lang="es-ES" sz="1200" b="0" dirty="0">
                <a:solidFill>
                  <a:srgbClr val="000000"/>
                </a:solidFill>
                <a:effectLst/>
                <a:latin typeface="Consolas" panose="020B0609020204030204" pitchFamily="49" charset="0"/>
              </a:rPr>
              <a:t>(time(</a:t>
            </a:r>
            <a:r>
              <a:rPr lang="es-ES" sz="1200" b="0" dirty="0">
                <a:solidFill>
                  <a:srgbClr val="0000FF"/>
                </a:solidFill>
                <a:effectLst/>
                <a:latin typeface="Consolas" panose="020B0609020204030204" pitchFamily="49" charset="0"/>
              </a:rPr>
              <a:t>NULL</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a</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34</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795E26"/>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Integer</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%d</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%i</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%10d</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%010d</a:t>
            </a:r>
            <a:r>
              <a:rPr lang="es-ES" sz="1200" b="0" dirty="0">
                <a:solidFill>
                  <a:srgbClr val="EE0000"/>
                </a:solidFill>
                <a:effectLst/>
                <a:latin typeface="Consolas" panose="020B0609020204030204" pitchFamily="49" charset="0"/>
              </a:rPr>
              <a:t>\n</a:t>
            </a:r>
            <a:r>
              <a:rPr lang="es-ES" sz="1200" b="0" dirty="0">
                <a:solidFill>
                  <a:srgbClr val="A31515"/>
                </a:solidFill>
                <a:effectLst/>
                <a:latin typeface="Consolas" panose="020B0609020204030204" pitchFamily="49" charset="0"/>
              </a:rPr>
              <a:t>"</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a</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a</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a</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a</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b</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45</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10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795E26"/>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a:solidFill>
                  <a:srgbClr val="EE0000"/>
                </a:solidFill>
                <a:effectLst/>
                <a:latin typeface="Consolas" panose="020B0609020204030204" pitchFamily="49" charset="0"/>
              </a:rPr>
              <a:t>\</a:t>
            </a:r>
            <a:r>
              <a:rPr lang="es-ES" sz="1200" b="0" dirty="0" err="1">
                <a:solidFill>
                  <a:srgbClr val="EE0000"/>
                </a:solidFill>
                <a:effectLst/>
                <a:latin typeface="Consolas" panose="020B0609020204030204" pitchFamily="49" charset="0"/>
              </a:rPr>
              <a:t>n</a:t>
            </a:r>
            <a:r>
              <a:rPr lang="es-ES" sz="1200" b="0" dirty="0" err="1">
                <a:solidFill>
                  <a:srgbClr val="A31515"/>
                </a:solidFill>
                <a:effectLst/>
                <a:latin typeface="Consolas" panose="020B0609020204030204" pitchFamily="49" charset="0"/>
              </a:rPr>
              <a:t>Integer</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%d</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%d</a:t>
            </a:r>
            <a:r>
              <a:rPr lang="es-ES" sz="1200" b="0" dirty="0">
                <a:solidFill>
                  <a:srgbClr val="EE0000"/>
                </a:solidFill>
                <a:effectLst/>
                <a:latin typeface="Consolas" panose="020B0609020204030204" pitchFamily="49" charset="0"/>
              </a:rPr>
              <a:t>\n</a:t>
            </a:r>
            <a:r>
              <a:rPr lang="es-ES" sz="1200" b="0" dirty="0">
                <a:solidFill>
                  <a:srgbClr val="A31515"/>
                </a:solidFill>
                <a:effectLst/>
                <a:latin typeface="Consolas" panose="020B0609020204030204" pitchFamily="49" charset="0"/>
              </a:rPr>
              <a:t>"</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b</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float</a:t>
            </a:r>
            <a:r>
              <a:rPr lang="es-ES" sz="1200" b="0" dirty="0">
                <a:solidFill>
                  <a:srgbClr val="000000"/>
                </a:solidFill>
                <a:effectLst/>
                <a:latin typeface="Consolas" panose="020B0609020204030204" pitchFamily="49" charset="0"/>
              </a:rPr>
              <a:t> </a:t>
            </a:r>
            <a:r>
              <a:rPr lang="es-ES" sz="1200" b="0" dirty="0" err="1">
                <a:solidFill>
                  <a:srgbClr val="001080"/>
                </a:solidFill>
                <a:effectLst/>
                <a:latin typeface="Consolas" panose="020B0609020204030204" pitchFamily="49" charset="0"/>
              </a:rPr>
              <a:t>alcada</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12.566</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795E26"/>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Decinals</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%f</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%.2f</a:t>
            </a:r>
            <a:r>
              <a:rPr lang="es-ES" sz="1200" b="0" dirty="0">
                <a:solidFill>
                  <a:srgbClr val="A31515"/>
                </a:solidFill>
                <a:effectLst/>
                <a:latin typeface="Consolas" panose="020B0609020204030204" pitchFamily="49" charset="0"/>
              </a:rPr>
              <a:t>  </a:t>
            </a:r>
            <a:r>
              <a:rPr lang="es-ES" sz="1200" b="0" dirty="0">
                <a:solidFill>
                  <a:srgbClr val="EE0000"/>
                </a:solidFill>
                <a:effectLst/>
                <a:latin typeface="Consolas" panose="020B0609020204030204" pitchFamily="49" charset="0"/>
              </a:rPr>
              <a:t>\n</a:t>
            </a:r>
            <a:r>
              <a:rPr lang="es-ES" sz="1200" b="0" dirty="0">
                <a:solidFill>
                  <a:srgbClr val="001080"/>
                </a:solidFill>
                <a:effectLst/>
                <a:latin typeface="Consolas" panose="020B0609020204030204" pitchFamily="49" charset="0"/>
              </a:rPr>
              <a:t>%12f</a:t>
            </a:r>
            <a:r>
              <a:rPr lang="es-ES" sz="1200" b="0" dirty="0">
                <a:solidFill>
                  <a:srgbClr val="A31515"/>
                </a:solidFill>
                <a:effectLst/>
                <a:latin typeface="Consolas" panose="020B0609020204030204" pitchFamily="49" charset="0"/>
              </a:rPr>
              <a:t>  </a:t>
            </a:r>
            <a:r>
              <a:rPr lang="es-ES" sz="1200" b="0" dirty="0">
                <a:solidFill>
                  <a:srgbClr val="EE0000"/>
                </a:solidFill>
                <a:effectLst/>
                <a:latin typeface="Consolas" panose="020B0609020204030204" pitchFamily="49" charset="0"/>
              </a:rPr>
              <a:t>\</a:t>
            </a:r>
            <a:r>
              <a:rPr lang="es-ES" sz="1200" b="0" dirty="0" err="1">
                <a:solidFill>
                  <a:srgbClr val="EE0000"/>
                </a:solidFill>
                <a:effectLst/>
                <a:latin typeface="Consolas" panose="020B0609020204030204" pitchFamily="49" charset="0"/>
              </a:rPr>
              <a:t>n</a:t>
            </a:r>
            <a:r>
              <a:rPr lang="es-ES" sz="1200" b="0" dirty="0" err="1">
                <a:solidFill>
                  <a:srgbClr val="001080"/>
                </a:solidFill>
                <a:effectLst/>
                <a:latin typeface="Consolas" panose="020B0609020204030204" pitchFamily="49" charset="0"/>
              </a:rPr>
              <a:t>%d</a:t>
            </a:r>
            <a:r>
              <a:rPr lang="es-ES" sz="1200" b="0" dirty="0">
                <a:solidFill>
                  <a:srgbClr val="EE0000"/>
                </a:solidFill>
                <a:effectLst/>
                <a:latin typeface="Consolas" panose="020B0609020204030204" pitchFamily="49" charset="0"/>
              </a:rPr>
              <a:t>\</a:t>
            </a:r>
            <a:r>
              <a:rPr lang="es-ES" sz="1200" b="0" dirty="0" err="1">
                <a:solidFill>
                  <a:srgbClr val="EE0000"/>
                </a:solidFill>
                <a:effectLst/>
                <a:latin typeface="Consolas" panose="020B0609020204030204" pitchFamily="49" charset="0"/>
              </a:rPr>
              <a:t>n</a:t>
            </a:r>
            <a:r>
              <a:rPr lang="es-ES" sz="1200" b="0" dirty="0" err="1">
                <a:solidFill>
                  <a:srgbClr val="001080"/>
                </a:solidFill>
                <a:effectLst/>
                <a:latin typeface="Consolas" panose="020B0609020204030204" pitchFamily="49" charset="0"/>
              </a:rPr>
              <a:t>%d</a:t>
            </a:r>
            <a:r>
              <a:rPr lang="es-ES" sz="1200" b="0" dirty="0">
                <a:solidFill>
                  <a:srgbClr val="EE0000"/>
                </a:solidFill>
                <a:effectLst/>
                <a:latin typeface="Consolas" panose="020B0609020204030204" pitchFamily="49" charset="0"/>
              </a:rPr>
              <a:t>\</a:t>
            </a:r>
            <a:r>
              <a:rPr lang="es-ES" sz="1200" b="0" dirty="0" err="1">
                <a:solidFill>
                  <a:srgbClr val="EE0000"/>
                </a:solidFill>
                <a:effectLst/>
                <a:latin typeface="Consolas" panose="020B0609020204030204" pitchFamily="49" charset="0"/>
              </a:rPr>
              <a:t>n</a:t>
            </a:r>
            <a:r>
              <a:rPr lang="es-ES" sz="1200" b="0" dirty="0" err="1">
                <a:solidFill>
                  <a:srgbClr val="001080"/>
                </a:solidFill>
                <a:effectLst/>
                <a:latin typeface="Consolas" panose="020B0609020204030204" pitchFamily="49" charset="0"/>
              </a:rPr>
              <a:t>%d</a:t>
            </a:r>
            <a:r>
              <a:rPr lang="es-ES" sz="1200" b="0" dirty="0">
                <a:solidFill>
                  <a:srgbClr val="A31515"/>
                </a:solidFill>
                <a:effectLst/>
                <a:latin typeface="Consolas" panose="020B0609020204030204" pitchFamily="49" charset="0"/>
              </a:rPr>
              <a:t>"</a:t>
            </a:r>
            <a:r>
              <a:rPr lang="es-ES" sz="1200" b="0" dirty="0">
                <a:solidFill>
                  <a:srgbClr val="000000"/>
                </a:solidFill>
                <a:effectLst/>
                <a:latin typeface="Consolas" panose="020B0609020204030204" pitchFamily="49" charset="0"/>
              </a:rPr>
              <a:t>, </a:t>
            </a:r>
            <a:r>
              <a:rPr lang="es-ES" sz="1200" b="0" dirty="0" err="1">
                <a:solidFill>
                  <a:srgbClr val="001080"/>
                </a:solidFill>
                <a:effectLst/>
                <a:latin typeface="Consolas" panose="020B0609020204030204" pitchFamily="49" charset="0"/>
              </a:rPr>
              <a:t>alcada</a:t>
            </a:r>
            <a:r>
              <a:rPr lang="es-ES" sz="1200" b="0" dirty="0">
                <a:solidFill>
                  <a:srgbClr val="000000"/>
                </a:solidFill>
                <a:effectLst/>
                <a:latin typeface="Consolas" panose="020B0609020204030204" pitchFamily="49" charset="0"/>
              </a:rPr>
              <a:t>, </a:t>
            </a:r>
            <a:r>
              <a:rPr lang="es-ES" sz="1200" b="0" dirty="0" err="1">
                <a:solidFill>
                  <a:srgbClr val="001080"/>
                </a:solidFill>
                <a:effectLst/>
                <a:latin typeface="Consolas" panose="020B0609020204030204" pitchFamily="49" charset="0"/>
              </a:rPr>
              <a:t>alcada</a:t>
            </a:r>
            <a:r>
              <a:rPr lang="es-ES" sz="1200" b="0" dirty="0">
                <a:solidFill>
                  <a:srgbClr val="000000"/>
                </a:solidFill>
                <a:effectLst/>
                <a:latin typeface="Consolas" panose="020B0609020204030204" pitchFamily="49" charset="0"/>
              </a:rPr>
              <a:t>, </a:t>
            </a:r>
            <a:r>
              <a:rPr lang="es-ES" sz="1200" b="0" dirty="0" err="1">
                <a:solidFill>
                  <a:srgbClr val="001080"/>
                </a:solidFill>
                <a:effectLst/>
                <a:latin typeface="Consolas" panose="020B0609020204030204" pitchFamily="49" charset="0"/>
              </a:rPr>
              <a:t>alcada</a:t>
            </a:r>
            <a:r>
              <a:rPr lang="es-ES" sz="1200" b="0" dirty="0">
                <a:solidFill>
                  <a:srgbClr val="000000"/>
                </a:solidFill>
                <a:effectLst/>
                <a:latin typeface="Consolas" panose="020B0609020204030204" pitchFamily="49" charset="0"/>
              </a:rPr>
              <a:t>, </a:t>
            </a:r>
            <a:r>
              <a:rPr lang="es-ES" sz="1200" b="0" dirty="0" err="1">
                <a:solidFill>
                  <a:srgbClr val="001080"/>
                </a:solidFill>
                <a:effectLst/>
                <a:latin typeface="Consolas" panose="020B0609020204030204" pitchFamily="49" charset="0"/>
              </a:rPr>
              <a:t>alcada</a:t>
            </a: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a:t>
            </a:r>
            <a:r>
              <a:rPr lang="es-ES" sz="1200" b="0" dirty="0" err="1">
                <a:solidFill>
                  <a:srgbClr val="001080"/>
                </a:solidFill>
                <a:effectLst/>
                <a:latin typeface="Consolas" panose="020B0609020204030204" pitchFamily="49" charset="0"/>
              </a:rPr>
              <a:t>alcada</a:t>
            </a: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a:t>
            </a:r>
            <a:r>
              <a:rPr lang="es-ES" sz="1200" b="0" dirty="0" err="1">
                <a:solidFill>
                  <a:srgbClr val="001080"/>
                </a:solidFill>
                <a:effectLst/>
                <a:latin typeface="Consolas" panose="020B0609020204030204" pitchFamily="49" charset="0"/>
              </a:rPr>
              <a:t>alcada</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char</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car</a:t>
            </a:r>
            <a:r>
              <a:rPr lang="es-ES" sz="1200" b="0" dirty="0">
                <a:solidFill>
                  <a:srgbClr val="000000"/>
                </a:solidFill>
                <a:effectLst/>
                <a:latin typeface="Consolas" panose="020B0609020204030204" pitchFamily="49" charset="0"/>
              </a:rPr>
              <a:t> = </a:t>
            </a:r>
            <a:r>
              <a:rPr lang="es-ES" sz="1200" b="0" dirty="0">
                <a:solidFill>
                  <a:srgbClr val="A31515"/>
                </a:solidFill>
                <a:effectLst/>
                <a:latin typeface="Consolas" panose="020B0609020204030204" pitchFamily="49" charset="0"/>
              </a:rPr>
              <a:t>'c'</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795E26"/>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Caracter</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t>
            </a:r>
            <a:r>
              <a:rPr lang="es-ES" sz="1200" b="0" dirty="0">
                <a:solidFill>
                  <a:srgbClr val="A31515"/>
                </a:solidFill>
                <a:effectLst/>
                <a:latin typeface="Consolas" panose="020B0609020204030204" pitchFamily="49" charset="0"/>
              </a:rPr>
              <a:t> </a:t>
            </a:r>
            <a:r>
              <a:rPr lang="es-ES" sz="1200" b="0" dirty="0">
                <a:solidFill>
                  <a:srgbClr val="001080"/>
                </a:solidFill>
                <a:effectLst/>
                <a:latin typeface="Consolas" panose="020B0609020204030204" pitchFamily="49" charset="0"/>
              </a:rPr>
              <a:t>%d</a:t>
            </a:r>
            <a:r>
              <a:rPr lang="es-ES" sz="1200" b="0" dirty="0">
                <a:solidFill>
                  <a:srgbClr val="A31515"/>
                </a:solidFill>
                <a:effectLst/>
                <a:latin typeface="Consolas" panose="020B0609020204030204" pitchFamily="49" charset="0"/>
              </a:rPr>
              <a:t> </a:t>
            </a:r>
            <a:r>
              <a:rPr lang="es-ES" sz="1200" b="0" dirty="0">
                <a:solidFill>
                  <a:srgbClr val="EE0000"/>
                </a:solidFill>
                <a:effectLst/>
                <a:latin typeface="Consolas" panose="020B0609020204030204" pitchFamily="49" charset="0"/>
              </a:rPr>
              <a:t>\n</a:t>
            </a:r>
            <a:r>
              <a:rPr lang="es-ES" sz="1200" b="0" dirty="0">
                <a:solidFill>
                  <a:srgbClr val="A31515"/>
                </a:solidFill>
                <a:effectLst/>
                <a:latin typeface="Consolas" panose="020B0609020204030204" pitchFamily="49" charset="0"/>
              </a:rPr>
              <a:t>"</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car</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car</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bool</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casada</a:t>
            </a:r>
            <a:r>
              <a:rPr lang="es-ES" sz="1200" b="0" dirty="0">
                <a:solidFill>
                  <a:srgbClr val="000000"/>
                </a:solidFill>
                <a:effectLst/>
                <a:latin typeface="Consolas" panose="020B0609020204030204" pitchFamily="49" charset="0"/>
              </a:rPr>
              <a:t> = </a:t>
            </a:r>
            <a:r>
              <a:rPr lang="es-ES" sz="1200" b="0" dirty="0">
                <a:solidFill>
                  <a:srgbClr val="0000FF"/>
                </a:solidFill>
                <a:effectLst/>
                <a:latin typeface="Consolas" panose="020B0609020204030204" pitchFamily="49" charset="0"/>
              </a:rPr>
              <a:t>true</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795E26"/>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"La variable casada val </a:t>
            </a:r>
            <a:r>
              <a:rPr lang="es-ES" sz="1200" b="0" dirty="0">
                <a:solidFill>
                  <a:srgbClr val="001080"/>
                </a:solidFill>
                <a:effectLst/>
                <a:latin typeface="Consolas" panose="020B0609020204030204" pitchFamily="49" charset="0"/>
              </a:rPr>
              <a:t>%d</a:t>
            </a:r>
            <a:r>
              <a:rPr lang="es-ES" sz="1200" b="0" dirty="0">
                <a:solidFill>
                  <a:srgbClr val="A31515"/>
                </a:solidFill>
                <a:effectLst/>
                <a:latin typeface="Consolas" panose="020B0609020204030204" pitchFamily="49" charset="0"/>
              </a:rPr>
              <a:t>"</a:t>
            </a:r>
            <a:r>
              <a:rPr lang="es-ES" sz="1200" b="0" dirty="0">
                <a:solidFill>
                  <a:srgbClr val="000000"/>
                </a:solidFill>
                <a:effectLst/>
                <a:latin typeface="Consolas" panose="020B0609020204030204" pitchFamily="49" charset="0"/>
              </a:rPr>
              <a:t>, </a:t>
            </a:r>
            <a:r>
              <a:rPr lang="es-ES" sz="1200" b="0" dirty="0">
                <a:solidFill>
                  <a:srgbClr val="001080"/>
                </a:solidFill>
                <a:effectLst/>
                <a:latin typeface="Consolas" panose="020B0609020204030204" pitchFamily="49" charset="0"/>
              </a:rPr>
              <a:t>casada</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795E26"/>
                </a:solidFill>
                <a:effectLst/>
                <a:latin typeface="Consolas" panose="020B0609020204030204" pitchFamily="49" charset="0"/>
              </a:rPr>
              <a:t>acabament</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acabament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p:txBody>
      </p:sp>
      <p:pic>
        <p:nvPicPr>
          <p:cNvPr id="4" name="Imagen 3">
            <a:extLst>
              <a:ext uri="{FF2B5EF4-FFF2-40B4-BE49-F238E27FC236}">
                <a16:creationId xmlns:a16="http://schemas.microsoft.com/office/drawing/2014/main" id="{0139D880-CE79-D5EE-E0D3-982CFF6DE1BF}"/>
              </a:ext>
            </a:extLst>
          </p:cNvPr>
          <p:cNvPicPr>
            <a:picLocks noChangeAspect="1"/>
          </p:cNvPicPr>
          <p:nvPr/>
        </p:nvPicPr>
        <p:blipFill>
          <a:blip r:embed="rId2"/>
          <a:srcRect t="5174"/>
          <a:stretch/>
        </p:blipFill>
        <p:spPr>
          <a:xfrm>
            <a:off x="4572000" y="4292866"/>
            <a:ext cx="4258269" cy="2204147"/>
          </a:xfrm>
          <a:prstGeom prst="rect">
            <a:avLst/>
          </a:prstGeom>
          <a:ln>
            <a:solidFill>
              <a:schemeClr val="accent1"/>
            </a:solidFill>
          </a:ln>
        </p:spPr>
      </p:pic>
    </p:spTree>
    <p:extLst>
      <p:ext uri="{BB962C8B-B14F-4D97-AF65-F5344CB8AC3E}">
        <p14:creationId xmlns:p14="http://schemas.microsoft.com/office/powerpoint/2010/main" val="1718338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09" y="68388"/>
            <a:ext cx="8534400" cy="642130"/>
          </a:xfrm>
        </p:spPr>
        <p:txBody>
          <a:bodyPr/>
          <a:lstStyle/>
          <a:p>
            <a:r>
              <a:rPr lang="ca-ES" dirty="0"/>
              <a:t>Exemple:</a:t>
            </a:r>
          </a:p>
        </p:txBody>
      </p:sp>
      <p:sp>
        <p:nvSpPr>
          <p:cNvPr id="14" name="CuadroTexto 13">
            <a:extLst>
              <a:ext uri="{FF2B5EF4-FFF2-40B4-BE49-F238E27FC236}">
                <a16:creationId xmlns:a16="http://schemas.microsoft.com/office/drawing/2014/main" id="{C50F4D4E-5302-D27A-B1C6-57FA98C47ED2}"/>
              </a:ext>
            </a:extLst>
          </p:cNvPr>
          <p:cNvSpPr txBox="1"/>
          <p:nvPr/>
        </p:nvSpPr>
        <p:spPr>
          <a:xfrm>
            <a:off x="550975" y="619245"/>
            <a:ext cx="4451331" cy="2308324"/>
          </a:xfrm>
          <a:prstGeom prst="rect">
            <a:avLst/>
          </a:prstGeom>
          <a:noFill/>
          <a:ln>
            <a:solidFill>
              <a:schemeClr val="tx1"/>
            </a:solidFill>
            <a:prstDash val="dash"/>
            <a:extLst>
              <a:ext uri="{C807C97D-BFC1-408E-A445-0C87EB9F89A2}">
                <ask:lineSketchStyleProps xmlns:ask="http://schemas.microsoft.com/office/drawing/2018/sketchyshapes">
                  <ask:type>
                    <ask:lineSketchNone/>
                  </ask:type>
                </ask:lineSketchStyleProps>
              </a:ext>
            </a:extLst>
          </a:ln>
        </p:spPr>
        <p:txBody>
          <a:bodyPr wrap="square">
            <a:spAutoFit/>
          </a:bodyPr>
          <a:lstStyle/>
          <a:p>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main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a:t>
            </a:r>
            <a:r>
              <a:rPr lang="es-ES" sz="1200" b="0" dirty="0">
                <a:solidFill>
                  <a:srgbClr val="098658"/>
                </a:solidFill>
                <a:effectLst/>
                <a:latin typeface="Consolas" panose="020B0609020204030204" pitchFamily="49" charset="0"/>
              </a:rPr>
              <a:t>5</a:t>
            </a:r>
            <a:r>
              <a:rPr lang="es-ES" sz="1200" b="0" dirty="0">
                <a:solidFill>
                  <a:srgbClr val="000000"/>
                </a:solidFill>
                <a:effectLst/>
                <a:latin typeface="Consolas" panose="020B0609020204030204" pitchFamily="49" charset="0"/>
              </a:rPr>
              <a:t>, b=</a:t>
            </a:r>
            <a:r>
              <a:rPr lang="es-ES" sz="1200" b="0" dirty="0">
                <a:solidFill>
                  <a:srgbClr val="098658"/>
                </a:solidFill>
                <a:effectLst/>
                <a:latin typeface="Consolas" panose="020B0609020204030204" pitchFamily="49" charset="0"/>
              </a:rPr>
              <a:t>2</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pt-BR" sz="1200" b="0" dirty="0" err="1">
                <a:solidFill>
                  <a:srgbClr val="000000"/>
                </a:solidFill>
                <a:effectLst/>
                <a:latin typeface="Consolas" panose="020B0609020204030204" pitchFamily="49" charset="0"/>
              </a:rPr>
              <a:t>printf</a:t>
            </a:r>
            <a:r>
              <a:rPr lang="pt-BR" sz="1200" b="0" dirty="0">
                <a:solidFill>
                  <a:srgbClr val="000000"/>
                </a:solidFill>
                <a:effectLst/>
                <a:latin typeface="Consolas" panose="020B0609020204030204" pitchFamily="49" charset="0"/>
              </a:rPr>
              <a:t>(</a:t>
            </a:r>
            <a:r>
              <a:rPr lang="pt-BR" sz="1200" b="0" dirty="0">
                <a:solidFill>
                  <a:srgbClr val="A31515"/>
                </a:solidFill>
                <a:effectLst/>
                <a:latin typeface="Consolas" panose="020B0609020204030204" pitchFamily="49" charset="0"/>
              </a:rPr>
              <a:t>"%d + %d = %d"</a:t>
            </a:r>
            <a:r>
              <a:rPr lang="pt-BR" sz="1200" b="0" dirty="0">
                <a:solidFill>
                  <a:srgbClr val="000000"/>
                </a:solidFill>
                <a:effectLst/>
                <a:latin typeface="Consolas" panose="020B0609020204030204" pitchFamily="49" charset="0"/>
              </a:rPr>
              <a:t>,</a:t>
            </a:r>
            <a:r>
              <a:rPr lang="pt-BR" sz="1200" b="0" dirty="0" err="1">
                <a:solidFill>
                  <a:srgbClr val="000000"/>
                </a:solidFill>
                <a:effectLst/>
                <a:latin typeface="Consolas" panose="020B0609020204030204" pitchFamily="49" charset="0"/>
              </a:rPr>
              <a:t>a,b</a:t>
            </a:r>
            <a:r>
              <a:rPr lang="pt-BR" sz="1200" b="0" dirty="0">
                <a:solidFill>
                  <a:srgbClr val="000000"/>
                </a:solidFill>
                <a:effectLst/>
                <a:latin typeface="Consolas" panose="020B0609020204030204" pitchFamily="49" charset="0"/>
              </a:rPr>
              <a:t>, </a:t>
            </a:r>
            <a:r>
              <a:rPr lang="pt-BR" sz="1200" b="0" dirty="0" err="1">
                <a:solidFill>
                  <a:srgbClr val="000000"/>
                </a:solidFill>
                <a:effectLst/>
                <a:latin typeface="Consolas" panose="020B0609020204030204" pitchFamily="49" charset="0"/>
              </a:rPr>
              <a:t>a+b</a:t>
            </a:r>
            <a:r>
              <a:rPr lang="pt-BR" sz="1200" b="0" dirty="0">
                <a:solidFill>
                  <a:srgbClr val="000000"/>
                </a:solidFill>
                <a:effectLst/>
                <a:latin typeface="Consolas" panose="020B0609020204030204" pitchFamily="49" charset="0"/>
              </a:rPr>
              <a:t>);</a:t>
            </a:r>
          </a:p>
          <a:p>
            <a:r>
              <a:rPr lang="pt-BR" sz="1200" b="0" dirty="0">
                <a:solidFill>
                  <a:srgbClr val="000000"/>
                </a:solidFill>
                <a:effectLst/>
                <a:latin typeface="Consolas" panose="020B0609020204030204" pitchFamily="49" charset="0"/>
              </a:rPr>
              <a:t>    </a:t>
            </a:r>
            <a:r>
              <a:rPr lang="pt-BR" sz="1200" b="0" dirty="0" err="1">
                <a:solidFill>
                  <a:srgbClr val="000000"/>
                </a:solidFill>
                <a:effectLst/>
                <a:latin typeface="Consolas" panose="020B0609020204030204" pitchFamily="49" charset="0"/>
              </a:rPr>
              <a:t>printf</a:t>
            </a:r>
            <a:r>
              <a:rPr lang="pt-BR" sz="1200" b="0" dirty="0">
                <a:solidFill>
                  <a:srgbClr val="000000"/>
                </a:solidFill>
                <a:effectLst/>
                <a:latin typeface="Consolas" panose="020B0609020204030204" pitchFamily="49" charset="0"/>
              </a:rPr>
              <a:t>(</a:t>
            </a:r>
            <a:r>
              <a:rPr lang="pt-BR" sz="1200" b="0" dirty="0">
                <a:solidFill>
                  <a:srgbClr val="A31515"/>
                </a:solidFill>
                <a:effectLst/>
                <a:latin typeface="Consolas" panose="020B0609020204030204" pitchFamily="49" charset="0"/>
              </a:rPr>
              <a:t>"\</a:t>
            </a:r>
            <a:r>
              <a:rPr lang="pt-BR" sz="1200" b="0" dirty="0" err="1">
                <a:solidFill>
                  <a:srgbClr val="A31515"/>
                </a:solidFill>
                <a:effectLst/>
                <a:latin typeface="Consolas" panose="020B0609020204030204" pitchFamily="49" charset="0"/>
              </a:rPr>
              <a:t>n%d</a:t>
            </a:r>
            <a:r>
              <a:rPr lang="pt-BR" sz="1200" b="0" dirty="0">
                <a:solidFill>
                  <a:srgbClr val="A31515"/>
                </a:solidFill>
                <a:effectLst/>
                <a:latin typeface="Consolas" panose="020B0609020204030204" pitchFamily="49" charset="0"/>
              </a:rPr>
              <a:t> - %d = %d"</a:t>
            </a:r>
            <a:r>
              <a:rPr lang="pt-BR" sz="1200" b="0" dirty="0">
                <a:solidFill>
                  <a:srgbClr val="000000"/>
                </a:solidFill>
                <a:effectLst/>
                <a:latin typeface="Consolas" panose="020B0609020204030204" pitchFamily="49" charset="0"/>
              </a:rPr>
              <a:t>,</a:t>
            </a:r>
            <a:r>
              <a:rPr lang="pt-BR" sz="1200" b="0" dirty="0" err="1">
                <a:solidFill>
                  <a:srgbClr val="000000"/>
                </a:solidFill>
                <a:effectLst/>
                <a:latin typeface="Consolas" panose="020B0609020204030204" pitchFamily="49" charset="0"/>
              </a:rPr>
              <a:t>a,b</a:t>
            </a:r>
            <a:r>
              <a:rPr lang="pt-BR" sz="1200" b="0" dirty="0">
                <a:solidFill>
                  <a:srgbClr val="000000"/>
                </a:solidFill>
                <a:effectLst/>
                <a:latin typeface="Consolas" panose="020B0609020204030204" pitchFamily="49" charset="0"/>
              </a:rPr>
              <a:t>, </a:t>
            </a:r>
            <a:r>
              <a:rPr lang="pt-BR" sz="1200" b="0" dirty="0" err="1">
                <a:solidFill>
                  <a:srgbClr val="000000"/>
                </a:solidFill>
                <a:effectLst/>
                <a:latin typeface="Consolas" panose="020B0609020204030204" pitchFamily="49" charset="0"/>
              </a:rPr>
              <a:t>a-b</a:t>
            </a:r>
            <a:r>
              <a:rPr lang="pt-BR" sz="1200" b="0" dirty="0">
                <a:solidFill>
                  <a:srgbClr val="000000"/>
                </a:solidFill>
                <a:effectLst/>
                <a:latin typeface="Consolas" panose="020B0609020204030204" pitchFamily="49" charset="0"/>
              </a:rPr>
              <a:t>);</a:t>
            </a:r>
          </a:p>
          <a:p>
            <a:r>
              <a:rPr lang="pt-BR" sz="1200" b="0" dirty="0">
                <a:solidFill>
                  <a:srgbClr val="000000"/>
                </a:solidFill>
                <a:effectLst/>
                <a:latin typeface="Consolas" panose="020B0609020204030204" pitchFamily="49" charset="0"/>
              </a:rPr>
              <a:t>    </a:t>
            </a:r>
            <a:r>
              <a:rPr lang="pt-BR" sz="1200" b="0" dirty="0" err="1">
                <a:solidFill>
                  <a:srgbClr val="000000"/>
                </a:solidFill>
                <a:effectLst/>
                <a:latin typeface="Consolas" panose="020B0609020204030204" pitchFamily="49" charset="0"/>
              </a:rPr>
              <a:t>printf</a:t>
            </a:r>
            <a:r>
              <a:rPr lang="pt-BR" sz="1200" b="0" dirty="0">
                <a:solidFill>
                  <a:srgbClr val="000000"/>
                </a:solidFill>
                <a:effectLst/>
                <a:latin typeface="Consolas" panose="020B0609020204030204" pitchFamily="49" charset="0"/>
              </a:rPr>
              <a:t>(</a:t>
            </a:r>
            <a:r>
              <a:rPr lang="pt-BR" sz="1200" b="0" dirty="0">
                <a:solidFill>
                  <a:srgbClr val="A31515"/>
                </a:solidFill>
                <a:effectLst/>
                <a:latin typeface="Consolas" panose="020B0609020204030204" pitchFamily="49" charset="0"/>
              </a:rPr>
              <a:t>"\</a:t>
            </a:r>
            <a:r>
              <a:rPr lang="pt-BR" sz="1200" b="0" dirty="0" err="1">
                <a:solidFill>
                  <a:srgbClr val="A31515"/>
                </a:solidFill>
                <a:effectLst/>
                <a:latin typeface="Consolas" panose="020B0609020204030204" pitchFamily="49" charset="0"/>
              </a:rPr>
              <a:t>n%d</a:t>
            </a:r>
            <a:r>
              <a:rPr lang="pt-BR" sz="1200" b="0" dirty="0">
                <a:solidFill>
                  <a:srgbClr val="A31515"/>
                </a:solidFill>
                <a:effectLst/>
                <a:latin typeface="Consolas" panose="020B0609020204030204" pitchFamily="49" charset="0"/>
              </a:rPr>
              <a:t> * %d = %d"</a:t>
            </a:r>
            <a:r>
              <a:rPr lang="pt-BR" sz="1200" b="0" dirty="0">
                <a:solidFill>
                  <a:srgbClr val="000000"/>
                </a:solidFill>
                <a:effectLst/>
                <a:latin typeface="Consolas" panose="020B0609020204030204" pitchFamily="49" charset="0"/>
              </a:rPr>
              <a:t>,</a:t>
            </a:r>
            <a:r>
              <a:rPr lang="pt-BR" sz="1200" b="0" dirty="0" err="1">
                <a:solidFill>
                  <a:srgbClr val="000000"/>
                </a:solidFill>
                <a:effectLst/>
                <a:latin typeface="Consolas" panose="020B0609020204030204" pitchFamily="49" charset="0"/>
              </a:rPr>
              <a:t>a,b</a:t>
            </a:r>
            <a:r>
              <a:rPr lang="pt-BR" sz="1200" b="0" dirty="0">
                <a:solidFill>
                  <a:srgbClr val="000000"/>
                </a:solidFill>
                <a:effectLst/>
                <a:latin typeface="Consolas" panose="020B0609020204030204" pitchFamily="49" charset="0"/>
              </a:rPr>
              <a:t>, a*b);</a:t>
            </a:r>
          </a:p>
          <a:p>
            <a:r>
              <a:rPr lang="pt-BR" sz="1200" b="0" dirty="0">
                <a:solidFill>
                  <a:srgbClr val="000000"/>
                </a:solidFill>
                <a:effectLst/>
                <a:latin typeface="Consolas" panose="020B0609020204030204" pitchFamily="49" charset="0"/>
              </a:rPr>
              <a:t>    </a:t>
            </a:r>
            <a:r>
              <a:rPr lang="pt-BR" sz="1200" b="0" dirty="0" err="1">
                <a:solidFill>
                  <a:srgbClr val="000000"/>
                </a:solidFill>
                <a:effectLst/>
                <a:latin typeface="Consolas" panose="020B0609020204030204" pitchFamily="49" charset="0"/>
              </a:rPr>
              <a:t>printf</a:t>
            </a:r>
            <a:r>
              <a:rPr lang="pt-BR" sz="1200" b="0" dirty="0">
                <a:solidFill>
                  <a:srgbClr val="000000"/>
                </a:solidFill>
                <a:effectLst/>
                <a:latin typeface="Consolas" panose="020B0609020204030204" pitchFamily="49" charset="0"/>
              </a:rPr>
              <a:t>(</a:t>
            </a:r>
            <a:r>
              <a:rPr lang="pt-BR" sz="1200" b="0" dirty="0">
                <a:solidFill>
                  <a:srgbClr val="A31515"/>
                </a:solidFill>
                <a:effectLst/>
                <a:latin typeface="Consolas" panose="020B0609020204030204" pitchFamily="49" charset="0"/>
              </a:rPr>
              <a:t>"\</a:t>
            </a:r>
            <a:r>
              <a:rPr lang="pt-BR" sz="1200" b="0" dirty="0" err="1">
                <a:solidFill>
                  <a:srgbClr val="A31515"/>
                </a:solidFill>
                <a:effectLst/>
                <a:latin typeface="Consolas" panose="020B0609020204030204" pitchFamily="49" charset="0"/>
              </a:rPr>
              <a:t>n%d</a:t>
            </a:r>
            <a:r>
              <a:rPr lang="pt-BR" sz="1200" b="0" dirty="0">
                <a:solidFill>
                  <a:srgbClr val="A31515"/>
                </a:solidFill>
                <a:effectLst/>
                <a:latin typeface="Consolas" panose="020B0609020204030204" pitchFamily="49" charset="0"/>
              </a:rPr>
              <a:t> / %d = %d"</a:t>
            </a:r>
            <a:r>
              <a:rPr lang="pt-BR" sz="1200" b="0" dirty="0">
                <a:solidFill>
                  <a:srgbClr val="000000"/>
                </a:solidFill>
                <a:effectLst/>
                <a:latin typeface="Consolas" panose="020B0609020204030204" pitchFamily="49" charset="0"/>
              </a:rPr>
              <a:t>,</a:t>
            </a:r>
            <a:r>
              <a:rPr lang="pt-BR" sz="1200" b="0" dirty="0" err="1">
                <a:solidFill>
                  <a:srgbClr val="000000"/>
                </a:solidFill>
                <a:effectLst/>
                <a:latin typeface="Consolas" panose="020B0609020204030204" pitchFamily="49" charset="0"/>
              </a:rPr>
              <a:t>a,b</a:t>
            </a:r>
            <a:r>
              <a:rPr lang="pt-BR" sz="1200" b="0" dirty="0">
                <a:solidFill>
                  <a:srgbClr val="000000"/>
                </a:solidFill>
                <a:effectLst/>
                <a:latin typeface="Consolas" panose="020B0609020204030204" pitchFamily="49" charset="0"/>
              </a:rPr>
              <a:t>, a/b);</a:t>
            </a:r>
          </a:p>
          <a:p>
            <a:r>
              <a:rPr lang="pt-BR" sz="1200" b="0" dirty="0">
                <a:solidFill>
                  <a:srgbClr val="000000"/>
                </a:solidFill>
                <a:effectLst/>
                <a:latin typeface="Consolas" panose="020B0609020204030204" pitchFamily="49" charset="0"/>
              </a:rPr>
              <a:t>    </a:t>
            </a:r>
            <a:r>
              <a:rPr lang="pt-BR" sz="1200" b="0" dirty="0" err="1">
                <a:solidFill>
                  <a:srgbClr val="000000"/>
                </a:solidFill>
                <a:effectLst/>
                <a:latin typeface="Consolas" panose="020B0609020204030204" pitchFamily="49" charset="0"/>
              </a:rPr>
              <a:t>printf</a:t>
            </a:r>
            <a:r>
              <a:rPr lang="pt-BR" sz="1200" b="0" dirty="0">
                <a:solidFill>
                  <a:srgbClr val="000000"/>
                </a:solidFill>
                <a:effectLst/>
                <a:latin typeface="Consolas" panose="020B0609020204030204" pitchFamily="49" charset="0"/>
              </a:rPr>
              <a:t>(</a:t>
            </a:r>
            <a:r>
              <a:rPr lang="pt-BR" sz="1200" b="0" dirty="0">
                <a:solidFill>
                  <a:srgbClr val="A31515"/>
                </a:solidFill>
                <a:effectLst/>
                <a:latin typeface="Consolas" panose="020B0609020204030204" pitchFamily="49" charset="0"/>
              </a:rPr>
              <a:t>"\</a:t>
            </a:r>
            <a:r>
              <a:rPr lang="pt-BR" sz="1200" b="0" dirty="0" err="1">
                <a:solidFill>
                  <a:srgbClr val="A31515"/>
                </a:solidFill>
                <a:effectLst/>
                <a:latin typeface="Consolas" panose="020B0609020204030204" pitchFamily="49" charset="0"/>
              </a:rPr>
              <a:t>n%d</a:t>
            </a:r>
            <a:r>
              <a:rPr lang="pt-BR" sz="1200" b="0" dirty="0">
                <a:solidFill>
                  <a:srgbClr val="A31515"/>
                </a:solidFill>
                <a:effectLst/>
                <a:latin typeface="Consolas" panose="020B0609020204030204" pitchFamily="49" charset="0"/>
              </a:rPr>
              <a:t> </a:t>
            </a:r>
            <a:r>
              <a:rPr lang="pt-BR" sz="1200" b="0" dirty="0" err="1">
                <a:solidFill>
                  <a:srgbClr val="A31515"/>
                </a:solidFill>
                <a:effectLst/>
                <a:latin typeface="Consolas" panose="020B0609020204030204" pitchFamily="49" charset="0"/>
              </a:rPr>
              <a:t>residu</a:t>
            </a:r>
            <a:r>
              <a:rPr lang="pt-BR" sz="1200" b="0" dirty="0">
                <a:solidFill>
                  <a:srgbClr val="A31515"/>
                </a:solidFill>
                <a:effectLst/>
                <a:latin typeface="Consolas" panose="020B0609020204030204" pitchFamily="49" charset="0"/>
              </a:rPr>
              <a:t> %d = %d"</a:t>
            </a:r>
            <a:r>
              <a:rPr lang="pt-BR" sz="1200" b="0" dirty="0">
                <a:solidFill>
                  <a:srgbClr val="000000"/>
                </a:solidFill>
                <a:effectLst/>
                <a:latin typeface="Consolas" panose="020B0609020204030204" pitchFamily="49" charset="0"/>
              </a:rPr>
              <a:t>,</a:t>
            </a:r>
            <a:r>
              <a:rPr lang="pt-BR" sz="1200" b="0" dirty="0" err="1">
                <a:solidFill>
                  <a:srgbClr val="000000"/>
                </a:solidFill>
                <a:effectLst/>
                <a:latin typeface="Consolas" panose="020B0609020204030204" pitchFamily="49" charset="0"/>
              </a:rPr>
              <a:t>a,b,a%b</a:t>
            </a:r>
            <a:r>
              <a:rPr lang="pt-BR"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acabament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p:txBody>
      </p:sp>
      <p:sp>
        <p:nvSpPr>
          <p:cNvPr id="18" name="CuadroTexto 17">
            <a:extLst>
              <a:ext uri="{FF2B5EF4-FFF2-40B4-BE49-F238E27FC236}">
                <a16:creationId xmlns:a16="http://schemas.microsoft.com/office/drawing/2014/main" id="{A548AE82-F015-89C5-EC47-06CF53EC420E}"/>
              </a:ext>
            </a:extLst>
          </p:cNvPr>
          <p:cNvSpPr txBox="1"/>
          <p:nvPr/>
        </p:nvSpPr>
        <p:spPr>
          <a:xfrm>
            <a:off x="5002306" y="1060836"/>
            <a:ext cx="2277035" cy="1200329"/>
          </a:xfrm>
          <a:prstGeom prst="rect">
            <a:avLst/>
          </a:prstGeom>
          <a:noFill/>
        </p:spPr>
        <p:txBody>
          <a:bodyPr wrap="square">
            <a:spAutoFit/>
          </a:bodyPr>
          <a:lstStyle/>
          <a:p>
            <a:r>
              <a:rPr lang="es-ES" sz="1200" dirty="0"/>
              <a:t>5 + 2 = 7</a:t>
            </a:r>
          </a:p>
          <a:p>
            <a:r>
              <a:rPr lang="es-ES" sz="1200" dirty="0"/>
              <a:t>5 - 2 = 3</a:t>
            </a:r>
          </a:p>
          <a:p>
            <a:r>
              <a:rPr lang="es-ES" sz="1200" dirty="0"/>
              <a:t>5 * 2 = 10</a:t>
            </a:r>
          </a:p>
          <a:p>
            <a:r>
              <a:rPr lang="es-ES" sz="1200" dirty="0"/>
              <a:t>5 / 2 = 2</a:t>
            </a:r>
          </a:p>
          <a:p>
            <a:r>
              <a:rPr lang="es-ES" sz="1200" dirty="0"/>
              <a:t>5 </a:t>
            </a:r>
            <a:r>
              <a:rPr lang="es-ES" sz="1200" dirty="0" err="1"/>
              <a:t>residu</a:t>
            </a:r>
            <a:r>
              <a:rPr lang="es-ES" sz="1200" dirty="0"/>
              <a:t> 2 = 1</a:t>
            </a:r>
          </a:p>
          <a:p>
            <a:r>
              <a:rPr lang="es-ES" sz="1200" dirty="0" err="1"/>
              <a:t>Prem</a:t>
            </a:r>
            <a:r>
              <a:rPr lang="es-ES" sz="1200" dirty="0"/>
              <a:t> una tecla per </a:t>
            </a:r>
            <a:r>
              <a:rPr lang="es-ES" sz="1200" dirty="0" err="1"/>
              <a:t>finalitzar</a:t>
            </a:r>
            <a:endParaRPr lang="es-ES" sz="1200" dirty="0"/>
          </a:p>
        </p:txBody>
      </p:sp>
      <p:sp>
        <p:nvSpPr>
          <p:cNvPr id="5" name="CuadroTexto 4">
            <a:extLst>
              <a:ext uri="{FF2B5EF4-FFF2-40B4-BE49-F238E27FC236}">
                <a16:creationId xmlns:a16="http://schemas.microsoft.com/office/drawing/2014/main" id="{30AE67D9-91C9-6BBB-C5BE-053DD998BFC4}"/>
              </a:ext>
            </a:extLst>
          </p:cNvPr>
          <p:cNvSpPr txBox="1"/>
          <p:nvPr/>
        </p:nvSpPr>
        <p:spPr>
          <a:xfrm>
            <a:off x="550975" y="3054696"/>
            <a:ext cx="4451331" cy="2123658"/>
          </a:xfrm>
          <a:prstGeom prst="rect">
            <a:avLst/>
          </a:prstGeom>
          <a:noFill/>
          <a:ln>
            <a:solidFill>
              <a:schemeClr val="tx1"/>
            </a:solidFill>
            <a:prstDash val="dash"/>
          </a:ln>
        </p:spPr>
        <p:txBody>
          <a:bodyPr wrap="square">
            <a:spAutoFit/>
          </a:bodyPr>
          <a:lstStyle/>
          <a:p>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main(){</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 a=</a:t>
            </a:r>
            <a:r>
              <a:rPr lang="en-US" sz="1200" b="0" dirty="0">
                <a:solidFill>
                  <a:srgbClr val="098658"/>
                </a:solidFill>
                <a:effectLst/>
                <a:latin typeface="Consolas" panose="020B0609020204030204" pitchFamily="49" charset="0"/>
              </a:rPr>
              <a:t>5</a:t>
            </a:r>
            <a:r>
              <a:rPr lang="en-US" sz="1200" b="0" dirty="0">
                <a:solidFill>
                  <a:srgbClr val="000000"/>
                </a:solidFill>
                <a:effectLst/>
                <a:latin typeface="Consolas" panose="020B0609020204030204" pitchFamily="49" charset="0"/>
              </a:rPr>
              <a:t>, b=</a:t>
            </a:r>
            <a:r>
              <a:rPr lang="en-US" sz="1200" b="0" dirty="0">
                <a:solidFill>
                  <a:srgbClr val="098658"/>
                </a:solidFill>
                <a:effectLst/>
                <a:latin typeface="Consolas" panose="020B0609020204030204" pitchFamily="49" charset="0"/>
              </a:rPr>
              <a:t>2</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c=</a:t>
            </a:r>
            <a:r>
              <a:rPr lang="en-US" sz="1200" b="0" dirty="0">
                <a:solidFill>
                  <a:srgbClr val="098658"/>
                </a:solidFill>
                <a:effectLst/>
                <a:latin typeface="Consolas" panose="020B0609020204030204" pitchFamily="49" charset="0"/>
              </a:rPr>
              <a:t>5</a:t>
            </a:r>
            <a:r>
              <a:rPr lang="en-US" sz="1200" b="0" dirty="0">
                <a:solidFill>
                  <a:srgbClr val="000000"/>
                </a:solidFill>
                <a:effectLst/>
                <a:latin typeface="Consolas" panose="020B0609020204030204" pitchFamily="49" charset="0"/>
              </a:rPr>
              <a:t>, d=</a:t>
            </a:r>
            <a:r>
              <a:rPr lang="en-US" sz="1200" b="0" dirty="0">
                <a:solidFill>
                  <a:srgbClr val="098658"/>
                </a:solidFill>
                <a:effectLst/>
                <a:latin typeface="Consolas" panose="020B0609020204030204" pitchFamily="49" charset="0"/>
              </a:rPr>
              <a:t>2</a:t>
            </a:r>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"%f / %f = %f"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a,b,a</a:t>
            </a:r>
            <a:r>
              <a:rPr lang="en-US" sz="1200" b="0" dirty="0">
                <a:solidFill>
                  <a:srgbClr val="000000"/>
                </a:solidFill>
                <a:effectLst/>
                <a:latin typeface="Consolas" panose="020B0609020204030204" pitchFamily="49" charset="0"/>
              </a:rPr>
              <a:t>/b);</a:t>
            </a:r>
          </a:p>
          <a:p>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"\n\</a:t>
            </a:r>
            <a:r>
              <a:rPr lang="en-US" sz="1200" b="0" dirty="0" err="1">
                <a:solidFill>
                  <a:srgbClr val="A31515"/>
                </a:solidFill>
                <a:effectLst/>
                <a:latin typeface="Consolas" panose="020B0609020204030204" pitchFamily="49" charset="0"/>
              </a:rPr>
              <a:t>n%d</a:t>
            </a:r>
            <a:r>
              <a:rPr lang="en-US" sz="1200" b="0" dirty="0">
                <a:solidFill>
                  <a:srgbClr val="A31515"/>
                </a:solidFill>
                <a:effectLst/>
                <a:latin typeface="Consolas" panose="020B0609020204030204" pitchFamily="49" charset="0"/>
              </a:rPr>
              <a:t> / %d = %.2f"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c,d</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float</a:t>
            </a:r>
            <a:r>
              <a:rPr lang="en-US" sz="1200" b="0" dirty="0">
                <a:solidFill>
                  <a:srgbClr val="000000"/>
                </a:solidFill>
                <a:effectLst/>
                <a:latin typeface="Consolas" panose="020B0609020204030204" pitchFamily="49" charset="0"/>
              </a:rPr>
              <a:t>)c/d);</a:t>
            </a:r>
          </a:p>
          <a:p>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"\n\</a:t>
            </a:r>
            <a:r>
              <a:rPr lang="en-US" sz="1200" b="0" dirty="0" err="1">
                <a:solidFill>
                  <a:srgbClr val="A31515"/>
                </a:solidFill>
                <a:effectLst/>
                <a:latin typeface="Consolas" panose="020B0609020204030204" pitchFamily="49" charset="0"/>
              </a:rPr>
              <a:t>n%d</a:t>
            </a:r>
            <a:r>
              <a:rPr lang="en-US" sz="1200" b="0" dirty="0">
                <a:solidFill>
                  <a:srgbClr val="A31515"/>
                </a:solidFill>
                <a:effectLst/>
                <a:latin typeface="Consolas" panose="020B0609020204030204" pitchFamily="49" charset="0"/>
              </a:rPr>
              <a:t> / %d = %.2f"</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c,d</a:t>
            </a:r>
            <a:r>
              <a:rPr lang="en-U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1.0</a:t>
            </a:r>
            <a:r>
              <a:rPr lang="es-ES" sz="1200" b="0" dirty="0">
                <a:solidFill>
                  <a:srgbClr val="000000"/>
                </a:solidFill>
                <a:effectLst/>
                <a:latin typeface="Consolas" panose="020B0609020204030204" pitchFamily="49" charset="0"/>
              </a:rPr>
              <a:t>*c/d</a:t>
            </a:r>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acabament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t>
            </a:r>
          </a:p>
        </p:txBody>
      </p:sp>
      <p:sp>
        <p:nvSpPr>
          <p:cNvPr id="7" name="CuadroTexto 6">
            <a:extLst>
              <a:ext uri="{FF2B5EF4-FFF2-40B4-BE49-F238E27FC236}">
                <a16:creationId xmlns:a16="http://schemas.microsoft.com/office/drawing/2014/main" id="{83183C9A-4471-6CC0-067C-1097392F3235}"/>
              </a:ext>
            </a:extLst>
          </p:cNvPr>
          <p:cNvSpPr txBox="1"/>
          <p:nvPr/>
        </p:nvSpPr>
        <p:spPr>
          <a:xfrm>
            <a:off x="5067150" y="3747193"/>
            <a:ext cx="3025999" cy="646331"/>
          </a:xfrm>
          <a:prstGeom prst="rect">
            <a:avLst/>
          </a:prstGeom>
          <a:noFill/>
          <a:ln>
            <a:noFill/>
          </a:ln>
        </p:spPr>
        <p:txBody>
          <a:bodyPr wrap="square">
            <a:spAutoFit/>
          </a:bodyPr>
          <a:lstStyle/>
          <a:p>
            <a:r>
              <a:rPr lang="es-ES" sz="1200" dirty="0"/>
              <a:t>5.000000 / 2.000000 =2.500000</a:t>
            </a:r>
          </a:p>
          <a:p>
            <a:r>
              <a:rPr lang="es-ES" sz="1200" dirty="0"/>
              <a:t>5 / 2 = 2.50</a:t>
            </a:r>
          </a:p>
          <a:p>
            <a:r>
              <a:rPr lang="es-ES" sz="1200" dirty="0"/>
              <a:t>5 / 2 = 2.50</a:t>
            </a:r>
          </a:p>
        </p:txBody>
      </p:sp>
    </p:spTree>
    <p:extLst>
      <p:ext uri="{BB962C8B-B14F-4D97-AF65-F5344CB8AC3E}">
        <p14:creationId xmlns:p14="http://schemas.microsoft.com/office/powerpoint/2010/main" val="3286021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388"/>
            <a:ext cx="8534400" cy="642130"/>
          </a:xfrm>
        </p:spPr>
        <p:txBody>
          <a:bodyPr/>
          <a:lstStyle/>
          <a:p>
            <a:r>
              <a:rPr lang="ca-ES" dirty="0"/>
              <a:t>Exemple:</a:t>
            </a:r>
          </a:p>
        </p:txBody>
      </p:sp>
      <p:sp>
        <p:nvSpPr>
          <p:cNvPr id="4" name="CuadroTexto 3">
            <a:extLst>
              <a:ext uri="{FF2B5EF4-FFF2-40B4-BE49-F238E27FC236}">
                <a16:creationId xmlns:a16="http://schemas.microsoft.com/office/drawing/2014/main" id="{44A2E95E-305D-D49B-8E88-0B2610FCC3EE}"/>
              </a:ext>
            </a:extLst>
          </p:cNvPr>
          <p:cNvSpPr txBox="1"/>
          <p:nvPr/>
        </p:nvSpPr>
        <p:spPr>
          <a:xfrm>
            <a:off x="340659" y="710518"/>
            <a:ext cx="8639350" cy="5447645"/>
          </a:xfrm>
          <a:prstGeom prst="rect">
            <a:avLst/>
          </a:prstGeom>
          <a:noFill/>
          <a:ln>
            <a:solidFill>
              <a:schemeClr val="tx1"/>
            </a:solidFill>
            <a:prstDash val="dash"/>
          </a:ln>
        </p:spPr>
        <p:txBody>
          <a:bodyPr wrap="square">
            <a:spAutoFit/>
          </a:bodyPr>
          <a:lstStyle/>
          <a:p>
            <a:r>
              <a:rPr lang="es-ES" sz="1200" b="0" dirty="0">
                <a:solidFill>
                  <a:srgbClr val="0000FF"/>
                </a:solidFill>
                <a:effectLst/>
                <a:latin typeface="Consolas" panose="020B0609020204030204" pitchFamily="49" charset="0"/>
              </a:rPr>
              <a:t>#include </a:t>
            </a:r>
            <a:r>
              <a:rPr lang="es-ES" sz="1200" b="0" dirty="0">
                <a:solidFill>
                  <a:srgbClr val="A31515"/>
                </a:solidFill>
                <a:effectLst/>
                <a:latin typeface="Consolas" panose="020B0609020204030204" pitchFamily="49" charset="0"/>
              </a:rPr>
              <a:t>&lt;</a:t>
            </a:r>
            <a:r>
              <a:rPr lang="es-ES" sz="1200" b="0" dirty="0" err="1">
                <a:solidFill>
                  <a:srgbClr val="A31515"/>
                </a:solidFill>
                <a:effectLst/>
                <a:latin typeface="Consolas" panose="020B0609020204030204" pitchFamily="49" charset="0"/>
              </a:rPr>
              <a:t>stdio.h</a:t>
            </a:r>
            <a:r>
              <a:rPr lang="es-ES" sz="1200" b="0" dirty="0">
                <a:solidFill>
                  <a:srgbClr val="A31515"/>
                </a:solidFill>
                <a:effectLst/>
                <a:latin typeface="Consolas" panose="020B0609020204030204" pitchFamily="49" charset="0"/>
              </a:rPr>
              <a:t>&gt;</a:t>
            </a:r>
            <a:endParaRPr lang="es-ES" sz="1200" b="0" dirty="0">
              <a:solidFill>
                <a:srgbClr val="000000"/>
              </a:solidFill>
              <a:effectLst/>
              <a:latin typeface="Consolas" panose="020B0609020204030204" pitchFamily="49" charset="0"/>
            </a:endParaRPr>
          </a:p>
          <a:p>
            <a:r>
              <a:rPr lang="es-ES" sz="1200" b="0" dirty="0">
                <a:solidFill>
                  <a:srgbClr val="0000FF"/>
                </a:solidFill>
                <a:effectLst/>
                <a:latin typeface="Consolas" panose="020B0609020204030204" pitchFamily="49" charset="0"/>
              </a:rPr>
              <a:t>#include </a:t>
            </a:r>
            <a:r>
              <a:rPr lang="es-ES" sz="1200" b="0" dirty="0">
                <a:solidFill>
                  <a:srgbClr val="A31515"/>
                </a:solidFill>
                <a:effectLst/>
                <a:latin typeface="Consolas" panose="020B0609020204030204" pitchFamily="49" charset="0"/>
              </a:rPr>
              <a:t>&lt;</a:t>
            </a:r>
            <a:r>
              <a:rPr lang="es-ES" sz="1200" b="0" dirty="0" err="1">
                <a:solidFill>
                  <a:srgbClr val="A31515"/>
                </a:solidFill>
                <a:effectLst/>
                <a:latin typeface="Consolas" panose="020B0609020204030204" pitchFamily="49" charset="0"/>
              </a:rPr>
              <a:t>stdlib.h</a:t>
            </a:r>
            <a:r>
              <a:rPr lang="es-ES" sz="1200" b="0" dirty="0">
                <a:solidFill>
                  <a:srgbClr val="A31515"/>
                </a:solidFill>
                <a:effectLst/>
                <a:latin typeface="Consolas" panose="020B0609020204030204" pitchFamily="49" charset="0"/>
              </a:rPr>
              <a:t>&gt;</a:t>
            </a:r>
            <a:endParaRPr lang="es-ES" sz="1200" b="0" dirty="0">
              <a:solidFill>
                <a:srgbClr val="000000"/>
              </a:solidFill>
              <a:effectLst/>
              <a:latin typeface="Consolas" panose="020B0609020204030204" pitchFamily="49" charset="0"/>
            </a:endParaRPr>
          </a:p>
          <a:p>
            <a:r>
              <a:rPr lang="es-ES" sz="1200" b="0" dirty="0">
                <a:solidFill>
                  <a:srgbClr val="0000FF"/>
                </a:solidFill>
                <a:effectLst/>
                <a:latin typeface="Consolas" panose="020B0609020204030204" pitchFamily="49" charset="0"/>
              </a:rPr>
              <a:t>#include </a:t>
            </a:r>
            <a:r>
              <a:rPr lang="es-ES" sz="1200" b="0" dirty="0">
                <a:solidFill>
                  <a:srgbClr val="A31515"/>
                </a:solidFill>
                <a:effectLst/>
                <a:latin typeface="Consolas" panose="020B0609020204030204" pitchFamily="49" charset="0"/>
              </a:rPr>
              <a:t>&lt;</a:t>
            </a:r>
            <a:r>
              <a:rPr lang="es-ES" sz="1200" b="0" dirty="0" err="1">
                <a:solidFill>
                  <a:srgbClr val="A31515"/>
                </a:solidFill>
                <a:effectLst/>
                <a:latin typeface="Consolas" panose="020B0609020204030204" pitchFamily="49" charset="0"/>
              </a:rPr>
              <a:t>time.h</a:t>
            </a:r>
            <a:r>
              <a:rPr lang="es-ES" sz="1200" b="0" dirty="0">
                <a:solidFill>
                  <a:srgbClr val="A31515"/>
                </a:solidFill>
                <a:effectLst/>
                <a:latin typeface="Consolas" panose="020B0609020204030204" pitchFamily="49" charset="0"/>
              </a:rPr>
              <a:t>&gt;</a:t>
            </a:r>
            <a:r>
              <a:rPr lang="es-ES" sz="1200" b="0" dirty="0">
                <a:solidFill>
                  <a:srgbClr val="0000FF"/>
                </a:solidFill>
                <a:effectLst/>
                <a:latin typeface="Consolas" panose="020B0609020204030204" pitchFamily="49" charset="0"/>
              </a:rPr>
              <a:t> </a:t>
            </a:r>
            <a:endParaRPr lang="es-ES" sz="1200" b="0" dirty="0">
              <a:solidFill>
                <a:srgbClr val="000000"/>
              </a:solidFill>
              <a:effectLst/>
              <a:latin typeface="Consolas" panose="020B0609020204030204" pitchFamily="49" charset="0"/>
            </a:endParaRPr>
          </a:p>
          <a:p>
            <a:r>
              <a:rPr lang="es-ES" sz="1200" b="0" dirty="0">
                <a:solidFill>
                  <a:srgbClr val="0000FF"/>
                </a:solidFill>
                <a:effectLst/>
                <a:latin typeface="Consolas" panose="020B0609020204030204" pitchFamily="49" charset="0"/>
              </a:rPr>
              <a:t>#include </a:t>
            </a:r>
            <a:r>
              <a:rPr lang="es-ES" sz="1200" b="0" dirty="0">
                <a:solidFill>
                  <a:srgbClr val="A31515"/>
                </a:solidFill>
                <a:effectLst/>
                <a:latin typeface="Consolas" panose="020B0609020204030204" pitchFamily="49" charset="0"/>
              </a:rPr>
              <a:t>&lt;</a:t>
            </a:r>
            <a:r>
              <a:rPr lang="es-ES" sz="1200" b="0" dirty="0" err="1">
                <a:solidFill>
                  <a:srgbClr val="A31515"/>
                </a:solidFill>
                <a:effectLst/>
                <a:latin typeface="Consolas" panose="020B0609020204030204" pitchFamily="49" charset="0"/>
              </a:rPr>
              <a:t>stdbool.h</a:t>
            </a:r>
            <a:r>
              <a:rPr lang="es-ES" sz="1200" b="0" dirty="0">
                <a:solidFill>
                  <a:srgbClr val="A31515"/>
                </a:solidFill>
                <a:effectLst/>
                <a:latin typeface="Consolas" panose="020B0609020204030204" pitchFamily="49" charset="0"/>
              </a:rPr>
              <a:t>&gt;</a:t>
            </a:r>
            <a:r>
              <a:rPr lang="es-ES" sz="1200" b="0" dirty="0">
                <a:solidFill>
                  <a:srgbClr val="0000FF"/>
                </a:solidFill>
                <a:effectLst/>
                <a:latin typeface="Consolas" panose="020B0609020204030204" pitchFamily="49" charset="0"/>
              </a:rPr>
              <a:t> </a:t>
            </a:r>
            <a:endParaRPr lang="es-ES" sz="1200" b="0" dirty="0">
              <a:solidFill>
                <a:srgbClr val="000000"/>
              </a:solidFill>
              <a:effectLst/>
              <a:latin typeface="Consolas" panose="020B0609020204030204" pitchFamily="49" charset="0"/>
            </a:endParaRPr>
          </a:p>
          <a:p>
            <a:r>
              <a:rPr lang="es-ES" sz="1200" b="0" dirty="0">
                <a:solidFill>
                  <a:srgbClr val="0000FF"/>
                </a:solidFill>
                <a:effectLst/>
                <a:latin typeface="Consolas" panose="020B0609020204030204" pitchFamily="49" charset="0"/>
              </a:rPr>
              <a:t>#include </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rlutil.h</a:t>
            </a:r>
            <a:r>
              <a:rPr lang="es-ES" sz="1200" b="0" dirty="0">
                <a:solidFill>
                  <a:srgbClr val="A31515"/>
                </a:solidFill>
                <a:effectLst/>
                <a:latin typeface="Consolas" panose="020B0609020204030204" pitchFamily="49" charset="0"/>
              </a:rPr>
              <a:t>"</a:t>
            </a:r>
            <a:endParaRPr lang="es-ES" sz="1200" b="0" dirty="0">
              <a:solidFill>
                <a:srgbClr val="000000"/>
              </a:solidFill>
              <a:effectLst/>
              <a:latin typeface="Consolas" panose="020B0609020204030204" pitchFamily="49" charset="0"/>
            </a:endParaRPr>
          </a:p>
          <a:p>
            <a:r>
              <a:rPr lang="es-ES" sz="1200" b="0" dirty="0">
                <a:solidFill>
                  <a:srgbClr val="0000FF"/>
                </a:solidFill>
                <a:effectLst/>
                <a:latin typeface="Consolas" panose="020B0609020204030204" pitchFamily="49" charset="0"/>
              </a:rPr>
              <a:t>#include </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llibreriaPropia.h</a:t>
            </a:r>
            <a:r>
              <a:rPr lang="es-ES" sz="1200" b="0" dirty="0">
                <a:solidFill>
                  <a:srgbClr val="A31515"/>
                </a:solidFill>
                <a:effectLst/>
                <a:latin typeface="Consolas" panose="020B0609020204030204" pitchFamily="49" charset="0"/>
              </a:rPr>
              <a:t>"</a:t>
            </a:r>
            <a:endParaRPr lang="es-ES" sz="1200" b="0" dirty="0">
              <a:solidFill>
                <a:srgbClr val="000000"/>
              </a:solidFill>
              <a:effectLst/>
              <a:latin typeface="Consolas" panose="020B0609020204030204" pitchFamily="49" charset="0"/>
            </a:endParaRPr>
          </a:p>
          <a:p>
            <a:r>
              <a:rPr lang="es-ES" sz="1200" b="0" dirty="0">
                <a:solidFill>
                  <a:srgbClr val="0000FF"/>
                </a:solidFill>
                <a:effectLst/>
                <a:latin typeface="Consolas" panose="020B0609020204030204" pitchFamily="49" charset="0"/>
              </a:rPr>
              <a:t>#include </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llibreriaExercici.h</a:t>
            </a:r>
            <a:r>
              <a:rPr lang="es-ES" sz="1200" b="0" dirty="0">
                <a:solidFill>
                  <a:srgbClr val="A31515"/>
                </a:solidFill>
                <a:effectLst/>
                <a:latin typeface="Consolas" panose="020B0609020204030204" pitchFamily="49" charset="0"/>
              </a:rPr>
              <a:t>"</a:t>
            </a:r>
            <a:endParaRPr lang="es-ES" sz="1200" b="0" dirty="0">
              <a:solidFill>
                <a:srgbClr val="000000"/>
              </a:solidFill>
              <a:effectLst/>
              <a:latin typeface="Consolas" panose="020B0609020204030204" pitchFamily="49" charset="0"/>
            </a:endParaRPr>
          </a:p>
          <a:p>
            <a:br>
              <a:rPr lang="es-ES" sz="1200" b="0" dirty="0">
                <a:solidFill>
                  <a:srgbClr val="000000"/>
                </a:solidFill>
                <a:effectLst/>
                <a:latin typeface="Consolas" panose="020B0609020204030204" pitchFamily="49" charset="0"/>
              </a:rPr>
            </a:b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main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short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numSencerPetit</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a:t>
            </a:r>
            <a:r>
              <a:rPr lang="es-ES" sz="1200" b="0" dirty="0">
                <a:solidFill>
                  <a:srgbClr val="008000"/>
                </a:solidFill>
                <a:effectLst/>
                <a:latin typeface="Consolas" panose="020B0609020204030204" pitchFamily="49" charset="0"/>
              </a:rPr>
              <a:t>   //-32768 a 32767</a:t>
            </a:r>
            <a:endParaRPr lang="es-ES" sz="1200" b="0" dirty="0">
              <a:solidFill>
                <a:srgbClr val="000000"/>
              </a:solidFill>
              <a:effectLst/>
              <a:latin typeface="Consolas" panose="020B0609020204030204" pitchFamily="49" charset="0"/>
            </a:endParaRP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numSencer</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70000</a:t>
            </a:r>
            <a:r>
              <a:rPr lang="es-ES" sz="1200" b="0" dirty="0">
                <a:solidFill>
                  <a:srgbClr val="000000"/>
                </a:solidFill>
                <a:effectLst/>
                <a:latin typeface="Consolas" panose="020B0609020204030204" pitchFamily="49" charset="0"/>
              </a:rPr>
              <a:t>;</a:t>
            </a:r>
            <a:r>
              <a:rPr lang="es-ES" sz="1200" b="0" dirty="0">
                <a:solidFill>
                  <a:srgbClr val="008000"/>
                </a:solidFill>
                <a:effectLst/>
                <a:latin typeface="Consolas" panose="020B0609020204030204" pitchFamily="49" charset="0"/>
              </a:rPr>
              <a:t>      //-2147483648 a +2147483647</a:t>
            </a:r>
            <a:endParaRPr lang="es-ES" sz="1200" b="0" dirty="0">
              <a:solidFill>
                <a:srgbClr val="000000"/>
              </a:solidFill>
              <a:effectLst/>
              <a:latin typeface="Consolas" panose="020B0609020204030204" pitchFamily="49" charset="0"/>
            </a:endParaRP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long</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numSencerGran</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1048576</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float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numDecimal</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3.5</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double</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numDecimalDoble</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char</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caracter</a:t>
            </a:r>
            <a:r>
              <a:rPr lang="es-ES" sz="1200" b="0" dirty="0">
                <a:solidFill>
                  <a:srgbClr val="000000"/>
                </a:solidFill>
                <a:effectLst/>
                <a:latin typeface="Consolas" panose="020B0609020204030204" pitchFamily="49" charset="0"/>
              </a:rPr>
              <a:t> = </a:t>
            </a:r>
            <a:r>
              <a:rPr lang="es-ES" sz="1200" b="0" dirty="0">
                <a:solidFill>
                  <a:srgbClr val="A31515"/>
                </a:solidFill>
                <a:effectLst/>
                <a:latin typeface="Consolas" panose="020B0609020204030204" pitchFamily="49" charset="0"/>
              </a:rPr>
              <a:t>'Z'</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bool</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boolea</a:t>
            </a:r>
            <a:r>
              <a:rPr lang="es-ES" sz="1200" b="0" dirty="0">
                <a:solidFill>
                  <a:srgbClr val="000000"/>
                </a:solidFill>
                <a:effectLst/>
                <a:latin typeface="Consolas" panose="020B0609020204030204" pitchFamily="49" charset="0"/>
              </a:rPr>
              <a:t> = </a:t>
            </a:r>
            <a:r>
              <a:rPr lang="es-ES" sz="1200" b="0" dirty="0">
                <a:solidFill>
                  <a:srgbClr val="0000FF"/>
                </a:solidFill>
                <a:effectLst/>
                <a:latin typeface="Consolas" panose="020B0609020204030204" pitchFamily="49" charset="0"/>
              </a:rPr>
              <a:t>true</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dirty="0">
                <a:solidFill>
                  <a:srgbClr val="000000"/>
                </a:solidFill>
                <a:latin typeface="Consolas" panose="020B0609020204030204" pitchFamily="49" charset="0"/>
              </a:rPr>
              <a:t>    </a:t>
            </a:r>
            <a:r>
              <a:rPr lang="es-ES" sz="1200" b="0" dirty="0" err="1">
                <a:solidFill>
                  <a:srgbClr val="000000"/>
                </a:solidFill>
                <a:effectLst/>
                <a:latin typeface="Consolas" panose="020B0609020204030204" pitchFamily="49" charset="0"/>
              </a:rPr>
              <a:t>numDecimalDoble</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sqrt</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numSencer</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Arrel</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quadrada</a:t>
            </a:r>
            <a:r>
              <a:rPr lang="es-ES" sz="1200" b="0" dirty="0">
                <a:solidFill>
                  <a:srgbClr val="A31515"/>
                </a:solidFill>
                <a:effectLst/>
                <a:latin typeface="Consolas" panose="020B0609020204030204" pitchFamily="49" charset="0"/>
              </a:rPr>
              <a:t> de %d = %</a:t>
            </a:r>
            <a:r>
              <a:rPr lang="es-ES" sz="1200" b="0" dirty="0" err="1">
                <a:solidFill>
                  <a:srgbClr val="A31515"/>
                </a:solidFill>
                <a:effectLst/>
                <a:latin typeface="Consolas" panose="020B0609020204030204" pitchFamily="49" charset="0"/>
              </a:rPr>
              <a:t>lf</a:t>
            </a:r>
            <a:r>
              <a:rPr lang="es-ES" sz="1200" b="0" dirty="0">
                <a:solidFill>
                  <a:srgbClr val="A31515"/>
                </a:solidFill>
                <a:effectLst/>
                <a:latin typeface="Consolas" panose="020B0609020204030204" pitchFamily="49" charset="0"/>
              </a:rPr>
              <a:t>\n"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numSencer</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numDecimalDoble</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a:solidFill>
                  <a:srgbClr val="008000"/>
                </a:solidFill>
                <a:effectLst/>
                <a:latin typeface="Consolas" panose="020B0609020204030204" pitchFamily="49" charset="0"/>
              </a:rPr>
              <a:t>//</a:t>
            </a:r>
            <a:r>
              <a:rPr lang="es-ES" sz="1200" b="0" dirty="0" err="1">
                <a:solidFill>
                  <a:srgbClr val="008000"/>
                </a:solidFill>
                <a:effectLst/>
                <a:latin typeface="Consolas" panose="020B0609020204030204" pitchFamily="49" charset="0"/>
              </a:rPr>
              <a:t>Fem</a:t>
            </a:r>
            <a:r>
              <a:rPr lang="es-ES" sz="1200" b="0" dirty="0">
                <a:solidFill>
                  <a:srgbClr val="008000"/>
                </a:solidFill>
                <a:effectLst/>
                <a:latin typeface="Consolas" panose="020B0609020204030204" pitchFamily="49" charset="0"/>
              </a:rPr>
              <a:t> un </a:t>
            </a:r>
            <a:r>
              <a:rPr lang="es-ES" sz="1200" b="0" dirty="0" err="1">
                <a:solidFill>
                  <a:srgbClr val="008000"/>
                </a:solidFill>
                <a:effectLst/>
                <a:latin typeface="Consolas" panose="020B0609020204030204" pitchFamily="49" charset="0"/>
              </a:rPr>
              <a:t>cast</a:t>
            </a:r>
            <a:r>
              <a:rPr lang="es-ES" sz="1200" b="0" dirty="0">
                <a:solidFill>
                  <a:srgbClr val="008000"/>
                </a:solidFill>
                <a:effectLst/>
                <a:latin typeface="Consolas" panose="020B0609020204030204" pitchFamily="49" charset="0"/>
              </a:rPr>
              <a:t> de </a:t>
            </a:r>
            <a:r>
              <a:rPr lang="es-ES" sz="1200" b="0" dirty="0" err="1">
                <a:solidFill>
                  <a:srgbClr val="008000"/>
                </a:solidFill>
                <a:effectLst/>
                <a:latin typeface="Consolas" panose="020B0609020204030204" pitchFamily="49" charset="0"/>
              </a:rPr>
              <a:t>double</a:t>
            </a:r>
            <a:r>
              <a:rPr lang="es-ES" sz="1200" b="0" dirty="0">
                <a:solidFill>
                  <a:srgbClr val="008000"/>
                </a:solidFill>
                <a:effectLst/>
                <a:latin typeface="Consolas" panose="020B0609020204030204" pitchFamily="49" charset="0"/>
              </a:rPr>
              <a:t> a </a:t>
            </a:r>
            <a:r>
              <a:rPr lang="es-ES" sz="1200" b="0" dirty="0" err="1">
                <a:solidFill>
                  <a:srgbClr val="008000"/>
                </a:solidFill>
                <a:effectLst/>
                <a:latin typeface="Consolas" panose="020B0609020204030204" pitchFamily="49" charset="0"/>
              </a:rPr>
              <a:t>float</a:t>
            </a:r>
            <a:r>
              <a:rPr lang="es-ES" sz="1200" b="0" dirty="0">
                <a:solidFill>
                  <a:srgbClr val="008000"/>
                </a:solidFill>
                <a:effectLst/>
                <a:latin typeface="Consolas" panose="020B0609020204030204" pitchFamily="49" charset="0"/>
              </a:rPr>
              <a:t> (</a:t>
            </a:r>
            <a:r>
              <a:rPr lang="es-ES" sz="1200" b="0" dirty="0" err="1">
                <a:solidFill>
                  <a:srgbClr val="008000"/>
                </a:solidFill>
                <a:effectLst/>
                <a:latin typeface="Consolas" panose="020B0609020204030204" pitchFamily="49" charset="0"/>
              </a:rPr>
              <a:t>conversió</a:t>
            </a:r>
            <a:r>
              <a:rPr lang="es-ES" sz="1200" b="0" dirty="0">
                <a:solidFill>
                  <a:srgbClr val="008000"/>
                </a:solidFill>
                <a:effectLst/>
                <a:latin typeface="Consolas" panose="020B0609020204030204" pitchFamily="49" charset="0"/>
              </a:rPr>
              <a:t>)</a:t>
            </a:r>
            <a:endParaRPr lang="es-ES" sz="1200" b="0" dirty="0">
              <a:solidFill>
                <a:srgbClr val="000000"/>
              </a:solidFill>
              <a:effectLst/>
              <a:latin typeface="Consolas" panose="020B0609020204030204" pitchFamily="49" charset="0"/>
            </a:endParaRP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numDecimal</a:t>
            </a:r>
            <a:r>
              <a:rPr lang="es-ES" sz="1200" b="0" dirty="0">
                <a:solidFill>
                  <a:srgbClr val="000000"/>
                </a:solidFill>
                <a:effectLst/>
                <a:latin typeface="Consolas" panose="020B0609020204030204" pitchFamily="49" charset="0"/>
              </a:rPr>
              <a:t> = (</a:t>
            </a:r>
            <a:r>
              <a:rPr lang="es-ES" sz="1200" b="0" dirty="0" err="1">
                <a:solidFill>
                  <a:srgbClr val="0000FF"/>
                </a:solidFill>
                <a:effectLst/>
                <a:latin typeface="Consolas" panose="020B0609020204030204" pitchFamily="49" charset="0"/>
              </a:rPr>
              <a:t>float</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numDecimalDoble</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Arrel</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quadrada</a:t>
            </a:r>
            <a:r>
              <a:rPr lang="es-ES" sz="1200" b="0" dirty="0">
                <a:solidFill>
                  <a:srgbClr val="A31515"/>
                </a:solidFill>
                <a:effectLst/>
                <a:latin typeface="Consolas" panose="020B0609020204030204" pitchFamily="49" charset="0"/>
              </a:rPr>
              <a:t> de %d = %0.2f (</a:t>
            </a:r>
            <a:r>
              <a:rPr lang="es-ES" sz="1200" b="0" dirty="0" err="1">
                <a:solidFill>
                  <a:srgbClr val="A31515"/>
                </a:solidFill>
                <a:effectLst/>
                <a:latin typeface="Consolas" panose="020B0609020204030204" pitchFamily="49" charset="0"/>
              </a:rPr>
              <a:t>mostrant</a:t>
            </a:r>
            <a:r>
              <a:rPr lang="es-ES" sz="1200" b="0" dirty="0">
                <a:solidFill>
                  <a:srgbClr val="A31515"/>
                </a:solidFill>
                <a:effectLst/>
                <a:latin typeface="Consolas" panose="020B0609020204030204" pitchFamily="49" charset="0"/>
              </a:rPr>
              <a:t> 2 </a:t>
            </a:r>
            <a:r>
              <a:rPr lang="es-ES" sz="1200" b="0" dirty="0" err="1">
                <a:solidFill>
                  <a:srgbClr val="A31515"/>
                </a:solidFill>
                <a:effectLst/>
                <a:latin typeface="Consolas" panose="020B0609020204030204" pitchFamily="49" charset="0"/>
              </a:rPr>
              <a:t>decimals</a:t>
            </a:r>
            <a:r>
              <a:rPr lang="es-ES" sz="1200" b="0" dirty="0">
                <a:solidFill>
                  <a:srgbClr val="A31515"/>
                </a:solidFill>
                <a:effectLst/>
                <a:latin typeface="Consolas" panose="020B0609020204030204" pitchFamily="49" charset="0"/>
              </a:rPr>
              <a:t>)\n"</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numSencer</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numDecimal</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ld</a:t>
            </a:r>
            <a:r>
              <a:rPr lang="es-ES" sz="1200" b="0" dirty="0">
                <a:solidFill>
                  <a:srgbClr val="A31515"/>
                </a:solidFill>
                <a:effectLst/>
                <a:latin typeface="Consolas" panose="020B0609020204030204" pitchFamily="49" charset="0"/>
              </a:rPr>
              <a:t> - %</a:t>
            </a:r>
            <a:r>
              <a:rPr lang="es-ES" sz="1200" b="0" dirty="0" err="1">
                <a:solidFill>
                  <a:srgbClr val="A31515"/>
                </a:solidFill>
                <a:effectLst/>
                <a:latin typeface="Consolas" panose="020B0609020204030204" pitchFamily="49" charset="0"/>
              </a:rPr>
              <a:t>hd</a:t>
            </a:r>
            <a:r>
              <a:rPr lang="es-ES" sz="1200" b="0" dirty="0">
                <a:solidFill>
                  <a:srgbClr val="A31515"/>
                </a:solidFill>
                <a:effectLst/>
                <a:latin typeface="Consolas" panose="020B0609020204030204" pitchFamily="49" charset="0"/>
              </a:rPr>
              <a:t> = %d\n"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numSencerGran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numSencerPetit</a:t>
            </a: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a:t>
            </a:r>
            <a:r>
              <a:rPr lang="es-ES" sz="1200" b="0" dirty="0" err="1">
                <a:solidFill>
                  <a:srgbClr val="000000"/>
                </a:solidFill>
                <a:effectLst/>
                <a:latin typeface="Consolas" panose="020B0609020204030204" pitchFamily="49" charset="0"/>
              </a:rPr>
              <a:t>numSencerGran</a:t>
            </a:r>
            <a:r>
              <a:rPr lang="es-ES" sz="1200" b="0" dirty="0">
                <a:solidFill>
                  <a:srgbClr val="000000"/>
                </a:solidFill>
                <a:effectLst/>
                <a:latin typeface="Consolas" panose="020B0609020204030204" pitchFamily="49" charset="0"/>
              </a:rPr>
              <a:t> - </a:t>
            </a:r>
            <a:r>
              <a:rPr lang="es-ES" sz="1200" b="0" dirty="0" err="1">
                <a:solidFill>
                  <a:srgbClr val="000000"/>
                </a:solidFill>
                <a:effectLst/>
                <a:latin typeface="Consolas" panose="020B0609020204030204" pitchFamily="49" charset="0"/>
              </a:rPr>
              <a:t>numSencerPetit</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acabament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p:txBody>
      </p:sp>
      <p:sp>
        <p:nvSpPr>
          <p:cNvPr id="8" name="CuadroTexto 7">
            <a:extLst>
              <a:ext uri="{FF2B5EF4-FFF2-40B4-BE49-F238E27FC236}">
                <a16:creationId xmlns:a16="http://schemas.microsoft.com/office/drawing/2014/main" id="{3AAD58C8-AE16-9684-6B8A-6945FF1BF300}"/>
              </a:ext>
            </a:extLst>
          </p:cNvPr>
          <p:cNvSpPr txBox="1"/>
          <p:nvPr/>
        </p:nvSpPr>
        <p:spPr>
          <a:xfrm>
            <a:off x="2456329" y="5650331"/>
            <a:ext cx="3908612" cy="1015663"/>
          </a:xfrm>
          <a:prstGeom prst="rect">
            <a:avLst/>
          </a:prstGeom>
          <a:noFill/>
          <a:ln>
            <a:solidFill>
              <a:schemeClr val="tx1"/>
            </a:solidFill>
          </a:ln>
        </p:spPr>
        <p:txBody>
          <a:bodyPr wrap="square">
            <a:spAutoFit/>
          </a:bodyPr>
          <a:lstStyle/>
          <a:p>
            <a:r>
              <a:rPr lang="es-ES" sz="1200" dirty="0" err="1"/>
              <a:t>Arrel</a:t>
            </a:r>
            <a:r>
              <a:rPr lang="es-ES" sz="1200" dirty="0"/>
              <a:t> </a:t>
            </a:r>
            <a:r>
              <a:rPr lang="es-ES" sz="1200" dirty="0" err="1"/>
              <a:t>quadrada</a:t>
            </a:r>
            <a:r>
              <a:rPr lang="es-ES" sz="1200" dirty="0"/>
              <a:t> de 70000 = 264.575131</a:t>
            </a:r>
          </a:p>
          <a:p>
            <a:r>
              <a:rPr lang="es-ES" sz="1200" dirty="0" err="1"/>
              <a:t>Arrel</a:t>
            </a:r>
            <a:r>
              <a:rPr lang="es-ES" sz="1200" dirty="0"/>
              <a:t> </a:t>
            </a:r>
            <a:r>
              <a:rPr lang="es-ES" sz="1200" dirty="0" err="1"/>
              <a:t>quadrada</a:t>
            </a:r>
            <a:r>
              <a:rPr lang="es-ES" sz="1200" dirty="0"/>
              <a:t> de 70000 = 264.58 (</a:t>
            </a:r>
            <a:r>
              <a:rPr lang="es-ES" sz="1200" dirty="0" err="1"/>
              <a:t>mostrant</a:t>
            </a:r>
            <a:r>
              <a:rPr lang="es-ES" sz="1200" dirty="0"/>
              <a:t> 2 </a:t>
            </a:r>
            <a:r>
              <a:rPr lang="es-ES" sz="1200" dirty="0" err="1"/>
              <a:t>decimals</a:t>
            </a:r>
            <a:r>
              <a:rPr lang="es-ES" sz="1200" dirty="0"/>
              <a:t>)</a:t>
            </a:r>
          </a:p>
          <a:p>
            <a:r>
              <a:rPr lang="es-ES" sz="1200" dirty="0"/>
              <a:t>1048576 - 1 = 1048575</a:t>
            </a:r>
          </a:p>
          <a:p>
            <a:endParaRPr lang="es-ES" sz="1200" dirty="0"/>
          </a:p>
          <a:p>
            <a:r>
              <a:rPr lang="es-ES" sz="1200" dirty="0" err="1"/>
              <a:t>Prem</a:t>
            </a:r>
            <a:r>
              <a:rPr lang="es-ES" sz="1200" dirty="0"/>
              <a:t> una tecla per </a:t>
            </a:r>
            <a:r>
              <a:rPr lang="es-ES" sz="1200" dirty="0" err="1"/>
              <a:t>finalitzar</a:t>
            </a:r>
            <a:endParaRPr lang="es-ES" sz="1200" dirty="0"/>
          </a:p>
        </p:txBody>
      </p:sp>
    </p:spTree>
    <p:extLst>
      <p:ext uri="{BB962C8B-B14F-4D97-AF65-F5344CB8AC3E}">
        <p14:creationId xmlns:p14="http://schemas.microsoft.com/office/powerpoint/2010/main" val="1677969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0EAE6D3-BBA7-33F6-421D-619F75554CF6}"/>
              </a:ext>
            </a:extLst>
          </p:cNvPr>
          <p:cNvSpPr>
            <a:spLocks noChangeArrowheads="1"/>
          </p:cNvSpPr>
          <p:nvPr/>
        </p:nvSpPr>
        <p:spPr bwMode="auto">
          <a:xfrm>
            <a:off x="723900" y="2452829"/>
            <a:ext cx="39052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a:t>
            </a:r>
          </a:p>
        </p:txBody>
      </p:sp>
      <p:sp>
        <p:nvSpPr>
          <p:cNvPr id="8" name="Título 7">
            <a:extLst>
              <a:ext uri="{FF2B5EF4-FFF2-40B4-BE49-F238E27FC236}">
                <a16:creationId xmlns:a16="http://schemas.microsoft.com/office/drawing/2014/main" id="{5D9BE088-8FB4-7E8A-04BF-93E90BA37012}"/>
              </a:ext>
            </a:extLst>
          </p:cNvPr>
          <p:cNvSpPr>
            <a:spLocks noGrp="1"/>
          </p:cNvSpPr>
          <p:nvPr>
            <p:ph type="title"/>
          </p:nvPr>
        </p:nvSpPr>
        <p:spPr>
          <a:xfrm>
            <a:off x="414338" y="251596"/>
            <a:ext cx="8534400" cy="642130"/>
          </a:xfrm>
        </p:spPr>
        <p:txBody>
          <a:bodyPr/>
          <a:lstStyle/>
          <a:p>
            <a:r>
              <a:rPr lang="es-ES" dirty="0" err="1"/>
              <a:t>Bool</a:t>
            </a:r>
            <a:endParaRPr lang="es-ES" dirty="0"/>
          </a:p>
        </p:txBody>
      </p:sp>
      <p:sp>
        <p:nvSpPr>
          <p:cNvPr id="13" name="CuadroTexto 12">
            <a:extLst>
              <a:ext uri="{FF2B5EF4-FFF2-40B4-BE49-F238E27FC236}">
                <a16:creationId xmlns:a16="http://schemas.microsoft.com/office/drawing/2014/main" id="{37E05D04-AE9C-8DC8-BC8B-89468503366E}"/>
              </a:ext>
            </a:extLst>
          </p:cNvPr>
          <p:cNvSpPr txBox="1"/>
          <p:nvPr/>
        </p:nvSpPr>
        <p:spPr>
          <a:xfrm>
            <a:off x="414338" y="1043678"/>
            <a:ext cx="8005762" cy="5123205"/>
          </a:xfrm>
          <a:prstGeom prst="rect">
            <a:avLst/>
          </a:prstGeom>
          <a:noFill/>
          <a:ln>
            <a:solidFill>
              <a:schemeClr val="tx1"/>
            </a:solidFill>
            <a:prstDash val="dash"/>
          </a:ln>
        </p:spPr>
        <p:txBody>
          <a:bodyPr wrap="square" numCol="2">
            <a:noAutofit/>
          </a:bodyPr>
          <a:lstStyle/>
          <a:p>
            <a:r>
              <a:rPr lang="es-ES" sz="1600" b="0" dirty="0" err="1">
                <a:solidFill>
                  <a:srgbClr val="0000FF"/>
                </a:solidFill>
                <a:effectLst/>
                <a:latin typeface="Consolas" panose="020B0609020204030204" pitchFamily="49" charset="0"/>
              </a:rPr>
              <a:t>int</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main</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SetConsoleOutputCP</a:t>
            </a:r>
            <a:r>
              <a:rPr lang="es-ES" sz="1600" b="0" dirty="0">
                <a:solidFill>
                  <a:srgbClr val="000000"/>
                </a:solidFill>
                <a:effectLst/>
                <a:latin typeface="Consolas" panose="020B0609020204030204" pitchFamily="49" charset="0"/>
              </a:rPr>
              <a:t>(</a:t>
            </a:r>
            <a:r>
              <a:rPr lang="es-ES" sz="1600" b="0" dirty="0">
                <a:solidFill>
                  <a:srgbClr val="0000FF"/>
                </a:solidFill>
                <a:effectLst/>
                <a:latin typeface="Consolas" panose="020B0609020204030204" pitchFamily="49" charset="0"/>
              </a:rPr>
              <a:t>CP_UTF8</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SetConsoleCP</a:t>
            </a:r>
            <a:r>
              <a:rPr lang="es-ES" sz="1600" b="0" dirty="0">
                <a:solidFill>
                  <a:srgbClr val="000000"/>
                </a:solidFill>
                <a:effectLst/>
                <a:latin typeface="Consolas" panose="020B0609020204030204" pitchFamily="49" charset="0"/>
              </a:rPr>
              <a:t>(</a:t>
            </a:r>
            <a:r>
              <a:rPr lang="es-ES" sz="1600" b="0" dirty="0">
                <a:solidFill>
                  <a:srgbClr val="0000FF"/>
                </a:solidFill>
                <a:effectLst/>
                <a:latin typeface="Consolas" panose="020B0609020204030204" pitchFamily="49" charset="0"/>
              </a:rPr>
              <a:t>CP_UTF8</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srand</a:t>
            </a:r>
            <a:r>
              <a:rPr lang="es-ES" sz="1600" b="0" dirty="0">
                <a:solidFill>
                  <a:srgbClr val="000000"/>
                </a:solidFill>
                <a:effectLst/>
                <a:latin typeface="Consolas" panose="020B0609020204030204" pitchFamily="49" charset="0"/>
              </a:rPr>
              <a:t>(time(</a:t>
            </a:r>
            <a:r>
              <a:rPr lang="es-ES" sz="1600" b="0" dirty="0">
                <a:solidFill>
                  <a:srgbClr val="0000FF"/>
                </a:solidFill>
                <a:effectLst/>
                <a:latin typeface="Consolas" panose="020B0609020204030204" pitchFamily="49" charset="0"/>
              </a:rPr>
              <a:t>NULL</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bool</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plou</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int</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plovent</a:t>
            </a:r>
            <a:r>
              <a:rPr lang="es-ES" sz="1600" b="0" dirty="0">
                <a:solidFill>
                  <a:srgbClr val="000000"/>
                </a:solidFill>
                <a:effectLst/>
                <a:latin typeface="Consolas" panose="020B0609020204030204" pitchFamily="49" charset="0"/>
              </a:rPr>
              <a:t>;</a:t>
            </a:r>
          </a:p>
          <a:p>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printf</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a:t>
            </a:r>
            <a:r>
              <a:rPr lang="es-ES" sz="1600" b="0" dirty="0" err="1">
                <a:solidFill>
                  <a:srgbClr val="A31515"/>
                </a:solidFill>
                <a:effectLst/>
                <a:latin typeface="Consolas" panose="020B0609020204030204" pitchFamily="49" charset="0"/>
              </a:rPr>
              <a:t>Plou</a:t>
            </a:r>
            <a:r>
              <a:rPr lang="es-ES" sz="1600" b="0" dirty="0">
                <a:solidFill>
                  <a:srgbClr val="A31515"/>
                </a:solidFill>
                <a:effectLst/>
                <a:latin typeface="Consolas" panose="020B0609020204030204" pitchFamily="49" charset="0"/>
              </a:rPr>
              <a:t>? (0/1): "</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scanf</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"%d"</a:t>
            </a:r>
            <a:r>
              <a:rPr lang="es-ES" sz="1600" b="0" dirty="0">
                <a:solidFill>
                  <a:srgbClr val="000000"/>
                </a:solidFill>
                <a:effectLst/>
                <a:latin typeface="Consolas" panose="020B0609020204030204" pitchFamily="49" charset="0"/>
              </a:rPr>
              <a:t>,&amp;</a:t>
            </a:r>
            <a:r>
              <a:rPr lang="es-ES" sz="1600" b="0" dirty="0" err="1">
                <a:solidFill>
                  <a:srgbClr val="000000"/>
                </a:solidFill>
                <a:effectLst/>
                <a:latin typeface="Consolas" panose="020B0609020204030204" pitchFamily="49" charset="0"/>
              </a:rPr>
              <a:t>plovent</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if</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plovent</a:t>
            </a:r>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r>
              <a:rPr lang="es-ES" sz="1600" b="0" dirty="0">
                <a:solidFill>
                  <a:srgbClr val="008000"/>
                </a:solidFill>
                <a:effectLst/>
                <a:latin typeface="Consolas" panose="020B0609020204030204" pitchFamily="49" charset="0"/>
              </a:rPr>
              <a:t>//-34, 78</a:t>
            </a:r>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plou</a:t>
            </a:r>
            <a:r>
              <a:rPr lang="es-ES" sz="1600" b="0" dirty="0">
                <a:solidFill>
                  <a:srgbClr val="000000"/>
                </a:solidFill>
                <a:effectLst/>
                <a:latin typeface="Consolas" panose="020B0609020204030204" pitchFamily="49" charset="0"/>
              </a:rPr>
              <a:t>=</a:t>
            </a:r>
            <a:r>
              <a:rPr lang="es-ES" sz="1600" b="0" dirty="0">
                <a:solidFill>
                  <a:srgbClr val="0000FF"/>
                </a:solidFill>
                <a:effectLst/>
                <a:latin typeface="Consolas" panose="020B0609020204030204" pitchFamily="49" charset="0"/>
              </a:rPr>
              <a:t>true</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else</a:t>
            </a:r>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r>
              <a:rPr lang="es-ES" sz="1600" b="0" dirty="0">
                <a:solidFill>
                  <a:srgbClr val="008000"/>
                </a:solidFill>
                <a:effectLst/>
                <a:latin typeface="Consolas" panose="020B0609020204030204" pitchFamily="49" charset="0"/>
              </a:rPr>
              <a:t>//0</a:t>
            </a:r>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plou</a:t>
            </a:r>
            <a:r>
              <a:rPr lang="es-ES" sz="1600" b="0" dirty="0">
                <a:solidFill>
                  <a:srgbClr val="000000"/>
                </a:solidFill>
                <a:effectLst/>
                <a:latin typeface="Consolas" panose="020B0609020204030204" pitchFamily="49" charset="0"/>
              </a:rPr>
              <a:t>=</a:t>
            </a:r>
            <a:r>
              <a:rPr lang="es-ES" sz="1600" b="0" dirty="0">
                <a:solidFill>
                  <a:srgbClr val="0000FF"/>
                </a:solidFill>
                <a:effectLst/>
                <a:latin typeface="Consolas" panose="020B0609020204030204" pitchFamily="49" charset="0"/>
              </a:rPr>
              <a:t>false</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p>
          <a:p>
            <a:br>
              <a:rPr lang="es-ES" sz="1600" b="0" dirty="0">
                <a:solidFill>
                  <a:srgbClr val="000000"/>
                </a:solidFill>
                <a:effectLst/>
                <a:latin typeface="Consolas" panose="020B0609020204030204" pitchFamily="49" charset="0"/>
              </a:rPr>
            </a:br>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if</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plovent</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1</a:t>
            </a:r>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r>
              <a:rPr lang="es-ES" sz="1600" b="0" dirty="0">
                <a:solidFill>
                  <a:srgbClr val="008000"/>
                </a:solidFill>
                <a:effectLst/>
                <a:latin typeface="Consolas" panose="020B0609020204030204" pitchFamily="49" charset="0"/>
              </a:rPr>
              <a:t>//1</a:t>
            </a:r>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plou</a:t>
            </a:r>
            <a:r>
              <a:rPr lang="es-ES" sz="1600" b="0" dirty="0">
                <a:solidFill>
                  <a:srgbClr val="000000"/>
                </a:solidFill>
                <a:effectLst/>
                <a:latin typeface="Consolas" panose="020B0609020204030204" pitchFamily="49" charset="0"/>
              </a:rPr>
              <a:t>=</a:t>
            </a:r>
            <a:r>
              <a:rPr lang="es-ES" sz="1600" b="0" dirty="0">
                <a:solidFill>
                  <a:srgbClr val="0000FF"/>
                </a:solidFill>
                <a:effectLst/>
                <a:latin typeface="Consolas" panose="020B0609020204030204" pitchFamily="49" charset="0"/>
              </a:rPr>
              <a:t>true</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else</a:t>
            </a:r>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        </a:t>
            </a:r>
            <a:r>
              <a:rPr lang="es-ES" sz="1600" b="0" dirty="0">
                <a:solidFill>
                  <a:srgbClr val="008000"/>
                </a:solidFill>
                <a:effectLst/>
                <a:latin typeface="Consolas" panose="020B0609020204030204" pitchFamily="49" charset="0"/>
              </a:rPr>
              <a:t>//-56 ,0, 45</a:t>
            </a:r>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        </a:t>
            </a:r>
            <a:r>
              <a:rPr lang="es-ES" sz="1600" b="0" dirty="0">
                <a:solidFill>
                  <a:srgbClr val="008000"/>
                </a:solidFill>
                <a:effectLst/>
                <a:latin typeface="Consolas" panose="020B0609020204030204" pitchFamily="49" charset="0"/>
              </a:rPr>
              <a:t>// </a:t>
            </a:r>
            <a:r>
              <a:rPr lang="es-ES" sz="1600" b="0" dirty="0" err="1">
                <a:solidFill>
                  <a:srgbClr val="008000"/>
                </a:solidFill>
                <a:effectLst/>
                <a:latin typeface="Consolas" panose="020B0609020204030204" pitchFamily="49" charset="0"/>
              </a:rPr>
              <a:t>tots</a:t>
            </a:r>
            <a:r>
              <a:rPr lang="es-ES" sz="1600" b="0" dirty="0">
                <a:solidFill>
                  <a:srgbClr val="008000"/>
                </a:solidFill>
                <a:effectLst/>
                <a:latin typeface="Consolas" panose="020B0609020204030204" pitchFamily="49" charset="0"/>
              </a:rPr>
              <a:t> </a:t>
            </a:r>
            <a:r>
              <a:rPr lang="es-ES" sz="1600" b="0" dirty="0" err="1">
                <a:solidFill>
                  <a:srgbClr val="008000"/>
                </a:solidFill>
                <a:effectLst/>
                <a:latin typeface="Consolas" panose="020B0609020204030204" pitchFamily="49" charset="0"/>
              </a:rPr>
              <a:t>menys</a:t>
            </a:r>
            <a:r>
              <a:rPr lang="es-ES" sz="1600" b="0" dirty="0">
                <a:solidFill>
                  <a:srgbClr val="008000"/>
                </a:solidFill>
                <a:effectLst/>
                <a:latin typeface="Consolas" panose="020B0609020204030204" pitchFamily="49" charset="0"/>
              </a:rPr>
              <a:t> l'1</a:t>
            </a:r>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plou</a:t>
            </a:r>
            <a:r>
              <a:rPr lang="es-ES" sz="1600" b="0" dirty="0">
                <a:solidFill>
                  <a:srgbClr val="000000"/>
                </a:solidFill>
                <a:effectLst/>
                <a:latin typeface="Consolas" panose="020B0609020204030204" pitchFamily="49" charset="0"/>
              </a:rPr>
              <a:t>=</a:t>
            </a:r>
            <a:r>
              <a:rPr lang="es-ES" sz="1600" b="0" dirty="0">
                <a:solidFill>
                  <a:srgbClr val="0000FF"/>
                </a:solidFill>
                <a:effectLst/>
                <a:latin typeface="Consolas" panose="020B0609020204030204" pitchFamily="49" charset="0"/>
              </a:rPr>
              <a:t>false</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p>
          <a:p>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printf</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"%d "</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plou</a:t>
            </a:r>
            <a:r>
              <a:rPr lang="es-ES" sz="1600" b="0" dirty="0">
                <a:solidFill>
                  <a:srgbClr val="000000"/>
                </a:solidFill>
                <a:effectLst/>
                <a:latin typeface="Consolas" panose="020B0609020204030204" pitchFamily="49" charset="0"/>
              </a:rPr>
              <a:t>);</a:t>
            </a:r>
          </a:p>
          <a:p>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acabament</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    </a:t>
            </a:r>
            <a:r>
              <a:rPr lang="es-ES" sz="1600" b="0" dirty="0" err="1">
                <a:solidFill>
                  <a:srgbClr val="0000FF"/>
                </a:solidFill>
                <a:effectLst/>
                <a:latin typeface="Consolas" panose="020B0609020204030204" pitchFamily="49" charset="0"/>
              </a:rPr>
              <a:t>return</a:t>
            </a:r>
            <a:r>
              <a:rPr lang="es-ES" sz="1600" b="0" dirty="0">
                <a:solidFill>
                  <a:srgbClr val="000000"/>
                </a:solidFill>
                <a:effectLst/>
                <a:latin typeface="Consolas" panose="020B0609020204030204" pitchFamily="49" charset="0"/>
              </a:rPr>
              <a:t> </a:t>
            </a:r>
            <a:r>
              <a:rPr lang="es-ES" sz="1600" b="0" dirty="0">
                <a:solidFill>
                  <a:srgbClr val="098658"/>
                </a:solidFill>
                <a:effectLst/>
                <a:latin typeface="Consolas" panose="020B0609020204030204" pitchFamily="49" charset="0"/>
              </a:rPr>
              <a:t>0</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a:t>
            </a:r>
          </a:p>
          <a:p>
            <a:endParaRPr lang="es-ES" sz="1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038431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8F29EC-9CC5-E162-0703-B9AD52461E77}"/>
              </a:ext>
            </a:extLst>
          </p:cNvPr>
          <p:cNvSpPr>
            <a:spLocks noGrp="1"/>
          </p:cNvSpPr>
          <p:nvPr>
            <p:ph type="title"/>
          </p:nvPr>
        </p:nvSpPr>
        <p:spPr>
          <a:xfrm>
            <a:off x="361950" y="86639"/>
            <a:ext cx="8534400" cy="642130"/>
          </a:xfrm>
        </p:spPr>
        <p:txBody>
          <a:bodyPr/>
          <a:lstStyle/>
          <a:p>
            <a:r>
              <a:rPr lang="ca-ES" dirty="0"/>
              <a:t>Instrucció d’entrada</a:t>
            </a:r>
            <a:endParaRPr lang="es-ES" dirty="0"/>
          </a:p>
        </p:txBody>
      </p:sp>
      <p:sp>
        <p:nvSpPr>
          <p:cNvPr id="5" name="Rectangle 2">
            <a:extLst>
              <a:ext uri="{FF2B5EF4-FFF2-40B4-BE49-F238E27FC236}">
                <a16:creationId xmlns:a16="http://schemas.microsoft.com/office/drawing/2014/main" id="{00EAE6D3-BBA7-33F6-421D-619F75554CF6}"/>
              </a:ext>
            </a:extLst>
          </p:cNvPr>
          <p:cNvSpPr>
            <a:spLocks noChangeArrowheads="1"/>
          </p:cNvSpPr>
          <p:nvPr/>
        </p:nvSpPr>
        <p:spPr bwMode="auto">
          <a:xfrm>
            <a:off x="723900" y="2452829"/>
            <a:ext cx="390525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rgbClr val="008000"/>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a:t>
            </a:r>
          </a:p>
        </p:txBody>
      </p:sp>
      <p:sp>
        <p:nvSpPr>
          <p:cNvPr id="10" name="CuadroTexto 9">
            <a:extLst>
              <a:ext uri="{FF2B5EF4-FFF2-40B4-BE49-F238E27FC236}">
                <a16:creationId xmlns:a16="http://schemas.microsoft.com/office/drawing/2014/main" id="{FBF5F9F4-139B-B41B-25F9-E2707DBD6CCE}"/>
              </a:ext>
            </a:extLst>
          </p:cNvPr>
          <p:cNvSpPr txBox="1"/>
          <p:nvPr/>
        </p:nvSpPr>
        <p:spPr>
          <a:xfrm>
            <a:off x="410804" y="585052"/>
            <a:ext cx="8436692" cy="6186309"/>
          </a:xfrm>
          <a:prstGeom prst="rect">
            <a:avLst/>
          </a:prstGeom>
          <a:noFill/>
          <a:ln>
            <a:solidFill>
              <a:schemeClr val="tx1"/>
            </a:solidFill>
            <a:prstDash val="dash"/>
          </a:ln>
        </p:spPr>
        <p:txBody>
          <a:bodyPr wrap="square">
            <a:spAutoFit/>
          </a:bodyPr>
          <a:lstStyle/>
          <a:p>
            <a:r>
              <a:rPr lang="es-ES" sz="1100" b="0" dirty="0" err="1">
                <a:solidFill>
                  <a:srgbClr val="0000FF"/>
                </a:solidFill>
                <a:effectLst/>
                <a:latin typeface="Consolas" panose="020B0609020204030204" pitchFamily="49" charset="0"/>
              </a:rPr>
              <a:t>int</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main</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srand</a:t>
            </a:r>
            <a:r>
              <a:rPr lang="es-ES" sz="1100" b="0" dirty="0">
                <a:solidFill>
                  <a:srgbClr val="000000"/>
                </a:solidFill>
                <a:effectLst/>
                <a:latin typeface="Consolas" panose="020B0609020204030204" pitchFamily="49" charset="0"/>
              </a:rPr>
              <a:t>(time(</a:t>
            </a:r>
            <a:r>
              <a:rPr lang="es-ES" sz="1100" b="0" dirty="0">
                <a:solidFill>
                  <a:srgbClr val="0000FF"/>
                </a:solidFill>
                <a:effectLst/>
                <a:latin typeface="Consolas" panose="020B0609020204030204" pitchFamily="49" charset="0"/>
              </a:rPr>
              <a:t>NULL</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int</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edat</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printf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a:t>
            </a:r>
            <a:r>
              <a:rPr lang="es-ES" sz="1100" b="0" dirty="0" err="1">
                <a:solidFill>
                  <a:srgbClr val="A31515"/>
                </a:solidFill>
                <a:effectLst/>
                <a:latin typeface="Consolas" panose="020B0609020204030204" pitchFamily="49" charset="0"/>
              </a:rPr>
              <a:t>Introdueix</a:t>
            </a:r>
            <a:r>
              <a:rPr lang="es-ES" sz="1100" b="0" dirty="0">
                <a:solidFill>
                  <a:srgbClr val="A31515"/>
                </a:solidFill>
                <a:effectLst/>
                <a:latin typeface="Consolas" panose="020B0609020204030204" pitchFamily="49" charset="0"/>
              </a:rPr>
              <a:t> </a:t>
            </a:r>
            <a:r>
              <a:rPr lang="es-ES" sz="1100" b="0" dirty="0" err="1">
                <a:solidFill>
                  <a:srgbClr val="A31515"/>
                </a:solidFill>
                <a:effectLst/>
                <a:latin typeface="Consolas" panose="020B0609020204030204" pitchFamily="49" charset="0"/>
              </a:rPr>
              <a:t>l'edat</a:t>
            </a:r>
            <a:r>
              <a:rPr lang="es-ES" sz="1100" b="0" dirty="0">
                <a:solidFill>
                  <a:srgbClr val="A31515"/>
                </a:solidFill>
                <a:effectLst/>
                <a:latin typeface="Consolas" panose="020B0609020204030204" pitchFamily="49" charset="0"/>
              </a:rPr>
              <a:t>: "</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scanf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"%d"</a:t>
            </a:r>
            <a:r>
              <a:rPr lang="es-ES" sz="1100" b="0" dirty="0">
                <a:solidFill>
                  <a:srgbClr val="000000"/>
                </a:solidFill>
                <a:effectLst/>
                <a:latin typeface="Consolas" panose="020B0609020204030204" pitchFamily="49" charset="0"/>
              </a:rPr>
              <a:t>, &amp;</a:t>
            </a:r>
            <a:r>
              <a:rPr lang="es-ES" sz="1100" b="0" dirty="0" err="1">
                <a:solidFill>
                  <a:srgbClr val="000000"/>
                </a:solidFill>
                <a:effectLst/>
                <a:latin typeface="Consolas" panose="020B0609020204030204" pitchFamily="49" charset="0"/>
              </a:rPr>
              <a:t>edat</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while</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getchar</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'\n’</a:t>
            </a:r>
            <a:r>
              <a:rPr lang="es-ES" sz="1100" b="0" dirty="0">
                <a:solidFill>
                  <a:srgbClr val="000000"/>
                </a:solidFill>
                <a:effectLst/>
                <a:latin typeface="Consolas" panose="020B0609020204030204" pitchFamily="49" charset="0"/>
              </a:rPr>
              <a:t>);</a:t>
            </a:r>
          </a:p>
          <a:p>
            <a:br>
              <a:rPr lang="es-ES" sz="1100" b="0" dirty="0">
                <a:solidFill>
                  <a:srgbClr val="000000"/>
                </a:solidFill>
                <a:effectLst/>
                <a:latin typeface="Consolas" panose="020B0609020204030204" pitchFamily="49" charset="0"/>
              </a:rPr>
            </a:br>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float</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alcada</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printf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a:t>
            </a:r>
            <a:r>
              <a:rPr lang="es-ES" sz="1100" b="0" dirty="0" err="1">
                <a:solidFill>
                  <a:srgbClr val="A31515"/>
                </a:solidFill>
                <a:effectLst/>
                <a:latin typeface="Consolas" panose="020B0609020204030204" pitchFamily="49" charset="0"/>
              </a:rPr>
              <a:t>Introdueix</a:t>
            </a:r>
            <a:r>
              <a:rPr lang="es-ES" sz="1100" b="0" dirty="0">
                <a:solidFill>
                  <a:srgbClr val="A31515"/>
                </a:solidFill>
                <a:effectLst/>
                <a:latin typeface="Consolas" panose="020B0609020204030204" pitchFamily="49" charset="0"/>
              </a:rPr>
              <a:t> </a:t>
            </a:r>
            <a:r>
              <a:rPr lang="es-ES" sz="1100" b="0" dirty="0" err="1">
                <a:solidFill>
                  <a:srgbClr val="A31515"/>
                </a:solidFill>
                <a:effectLst/>
                <a:latin typeface="Consolas" panose="020B0609020204030204" pitchFamily="49" charset="0"/>
              </a:rPr>
              <a:t>l'alçada</a:t>
            </a:r>
            <a:r>
              <a:rPr lang="es-ES" sz="1100" b="0" dirty="0">
                <a:solidFill>
                  <a:srgbClr val="A31515"/>
                </a:solidFill>
                <a:effectLst/>
                <a:latin typeface="Consolas" panose="020B0609020204030204" pitchFamily="49" charset="0"/>
              </a:rPr>
              <a:t>: "</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scanf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"%f"</a:t>
            </a:r>
            <a:r>
              <a:rPr lang="es-ES" sz="1100" b="0" dirty="0">
                <a:solidFill>
                  <a:srgbClr val="000000"/>
                </a:solidFill>
                <a:effectLst/>
                <a:latin typeface="Consolas" panose="020B0609020204030204" pitchFamily="49" charset="0"/>
              </a:rPr>
              <a:t>, &amp;</a:t>
            </a:r>
            <a:r>
              <a:rPr lang="es-ES" sz="1100" b="0" dirty="0" err="1">
                <a:solidFill>
                  <a:srgbClr val="000000"/>
                </a:solidFill>
                <a:effectLst/>
                <a:latin typeface="Consolas" panose="020B0609020204030204" pitchFamily="49" charset="0"/>
              </a:rPr>
              <a:t>alcada</a:t>
            </a:r>
            <a:r>
              <a:rPr lang="es-ES" sz="1100" b="0" dirty="0">
                <a:solidFill>
                  <a:srgbClr val="000000"/>
                </a:solidFill>
                <a:effectLst/>
                <a:latin typeface="Consolas" panose="020B0609020204030204" pitchFamily="49" charset="0"/>
              </a:rPr>
              <a:t>);</a:t>
            </a:r>
          </a:p>
          <a:p>
            <a:r>
              <a:rPr lang="es-ES" sz="1100" dirty="0">
                <a:solidFill>
                  <a:srgbClr val="000000"/>
                </a:solidFill>
                <a:latin typeface="Consolas" panose="020B0609020204030204" pitchFamily="49" charset="0"/>
              </a:rPr>
              <a:t>    </a:t>
            </a:r>
            <a:r>
              <a:rPr lang="es-ES" sz="1100" b="0" dirty="0" err="1">
                <a:solidFill>
                  <a:srgbClr val="0000FF"/>
                </a:solidFill>
                <a:effectLst/>
                <a:latin typeface="Consolas" panose="020B0609020204030204" pitchFamily="49" charset="0"/>
              </a:rPr>
              <a:t>while</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getchar</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'\n’</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p>
          <a:p>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bool</a:t>
            </a:r>
            <a:r>
              <a:rPr lang="es-ES" sz="1100" b="0" dirty="0">
                <a:solidFill>
                  <a:srgbClr val="000000"/>
                </a:solidFill>
                <a:effectLst/>
                <a:latin typeface="Consolas" panose="020B0609020204030204" pitchFamily="49" charset="0"/>
              </a:rPr>
              <a:t> treballa;</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printf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"Estas </a:t>
            </a:r>
            <a:r>
              <a:rPr lang="es-ES" sz="1100" b="0" dirty="0" err="1">
                <a:solidFill>
                  <a:srgbClr val="A31515"/>
                </a:solidFill>
                <a:effectLst/>
                <a:latin typeface="Consolas" panose="020B0609020204030204" pitchFamily="49" charset="0"/>
              </a:rPr>
              <a:t>treballant</a:t>
            </a:r>
            <a:r>
              <a:rPr lang="es-ES" sz="1100" b="0" dirty="0">
                <a:solidFill>
                  <a:srgbClr val="A31515"/>
                </a:solidFill>
                <a:effectLst/>
                <a:latin typeface="Consolas" panose="020B0609020204030204" pitchFamily="49" charset="0"/>
              </a:rPr>
              <a:t>? 0-1: "</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scanf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a:t>
            </a:r>
            <a:r>
              <a:rPr lang="es-ES" sz="1100" b="0" dirty="0" err="1">
                <a:solidFill>
                  <a:srgbClr val="A31515"/>
                </a:solidFill>
                <a:effectLst/>
                <a:latin typeface="Consolas" panose="020B0609020204030204" pitchFamily="49" charset="0"/>
              </a:rPr>
              <a:t>d"</a:t>
            </a:r>
            <a:r>
              <a:rPr lang="es-ES" sz="1100" b="0" dirty="0" err="1">
                <a:solidFill>
                  <a:srgbClr val="000000"/>
                </a:solidFill>
                <a:effectLst/>
                <a:latin typeface="Consolas" panose="020B0609020204030204" pitchFamily="49" charset="0"/>
              </a:rPr>
              <a:t>,&amp;treballa</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while</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getchar</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'\n’</a:t>
            </a:r>
            <a:r>
              <a:rPr lang="es-ES" sz="1100" b="0" dirty="0">
                <a:solidFill>
                  <a:srgbClr val="000000"/>
                </a:solidFill>
                <a:effectLst/>
                <a:latin typeface="Consolas" panose="020B0609020204030204" pitchFamily="49" charset="0"/>
              </a:rPr>
              <a:t>);</a:t>
            </a:r>
          </a:p>
          <a:p>
            <a:br>
              <a:rPr lang="es-ES" sz="1100" b="0" dirty="0">
                <a:solidFill>
                  <a:srgbClr val="000000"/>
                </a:solidFill>
                <a:effectLst/>
                <a:latin typeface="Consolas" panose="020B0609020204030204" pitchFamily="49" charset="0"/>
              </a:rPr>
            </a:br>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char</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estatCivil</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printf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a:t>
            </a:r>
            <a:r>
              <a:rPr lang="es-ES" sz="1100" b="0" dirty="0" err="1">
                <a:solidFill>
                  <a:srgbClr val="A31515"/>
                </a:solidFill>
                <a:effectLst/>
                <a:latin typeface="Consolas" panose="020B0609020204030204" pitchFamily="49" charset="0"/>
              </a:rPr>
              <a:t>Introdueix</a:t>
            </a:r>
            <a:r>
              <a:rPr lang="es-ES" sz="1100" b="0" dirty="0">
                <a:solidFill>
                  <a:srgbClr val="A31515"/>
                </a:solidFill>
                <a:effectLst/>
                <a:latin typeface="Consolas" panose="020B0609020204030204" pitchFamily="49" charset="0"/>
              </a:rPr>
              <a:t> </a:t>
            </a:r>
            <a:r>
              <a:rPr lang="es-ES" sz="1100" b="0" dirty="0" err="1">
                <a:solidFill>
                  <a:srgbClr val="A31515"/>
                </a:solidFill>
                <a:effectLst/>
                <a:latin typeface="Consolas" panose="020B0609020204030204" pitchFamily="49" charset="0"/>
              </a:rPr>
              <a:t>l'estat</a:t>
            </a:r>
            <a:r>
              <a:rPr lang="es-ES" sz="1100" b="0" dirty="0">
                <a:solidFill>
                  <a:srgbClr val="A31515"/>
                </a:solidFill>
                <a:effectLst/>
                <a:latin typeface="Consolas" panose="020B0609020204030204" pitchFamily="49" charset="0"/>
              </a:rPr>
              <a:t> civil: (s/c/v) "</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fflush</a:t>
            </a:r>
            <a:r>
              <a:rPr lang="es-ES" sz="1100" b="0" dirty="0">
                <a:solidFill>
                  <a:srgbClr val="000000"/>
                </a:solidFill>
                <a:effectLst/>
                <a:latin typeface="Consolas" panose="020B0609020204030204" pitchFamily="49" charset="0"/>
              </a:rPr>
              <a:t>(</a:t>
            </a:r>
            <a:r>
              <a:rPr lang="es-ES" sz="1100" b="0" dirty="0" err="1">
                <a:solidFill>
                  <a:srgbClr val="0000FF"/>
                </a:solidFill>
                <a:effectLst/>
                <a:latin typeface="Consolas" panose="020B0609020204030204" pitchFamily="49" charset="0"/>
              </a:rPr>
              <a:t>stdin</a:t>
            </a:r>
            <a:r>
              <a:rPr lang="es-ES" sz="1100" b="0" dirty="0">
                <a:solidFill>
                  <a:srgbClr val="000000"/>
                </a:solidFill>
                <a:effectLst/>
                <a:latin typeface="Consolas" panose="020B0609020204030204" pitchFamily="49" charset="0"/>
              </a:rPr>
              <a:t>);</a:t>
            </a:r>
            <a:r>
              <a:rPr lang="es-ES" sz="1100" b="0" dirty="0">
                <a:solidFill>
                  <a:srgbClr val="008000"/>
                </a:solidFill>
                <a:effectLst/>
                <a:latin typeface="Consolas" panose="020B0609020204030204" pitchFamily="49" charset="0"/>
              </a:rPr>
              <a:t> // per eliminar el </a:t>
            </a:r>
            <a:r>
              <a:rPr lang="es-ES" sz="1100" b="0" dirty="0" err="1">
                <a:solidFill>
                  <a:srgbClr val="008000"/>
                </a:solidFill>
                <a:effectLst/>
                <a:latin typeface="Consolas" panose="020B0609020204030204" pitchFamily="49" charset="0"/>
              </a:rPr>
              <a:t>salt</a:t>
            </a:r>
            <a:r>
              <a:rPr lang="es-ES" sz="1100" b="0" dirty="0">
                <a:solidFill>
                  <a:srgbClr val="008000"/>
                </a:solidFill>
                <a:effectLst/>
                <a:latin typeface="Consolas" panose="020B0609020204030204" pitchFamily="49" charset="0"/>
              </a:rPr>
              <a:t> de </a:t>
            </a:r>
            <a:r>
              <a:rPr lang="es-ES" sz="1100" b="0" dirty="0" err="1">
                <a:solidFill>
                  <a:srgbClr val="008000"/>
                </a:solidFill>
                <a:effectLst/>
                <a:latin typeface="Consolas" panose="020B0609020204030204" pitchFamily="49" charset="0"/>
              </a:rPr>
              <a:t>linia</a:t>
            </a:r>
            <a:r>
              <a:rPr lang="es-ES" sz="1100" b="0" dirty="0">
                <a:solidFill>
                  <a:srgbClr val="008000"/>
                </a:solidFill>
                <a:effectLst/>
                <a:latin typeface="Consolas" panose="020B0609020204030204" pitchFamily="49" charset="0"/>
              </a:rPr>
              <a:t> del buffer</a:t>
            </a:r>
            <a:endParaRPr lang="es-ES" sz="1100" b="0" dirty="0">
              <a:solidFill>
                <a:srgbClr val="000000"/>
              </a:solidFill>
              <a:effectLst/>
              <a:latin typeface="Consolas" panose="020B0609020204030204" pitchFamily="49" charset="0"/>
            </a:endParaRP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scanf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"%c"</a:t>
            </a:r>
            <a:r>
              <a:rPr lang="es-ES" sz="1100" b="0" dirty="0">
                <a:solidFill>
                  <a:srgbClr val="000000"/>
                </a:solidFill>
                <a:effectLst/>
                <a:latin typeface="Consolas" panose="020B0609020204030204" pitchFamily="49" charset="0"/>
              </a:rPr>
              <a:t>,&amp;</a:t>
            </a:r>
            <a:r>
              <a:rPr lang="es-ES" sz="1100" b="0" dirty="0" err="1">
                <a:solidFill>
                  <a:srgbClr val="000000"/>
                </a:solidFill>
                <a:effectLst/>
                <a:latin typeface="Consolas" panose="020B0609020204030204" pitchFamily="49" charset="0"/>
              </a:rPr>
              <a:t>estatCivil</a:t>
            </a:r>
            <a:r>
              <a:rPr lang="es-ES" sz="1100" b="0" dirty="0">
                <a:solidFill>
                  <a:srgbClr val="000000"/>
                </a:solidFill>
                <a:effectLst/>
                <a:latin typeface="Consolas" panose="020B0609020204030204" pitchFamily="49" charset="0"/>
              </a:rPr>
              <a:t>);</a:t>
            </a:r>
          </a:p>
          <a:p>
            <a:r>
              <a:rPr lang="es-ES" sz="1100" b="0" dirty="0">
                <a:solidFill>
                  <a:srgbClr val="0000FF"/>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while</a:t>
            </a: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getchar</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'\n’</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printf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a:t>
            </a:r>
            <a:r>
              <a:rPr lang="es-ES" sz="1100" b="0" dirty="0" err="1">
                <a:solidFill>
                  <a:srgbClr val="A31515"/>
                </a:solidFill>
                <a:effectLst/>
                <a:latin typeface="Consolas" panose="020B0609020204030204" pitchFamily="49" charset="0"/>
              </a:rPr>
              <a:t>nedat</a:t>
            </a:r>
            <a:r>
              <a:rPr lang="es-ES" sz="1100" b="0" dirty="0">
                <a:solidFill>
                  <a:srgbClr val="A31515"/>
                </a:solidFill>
                <a:effectLst/>
                <a:latin typeface="Consolas" panose="020B0609020204030204" pitchFamily="49" charset="0"/>
              </a:rPr>
              <a:t>: %d  </a:t>
            </a:r>
            <a:r>
              <a:rPr lang="es-ES" sz="1100" b="0" dirty="0" err="1">
                <a:solidFill>
                  <a:srgbClr val="A31515"/>
                </a:solidFill>
                <a:effectLst/>
                <a:latin typeface="Consolas" panose="020B0609020204030204" pitchFamily="49" charset="0"/>
              </a:rPr>
              <a:t>alcada</a:t>
            </a:r>
            <a:r>
              <a:rPr lang="es-ES" sz="1100" b="0" dirty="0">
                <a:solidFill>
                  <a:srgbClr val="A31515"/>
                </a:solidFill>
                <a:effectLst/>
                <a:latin typeface="Consolas" panose="020B0609020204030204" pitchFamily="49" charset="0"/>
              </a:rPr>
              <a:t>:%f  treballa:%d   </a:t>
            </a:r>
            <a:r>
              <a:rPr lang="es-ES" sz="1100" b="0" dirty="0" err="1">
                <a:solidFill>
                  <a:srgbClr val="A31515"/>
                </a:solidFill>
                <a:effectLst/>
                <a:latin typeface="Consolas" panose="020B0609020204030204" pitchFamily="49" charset="0"/>
              </a:rPr>
              <a:t>estat</a:t>
            </a:r>
            <a:r>
              <a:rPr lang="es-ES" sz="1100" b="0" dirty="0">
                <a:solidFill>
                  <a:srgbClr val="A31515"/>
                </a:solidFill>
                <a:effectLst/>
                <a:latin typeface="Consolas" panose="020B0609020204030204" pitchFamily="49" charset="0"/>
              </a:rPr>
              <a:t> Civil: %c"</a:t>
            </a:r>
            <a:r>
              <a:rPr lang="es-ES" sz="1100" b="0" dirty="0">
                <a:solidFill>
                  <a:srgbClr val="000000"/>
                </a:solidFill>
                <a:effectLst/>
                <a:latin typeface="Consolas" panose="020B0609020204030204" pitchFamily="49" charset="0"/>
              </a:rPr>
              <a:t>,</a:t>
            </a:r>
            <a:r>
              <a:rPr lang="es-ES" sz="1100" b="0" dirty="0" err="1">
                <a:solidFill>
                  <a:srgbClr val="000000"/>
                </a:solidFill>
                <a:effectLst/>
                <a:latin typeface="Consolas" panose="020B0609020204030204" pitchFamily="49" charset="0"/>
              </a:rPr>
              <a:t>edat,alcada,treballa,estatCivil</a:t>
            </a:r>
            <a:r>
              <a:rPr lang="es-ES" sz="1100" b="0" dirty="0">
                <a:solidFill>
                  <a:srgbClr val="000000"/>
                </a:solidFill>
                <a:effectLst/>
                <a:latin typeface="Consolas" panose="020B0609020204030204" pitchFamily="49" charset="0"/>
              </a:rPr>
              <a:t>);</a:t>
            </a:r>
          </a:p>
          <a:p>
            <a:endParaRPr lang="es-ES" sz="1100" dirty="0">
              <a:solidFill>
                <a:srgbClr val="000000"/>
              </a:solidFill>
              <a:latin typeface="Consolas" panose="020B0609020204030204" pitchFamily="49" charset="0"/>
            </a:endParaRPr>
          </a:p>
          <a:p>
            <a:r>
              <a:rPr lang="es-ES" sz="1100" b="0" dirty="0">
                <a:solidFill>
                  <a:srgbClr val="0000FF"/>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getch</a:t>
            </a:r>
            <a:r>
              <a:rPr lang="es-ES" sz="1100" b="0" dirty="0">
                <a:solidFill>
                  <a:srgbClr val="000000"/>
                </a:solidFill>
                <a:effectLst/>
                <a:latin typeface="Consolas" panose="020B0609020204030204" pitchFamily="49" charset="0"/>
              </a:rPr>
              <a:t>();</a:t>
            </a:r>
            <a:r>
              <a:rPr lang="es-ES" sz="1100" b="0" dirty="0">
                <a:solidFill>
                  <a:srgbClr val="008000"/>
                </a:solidFill>
                <a:effectLst/>
                <a:latin typeface="Consolas" panose="020B0609020204030204" pitchFamily="49" charset="0"/>
              </a:rPr>
              <a:t> //atura el programa </a:t>
            </a:r>
            <a:r>
              <a:rPr lang="es-ES" sz="1100" b="0" dirty="0" err="1">
                <a:solidFill>
                  <a:srgbClr val="008000"/>
                </a:solidFill>
                <a:effectLst/>
                <a:latin typeface="Consolas" panose="020B0609020204030204" pitchFamily="49" charset="0"/>
              </a:rPr>
              <a:t>fins</a:t>
            </a:r>
            <a:r>
              <a:rPr lang="es-ES" sz="1100" b="0" dirty="0">
                <a:solidFill>
                  <a:srgbClr val="008000"/>
                </a:solidFill>
                <a:effectLst/>
                <a:latin typeface="Consolas" panose="020B0609020204030204" pitchFamily="49" charset="0"/>
              </a:rPr>
              <a:t> que es </a:t>
            </a:r>
            <a:r>
              <a:rPr lang="es-ES" sz="1100" b="0" dirty="0" err="1">
                <a:solidFill>
                  <a:srgbClr val="008000"/>
                </a:solidFill>
                <a:effectLst/>
                <a:latin typeface="Consolas" panose="020B0609020204030204" pitchFamily="49" charset="0"/>
              </a:rPr>
              <a:t>prem</a:t>
            </a:r>
            <a:r>
              <a:rPr lang="es-ES" sz="1100" b="0" dirty="0">
                <a:solidFill>
                  <a:srgbClr val="008000"/>
                </a:solidFill>
                <a:effectLst/>
                <a:latin typeface="Consolas" panose="020B0609020204030204" pitchFamily="49" charset="0"/>
              </a:rPr>
              <a:t> una tecla</a:t>
            </a:r>
            <a:endParaRPr lang="es-ES" sz="1100" b="0" dirty="0">
              <a:solidFill>
                <a:srgbClr val="000000"/>
              </a:solidFill>
              <a:effectLst/>
              <a:latin typeface="Consolas" panose="020B0609020204030204" pitchFamily="49" charset="0"/>
            </a:endParaRPr>
          </a:p>
          <a:p>
            <a:br>
              <a:rPr lang="es-ES" sz="1100" b="0" dirty="0">
                <a:solidFill>
                  <a:srgbClr val="000000"/>
                </a:solidFill>
                <a:effectLst/>
                <a:latin typeface="Consolas" panose="020B0609020204030204" pitchFamily="49" charset="0"/>
              </a:rPr>
            </a:br>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int</a:t>
            </a:r>
            <a:r>
              <a:rPr lang="es-ES" sz="1100" b="0" dirty="0">
                <a:solidFill>
                  <a:srgbClr val="000000"/>
                </a:solidFill>
                <a:effectLst/>
                <a:latin typeface="Consolas" panose="020B0609020204030204" pitchFamily="49" charset="0"/>
              </a:rPr>
              <a:t> a, b;</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printf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a:t>
            </a:r>
            <a:r>
              <a:rPr lang="es-ES" sz="1100" b="0" dirty="0" err="1">
                <a:solidFill>
                  <a:srgbClr val="A31515"/>
                </a:solidFill>
                <a:effectLst/>
                <a:latin typeface="Consolas" panose="020B0609020204030204" pitchFamily="49" charset="0"/>
              </a:rPr>
              <a:t>nIntrodueix</a:t>
            </a:r>
            <a:r>
              <a:rPr lang="es-ES" sz="1100" b="0" dirty="0">
                <a:solidFill>
                  <a:srgbClr val="A31515"/>
                </a:solidFill>
                <a:effectLst/>
                <a:latin typeface="Consolas" panose="020B0609020204030204" pitchFamily="49" charset="0"/>
              </a:rPr>
              <a:t> el dos nombres: "</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scanf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"%d %d"</a:t>
            </a:r>
            <a:r>
              <a:rPr lang="es-ES" sz="1100" b="0" dirty="0">
                <a:solidFill>
                  <a:srgbClr val="000000"/>
                </a:solidFill>
                <a:effectLst/>
                <a:latin typeface="Consolas" panose="020B0609020204030204" pitchFamily="49" charset="0"/>
              </a:rPr>
              <a:t>, &amp;</a:t>
            </a:r>
            <a:r>
              <a:rPr lang="es-ES" sz="1100" b="0" dirty="0" err="1">
                <a:solidFill>
                  <a:srgbClr val="000000"/>
                </a:solidFill>
                <a:effectLst/>
                <a:latin typeface="Consolas" panose="020B0609020204030204" pitchFamily="49" charset="0"/>
              </a:rPr>
              <a:t>a,&amp;b</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printf</a:t>
            </a:r>
            <a:r>
              <a:rPr lang="es-ES" sz="1100" b="0" dirty="0">
                <a:solidFill>
                  <a:srgbClr val="000000"/>
                </a:solidFill>
                <a:effectLst/>
                <a:latin typeface="Consolas" panose="020B0609020204030204" pitchFamily="49" charset="0"/>
              </a:rPr>
              <a:t>(</a:t>
            </a:r>
            <a:r>
              <a:rPr lang="es-ES" sz="1100" b="0" dirty="0">
                <a:solidFill>
                  <a:srgbClr val="A31515"/>
                </a:solidFill>
                <a:effectLst/>
                <a:latin typeface="Consolas" panose="020B0609020204030204" pitchFamily="49" charset="0"/>
              </a:rPr>
              <a:t>"\</a:t>
            </a:r>
            <a:r>
              <a:rPr lang="es-ES" sz="1100" b="0" dirty="0" err="1">
                <a:solidFill>
                  <a:srgbClr val="A31515"/>
                </a:solidFill>
                <a:effectLst/>
                <a:latin typeface="Consolas" panose="020B0609020204030204" pitchFamily="49" charset="0"/>
              </a:rPr>
              <a:t>nEl</a:t>
            </a:r>
            <a:r>
              <a:rPr lang="es-ES" sz="1100" b="0" dirty="0">
                <a:solidFill>
                  <a:srgbClr val="A31515"/>
                </a:solidFill>
                <a:effectLst/>
                <a:latin typeface="Consolas" panose="020B0609020204030204" pitchFamily="49" charset="0"/>
              </a:rPr>
              <a:t> valor de a: %d i el de b: %d"</a:t>
            </a:r>
            <a:r>
              <a:rPr lang="es-ES" sz="1100" b="0" dirty="0">
                <a:solidFill>
                  <a:srgbClr val="000000"/>
                </a:solidFill>
                <a:effectLst/>
                <a:latin typeface="Consolas" panose="020B0609020204030204" pitchFamily="49" charset="0"/>
              </a:rPr>
              <a:t>,</a:t>
            </a:r>
            <a:r>
              <a:rPr lang="es-ES" sz="1100" b="0" dirty="0" err="1">
                <a:solidFill>
                  <a:srgbClr val="000000"/>
                </a:solidFill>
                <a:effectLst/>
                <a:latin typeface="Consolas" panose="020B0609020204030204" pitchFamily="49" charset="0"/>
              </a:rPr>
              <a:t>a,b</a:t>
            </a:r>
            <a:r>
              <a:rPr lang="es-ES" sz="1100" b="0" dirty="0">
                <a:solidFill>
                  <a:srgbClr val="000000"/>
                </a:solidFill>
                <a:effectLst/>
                <a:latin typeface="Consolas" panose="020B0609020204030204" pitchFamily="49" charset="0"/>
              </a:rPr>
              <a:t>);</a:t>
            </a:r>
          </a:p>
          <a:p>
            <a:br>
              <a:rPr lang="es-ES" sz="1100" b="0" dirty="0">
                <a:solidFill>
                  <a:srgbClr val="000000"/>
                </a:solidFill>
                <a:effectLst/>
                <a:latin typeface="Consolas" panose="020B0609020204030204" pitchFamily="49" charset="0"/>
              </a:rPr>
            </a:br>
            <a:r>
              <a:rPr lang="es-ES" sz="1100" b="0" dirty="0">
                <a:solidFill>
                  <a:srgbClr val="000000"/>
                </a:solidFill>
                <a:effectLst/>
                <a:latin typeface="Consolas" panose="020B0609020204030204" pitchFamily="49" charset="0"/>
              </a:rPr>
              <a:t>    </a:t>
            </a:r>
            <a:r>
              <a:rPr lang="es-ES" sz="1100" b="0" dirty="0" err="1">
                <a:solidFill>
                  <a:srgbClr val="000000"/>
                </a:solidFill>
                <a:effectLst/>
                <a:latin typeface="Consolas" panose="020B0609020204030204" pitchFamily="49" charset="0"/>
              </a:rPr>
              <a:t>acabament</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    </a:t>
            </a:r>
            <a:r>
              <a:rPr lang="es-ES" sz="1100" b="0" dirty="0" err="1">
                <a:solidFill>
                  <a:srgbClr val="0000FF"/>
                </a:solidFill>
                <a:effectLst/>
                <a:latin typeface="Consolas" panose="020B0609020204030204" pitchFamily="49" charset="0"/>
              </a:rPr>
              <a:t>return</a:t>
            </a:r>
            <a:r>
              <a:rPr lang="es-ES" sz="1100" b="0" dirty="0">
                <a:solidFill>
                  <a:srgbClr val="000000"/>
                </a:solidFill>
                <a:effectLst/>
                <a:latin typeface="Consolas" panose="020B0609020204030204" pitchFamily="49" charset="0"/>
              </a:rPr>
              <a:t> </a:t>
            </a:r>
            <a:r>
              <a:rPr lang="es-ES" sz="1100" b="0" dirty="0">
                <a:solidFill>
                  <a:srgbClr val="098658"/>
                </a:solidFill>
                <a:effectLst/>
                <a:latin typeface="Consolas" panose="020B0609020204030204" pitchFamily="49" charset="0"/>
              </a:rPr>
              <a:t>0</a:t>
            </a:r>
            <a:r>
              <a:rPr lang="es-ES" sz="1100" b="0" dirty="0">
                <a:solidFill>
                  <a:srgbClr val="000000"/>
                </a:solidFill>
                <a:effectLst/>
                <a:latin typeface="Consolas" panose="020B0609020204030204" pitchFamily="49" charset="0"/>
              </a:rPr>
              <a:t>;</a:t>
            </a:r>
          </a:p>
          <a:p>
            <a:r>
              <a:rPr lang="es-ES" sz="1100" b="0" dirty="0">
                <a:solidFill>
                  <a:srgbClr val="000000"/>
                </a:solidFill>
                <a:effectLst/>
                <a:latin typeface="Consolas" panose="020B0609020204030204" pitchFamily="49" charset="0"/>
              </a:rPr>
              <a:t>}</a:t>
            </a:r>
          </a:p>
        </p:txBody>
      </p:sp>
      <p:sp>
        <p:nvSpPr>
          <p:cNvPr id="12" name="CuadroTexto 11">
            <a:extLst>
              <a:ext uri="{FF2B5EF4-FFF2-40B4-BE49-F238E27FC236}">
                <a16:creationId xmlns:a16="http://schemas.microsoft.com/office/drawing/2014/main" id="{AEFCF3D3-EF05-4E0F-3481-BE993F81F0FD}"/>
              </a:ext>
            </a:extLst>
          </p:cNvPr>
          <p:cNvSpPr txBox="1"/>
          <p:nvPr/>
        </p:nvSpPr>
        <p:spPr>
          <a:xfrm>
            <a:off x="4291627" y="728769"/>
            <a:ext cx="4629150" cy="2554545"/>
          </a:xfrm>
          <a:prstGeom prst="rect">
            <a:avLst/>
          </a:prstGeom>
          <a:noFill/>
          <a:ln>
            <a:solidFill>
              <a:schemeClr val="tx1"/>
            </a:solidFill>
            <a:prstDash val="dash"/>
          </a:ln>
        </p:spPr>
        <p:txBody>
          <a:bodyPr wrap="square">
            <a:spAutoFit/>
          </a:bodyPr>
          <a:lstStyle/>
          <a:p>
            <a:r>
              <a:rPr lang="es-ES" sz="1600" dirty="0" err="1"/>
              <a:t>Introdueix</a:t>
            </a:r>
            <a:r>
              <a:rPr lang="es-ES" sz="1600" dirty="0"/>
              <a:t> </a:t>
            </a:r>
            <a:r>
              <a:rPr lang="es-ES" sz="1600" dirty="0" err="1"/>
              <a:t>l'edat</a:t>
            </a:r>
            <a:r>
              <a:rPr lang="es-ES" sz="1600" dirty="0"/>
              <a:t>: 12</a:t>
            </a:r>
          </a:p>
          <a:p>
            <a:r>
              <a:rPr lang="es-ES" sz="1600" dirty="0" err="1"/>
              <a:t>Introdueix</a:t>
            </a:r>
            <a:r>
              <a:rPr lang="es-ES" sz="1600" dirty="0"/>
              <a:t> </a:t>
            </a:r>
            <a:r>
              <a:rPr lang="es-ES" sz="1600" dirty="0" err="1"/>
              <a:t>l'alþada</a:t>
            </a:r>
            <a:r>
              <a:rPr lang="es-ES" sz="1600" dirty="0"/>
              <a:t>: 1.67</a:t>
            </a:r>
          </a:p>
          <a:p>
            <a:r>
              <a:rPr lang="es-ES" sz="1600" dirty="0"/>
              <a:t>Estas </a:t>
            </a:r>
            <a:r>
              <a:rPr lang="es-ES" sz="1600" dirty="0" err="1"/>
              <a:t>treballant</a:t>
            </a:r>
            <a:r>
              <a:rPr lang="es-ES" sz="1600" dirty="0"/>
              <a:t>? 0-1: 1</a:t>
            </a:r>
          </a:p>
          <a:p>
            <a:r>
              <a:rPr lang="es-ES" sz="1600" dirty="0" err="1"/>
              <a:t>Introdueix</a:t>
            </a:r>
            <a:r>
              <a:rPr lang="es-ES" sz="1600" dirty="0"/>
              <a:t> </a:t>
            </a:r>
            <a:r>
              <a:rPr lang="es-ES" sz="1600" dirty="0" err="1"/>
              <a:t>l'estat</a:t>
            </a:r>
            <a:r>
              <a:rPr lang="es-ES" sz="1600" dirty="0"/>
              <a:t> civil: (s/c/v) c</a:t>
            </a:r>
          </a:p>
          <a:p>
            <a:endParaRPr lang="es-ES" sz="1600" dirty="0"/>
          </a:p>
          <a:p>
            <a:r>
              <a:rPr lang="es-ES" sz="1600" dirty="0" err="1"/>
              <a:t>edat</a:t>
            </a:r>
            <a:r>
              <a:rPr lang="es-ES" sz="1600" dirty="0"/>
              <a:t>: 12  alcada:0.500000  treballa:1   </a:t>
            </a:r>
            <a:r>
              <a:rPr lang="es-ES" sz="1600" dirty="0" err="1"/>
              <a:t>estat</a:t>
            </a:r>
            <a:r>
              <a:rPr lang="es-ES" sz="1600" dirty="0"/>
              <a:t> Civil: c</a:t>
            </a:r>
          </a:p>
          <a:p>
            <a:r>
              <a:rPr lang="es-ES" sz="1600" dirty="0" err="1"/>
              <a:t>Introdueix</a:t>
            </a:r>
            <a:r>
              <a:rPr lang="es-ES" sz="1600" dirty="0"/>
              <a:t> el dos nombres: 4 5</a:t>
            </a:r>
          </a:p>
          <a:p>
            <a:endParaRPr lang="es-ES" sz="1600" dirty="0"/>
          </a:p>
          <a:p>
            <a:r>
              <a:rPr lang="es-ES" sz="1600" dirty="0"/>
              <a:t>El valor de a: 4 i el de b: 5</a:t>
            </a:r>
          </a:p>
          <a:p>
            <a:r>
              <a:rPr lang="es-ES" sz="1600" dirty="0" err="1"/>
              <a:t>Prem</a:t>
            </a:r>
            <a:r>
              <a:rPr lang="es-ES" sz="1600" dirty="0"/>
              <a:t> una tecla per </a:t>
            </a:r>
            <a:r>
              <a:rPr lang="es-ES" sz="1600" dirty="0" err="1"/>
              <a:t>finalitzar</a:t>
            </a:r>
            <a:endParaRPr lang="es-ES" sz="1600" dirty="0"/>
          </a:p>
        </p:txBody>
      </p:sp>
    </p:spTree>
    <p:extLst>
      <p:ext uri="{BB962C8B-B14F-4D97-AF65-F5344CB8AC3E}">
        <p14:creationId xmlns:p14="http://schemas.microsoft.com/office/powerpoint/2010/main" val="3210728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chor="ctr">
            <a:normAutofit/>
          </a:bodyPr>
          <a:lstStyle/>
          <a:p>
            <a:r>
              <a:rPr lang="ca-ES" noProof="1"/>
              <a:t>Operadors – Prioritats</a:t>
            </a:r>
          </a:p>
        </p:txBody>
      </p:sp>
      <p:graphicFrame>
        <p:nvGraphicFramePr>
          <p:cNvPr id="12" name="Table 3">
            <a:extLst>
              <a:ext uri="{FF2B5EF4-FFF2-40B4-BE49-F238E27FC236}">
                <a16:creationId xmlns:a16="http://schemas.microsoft.com/office/drawing/2014/main" id="{8C62473C-AC08-9B1A-8E5D-7584509BCC4C}"/>
              </a:ext>
            </a:extLst>
          </p:cNvPr>
          <p:cNvGraphicFramePr>
            <a:graphicFrameLocks noGrp="1"/>
          </p:cNvGraphicFramePr>
          <p:nvPr>
            <p:extLst>
              <p:ext uri="{D42A27DB-BD31-4B8C-83A1-F6EECF244321}">
                <p14:modId xmlns:p14="http://schemas.microsoft.com/office/powerpoint/2010/main" val="2686081352"/>
              </p:ext>
            </p:extLst>
          </p:nvPr>
        </p:nvGraphicFramePr>
        <p:xfrm>
          <a:off x="425450" y="787400"/>
          <a:ext cx="3849719" cy="4771468"/>
        </p:xfrm>
        <a:graphic>
          <a:graphicData uri="http://schemas.openxmlformats.org/drawingml/2006/table">
            <a:tbl>
              <a:tblPr firstRow="1" bandRow="1">
                <a:tableStyleId>{46F890A9-2807-4EBB-B81D-B2AA78EC7F39}</a:tableStyleId>
              </a:tblPr>
              <a:tblGrid>
                <a:gridCol w="1816354">
                  <a:extLst>
                    <a:ext uri="{9D8B030D-6E8A-4147-A177-3AD203B41FA5}">
                      <a16:colId xmlns:a16="http://schemas.microsoft.com/office/drawing/2014/main" val="3640043668"/>
                    </a:ext>
                  </a:extLst>
                </a:gridCol>
                <a:gridCol w="2033365">
                  <a:extLst>
                    <a:ext uri="{9D8B030D-6E8A-4147-A177-3AD203B41FA5}">
                      <a16:colId xmlns:a16="http://schemas.microsoft.com/office/drawing/2014/main" val="3082748458"/>
                    </a:ext>
                  </a:extLst>
                </a:gridCol>
              </a:tblGrid>
              <a:tr h="277082">
                <a:tc>
                  <a:txBody>
                    <a:bodyPr/>
                    <a:lstStyle/>
                    <a:p>
                      <a:r>
                        <a:rPr lang="es-ES" sz="1400" dirty="0"/>
                        <a:t>Operador </a:t>
                      </a:r>
                      <a:r>
                        <a:rPr lang="es-ES" sz="1400" dirty="0" err="1"/>
                        <a:t>Pseudocodi</a:t>
                      </a:r>
                      <a:endParaRPr lang="es-ES" sz="1400" dirty="0"/>
                    </a:p>
                  </a:txBody>
                  <a:tcPr/>
                </a:tc>
                <a:tc>
                  <a:txBody>
                    <a:bodyPr/>
                    <a:lstStyle/>
                    <a:p>
                      <a:pPr algn="l"/>
                      <a:r>
                        <a:rPr lang="es-ES" sz="1400" dirty="0"/>
                        <a:t>Operador</a:t>
                      </a:r>
                      <a:r>
                        <a:rPr lang="es-ES" sz="1400" baseline="0" dirty="0"/>
                        <a:t> en C</a:t>
                      </a:r>
                      <a:endParaRPr lang="es-ES" sz="1400" dirty="0"/>
                    </a:p>
                  </a:txBody>
                  <a:tcPr anchor="ctr"/>
                </a:tc>
                <a:extLst>
                  <a:ext uri="{0D108BD9-81ED-4DB2-BD59-A6C34878D82A}">
                    <a16:rowId xmlns:a16="http://schemas.microsoft.com/office/drawing/2014/main" val="4184248687"/>
                  </a:ext>
                </a:extLst>
              </a:tr>
              <a:tr h="369118">
                <a:tc>
                  <a:txBody>
                    <a:bodyPr/>
                    <a:lstStyle/>
                    <a:p>
                      <a:r>
                        <a:rPr lang="es-ES" sz="1400" b="1" dirty="0">
                          <a:solidFill>
                            <a:schemeClr val="tx1"/>
                          </a:solidFill>
                        </a:rPr>
                        <a:t>()</a:t>
                      </a:r>
                    </a:p>
                  </a:txBody>
                  <a:tcPr/>
                </a:tc>
                <a:tc>
                  <a:txBody>
                    <a:bodyPr/>
                    <a:lstStyle/>
                    <a:p>
                      <a:r>
                        <a:rPr lang="es-ES" sz="1400" b="1" dirty="0">
                          <a:solidFill>
                            <a:schemeClr val="tx1"/>
                          </a:solidFill>
                        </a:rPr>
                        <a:t>()</a:t>
                      </a:r>
                    </a:p>
                  </a:txBody>
                  <a:tcPr/>
                </a:tc>
                <a:extLst>
                  <a:ext uri="{0D108BD9-81ED-4DB2-BD59-A6C34878D82A}">
                    <a16:rowId xmlns:a16="http://schemas.microsoft.com/office/drawing/2014/main" val="4205469200"/>
                  </a:ext>
                </a:extLst>
              </a:tr>
              <a:tr h="565458">
                <a:tc>
                  <a:txBody>
                    <a:bodyPr/>
                    <a:lstStyle/>
                    <a:p>
                      <a:r>
                        <a:rPr lang="es-ES" sz="1400" dirty="0">
                          <a:solidFill>
                            <a:schemeClr val="tx1"/>
                          </a:solidFill>
                        </a:rPr>
                        <a:t>++, --</a:t>
                      </a:r>
                    </a:p>
                  </a:txBody>
                  <a:tcPr/>
                </a:tc>
                <a:tc>
                  <a:txBody>
                    <a:bodyPr/>
                    <a:lstStyle/>
                    <a:p>
                      <a:r>
                        <a:rPr lang="es-ES" sz="1400" baseline="0" dirty="0"/>
                        <a:t>++ (</a:t>
                      </a:r>
                      <a:r>
                        <a:rPr lang="es-ES" sz="1400" baseline="0" dirty="0" err="1"/>
                        <a:t>increment</a:t>
                      </a:r>
                      <a:r>
                        <a:rPr lang="es-ES" sz="1400" baseline="0" dirty="0"/>
                        <a:t>), </a:t>
                      </a:r>
                    </a:p>
                    <a:p>
                      <a:r>
                        <a:rPr lang="es-ES" sz="1400" baseline="0" dirty="0"/>
                        <a:t>--   (</a:t>
                      </a:r>
                      <a:r>
                        <a:rPr lang="es-ES" sz="1400" baseline="0" dirty="0" err="1"/>
                        <a:t>decrement</a:t>
                      </a:r>
                      <a:r>
                        <a:rPr lang="es-ES" sz="1400" baseline="0" dirty="0"/>
                        <a:t>)</a:t>
                      </a:r>
                      <a:endParaRPr lang="es-ES" sz="1400" dirty="0"/>
                    </a:p>
                  </a:txBody>
                  <a:tcPr/>
                </a:tc>
                <a:extLst>
                  <a:ext uri="{0D108BD9-81ED-4DB2-BD59-A6C34878D82A}">
                    <a16:rowId xmlns:a16="http://schemas.microsoft.com/office/drawing/2014/main" val="4158166076"/>
                  </a:ext>
                </a:extLst>
              </a:tr>
              <a:tr h="369118">
                <a:tc>
                  <a:txBody>
                    <a:bodyPr/>
                    <a:lstStyle/>
                    <a:p>
                      <a:r>
                        <a:rPr lang="es-ES" sz="1400" dirty="0"/>
                        <a:t>No</a:t>
                      </a:r>
                    </a:p>
                  </a:txBody>
                  <a:tcPr/>
                </a:tc>
                <a:tc>
                  <a:txBody>
                    <a:bodyPr/>
                    <a:lstStyle/>
                    <a:p>
                      <a:r>
                        <a:rPr lang="es-ES" sz="1400" dirty="0"/>
                        <a:t>!</a:t>
                      </a:r>
                    </a:p>
                  </a:txBody>
                  <a:tcPr/>
                </a:tc>
                <a:extLst>
                  <a:ext uri="{0D108BD9-81ED-4DB2-BD59-A6C34878D82A}">
                    <a16:rowId xmlns:a16="http://schemas.microsoft.com/office/drawing/2014/main" val="1476892582"/>
                  </a:ext>
                </a:extLst>
              </a:tr>
              <a:tr h="286346">
                <a:tc>
                  <a:txBody>
                    <a:bodyPr/>
                    <a:lstStyle/>
                    <a:p>
                      <a:r>
                        <a:rPr lang="es-ES" sz="1400" dirty="0"/>
                        <a:t>*,DIV,MOD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a:t>
                      </a:r>
                      <a:r>
                        <a:rPr lang="es-ES" sz="1400" baseline="0" dirty="0"/>
                        <a:t>, / , % </a:t>
                      </a:r>
                    </a:p>
                  </a:txBody>
                  <a:tcPr/>
                </a:tc>
                <a:extLst>
                  <a:ext uri="{0D108BD9-81ED-4DB2-BD59-A6C34878D82A}">
                    <a16:rowId xmlns:a16="http://schemas.microsoft.com/office/drawing/2014/main" val="3172409948"/>
                  </a:ext>
                </a:extLst>
              </a:tr>
              <a:tr h="369118">
                <a:tc>
                  <a:txBody>
                    <a:bodyPr/>
                    <a:lstStyle/>
                    <a:p>
                      <a:r>
                        <a:rPr lang="es-ES" sz="1400" dirty="0"/>
                        <a:t>+, -</a:t>
                      </a:r>
                    </a:p>
                  </a:txBody>
                  <a:tcPr/>
                </a:tc>
                <a:tc>
                  <a:txBody>
                    <a:bodyPr/>
                    <a:lstStyle/>
                    <a:p>
                      <a:r>
                        <a:rPr lang="es-ES" sz="1400" dirty="0"/>
                        <a:t>+, -</a:t>
                      </a:r>
                    </a:p>
                    <a:p>
                      <a:r>
                        <a:rPr lang="es-ES" sz="1400" dirty="0"/>
                        <a:t>Sumes, restes</a:t>
                      </a:r>
                    </a:p>
                  </a:txBody>
                  <a:tcPr/>
                </a:tc>
                <a:extLst>
                  <a:ext uri="{0D108BD9-81ED-4DB2-BD59-A6C34878D82A}">
                    <a16:rowId xmlns:a16="http://schemas.microsoft.com/office/drawing/2014/main" val="1128615520"/>
                  </a:ext>
                </a:extLst>
              </a:tr>
              <a:tr h="369118">
                <a:tc>
                  <a:txBody>
                    <a:bodyPr/>
                    <a:lstStyle/>
                    <a:p>
                      <a:r>
                        <a:rPr lang="es-ES" sz="1400" dirty="0"/>
                        <a:t>&lt;,&lt;=, &gt;, &gt;=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&lt;,&lt;=, &gt;,&gt;=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comparatives</a:t>
                      </a:r>
                    </a:p>
                  </a:txBody>
                  <a:tcPr/>
                </a:tc>
                <a:extLst>
                  <a:ext uri="{0D108BD9-81ED-4DB2-BD59-A6C34878D82A}">
                    <a16:rowId xmlns:a16="http://schemas.microsoft.com/office/drawing/2014/main" val="2260964158"/>
                  </a:ext>
                </a:extLst>
              </a:tr>
              <a:tr h="565458">
                <a:tc>
                  <a:txBody>
                    <a:bodyPr/>
                    <a:lstStyle/>
                    <a:p>
                      <a:r>
                        <a:rPr lang="es-ES" sz="14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 (comparativa),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 (</a:t>
                      </a:r>
                      <a:r>
                        <a:rPr lang="es-ES" sz="1400" dirty="0" err="1"/>
                        <a:t>diferent</a:t>
                      </a:r>
                      <a:r>
                        <a:rPr lang="es-ES" sz="1400" dirty="0"/>
                        <a:t>)</a:t>
                      </a:r>
                    </a:p>
                  </a:txBody>
                  <a:tcPr/>
                </a:tc>
                <a:extLst>
                  <a:ext uri="{0D108BD9-81ED-4DB2-BD59-A6C34878D82A}">
                    <a16:rowId xmlns:a16="http://schemas.microsoft.com/office/drawing/2014/main" val="2161922727"/>
                  </a:ext>
                </a:extLst>
              </a:tr>
              <a:tr h="369118">
                <a:tc>
                  <a:txBody>
                    <a:bodyPr/>
                    <a:lstStyle/>
                    <a:p>
                      <a:r>
                        <a:rPr lang="es-ES" sz="1400" dirty="0">
                          <a:solidFill>
                            <a:schemeClr val="tx1"/>
                          </a:solidFill>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solidFill>
                            <a:schemeClr val="tx1"/>
                          </a:solidFill>
                        </a:rPr>
                        <a:t>&amp;&amp;</a:t>
                      </a:r>
                    </a:p>
                  </a:txBody>
                  <a:tcPr/>
                </a:tc>
                <a:extLst>
                  <a:ext uri="{0D108BD9-81ED-4DB2-BD59-A6C34878D82A}">
                    <a16:rowId xmlns:a16="http://schemas.microsoft.com/office/drawing/2014/main" val="1585640854"/>
                  </a:ext>
                </a:extLst>
              </a:tr>
              <a:tr h="369118">
                <a:tc>
                  <a:txBody>
                    <a:bodyPr/>
                    <a:lstStyle/>
                    <a:p>
                      <a:r>
                        <a:rPr lang="es-ES" sz="1400" dirty="0">
                          <a:solidFill>
                            <a:schemeClr val="tx1"/>
                          </a:solidFill>
                        </a:rPr>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solidFill>
                            <a:schemeClr val="tx1"/>
                          </a:solidFill>
                        </a:rPr>
                        <a:t>||</a:t>
                      </a:r>
                    </a:p>
                  </a:txBody>
                  <a:tcPr/>
                </a:tc>
                <a:extLst>
                  <a:ext uri="{0D108BD9-81ED-4DB2-BD59-A6C34878D82A}">
                    <a16:rowId xmlns:a16="http://schemas.microsoft.com/office/drawing/2014/main" val="2178473614"/>
                  </a:ext>
                </a:extLst>
              </a:tr>
              <a:tr h="369118">
                <a:tc>
                  <a:txBody>
                    <a:bodyPr/>
                    <a:lstStyle/>
                    <a:p>
                      <a:r>
                        <a:rPr lang="es-E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err="1"/>
                        <a:t>assignacions</a:t>
                      </a:r>
                      <a:endParaRPr lang="es-ES" sz="1400" dirty="0"/>
                    </a:p>
                  </a:txBody>
                  <a:tcPr/>
                </a:tc>
                <a:extLst>
                  <a:ext uri="{0D108BD9-81ED-4DB2-BD59-A6C34878D82A}">
                    <a16:rowId xmlns:a16="http://schemas.microsoft.com/office/drawing/2014/main" val="3701746143"/>
                  </a:ext>
                </a:extLst>
              </a:tr>
            </a:tbl>
          </a:graphicData>
        </a:graphic>
      </p:graphicFrame>
    </p:spTree>
    <p:extLst>
      <p:ext uri="{BB962C8B-B14F-4D97-AF65-F5344CB8AC3E}">
        <p14:creationId xmlns:p14="http://schemas.microsoft.com/office/powerpoint/2010/main" val="3564263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chor="ctr">
            <a:normAutofit/>
          </a:bodyPr>
          <a:lstStyle/>
          <a:p>
            <a:r>
              <a:rPr lang="ca-ES" noProof="1"/>
              <a:t>Operadors – Prioritats: Obté el resultat</a:t>
            </a:r>
          </a:p>
        </p:txBody>
      </p:sp>
      <p:graphicFrame>
        <p:nvGraphicFramePr>
          <p:cNvPr id="12" name="Table 3">
            <a:extLst>
              <a:ext uri="{FF2B5EF4-FFF2-40B4-BE49-F238E27FC236}">
                <a16:creationId xmlns:a16="http://schemas.microsoft.com/office/drawing/2014/main" id="{8C62473C-AC08-9B1A-8E5D-7584509BCC4C}"/>
              </a:ext>
            </a:extLst>
          </p:cNvPr>
          <p:cNvGraphicFramePr>
            <a:graphicFrameLocks noGrp="1"/>
          </p:cNvGraphicFramePr>
          <p:nvPr>
            <p:extLst>
              <p:ext uri="{D42A27DB-BD31-4B8C-83A1-F6EECF244321}">
                <p14:modId xmlns:p14="http://schemas.microsoft.com/office/powerpoint/2010/main" val="4281107812"/>
              </p:ext>
            </p:extLst>
          </p:nvPr>
        </p:nvGraphicFramePr>
        <p:xfrm>
          <a:off x="425450" y="787400"/>
          <a:ext cx="3849719" cy="4771468"/>
        </p:xfrm>
        <a:graphic>
          <a:graphicData uri="http://schemas.openxmlformats.org/drawingml/2006/table">
            <a:tbl>
              <a:tblPr firstRow="1" bandRow="1">
                <a:tableStyleId>{46F890A9-2807-4EBB-B81D-B2AA78EC7F39}</a:tableStyleId>
              </a:tblPr>
              <a:tblGrid>
                <a:gridCol w="1816354">
                  <a:extLst>
                    <a:ext uri="{9D8B030D-6E8A-4147-A177-3AD203B41FA5}">
                      <a16:colId xmlns:a16="http://schemas.microsoft.com/office/drawing/2014/main" val="3640043668"/>
                    </a:ext>
                  </a:extLst>
                </a:gridCol>
                <a:gridCol w="2033365">
                  <a:extLst>
                    <a:ext uri="{9D8B030D-6E8A-4147-A177-3AD203B41FA5}">
                      <a16:colId xmlns:a16="http://schemas.microsoft.com/office/drawing/2014/main" val="3082748458"/>
                    </a:ext>
                  </a:extLst>
                </a:gridCol>
              </a:tblGrid>
              <a:tr h="277082">
                <a:tc>
                  <a:txBody>
                    <a:bodyPr/>
                    <a:lstStyle/>
                    <a:p>
                      <a:r>
                        <a:rPr lang="es-ES" sz="1400" dirty="0"/>
                        <a:t>Operador </a:t>
                      </a:r>
                      <a:r>
                        <a:rPr lang="es-ES" sz="1400" dirty="0" err="1"/>
                        <a:t>Pseudocodi</a:t>
                      </a:r>
                      <a:endParaRPr lang="es-ES" sz="1400" dirty="0"/>
                    </a:p>
                  </a:txBody>
                  <a:tcPr/>
                </a:tc>
                <a:tc>
                  <a:txBody>
                    <a:bodyPr/>
                    <a:lstStyle/>
                    <a:p>
                      <a:pPr algn="l"/>
                      <a:r>
                        <a:rPr lang="es-ES" sz="1400" dirty="0"/>
                        <a:t>Operador</a:t>
                      </a:r>
                      <a:r>
                        <a:rPr lang="es-ES" sz="1400" baseline="0" dirty="0"/>
                        <a:t> en C</a:t>
                      </a:r>
                      <a:endParaRPr lang="es-ES" sz="1400" dirty="0"/>
                    </a:p>
                  </a:txBody>
                  <a:tcPr anchor="ctr"/>
                </a:tc>
                <a:extLst>
                  <a:ext uri="{0D108BD9-81ED-4DB2-BD59-A6C34878D82A}">
                    <a16:rowId xmlns:a16="http://schemas.microsoft.com/office/drawing/2014/main" val="4184248687"/>
                  </a:ext>
                </a:extLst>
              </a:tr>
              <a:tr h="369118">
                <a:tc>
                  <a:txBody>
                    <a:bodyPr/>
                    <a:lstStyle/>
                    <a:p>
                      <a:r>
                        <a:rPr lang="es-ES" sz="1400" b="1" dirty="0">
                          <a:solidFill>
                            <a:schemeClr val="tx1"/>
                          </a:solidFill>
                        </a:rPr>
                        <a:t>()</a:t>
                      </a:r>
                    </a:p>
                  </a:txBody>
                  <a:tcPr/>
                </a:tc>
                <a:tc>
                  <a:txBody>
                    <a:bodyPr/>
                    <a:lstStyle/>
                    <a:p>
                      <a:r>
                        <a:rPr lang="es-ES" sz="1400" b="1" dirty="0">
                          <a:solidFill>
                            <a:schemeClr val="tx1"/>
                          </a:solidFill>
                          <a:highlight>
                            <a:srgbClr val="00FFFF"/>
                          </a:highlight>
                        </a:rPr>
                        <a:t>()</a:t>
                      </a:r>
                    </a:p>
                  </a:txBody>
                  <a:tcPr/>
                </a:tc>
                <a:extLst>
                  <a:ext uri="{0D108BD9-81ED-4DB2-BD59-A6C34878D82A}">
                    <a16:rowId xmlns:a16="http://schemas.microsoft.com/office/drawing/2014/main" val="4205469200"/>
                  </a:ext>
                </a:extLst>
              </a:tr>
              <a:tr h="565458">
                <a:tc>
                  <a:txBody>
                    <a:bodyPr/>
                    <a:lstStyle/>
                    <a:p>
                      <a:r>
                        <a:rPr lang="es-ES" sz="1400" dirty="0">
                          <a:solidFill>
                            <a:schemeClr val="tx1"/>
                          </a:solidFill>
                        </a:rPr>
                        <a:t>++, --</a:t>
                      </a:r>
                    </a:p>
                  </a:txBody>
                  <a:tcPr/>
                </a:tc>
                <a:tc>
                  <a:txBody>
                    <a:bodyPr/>
                    <a:lstStyle/>
                    <a:p>
                      <a:r>
                        <a:rPr lang="es-ES" sz="1400" baseline="0" dirty="0"/>
                        <a:t>++ (</a:t>
                      </a:r>
                      <a:r>
                        <a:rPr lang="es-ES" sz="1400" baseline="0" dirty="0" err="1"/>
                        <a:t>increment</a:t>
                      </a:r>
                      <a:r>
                        <a:rPr lang="es-ES" sz="1400" baseline="0" dirty="0"/>
                        <a:t>), </a:t>
                      </a:r>
                    </a:p>
                    <a:p>
                      <a:r>
                        <a:rPr lang="es-ES" sz="1400" baseline="0" dirty="0"/>
                        <a:t>--   (</a:t>
                      </a:r>
                      <a:r>
                        <a:rPr lang="es-ES" sz="1400" baseline="0" dirty="0" err="1"/>
                        <a:t>decrement</a:t>
                      </a:r>
                      <a:r>
                        <a:rPr lang="es-ES" sz="1400" baseline="0" dirty="0"/>
                        <a:t>)</a:t>
                      </a:r>
                      <a:endParaRPr lang="es-ES" sz="1400" dirty="0"/>
                    </a:p>
                  </a:txBody>
                  <a:tcPr/>
                </a:tc>
                <a:extLst>
                  <a:ext uri="{0D108BD9-81ED-4DB2-BD59-A6C34878D82A}">
                    <a16:rowId xmlns:a16="http://schemas.microsoft.com/office/drawing/2014/main" val="4158166076"/>
                  </a:ext>
                </a:extLst>
              </a:tr>
              <a:tr h="369118">
                <a:tc>
                  <a:txBody>
                    <a:bodyPr/>
                    <a:lstStyle/>
                    <a:p>
                      <a:r>
                        <a:rPr lang="es-ES" sz="1400" dirty="0"/>
                        <a:t>No</a:t>
                      </a:r>
                    </a:p>
                  </a:txBody>
                  <a:tcPr/>
                </a:tc>
                <a:tc>
                  <a:txBody>
                    <a:bodyPr/>
                    <a:lstStyle/>
                    <a:p>
                      <a:r>
                        <a:rPr lang="es-ES" sz="1400" dirty="0"/>
                        <a:t>!</a:t>
                      </a:r>
                    </a:p>
                  </a:txBody>
                  <a:tcPr/>
                </a:tc>
                <a:extLst>
                  <a:ext uri="{0D108BD9-81ED-4DB2-BD59-A6C34878D82A}">
                    <a16:rowId xmlns:a16="http://schemas.microsoft.com/office/drawing/2014/main" val="1476892582"/>
                  </a:ext>
                </a:extLst>
              </a:tr>
              <a:tr h="286346">
                <a:tc>
                  <a:txBody>
                    <a:bodyPr/>
                    <a:lstStyle/>
                    <a:p>
                      <a:r>
                        <a:rPr lang="es-ES" sz="1400" dirty="0"/>
                        <a:t>*,DIV,MOD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a:t>
                      </a:r>
                      <a:r>
                        <a:rPr lang="es-ES" sz="1400" baseline="0" dirty="0"/>
                        <a:t>, / , % </a:t>
                      </a:r>
                    </a:p>
                  </a:txBody>
                  <a:tcPr/>
                </a:tc>
                <a:extLst>
                  <a:ext uri="{0D108BD9-81ED-4DB2-BD59-A6C34878D82A}">
                    <a16:rowId xmlns:a16="http://schemas.microsoft.com/office/drawing/2014/main" val="3172409948"/>
                  </a:ext>
                </a:extLst>
              </a:tr>
              <a:tr h="369118">
                <a:tc>
                  <a:txBody>
                    <a:bodyPr/>
                    <a:lstStyle/>
                    <a:p>
                      <a:r>
                        <a:rPr lang="es-ES" sz="1400" dirty="0"/>
                        <a:t>+, -</a:t>
                      </a:r>
                    </a:p>
                  </a:txBody>
                  <a:tcPr/>
                </a:tc>
                <a:tc>
                  <a:txBody>
                    <a:bodyPr/>
                    <a:lstStyle/>
                    <a:p>
                      <a:r>
                        <a:rPr lang="es-ES" sz="1400" dirty="0"/>
                        <a:t>+, -</a:t>
                      </a:r>
                    </a:p>
                    <a:p>
                      <a:r>
                        <a:rPr lang="es-ES" sz="1400" dirty="0"/>
                        <a:t>Sumes, restes</a:t>
                      </a:r>
                    </a:p>
                  </a:txBody>
                  <a:tcPr/>
                </a:tc>
                <a:extLst>
                  <a:ext uri="{0D108BD9-81ED-4DB2-BD59-A6C34878D82A}">
                    <a16:rowId xmlns:a16="http://schemas.microsoft.com/office/drawing/2014/main" val="1128615520"/>
                  </a:ext>
                </a:extLst>
              </a:tr>
              <a:tr h="369118">
                <a:tc>
                  <a:txBody>
                    <a:bodyPr/>
                    <a:lstStyle/>
                    <a:p>
                      <a:r>
                        <a:rPr lang="es-ES" sz="1400" dirty="0"/>
                        <a:t>&lt;,&lt;=, &gt;, &gt;=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&lt;,&lt;=, &gt;,&gt;=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comparatives</a:t>
                      </a:r>
                    </a:p>
                  </a:txBody>
                  <a:tcPr/>
                </a:tc>
                <a:extLst>
                  <a:ext uri="{0D108BD9-81ED-4DB2-BD59-A6C34878D82A}">
                    <a16:rowId xmlns:a16="http://schemas.microsoft.com/office/drawing/2014/main" val="2260964158"/>
                  </a:ext>
                </a:extLst>
              </a:tr>
              <a:tr h="565458">
                <a:tc>
                  <a:txBody>
                    <a:bodyPr/>
                    <a:lstStyle/>
                    <a:p>
                      <a:r>
                        <a:rPr lang="es-ES" sz="14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highlight>
                            <a:srgbClr val="00FFFF"/>
                          </a:highlight>
                        </a:rPr>
                        <a:t>==</a:t>
                      </a:r>
                      <a:r>
                        <a:rPr lang="es-ES" sz="1400" dirty="0"/>
                        <a:t> (comparativa),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 (</a:t>
                      </a:r>
                      <a:r>
                        <a:rPr lang="es-ES" sz="1400" dirty="0" err="1"/>
                        <a:t>diferent</a:t>
                      </a:r>
                      <a:r>
                        <a:rPr lang="es-ES" sz="1400" dirty="0"/>
                        <a:t>)</a:t>
                      </a:r>
                    </a:p>
                  </a:txBody>
                  <a:tcPr/>
                </a:tc>
                <a:extLst>
                  <a:ext uri="{0D108BD9-81ED-4DB2-BD59-A6C34878D82A}">
                    <a16:rowId xmlns:a16="http://schemas.microsoft.com/office/drawing/2014/main" val="2161922727"/>
                  </a:ext>
                </a:extLst>
              </a:tr>
              <a:tr h="369118">
                <a:tc>
                  <a:txBody>
                    <a:bodyPr/>
                    <a:lstStyle/>
                    <a:p>
                      <a:r>
                        <a:rPr lang="es-ES" sz="1400" dirty="0">
                          <a:solidFill>
                            <a:schemeClr val="tx1"/>
                          </a:solidFill>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solidFill>
                            <a:schemeClr val="tx1"/>
                          </a:solidFill>
                          <a:highlight>
                            <a:srgbClr val="00FFFF"/>
                          </a:highlight>
                        </a:rPr>
                        <a:t>&amp;&amp;</a:t>
                      </a:r>
                    </a:p>
                  </a:txBody>
                  <a:tcPr/>
                </a:tc>
                <a:extLst>
                  <a:ext uri="{0D108BD9-81ED-4DB2-BD59-A6C34878D82A}">
                    <a16:rowId xmlns:a16="http://schemas.microsoft.com/office/drawing/2014/main" val="1585640854"/>
                  </a:ext>
                </a:extLst>
              </a:tr>
              <a:tr h="369118">
                <a:tc>
                  <a:txBody>
                    <a:bodyPr/>
                    <a:lstStyle/>
                    <a:p>
                      <a:r>
                        <a:rPr lang="es-ES" sz="1400" dirty="0">
                          <a:solidFill>
                            <a:schemeClr val="tx1"/>
                          </a:solidFill>
                        </a:rPr>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solidFill>
                            <a:schemeClr val="tx1"/>
                          </a:solidFill>
                          <a:highlight>
                            <a:srgbClr val="00FFFF"/>
                          </a:highlight>
                        </a:rPr>
                        <a:t>||</a:t>
                      </a:r>
                    </a:p>
                  </a:txBody>
                  <a:tcPr/>
                </a:tc>
                <a:extLst>
                  <a:ext uri="{0D108BD9-81ED-4DB2-BD59-A6C34878D82A}">
                    <a16:rowId xmlns:a16="http://schemas.microsoft.com/office/drawing/2014/main" val="2178473614"/>
                  </a:ext>
                </a:extLst>
              </a:tr>
              <a:tr h="369118">
                <a:tc>
                  <a:txBody>
                    <a:bodyPr/>
                    <a:lstStyle/>
                    <a:p>
                      <a:r>
                        <a:rPr lang="es-ES" sz="14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err="1"/>
                        <a:t>assignacions</a:t>
                      </a:r>
                      <a:endParaRPr lang="es-ES" sz="1400" dirty="0"/>
                    </a:p>
                  </a:txBody>
                  <a:tcPr/>
                </a:tc>
                <a:extLst>
                  <a:ext uri="{0D108BD9-81ED-4DB2-BD59-A6C34878D82A}">
                    <a16:rowId xmlns:a16="http://schemas.microsoft.com/office/drawing/2014/main" val="3701746143"/>
                  </a:ext>
                </a:extLst>
              </a:tr>
            </a:tbl>
          </a:graphicData>
        </a:graphic>
      </p:graphicFrame>
      <p:sp>
        <p:nvSpPr>
          <p:cNvPr id="13" name="Marcador de contenido 5">
            <a:extLst>
              <a:ext uri="{FF2B5EF4-FFF2-40B4-BE49-F238E27FC236}">
                <a16:creationId xmlns:a16="http://schemas.microsoft.com/office/drawing/2014/main" id="{DCE8C1CB-705E-51D8-1180-07E304F2A146}"/>
              </a:ext>
            </a:extLst>
          </p:cNvPr>
          <p:cNvSpPr>
            <a:spLocks noGrp="1"/>
          </p:cNvSpPr>
          <p:nvPr>
            <p:ph idx="1"/>
          </p:nvPr>
        </p:nvSpPr>
        <p:spPr>
          <a:xfrm>
            <a:off x="4482704" y="787401"/>
            <a:ext cx="3969782" cy="2451099"/>
          </a:xfrm>
        </p:spPr>
        <p:txBody>
          <a:bodyPr>
            <a:normAutofit/>
          </a:bodyPr>
          <a:lstStyle/>
          <a:p>
            <a:pPr marL="0" indent="0">
              <a:buNone/>
            </a:pPr>
            <a:r>
              <a:rPr lang="es-ES" sz="1100" dirty="0"/>
              <a:t>EXERCICI:</a:t>
            </a:r>
          </a:p>
          <a:p>
            <a:pPr marL="0" indent="0">
              <a:buNone/>
            </a:pPr>
            <a:r>
              <a:rPr lang="es-ES" sz="1100" dirty="0"/>
              <a:t>a=3, b=4, c=5</a:t>
            </a:r>
          </a:p>
          <a:p>
            <a:pPr marL="0" indent="0">
              <a:buNone/>
            </a:pPr>
            <a:endParaRPr lang="es-ES" sz="1100" dirty="0"/>
          </a:p>
          <a:p>
            <a:pPr marL="0" indent="0">
              <a:buNone/>
            </a:pPr>
            <a:r>
              <a:rPr lang="es-ES" sz="1100" dirty="0" err="1"/>
              <a:t>Avalua</a:t>
            </a:r>
            <a:r>
              <a:rPr lang="es-ES" sz="1100" dirty="0"/>
              <a:t> les </a:t>
            </a:r>
            <a:r>
              <a:rPr lang="es-ES" sz="1100" dirty="0" err="1"/>
              <a:t>següents</a:t>
            </a:r>
            <a:r>
              <a:rPr lang="es-ES" sz="1100" dirty="0"/>
              <a:t> </a:t>
            </a:r>
            <a:r>
              <a:rPr lang="es-ES" sz="1100" dirty="0" err="1"/>
              <a:t>expressions</a:t>
            </a:r>
            <a:r>
              <a:rPr lang="es-ES" sz="1100" dirty="0"/>
              <a:t>:</a:t>
            </a:r>
          </a:p>
          <a:p>
            <a:pPr marL="0" indent="0">
              <a:buNone/>
            </a:pPr>
            <a:r>
              <a:rPr lang="es-ES" sz="1100" dirty="0"/>
              <a:t>(a==3 || b==5)</a:t>
            </a:r>
          </a:p>
          <a:p>
            <a:pPr marL="0" indent="0">
              <a:buNone/>
            </a:pPr>
            <a:r>
              <a:rPr lang="es-ES" sz="1100" dirty="0"/>
              <a:t>(a==3 || b==5)</a:t>
            </a:r>
          </a:p>
          <a:p>
            <a:pPr marL="0" indent="0">
              <a:buNone/>
            </a:pPr>
            <a:r>
              <a:rPr lang="es-ES" sz="1100" dirty="0"/>
              <a:t>(a==3 &amp;&amp; b==4 || c==10)</a:t>
            </a:r>
          </a:p>
          <a:p>
            <a:pPr marL="0" indent="0">
              <a:buNone/>
            </a:pPr>
            <a:r>
              <a:rPr lang="es-ES" sz="1100" dirty="0"/>
              <a:t>(a==3 &amp;&amp; (b==4 || c==10))</a:t>
            </a:r>
            <a:endParaRPr lang="es-ES" sz="1400" dirty="0"/>
          </a:p>
          <a:p>
            <a:pPr marL="0" indent="0">
              <a:buNone/>
            </a:pPr>
            <a:endParaRPr lang="es-ES" sz="1400" dirty="0"/>
          </a:p>
          <a:p>
            <a:pPr marL="0" indent="0">
              <a:buNone/>
            </a:pPr>
            <a:endParaRPr lang="es-ES" sz="1100" dirty="0"/>
          </a:p>
          <a:p>
            <a:pPr marL="0" indent="0">
              <a:buNone/>
            </a:pPr>
            <a:endParaRPr lang="es-ES" sz="1100" dirty="0"/>
          </a:p>
        </p:txBody>
      </p:sp>
    </p:spTree>
    <p:extLst>
      <p:ext uri="{BB962C8B-B14F-4D97-AF65-F5344CB8AC3E}">
        <p14:creationId xmlns:p14="http://schemas.microsoft.com/office/powerpoint/2010/main" val="473190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chor="ctr">
            <a:noAutofit/>
          </a:bodyPr>
          <a:lstStyle/>
          <a:p>
            <a:r>
              <a:rPr lang="ca-ES" noProof="1"/>
              <a:t>Operadors - Prioritats (Exemples)</a:t>
            </a:r>
          </a:p>
        </p:txBody>
      </p:sp>
      <p:sp>
        <p:nvSpPr>
          <p:cNvPr id="14" name="Content Placeholder 2">
            <a:extLst>
              <a:ext uri="{FF2B5EF4-FFF2-40B4-BE49-F238E27FC236}">
                <a16:creationId xmlns:a16="http://schemas.microsoft.com/office/drawing/2014/main" id="{01555964-3124-4329-B61D-13956838A58B}"/>
              </a:ext>
            </a:extLst>
          </p:cNvPr>
          <p:cNvSpPr txBox="1">
            <a:spLocks/>
          </p:cNvSpPr>
          <p:nvPr/>
        </p:nvSpPr>
        <p:spPr>
          <a:xfrm>
            <a:off x="3348001" y="973022"/>
            <a:ext cx="2958858" cy="1412038"/>
          </a:xfrm>
          <a:prstGeom prst="rect">
            <a:avLst/>
          </a:prstGeom>
          <a:ln>
            <a:noFill/>
          </a:ln>
        </p:spPr>
        <p:txBody>
          <a:bodyPr vert="horz" lIns="68580" tIns="34290" rIns="68580" bIns="3429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ca-ES" sz="1200" noProof="1"/>
              <a:t>Els parèntesis fixen la prioritat, forçant a fer la comparació un cop ja hem assignat el valor a la variable res.</a:t>
            </a:r>
          </a:p>
          <a:p>
            <a:pPr marL="0" indent="0">
              <a:spcBef>
                <a:spcPts val="0"/>
              </a:spcBef>
              <a:buNone/>
            </a:pPr>
            <a:endParaRPr lang="ca-ES" sz="1200" noProof="1"/>
          </a:p>
          <a:p>
            <a:pPr marL="0" indent="0">
              <a:spcBef>
                <a:spcPts val="0"/>
              </a:spcBef>
              <a:buNone/>
            </a:pPr>
            <a:r>
              <a:rPr lang="ca-ES" sz="1200" noProof="1"/>
              <a:t>(res = 5 + 1 – 8) &lt; 0</a:t>
            </a:r>
          </a:p>
          <a:p>
            <a:pPr marL="0" indent="0">
              <a:spcBef>
                <a:spcPts val="0"/>
              </a:spcBef>
              <a:buNone/>
            </a:pPr>
            <a:r>
              <a:rPr lang="ca-ES" sz="1200" noProof="1"/>
              <a:t>res = -2 </a:t>
            </a:r>
            <a:endParaRPr lang="ca-ES" sz="1200" noProof="1">
              <a:sym typeface="Wingdings" panose="05000000000000000000" pitchFamily="2" charset="2"/>
            </a:endParaRPr>
          </a:p>
          <a:p>
            <a:pPr marL="0" indent="0">
              <a:spcBef>
                <a:spcPts val="0"/>
              </a:spcBef>
              <a:buNone/>
            </a:pPr>
            <a:endParaRPr lang="ca-ES" sz="1350" noProof="1">
              <a:sym typeface="Wingdings" panose="05000000000000000000" pitchFamily="2" charset="2"/>
            </a:endParaRPr>
          </a:p>
        </p:txBody>
      </p:sp>
      <p:graphicFrame>
        <p:nvGraphicFramePr>
          <p:cNvPr id="8" name="Table 3">
            <a:extLst>
              <a:ext uri="{FF2B5EF4-FFF2-40B4-BE49-F238E27FC236}">
                <a16:creationId xmlns:a16="http://schemas.microsoft.com/office/drawing/2014/main" id="{153AF417-BE31-92F4-9515-7486F17FEE98}"/>
              </a:ext>
            </a:extLst>
          </p:cNvPr>
          <p:cNvGraphicFramePr>
            <a:graphicFrameLocks noGrp="1"/>
          </p:cNvGraphicFramePr>
          <p:nvPr>
            <p:extLst>
              <p:ext uri="{D42A27DB-BD31-4B8C-83A1-F6EECF244321}">
                <p14:modId xmlns:p14="http://schemas.microsoft.com/office/powerpoint/2010/main" val="1332607791"/>
              </p:ext>
            </p:extLst>
          </p:nvPr>
        </p:nvGraphicFramePr>
        <p:xfrm>
          <a:off x="6367819" y="973022"/>
          <a:ext cx="2677121" cy="3596640"/>
        </p:xfrm>
        <a:graphic>
          <a:graphicData uri="http://schemas.openxmlformats.org/drawingml/2006/table">
            <a:tbl>
              <a:tblPr firstRow="1" bandRow="1">
                <a:tableStyleId>{46F890A9-2807-4EBB-B81D-B2AA78EC7F39}</a:tableStyleId>
              </a:tblPr>
              <a:tblGrid>
                <a:gridCol w="1352868">
                  <a:extLst>
                    <a:ext uri="{9D8B030D-6E8A-4147-A177-3AD203B41FA5}">
                      <a16:colId xmlns:a16="http://schemas.microsoft.com/office/drawing/2014/main" val="3640043668"/>
                    </a:ext>
                  </a:extLst>
                </a:gridCol>
                <a:gridCol w="1324253">
                  <a:extLst>
                    <a:ext uri="{9D8B030D-6E8A-4147-A177-3AD203B41FA5}">
                      <a16:colId xmlns:a16="http://schemas.microsoft.com/office/drawing/2014/main" val="3082748458"/>
                    </a:ext>
                  </a:extLst>
                </a:gridCol>
              </a:tblGrid>
              <a:tr h="196781">
                <a:tc>
                  <a:txBody>
                    <a:bodyPr/>
                    <a:lstStyle/>
                    <a:p>
                      <a:r>
                        <a:rPr lang="es-ES" sz="1000" dirty="0"/>
                        <a:t>Operador </a:t>
                      </a:r>
                      <a:r>
                        <a:rPr lang="es-ES" sz="1000" dirty="0" err="1"/>
                        <a:t>Pseudocodi</a:t>
                      </a:r>
                      <a:endParaRPr lang="es-ES" sz="1000" dirty="0"/>
                    </a:p>
                  </a:txBody>
                  <a:tcPr/>
                </a:tc>
                <a:tc>
                  <a:txBody>
                    <a:bodyPr/>
                    <a:lstStyle/>
                    <a:p>
                      <a:pPr algn="l"/>
                      <a:r>
                        <a:rPr lang="es-ES" sz="1000" dirty="0"/>
                        <a:t>Operador</a:t>
                      </a:r>
                      <a:r>
                        <a:rPr lang="es-ES" sz="1000" baseline="0" dirty="0"/>
                        <a:t> en C</a:t>
                      </a:r>
                      <a:endParaRPr lang="es-ES" sz="1000" dirty="0"/>
                    </a:p>
                  </a:txBody>
                  <a:tcPr anchor="ctr"/>
                </a:tc>
                <a:extLst>
                  <a:ext uri="{0D108BD9-81ED-4DB2-BD59-A6C34878D82A}">
                    <a16:rowId xmlns:a16="http://schemas.microsoft.com/office/drawing/2014/main" val="4184248687"/>
                  </a:ext>
                </a:extLst>
              </a:tr>
              <a:tr h="240075">
                <a:tc>
                  <a:txBody>
                    <a:bodyPr/>
                    <a:lstStyle/>
                    <a:p>
                      <a:r>
                        <a:rPr lang="es-ES" sz="1000" b="0" dirty="0">
                          <a:solidFill>
                            <a:schemeClr val="tx1"/>
                          </a:solidFill>
                        </a:rPr>
                        <a:t>()</a:t>
                      </a:r>
                    </a:p>
                  </a:txBody>
                  <a:tcPr/>
                </a:tc>
                <a:tc>
                  <a:txBody>
                    <a:bodyPr/>
                    <a:lstStyle/>
                    <a:p>
                      <a:r>
                        <a:rPr lang="es-ES" sz="1000" b="0" dirty="0">
                          <a:solidFill>
                            <a:schemeClr val="tx1"/>
                          </a:solidFill>
                          <a:highlight>
                            <a:srgbClr val="00FFFF"/>
                          </a:highlight>
                        </a:rPr>
                        <a:t>()</a:t>
                      </a:r>
                    </a:p>
                  </a:txBody>
                  <a:tcPr/>
                </a:tc>
                <a:extLst>
                  <a:ext uri="{0D108BD9-81ED-4DB2-BD59-A6C34878D82A}">
                    <a16:rowId xmlns:a16="http://schemas.microsoft.com/office/drawing/2014/main" val="4205469200"/>
                  </a:ext>
                </a:extLst>
              </a:tr>
              <a:tr h="367774">
                <a:tc>
                  <a:txBody>
                    <a:bodyPr/>
                    <a:lstStyle/>
                    <a:p>
                      <a:r>
                        <a:rPr lang="es-ES" sz="1000" b="0" dirty="0">
                          <a:solidFill>
                            <a:schemeClr val="tx1"/>
                          </a:solidFill>
                        </a:rPr>
                        <a:t>++, --</a:t>
                      </a:r>
                    </a:p>
                  </a:txBody>
                  <a:tcPr/>
                </a:tc>
                <a:tc>
                  <a:txBody>
                    <a:bodyPr/>
                    <a:lstStyle/>
                    <a:p>
                      <a:r>
                        <a:rPr lang="es-ES" sz="1000" b="0" baseline="0" dirty="0">
                          <a:solidFill>
                            <a:schemeClr val="tx1"/>
                          </a:solidFill>
                        </a:rPr>
                        <a:t>++ (</a:t>
                      </a:r>
                      <a:r>
                        <a:rPr lang="es-ES" sz="1000" b="0" baseline="0" dirty="0" err="1">
                          <a:solidFill>
                            <a:schemeClr val="tx1"/>
                          </a:solidFill>
                        </a:rPr>
                        <a:t>increment</a:t>
                      </a:r>
                      <a:r>
                        <a:rPr lang="es-ES" sz="1000" b="0" baseline="0" dirty="0">
                          <a:solidFill>
                            <a:schemeClr val="tx1"/>
                          </a:solidFill>
                        </a:rPr>
                        <a:t>), </a:t>
                      </a:r>
                    </a:p>
                    <a:p>
                      <a:r>
                        <a:rPr lang="es-ES" sz="1000" b="0" baseline="0" dirty="0">
                          <a:solidFill>
                            <a:schemeClr val="tx1"/>
                          </a:solidFill>
                        </a:rPr>
                        <a:t>--   (</a:t>
                      </a:r>
                      <a:r>
                        <a:rPr lang="es-ES" sz="1000" b="0" baseline="0" dirty="0" err="1">
                          <a:solidFill>
                            <a:schemeClr val="tx1"/>
                          </a:solidFill>
                        </a:rPr>
                        <a:t>decrement</a:t>
                      </a:r>
                      <a:r>
                        <a:rPr lang="es-ES" sz="1000" b="0" baseline="0" dirty="0">
                          <a:solidFill>
                            <a:schemeClr val="tx1"/>
                          </a:solidFill>
                        </a:rPr>
                        <a:t>)</a:t>
                      </a:r>
                      <a:endParaRPr lang="es-ES" sz="1000" b="0" dirty="0">
                        <a:solidFill>
                          <a:schemeClr val="tx1"/>
                        </a:solidFill>
                      </a:endParaRPr>
                    </a:p>
                  </a:txBody>
                  <a:tcPr/>
                </a:tc>
                <a:extLst>
                  <a:ext uri="{0D108BD9-81ED-4DB2-BD59-A6C34878D82A}">
                    <a16:rowId xmlns:a16="http://schemas.microsoft.com/office/drawing/2014/main" val="4158166076"/>
                  </a:ext>
                </a:extLst>
              </a:tr>
              <a:tr h="240075">
                <a:tc>
                  <a:txBody>
                    <a:bodyPr/>
                    <a:lstStyle/>
                    <a:p>
                      <a:r>
                        <a:rPr lang="es-ES" sz="1000" b="0" dirty="0">
                          <a:solidFill>
                            <a:schemeClr val="tx1"/>
                          </a:solidFill>
                        </a:rPr>
                        <a:t>No</a:t>
                      </a:r>
                    </a:p>
                  </a:txBody>
                  <a:tcPr/>
                </a:tc>
                <a:tc>
                  <a:txBody>
                    <a:bodyPr/>
                    <a:lstStyle/>
                    <a:p>
                      <a:r>
                        <a:rPr lang="es-ES" sz="1000" b="0" dirty="0">
                          <a:solidFill>
                            <a:schemeClr val="tx1"/>
                          </a:solidFill>
                        </a:rPr>
                        <a:t>!</a:t>
                      </a:r>
                    </a:p>
                  </a:txBody>
                  <a:tcPr/>
                </a:tc>
                <a:extLst>
                  <a:ext uri="{0D108BD9-81ED-4DB2-BD59-A6C34878D82A}">
                    <a16:rowId xmlns:a16="http://schemas.microsoft.com/office/drawing/2014/main" val="1476892582"/>
                  </a:ext>
                </a:extLst>
              </a:tr>
              <a:tr h="196781">
                <a:tc>
                  <a:txBody>
                    <a:bodyPr/>
                    <a:lstStyle/>
                    <a:p>
                      <a:r>
                        <a:rPr lang="es-ES" sz="1000" b="0" dirty="0">
                          <a:solidFill>
                            <a:schemeClr val="tx1"/>
                          </a:solidFill>
                        </a:rPr>
                        <a:t>*,DIV,MOD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highlight>
                            <a:srgbClr val="00FFFF"/>
                          </a:highlight>
                        </a:rPr>
                        <a:t>*</a:t>
                      </a:r>
                      <a:r>
                        <a:rPr lang="es-ES" sz="1000" b="0" baseline="0" dirty="0">
                          <a:solidFill>
                            <a:schemeClr val="tx1"/>
                          </a:solidFill>
                        </a:rPr>
                        <a:t>, / , %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baseline="0" dirty="0">
                          <a:solidFill>
                            <a:schemeClr val="tx1"/>
                          </a:solidFill>
                        </a:rPr>
                        <a:t>(</a:t>
                      </a:r>
                      <a:r>
                        <a:rPr lang="es-ES" sz="1000" b="0" baseline="0" dirty="0" err="1">
                          <a:solidFill>
                            <a:schemeClr val="tx1"/>
                          </a:solidFill>
                        </a:rPr>
                        <a:t>d’esquerra</a:t>
                      </a:r>
                      <a:r>
                        <a:rPr lang="es-ES" sz="1000" b="0" baseline="0" dirty="0">
                          <a:solidFill>
                            <a:schemeClr val="tx1"/>
                          </a:solidFill>
                        </a:rPr>
                        <a:t> a </a:t>
                      </a:r>
                      <a:r>
                        <a:rPr lang="es-ES" sz="1000" b="0" baseline="0" dirty="0" err="1">
                          <a:solidFill>
                            <a:schemeClr val="tx1"/>
                          </a:solidFill>
                        </a:rPr>
                        <a:t>dreta</a:t>
                      </a:r>
                      <a:r>
                        <a:rPr lang="es-ES" sz="1000" b="0" baseline="0" dirty="0">
                          <a:solidFill>
                            <a:schemeClr val="tx1"/>
                          </a:solidFill>
                        </a:rPr>
                        <a:t>)</a:t>
                      </a:r>
                    </a:p>
                  </a:txBody>
                  <a:tcPr/>
                </a:tc>
                <a:extLst>
                  <a:ext uri="{0D108BD9-81ED-4DB2-BD59-A6C34878D82A}">
                    <a16:rowId xmlns:a16="http://schemas.microsoft.com/office/drawing/2014/main" val="3172409948"/>
                  </a:ext>
                </a:extLst>
              </a:tr>
              <a:tr h="319768">
                <a:tc>
                  <a:txBody>
                    <a:bodyPr/>
                    <a:lstStyle/>
                    <a:p>
                      <a:r>
                        <a:rPr lang="es-ES" sz="1000" b="0" dirty="0">
                          <a:solidFill>
                            <a:schemeClr val="tx1"/>
                          </a:solidFill>
                        </a:rPr>
                        <a:t>+, -</a:t>
                      </a:r>
                    </a:p>
                  </a:txBody>
                  <a:tcPr/>
                </a:tc>
                <a:tc>
                  <a:txBody>
                    <a:bodyPr/>
                    <a:lstStyle/>
                    <a:p>
                      <a:r>
                        <a:rPr lang="es-ES" sz="1000" b="0" dirty="0">
                          <a:solidFill>
                            <a:schemeClr val="tx1"/>
                          </a:solidFill>
                        </a:rPr>
                        <a:t>+, -</a:t>
                      </a:r>
                    </a:p>
                    <a:p>
                      <a:r>
                        <a:rPr lang="es-ES" sz="1000" b="0" dirty="0">
                          <a:solidFill>
                            <a:schemeClr val="tx1"/>
                          </a:solidFill>
                        </a:rPr>
                        <a:t>Sumes, restes</a:t>
                      </a:r>
                    </a:p>
                  </a:txBody>
                  <a:tcPr/>
                </a:tc>
                <a:extLst>
                  <a:ext uri="{0D108BD9-81ED-4DB2-BD59-A6C34878D82A}">
                    <a16:rowId xmlns:a16="http://schemas.microsoft.com/office/drawing/2014/main" val="1128615520"/>
                  </a:ext>
                </a:extLst>
              </a:tr>
              <a:tr h="319768">
                <a:tc>
                  <a:txBody>
                    <a:bodyPr/>
                    <a:lstStyle/>
                    <a:p>
                      <a:r>
                        <a:rPr lang="es-ES" sz="1000" b="0" dirty="0">
                          <a:solidFill>
                            <a:schemeClr val="tx1"/>
                          </a:solidFill>
                        </a:rPr>
                        <a:t>&lt;,&lt;=, &gt;, &gt;=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&lt;,&lt;=, &gt;,&gt;=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comparatives</a:t>
                      </a:r>
                    </a:p>
                  </a:txBody>
                  <a:tcPr/>
                </a:tc>
                <a:extLst>
                  <a:ext uri="{0D108BD9-81ED-4DB2-BD59-A6C34878D82A}">
                    <a16:rowId xmlns:a16="http://schemas.microsoft.com/office/drawing/2014/main" val="2260964158"/>
                  </a:ext>
                </a:extLst>
              </a:tr>
              <a:tr h="367774">
                <a:tc>
                  <a:txBody>
                    <a:bodyPr/>
                    <a:lstStyle/>
                    <a:p>
                      <a:r>
                        <a:rPr lang="es-ES" sz="1000" b="0" dirty="0">
                          <a:solidFill>
                            <a:schemeClr val="tx1"/>
                          </a:solidFill>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 (comparativa),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 (</a:t>
                      </a:r>
                      <a:r>
                        <a:rPr lang="es-ES" sz="1000" b="0" dirty="0" err="1">
                          <a:solidFill>
                            <a:schemeClr val="tx1"/>
                          </a:solidFill>
                        </a:rPr>
                        <a:t>diferent</a:t>
                      </a:r>
                      <a:r>
                        <a:rPr lang="es-ES" sz="1000" b="0" dirty="0">
                          <a:solidFill>
                            <a:schemeClr val="tx1"/>
                          </a:solidFill>
                        </a:rPr>
                        <a:t>)</a:t>
                      </a:r>
                    </a:p>
                  </a:txBody>
                  <a:tcPr/>
                </a:tc>
                <a:extLst>
                  <a:ext uri="{0D108BD9-81ED-4DB2-BD59-A6C34878D82A}">
                    <a16:rowId xmlns:a16="http://schemas.microsoft.com/office/drawing/2014/main" val="2161922727"/>
                  </a:ext>
                </a:extLst>
              </a:tr>
              <a:tr h="240075">
                <a:tc>
                  <a:txBody>
                    <a:bodyPr/>
                    <a:lstStyle/>
                    <a:p>
                      <a:r>
                        <a:rPr lang="es-ES" sz="1000" b="0" dirty="0">
                          <a:solidFill>
                            <a:schemeClr val="tx1"/>
                          </a:solidFill>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&amp;&amp;</a:t>
                      </a:r>
                    </a:p>
                  </a:txBody>
                  <a:tcPr/>
                </a:tc>
                <a:extLst>
                  <a:ext uri="{0D108BD9-81ED-4DB2-BD59-A6C34878D82A}">
                    <a16:rowId xmlns:a16="http://schemas.microsoft.com/office/drawing/2014/main" val="1585640854"/>
                  </a:ext>
                </a:extLst>
              </a:tr>
              <a:tr h="240075">
                <a:tc>
                  <a:txBody>
                    <a:bodyPr/>
                    <a:lstStyle/>
                    <a:p>
                      <a:r>
                        <a:rPr lang="es-ES" sz="1000" b="0" dirty="0">
                          <a:solidFill>
                            <a:schemeClr val="tx1"/>
                          </a:solidFill>
                        </a:rPr>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a:t>
                      </a:r>
                    </a:p>
                  </a:txBody>
                  <a:tcPr/>
                </a:tc>
                <a:extLst>
                  <a:ext uri="{0D108BD9-81ED-4DB2-BD59-A6C34878D82A}">
                    <a16:rowId xmlns:a16="http://schemas.microsoft.com/office/drawing/2014/main" val="2178473614"/>
                  </a:ext>
                </a:extLst>
              </a:tr>
              <a:tr h="319768">
                <a:tc>
                  <a:txBody>
                    <a:bodyPr/>
                    <a:lstStyle/>
                    <a:p>
                      <a:r>
                        <a:rPr lang="es-ES" sz="1000" b="0" dirty="0">
                          <a:solidFill>
                            <a:schemeClr val="tx1"/>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highlight>
                            <a:srgbClr val="00FFFF"/>
                          </a:highlight>
                        </a:rPr>
                        <a:t>=</a:t>
                      </a:r>
                      <a:r>
                        <a:rPr lang="es-ES" sz="1000" b="0" dirty="0">
                          <a:solidFill>
                            <a:schemeClr val="tx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err="1">
                          <a:solidFill>
                            <a:schemeClr val="tx1"/>
                          </a:solidFill>
                        </a:rPr>
                        <a:t>assignacions</a:t>
                      </a:r>
                      <a:endParaRPr lang="es-ES" sz="1000" b="0" dirty="0">
                        <a:solidFill>
                          <a:schemeClr val="tx1"/>
                        </a:solidFill>
                      </a:endParaRPr>
                    </a:p>
                  </a:txBody>
                  <a:tcPr/>
                </a:tc>
                <a:extLst>
                  <a:ext uri="{0D108BD9-81ED-4DB2-BD59-A6C34878D82A}">
                    <a16:rowId xmlns:a16="http://schemas.microsoft.com/office/drawing/2014/main" val="3701746143"/>
                  </a:ext>
                </a:extLst>
              </a:tr>
            </a:tbl>
          </a:graphicData>
        </a:graphic>
      </p:graphicFrame>
      <p:sp>
        <p:nvSpPr>
          <p:cNvPr id="12" name="Content Placeholder 2">
            <a:extLst>
              <a:ext uri="{FF2B5EF4-FFF2-40B4-BE49-F238E27FC236}">
                <a16:creationId xmlns:a16="http://schemas.microsoft.com/office/drawing/2014/main" id="{9E4917C0-D5B7-C321-E277-194908564C9B}"/>
              </a:ext>
            </a:extLst>
          </p:cNvPr>
          <p:cNvSpPr txBox="1">
            <a:spLocks/>
          </p:cNvSpPr>
          <p:nvPr/>
        </p:nvSpPr>
        <p:spPr>
          <a:xfrm>
            <a:off x="3348001" y="3238779"/>
            <a:ext cx="2958858" cy="1607541"/>
          </a:xfrm>
          <a:prstGeom prst="rect">
            <a:avLst/>
          </a:prstGeom>
          <a:ln>
            <a:noFill/>
          </a:ln>
        </p:spPr>
        <p:txBody>
          <a:bodyPr vert="horz" lIns="68580" tIns="34290" rIns="68580" bIns="3429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None/>
            </a:pPr>
            <a:r>
              <a:rPr lang="ca-ES" sz="1200" noProof="1"/>
              <a:t>Al no haver-hi parèntesis, la prioritat que regeix és la dels operadors i la comparació és més prioritària que l’assignació.</a:t>
            </a:r>
          </a:p>
          <a:p>
            <a:pPr marL="0" indent="0">
              <a:spcBef>
                <a:spcPts val="0"/>
              </a:spcBef>
              <a:buNone/>
            </a:pPr>
            <a:endParaRPr lang="ca-ES" sz="1200" noProof="1"/>
          </a:p>
          <a:p>
            <a:pPr marL="0" indent="0">
              <a:spcBef>
                <a:spcPts val="0"/>
              </a:spcBef>
              <a:buNone/>
            </a:pPr>
            <a:r>
              <a:rPr lang="ca-ES" sz="1200" noProof="1"/>
              <a:t>res = 5 + 1 – 8 &lt; 0</a:t>
            </a:r>
          </a:p>
          <a:p>
            <a:pPr marL="0" indent="0">
              <a:spcBef>
                <a:spcPts val="0"/>
              </a:spcBef>
              <a:buNone/>
            </a:pPr>
            <a:r>
              <a:rPr lang="ca-ES" sz="1200" noProof="1"/>
              <a:t>res = -2 &lt; 0</a:t>
            </a:r>
          </a:p>
          <a:p>
            <a:pPr marL="0" indent="0">
              <a:spcBef>
                <a:spcPts val="0"/>
              </a:spcBef>
              <a:buNone/>
            </a:pPr>
            <a:r>
              <a:rPr lang="ca-ES" sz="1200" noProof="1"/>
              <a:t>res = 1 (True)</a:t>
            </a:r>
          </a:p>
        </p:txBody>
      </p:sp>
      <p:sp>
        <p:nvSpPr>
          <p:cNvPr id="16" name="CuadroTexto 15">
            <a:extLst>
              <a:ext uri="{FF2B5EF4-FFF2-40B4-BE49-F238E27FC236}">
                <a16:creationId xmlns:a16="http://schemas.microsoft.com/office/drawing/2014/main" id="{D50C53E8-136D-04C9-5F16-277DF197A123}"/>
              </a:ext>
            </a:extLst>
          </p:cNvPr>
          <p:cNvSpPr txBox="1"/>
          <p:nvPr/>
        </p:nvSpPr>
        <p:spPr>
          <a:xfrm>
            <a:off x="408431" y="964751"/>
            <a:ext cx="2769870" cy="1569660"/>
          </a:xfrm>
          <a:prstGeom prst="rect">
            <a:avLst/>
          </a:prstGeom>
          <a:noFill/>
          <a:ln>
            <a:solidFill>
              <a:schemeClr val="tx1"/>
            </a:solidFill>
            <a:prstDash val="dash"/>
          </a:ln>
        </p:spPr>
        <p:txBody>
          <a:bodyPr wrap="square">
            <a:spAutoFit/>
          </a:bodyPr>
          <a:lstStyle/>
          <a:p>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main(){</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a:t>
            </a:r>
            <a:r>
              <a:rPr lang="en-US" sz="1200" b="0" dirty="0">
                <a:solidFill>
                  <a:srgbClr val="098658"/>
                </a:solidFill>
                <a:effectLst/>
                <a:latin typeface="Consolas" panose="020B0609020204030204" pitchFamily="49" charset="0"/>
              </a:rPr>
              <a:t>5</a:t>
            </a:r>
            <a:r>
              <a:rPr lang="en-US" sz="1200" b="0" dirty="0">
                <a:solidFill>
                  <a:srgbClr val="000000"/>
                </a:solidFill>
                <a:effectLst/>
                <a:latin typeface="Consolas" panose="020B0609020204030204" pitchFamily="49" charset="0"/>
              </a:rPr>
              <a:t>,res;</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if</a:t>
            </a:r>
            <a:r>
              <a:rPr lang="en-US" sz="1200" b="0" dirty="0">
                <a:solidFill>
                  <a:srgbClr val="000000"/>
                </a:solidFill>
                <a:effectLst/>
                <a:latin typeface="Consolas" panose="020B0609020204030204" pitchFamily="49" charset="0"/>
              </a:rPr>
              <a:t>((res=a+</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4</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2</a:t>
            </a:r>
            <a:r>
              <a:rPr lang="en-US" sz="1200" b="0" dirty="0">
                <a:solidFill>
                  <a:srgbClr val="000000"/>
                </a:solidFill>
                <a:effectLst/>
                <a:latin typeface="Consolas" panose="020B0609020204030204" pitchFamily="49" charset="0"/>
              </a:rPr>
              <a:t>)&lt;</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"res: %</a:t>
            </a:r>
            <a:r>
              <a:rPr lang="en-US" sz="1200" b="0" dirty="0" err="1">
                <a:solidFill>
                  <a:srgbClr val="A31515"/>
                </a:solidFill>
                <a:effectLst/>
                <a:latin typeface="Consolas" panose="020B0609020204030204" pitchFamily="49" charset="0"/>
              </a:rPr>
              <a:t>d"</a:t>
            </a:r>
            <a:r>
              <a:rPr lang="en-US" sz="1200" b="0" dirty="0" err="1">
                <a:solidFill>
                  <a:srgbClr val="000000"/>
                </a:solidFill>
                <a:effectLst/>
                <a:latin typeface="Consolas" panose="020B0609020204030204" pitchFamily="49" charset="0"/>
              </a:rPr>
              <a:t>,res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acabament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t>
            </a:r>
          </a:p>
        </p:txBody>
      </p:sp>
      <p:sp>
        <p:nvSpPr>
          <p:cNvPr id="18" name="CuadroTexto 17">
            <a:extLst>
              <a:ext uri="{FF2B5EF4-FFF2-40B4-BE49-F238E27FC236}">
                <a16:creationId xmlns:a16="http://schemas.microsoft.com/office/drawing/2014/main" id="{2A4BF69A-DAC5-A8FF-F9A3-69B8F99F4F4C}"/>
              </a:ext>
            </a:extLst>
          </p:cNvPr>
          <p:cNvSpPr txBox="1"/>
          <p:nvPr/>
        </p:nvSpPr>
        <p:spPr>
          <a:xfrm>
            <a:off x="408431" y="3276660"/>
            <a:ext cx="2769870" cy="1569660"/>
          </a:xfrm>
          <a:prstGeom prst="rect">
            <a:avLst/>
          </a:prstGeom>
          <a:noFill/>
          <a:ln>
            <a:solidFill>
              <a:schemeClr val="tx1"/>
            </a:solidFill>
            <a:prstDash val="dash"/>
          </a:ln>
        </p:spPr>
        <p:txBody>
          <a:bodyPr wrap="square">
            <a:spAutoFit/>
          </a:bodyPr>
          <a:lstStyle/>
          <a:p>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main(){</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a:t>
            </a:r>
            <a:r>
              <a:rPr lang="en-US" sz="1200" b="0" dirty="0">
                <a:solidFill>
                  <a:srgbClr val="098658"/>
                </a:solidFill>
                <a:effectLst/>
                <a:latin typeface="Consolas" panose="020B0609020204030204" pitchFamily="49" charset="0"/>
              </a:rPr>
              <a:t>5</a:t>
            </a:r>
            <a:r>
              <a:rPr lang="en-US" sz="1200" b="0" dirty="0">
                <a:solidFill>
                  <a:srgbClr val="000000"/>
                </a:solidFill>
                <a:effectLst/>
                <a:latin typeface="Consolas" panose="020B0609020204030204" pitchFamily="49" charset="0"/>
              </a:rPr>
              <a:t>,res;</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if</a:t>
            </a:r>
            <a:r>
              <a:rPr lang="en-US" sz="1200" b="0" dirty="0">
                <a:solidFill>
                  <a:srgbClr val="000000"/>
                </a:solidFill>
                <a:effectLst/>
                <a:latin typeface="Consolas" panose="020B0609020204030204" pitchFamily="49" charset="0"/>
              </a:rPr>
              <a:t>(res=a+</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4</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2</a:t>
            </a:r>
            <a:r>
              <a:rPr lang="en-US" sz="1200" b="0" dirty="0">
                <a:solidFill>
                  <a:srgbClr val="000000"/>
                </a:solidFill>
                <a:effectLst/>
                <a:latin typeface="Consolas" panose="020B0609020204030204" pitchFamily="49" charset="0"/>
              </a:rPr>
              <a:t>&lt;</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"res: %</a:t>
            </a:r>
            <a:r>
              <a:rPr lang="en-US" sz="1200" b="0" dirty="0" err="1">
                <a:solidFill>
                  <a:srgbClr val="A31515"/>
                </a:solidFill>
                <a:effectLst/>
                <a:latin typeface="Consolas" panose="020B0609020204030204" pitchFamily="49" charset="0"/>
              </a:rPr>
              <a:t>d"</a:t>
            </a:r>
            <a:r>
              <a:rPr lang="en-US" sz="1200" b="0" dirty="0" err="1">
                <a:solidFill>
                  <a:srgbClr val="000000"/>
                </a:solidFill>
                <a:effectLst/>
                <a:latin typeface="Consolas" panose="020B0609020204030204" pitchFamily="49" charset="0"/>
              </a:rPr>
              <a:t>,res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acabament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432791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307DE-850E-C840-F94E-13E3D4FC0903}"/>
              </a:ext>
            </a:extLst>
          </p:cNvPr>
          <p:cNvSpPr>
            <a:spLocks noGrp="1"/>
          </p:cNvSpPr>
          <p:nvPr>
            <p:ph type="title"/>
          </p:nvPr>
        </p:nvSpPr>
        <p:spPr/>
        <p:txBody>
          <a:bodyPr/>
          <a:lstStyle/>
          <a:p>
            <a:r>
              <a:rPr lang="ca-ES" noProof="1"/>
              <a:t>Operadors – Prioritats: Analitza el resultat</a:t>
            </a:r>
            <a:endParaRPr lang="es-ES" dirty="0"/>
          </a:p>
        </p:txBody>
      </p:sp>
      <p:graphicFrame>
        <p:nvGraphicFramePr>
          <p:cNvPr id="7" name="Table 3">
            <a:extLst>
              <a:ext uri="{FF2B5EF4-FFF2-40B4-BE49-F238E27FC236}">
                <a16:creationId xmlns:a16="http://schemas.microsoft.com/office/drawing/2014/main" id="{06930F4E-2E3D-3149-19BE-B88CD3186560}"/>
              </a:ext>
            </a:extLst>
          </p:cNvPr>
          <p:cNvGraphicFramePr>
            <a:graphicFrameLocks noGrp="1"/>
          </p:cNvGraphicFramePr>
          <p:nvPr>
            <p:extLst>
              <p:ext uri="{D42A27DB-BD31-4B8C-83A1-F6EECF244321}">
                <p14:modId xmlns:p14="http://schemas.microsoft.com/office/powerpoint/2010/main" val="2390038364"/>
              </p:ext>
            </p:extLst>
          </p:nvPr>
        </p:nvGraphicFramePr>
        <p:xfrm>
          <a:off x="5338358" y="743771"/>
          <a:ext cx="2677121" cy="3596640"/>
        </p:xfrm>
        <a:graphic>
          <a:graphicData uri="http://schemas.openxmlformats.org/drawingml/2006/table">
            <a:tbl>
              <a:tblPr firstRow="1" bandRow="1">
                <a:tableStyleId>{46F890A9-2807-4EBB-B81D-B2AA78EC7F39}</a:tableStyleId>
              </a:tblPr>
              <a:tblGrid>
                <a:gridCol w="1352868">
                  <a:extLst>
                    <a:ext uri="{9D8B030D-6E8A-4147-A177-3AD203B41FA5}">
                      <a16:colId xmlns:a16="http://schemas.microsoft.com/office/drawing/2014/main" val="3640043668"/>
                    </a:ext>
                  </a:extLst>
                </a:gridCol>
                <a:gridCol w="1324253">
                  <a:extLst>
                    <a:ext uri="{9D8B030D-6E8A-4147-A177-3AD203B41FA5}">
                      <a16:colId xmlns:a16="http://schemas.microsoft.com/office/drawing/2014/main" val="3082748458"/>
                    </a:ext>
                  </a:extLst>
                </a:gridCol>
              </a:tblGrid>
              <a:tr h="196781">
                <a:tc>
                  <a:txBody>
                    <a:bodyPr/>
                    <a:lstStyle/>
                    <a:p>
                      <a:r>
                        <a:rPr lang="es-ES" sz="1000" dirty="0"/>
                        <a:t>Operador </a:t>
                      </a:r>
                      <a:r>
                        <a:rPr lang="es-ES" sz="1000" dirty="0" err="1"/>
                        <a:t>Pseudocodi</a:t>
                      </a:r>
                      <a:endParaRPr lang="es-ES" sz="1000" dirty="0"/>
                    </a:p>
                  </a:txBody>
                  <a:tcPr/>
                </a:tc>
                <a:tc>
                  <a:txBody>
                    <a:bodyPr/>
                    <a:lstStyle/>
                    <a:p>
                      <a:pPr algn="l"/>
                      <a:r>
                        <a:rPr lang="es-ES" sz="1000" dirty="0"/>
                        <a:t>Operador</a:t>
                      </a:r>
                      <a:r>
                        <a:rPr lang="es-ES" sz="1000" baseline="0" dirty="0"/>
                        <a:t> en C</a:t>
                      </a:r>
                      <a:endParaRPr lang="es-ES" sz="1000" dirty="0"/>
                    </a:p>
                  </a:txBody>
                  <a:tcPr anchor="ctr"/>
                </a:tc>
                <a:extLst>
                  <a:ext uri="{0D108BD9-81ED-4DB2-BD59-A6C34878D82A}">
                    <a16:rowId xmlns:a16="http://schemas.microsoft.com/office/drawing/2014/main" val="4184248687"/>
                  </a:ext>
                </a:extLst>
              </a:tr>
              <a:tr h="240075">
                <a:tc>
                  <a:txBody>
                    <a:bodyPr/>
                    <a:lstStyle/>
                    <a:p>
                      <a:r>
                        <a:rPr lang="es-ES" sz="1000" b="0" dirty="0">
                          <a:solidFill>
                            <a:schemeClr val="tx1"/>
                          </a:solidFill>
                        </a:rPr>
                        <a:t>()</a:t>
                      </a:r>
                    </a:p>
                  </a:txBody>
                  <a:tcPr/>
                </a:tc>
                <a:tc>
                  <a:txBody>
                    <a:bodyPr/>
                    <a:lstStyle/>
                    <a:p>
                      <a:r>
                        <a:rPr lang="es-ES" sz="1000" b="0" dirty="0">
                          <a:solidFill>
                            <a:schemeClr val="tx1"/>
                          </a:solidFill>
                        </a:rPr>
                        <a:t>()</a:t>
                      </a:r>
                    </a:p>
                  </a:txBody>
                  <a:tcPr/>
                </a:tc>
                <a:extLst>
                  <a:ext uri="{0D108BD9-81ED-4DB2-BD59-A6C34878D82A}">
                    <a16:rowId xmlns:a16="http://schemas.microsoft.com/office/drawing/2014/main" val="4205469200"/>
                  </a:ext>
                </a:extLst>
              </a:tr>
              <a:tr h="367774">
                <a:tc>
                  <a:txBody>
                    <a:bodyPr/>
                    <a:lstStyle/>
                    <a:p>
                      <a:r>
                        <a:rPr lang="es-ES" sz="1000" b="0" dirty="0">
                          <a:solidFill>
                            <a:schemeClr val="tx1"/>
                          </a:solidFill>
                        </a:rPr>
                        <a:t>++, --</a:t>
                      </a:r>
                    </a:p>
                  </a:txBody>
                  <a:tcPr/>
                </a:tc>
                <a:tc>
                  <a:txBody>
                    <a:bodyPr/>
                    <a:lstStyle/>
                    <a:p>
                      <a:r>
                        <a:rPr lang="es-ES" sz="1000" b="0" baseline="0" dirty="0">
                          <a:solidFill>
                            <a:schemeClr val="tx1"/>
                          </a:solidFill>
                          <a:highlight>
                            <a:srgbClr val="00FFFF"/>
                          </a:highlight>
                        </a:rPr>
                        <a:t>++ (</a:t>
                      </a:r>
                      <a:r>
                        <a:rPr lang="es-ES" sz="1000" b="0" baseline="0" dirty="0" err="1">
                          <a:solidFill>
                            <a:schemeClr val="tx1"/>
                          </a:solidFill>
                          <a:highlight>
                            <a:srgbClr val="00FFFF"/>
                          </a:highlight>
                        </a:rPr>
                        <a:t>increment</a:t>
                      </a:r>
                      <a:r>
                        <a:rPr lang="es-ES" sz="1000" b="0" baseline="0" dirty="0">
                          <a:solidFill>
                            <a:schemeClr val="tx1"/>
                          </a:solidFill>
                          <a:highlight>
                            <a:srgbClr val="00FFFF"/>
                          </a:highlight>
                        </a:rPr>
                        <a:t>)</a:t>
                      </a:r>
                      <a:r>
                        <a:rPr lang="es-ES" sz="1000" b="0" baseline="0" dirty="0">
                          <a:solidFill>
                            <a:schemeClr val="tx1"/>
                          </a:solidFill>
                        </a:rPr>
                        <a:t>, </a:t>
                      </a:r>
                    </a:p>
                    <a:p>
                      <a:r>
                        <a:rPr lang="es-ES" sz="1000" b="0" baseline="0" dirty="0">
                          <a:solidFill>
                            <a:schemeClr val="tx1"/>
                          </a:solidFill>
                        </a:rPr>
                        <a:t>--   (</a:t>
                      </a:r>
                      <a:r>
                        <a:rPr lang="es-ES" sz="1000" b="0" baseline="0" dirty="0" err="1">
                          <a:solidFill>
                            <a:schemeClr val="tx1"/>
                          </a:solidFill>
                        </a:rPr>
                        <a:t>decrement</a:t>
                      </a:r>
                      <a:r>
                        <a:rPr lang="es-ES" sz="1000" b="0" baseline="0" dirty="0">
                          <a:solidFill>
                            <a:schemeClr val="tx1"/>
                          </a:solidFill>
                        </a:rPr>
                        <a:t>)</a:t>
                      </a:r>
                      <a:endParaRPr lang="es-ES" sz="1000" b="0" dirty="0">
                        <a:solidFill>
                          <a:schemeClr val="tx1"/>
                        </a:solidFill>
                      </a:endParaRPr>
                    </a:p>
                  </a:txBody>
                  <a:tcPr/>
                </a:tc>
                <a:extLst>
                  <a:ext uri="{0D108BD9-81ED-4DB2-BD59-A6C34878D82A}">
                    <a16:rowId xmlns:a16="http://schemas.microsoft.com/office/drawing/2014/main" val="4158166076"/>
                  </a:ext>
                </a:extLst>
              </a:tr>
              <a:tr h="240075">
                <a:tc>
                  <a:txBody>
                    <a:bodyPr/>
                    <a:lstStyle/>
                    <a:p>
                      <a:r>
                        <a:rPr lang="es-ES" sz="1000" b="0" dirty="0">
                          <a:solidFill>
                            <a:schemeClr val="tx1"/>
                          </a:solidFill>
                        </a:rPr>
                        <a:t>No</a:t>
                      </a:r>
                    </a:p>
                  </a:txBody>
                  <a:tcPr/>
                </a:tc>
                <a:tc>
                  <a:txBody>
                    <a:bodyPr/>
                    <a:lstStyle/>
                    <a:p>
                      <a:r>
                        <a:rPr lang="es-ES" sz="1000" b="0" dirty="0">
                          <a:solidFill>
                            <a:schemeClr val="tx1"/>
                          </a:solidFill>
                        </a:rPr>
                        <a:t>!</a:t>
                      </a:r>
                    </a:p>
                  </a:txBody>
                  <a:tcPr/>
                </a:tc>
                <a:extLst>
                  <a:ext uri="{0D108BD9-81ED-4DB2-BD59-A6C34878D82A}">
                    <a16:rowId xmlns:a16="http://schemas.microsoft.com/office/drawing/2014/main" val="1476892582"/>
                  </a:ext>
                </a:extLst>
              </a:tr>
              <a:tr h="196781">
                <a:tc>
                  <a:txBody>
                    <a:bodyPr/>
                    <a:lstStyle/>
                    <a:p>
                      <a:r>
                        <a:rPr lang="es-ES" sz="1000" b="0" dirty="0">
                          <a:solidFill>
                            <a:schemeClr val="tx1"/>
                          </a:solidFill>
                        </a:rPr>
                        <a:t>*,DIV,MOD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highlight>
                            <a:srgbClr val="00FFFF"/>
                          </a:highlight>
                        </a:rPr>
                        <a:t>*</a:t>
                      </a:r>
                      <a:r>
                        <a:rPr lang="es-ES" sz="1000" b="0" baseline="0" dirty="0">
                          <a:solidFill>
                            <a:schemeClr val="tx1"/>
                          </a:solidFill>
                          <a:highlight>
                            <a:srgbClr val="00FFFF"/>
                          </a:highlight>
                        </a:rPr>
                        <a:t>, / , %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baseline="0" dirty="0">
                          <a:solidFill>
                            <a:schemeClr val="tx1"/>
                          </a:solidFill>
                          <a:highlight>
                            <a:srgbClr val="00FFFF"/>
                          </a:highlight>
                        </a:rPr>
                        <a:t>(</a:t>
                      </a:r>
                      <a:r>
                        <a:rPr lang="es-ES" sz="1000" b="0" baseline="0" dirty="0" err="1">
                          <a:solidFill>
                            <a:schemeClr val="tx1"/>
                          </a:solidFill>
                          <a:highlight>
                            <a:srgbClr val="00FFFF"/>
                          </a:highlight>
                        </a:rPr>
                        <a:t>d’Esquerra</a:t>
                      </a:r>
                      <a:r>
                        <a:rPr lang="es-ES" sz="1000" b="0" baseline="0" dirty="0">
                          <a:solidFill>
                            <a:schemeClr val="tx1"/>
                          </a:solidFill>
                          <a:highlight>
                            <a:srgbClr val="00FFFF"/>
                          </a:highlight>
                        </a:rPr>
                        <a:t> a </a:t>
                      </a:r>
                      <a:r>
                        <a:rPr lang="es-ES" sz="1000" b="0" baseline="0" dirty="0" err="1">
                          <a:solidFill>
                            <a:schemeClr val="tx1"/>
                          </a:solidFill>
                          <a:highlight>
                            <a:srgbClr val="00FFFF"/>
                          </a:highlight>
                        </a:rPr>
                        <a:t>dreta</a:t>
                      </a:r>
                      <a:r>
                        <a:rPr lang="es-ES" sz="1000" b="0" baseline="0" dirty="0">
                          <a:solidFill>
                            <a:schemeClr val="tx1"/>
                          </a:solidFill>
                          <a:highlight>
                            <a:srgbClr val="00FFFF"/>
                          </a:highlight>
                        </a:rPr>
                        <a:t>)</a:t>
                      </a:r>
                    </a:p>
                  </a:txBody>
                  <a:tcPr/>
                </a:tc>
                <a:extLst>
                  <a:ext uri="{0D108BD9-81ED-4DB2-BD59-A6C34878D82A}">
                    <a16:rowId xmlns:a16="http://schemas.microsoft.com/office/drawing/2014/main" val="3172409948"/>
                  </a:ext>
                </a:extLst>
              </a:tr>
              <a:tr h="319768">
                <a:tc>
                  <a:txBody>
                    <a:bodyPr/>
                    <a:lstStyle/>
                    <a:p>
                      <a:r>
                        <a:rPr lang="es-ES" sz="1000" b="0" dirty="0">
                          <a:solidFill>
                            <a:schemeClr val="tx1"/>
                          </a:solidFill>
                        </a:rPr>
                        <a:t>+, -</a:t>
                      </a:r>
                    </a:p>
                  </a:txBody>
                  <a:tcPr/>
                </a:tc>
                <a:tc>
                  <a:txBody>
                    <a:bodyPr/>
                    <a:lstStyle/>
                    <a:p>
                      <a:r>
                        <a:rPr lang="es-ES" sz="1000" b="0" dirty="0">
                          <a:solidFill>
                            <a:schemeClr val="tx1"/>
                          </a:solidFill>
                        </a:rPr>
                        <a:t>+, -</a:t>
                      </a:r>
                    </a:p>
                    <a:p>
                      <a:r>
                        <a:rPr lang="es-ES" sz="1000" b="0" dirty="0">
                          <a:solidFill>
                            <a:schemeClr val="tx1"/>
                          </a:solidFill>
                        </a:rPr>
                        <a:t>Sumes, restes</a:t>
                      </a:r>
                    </a:p>
                  </a:txBody>
                  <a:tcPr/>
                </a:tc>
                <a:extLst>
                  <a:ext uri="{0D108BD9-81ED-4DB2-BD59-A6C34878D82A}">
                    <a16:rowId xmlns:a16="http://schemas.microsoft.com/office/drawing/2014/main" val="1128615520"/>
                  </a:ext>
                </a:extLst>
              </a:tr>
              <a:tr h="319768">
                <a:tc>
                  <a:txBody>
                    <a:bodyPr/>
                    <a:lstStyle/>
                    <a:p>
                      <a:r>
                        <a:rPr lang="es-ES" sz="1000" b="0" dirty="0">
                          <a:solidFill>
                            <a:schemeClr val="tx1"/>
                          </a:solidFill>
                        </a:rPr>
                        <a:t>&lt;,&lt;=, &gt;, &gt;=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&lt;,&lt;=, &gt;,&gt;=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comparatives</a:t>
                      </a:r>
                    </a:p>
                  </a:txBody>
                  <a:tcPr/>
                </a:tc>
                <a:extLst>
                  <a:ext uri="{0D108BD9-81ED-4DB2-BD59-A6C34878D82A}">
                    <a16:rowId xmlns:a16="http://schemas.microsoft.com/office/drawing/2014/main" val="2260964158"/>
                  </a:ext>
                </a:extLst>
              </a:tr>
              <a:tr h="367774">
                <a:tc>
                  <a:txBody>
                    <a:bodyPr/>
                    <a:lstStyle/>
                    <a:p>
                      <a:r>
                        <a:rPr lang="es-ES" sz="1000" b="0" dirty="0">
                          <a:solidFill>
                            <a:schemeClr val="tx1"/>
                          </a:solidFill>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 (comparativa),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rPr>
                        <a:t>!= (</a:t>
                      </a:r>
                      <a:r>
                        <a:rPr lang="es-ES" sz="1000" b="0" dirty="0" err="1">
                          <a:solidFill>
                            <a:schemeClr val="tx1"/>
                          </a:solidFill>
                        </a:rPr>
                        <a:t>diferent</a:t>
                      </a:r>
                      <a:r>
                        <a:rPr lang="es-ES" sz="1000" b="0" dirty="0">
                          <a:solidFill>
                            <a:schemeClr val="tx1"/>
                          </a:solidFill>
                        </a:rPr>
                        <a:t>)</a:t>
                      </a:r>
                    </a:p>
                  </a:txBody>
                  <a:tcPr/>
                </a:tc>
                <a:extLst>
                  <a:ext uri="{0D108BD9-81ED-4DB2-BD59-A6C34878D82A}">
                    <a16:rowId xmlns:a16="http://schemas.microsoft.com/office/drawing/2014/main" val="2161922727"/>
                  </a:ext>
                </a:extLst>
              </a:tr>
              <a:tr h="240075">
                <a:tc>
                  <a:txBody>
                    <a:bodyPr/>
                    <a:lstStyle/>
                    <a:p>
                      <a:r>
                        <a:rPr lang="es-ES" sz="1000" b="0" dirty="0">
                          <a:solidFill>
                            <a:schemeClr val="tx1"/>
                          </a:solidFill>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highlight>
                            <a:srgbClr val="00FFFF"/>
                          </a:highlight>
                        </a:rPr>
                        <a:t>&amp;&amp;</a:t>
                      </a:r>
                    </a:p>
                  </a:txBody>
                  <a:tcPr/>
                </a:tc>
                <a:extLst>
                  <a:ext uri="{0D108BD9-81ED-4DB2-BD59-A6C34878D82A}">
                    <a16:rowId xmlns:a16="http://schemas.microsoft.com/office/drawing/2014/main" val="1585640854"/>
                  </a:ext>
                </a:extLst>
              </a:tr>
              <a:tr h="240075">
                <a:tc>
                  <a:txBody>
                    <a:bodyPr/>
                    <a:lstStyle/>
                    <a:p>
                      <a:r>
                        <a:rPr lang="es-ES" sz="1000" b="0" dirty="0">
                          <a:solidFill>
                            <a:schemeClr val="tx1"/>
                          </a:solidFill>
                        </a:rPr>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highlight>
                            <a:srgbClr val="00FFFF"/>
                          </a:highlight>
                        </a:rPr>
                        <a:t>||</a:t>
                      </a:r>
                    </a:p>
                  </a:txBody>
                  <a:tcPr/>
                </a:tc>
                <a:extLst>
                  <a:ext uri="{0D108BD9-81ED-4DB2-BD59-A6C34878D82A}">
                    <a16:rowId xmlns:a16="http://schemas.microsoft.com/office/drawing/2014/main" val="2178473614"/>
                  </a:ext>
                </a:extLst>
              </a:tr>
              <a:tr h="319768">
                <a:tc>
                  <a:txBody>
                    <a:bodyPr/>
                    <a:lstStyle/>
                    <a:p>
                      <a:r>
                        <a:rPr lang="es-ES" sz="1000" b="0" dirty="0">
                          <a:solidFill>
                            <a:schemeClr val="tx1"/>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a:solidFill>
                            <a:schemeClr val="tx1"/>
                          </a:solidFill>
                          <a:highlight>
                            <a:srgbClr val="00FFFF"/>
                          </a:highlight>
                        </a:rPr>
                        <a:t>=</a:t>
                      </a:r>
                      <a:r>
                        <a:rPr lang="es-ES" sz="1000" b="0" dirty="0">
                          <a:solidFill>
                            <a:schemeClr val="tx1"/>
                          </a:solidFill>
                        </a:rPr>
                        <a:t>,</a:t>
                      </a:r>
                      <a:r>
                        <a:rPr lang="es-ES" sz="1000" b="0" dirty="0">
                          <a:solidFill>
                            <a:schemeClr val="tx1"/>
                          </a:solidFill>
                          <a:highlight>
                            <a:srgbClr val="00FFFF"/>
                          </a:highlight>
                        </a:rPr>
                        <a:t>+=</a:t>
                      </a:r>
                      <a:r>
                        <a:rPr lang="es-ES" sz="1000" b="0" dirty="0">
                          <a:solidFill>
                            <a:schemeClr val="tx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b="0" dirty="0" err="1">
                          <a:solidFill>
                            <a:schemeClr val="tx1"/>
                          </a:solidFill>
                        </a:rPr>
                        <a:t>assignacions</a:t>
                      </a:r>
                      <a:endParaRPr lang="es-ES" sz="1000" b="0" dirty="0">
                        <a:solidFill>
                          <a:schemeClr val="tx1"/>
                        </a:solidFill>
                      </a:endParaRPr>
                    </a:p>
                  </a:txBody>
                  <a:tcPr/>
                </a:tc>
                <a:extLst>
                  <a:ext uri="{0D108BD9-81ED-4DB2-BD59-A6C34878D82A}">
                    <a16:rowId xmlns:a16="http://schemas.microsoft.com/office/drawing/2014/main" val="3701746143"/>
                  </a:ext>
                </a:extLst>
              </a:tr>
            </a:tbl>
          </a:graphicData>
        </a:graphic>
      </p:graphicFrame>
      <p:sp>
        <p:nvSpPr>
          <p:cNvPr id="11" name="CuadroTexto 10">
            <a:extLst>
              <a:ext uri="{FF2B5EF4-FFF2-40B4-BE49-F238E27FC236}">
                <a16:creationId xmlns:a16="http://schemas.microsoft.com/office/drawing/2014/main" id="{DAB6C48E-7310-B4AD-85D7-C07DDAE5BDDB}"/>
              </a:ext>
            </a:extLst>
          </p:cNvPr>
          <p:cNvSpPr txBox="1"/>
          <p:nvPr/>
        </p:nvSpPr>
        <p:spPr>
          <a:xfrm>
            <a:off x="408430" y="743771"/>
            <a:ext cx="4658869" cy="1569660"/>
          </a:xfrm>
          <a:prstGeom prst="rect">
            <a:avLst/>
          </a:prstGeom>
          <a:noFill/>
          <a:ln>
            <a:solidFill>
              <a:schemeClr val="tx1"/>
            </a:solidFill>
            <a:prstDash val="dash"/>
          </a:ln>
        </p:spPr>
        <p:txBody>
          <a:bodyPr wrap="square">
            <a:spAutoFit/>
          </a:bodyPr>
          <a:lstStyle/>
          <a:p>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main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a:t>
            </a:r>
            <a:r>
              <a:rPr lang="es-ES" sz="1200" b="0" dirty="0">
                <a:solidFill>
                  <a:srgbClr val="098658"/>
                </a:solidFill>
                <a:effectLst/>
                <a:latin typeface="Consolas" panose="020B0609020204030204" pitchFamily="49" charset="0"/>
              </a:rPr>
              <a:t>10</a:t>
            </a:r>
            <a:r>
              <a:rPr lang="es-ES" sz="1200" b="0" dirty="0">
                <a:solidFill>
                  <a:srgbClr val="000000"/>
                </a:solidFill>
                <a:effectLst/>
                <a:latin typeface="Consolas" panose="020B0609020204030204" pitchFamily="49" charset="0"/>
              </a:rPr>
              <a:t>,b=</a:t>
            </a:r>
            <a:r>
              <a:rPr lang="es-ES" sz="1200" b="0" dirty="0">
                <a:solidFill>
                  <a:srgbClr val="098658"/>
                </a:solidFill>
                <a:effectLst/>
                <a:latin typeface="Consolas" panose="020B0609020204030204" pitchFamily="49" charset="0"/>
              </a:rPr>
              <a:t>4</a:t>
            </a:r>
            <a:r>
              <a:rPr lang="es-ES" sz="1200" b="0" dirty="0">
                <a:solidFill>
                  <a:srgbClr val="000000"/>
                </a:solidFill>
                <a:effectLst/>
                <a:latin typeface="Consolas" panose="020B0609020204030204" pitchFamily="49" charset="0"/>
              </a:rPr>
              <a:t>,c=</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,res;</a:t>
            </a:r>
          </a:p>
          <a:p>
            <a:r>
              <a:rPr lang="es-ES" sz="1200" b="0" dirty="0">
                <a:solidFill>
                  <a:srgbClr val="000000"/>
                </a:solidFill>
                <a:effectLst/>
                <a:latin typeface="Consolas" panose="020B0609020204030204" pitchFamily="49" charset="0"/>
              </a:rPr>
              <a:t>    a=a+</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a:t>
            </a:r>
            <a:r>
              <a:rPr lang="es-ES" sz="1200" b="0" dirty="0">
                <a:solidFill>
                  <a:srgbClr val="008000"/>
                </a:solidFill>
                <a:effectLst/>
                <a:latin typeface="Consolas" panose="020B0609020204030204" pitchFamily="49" charset="0"/>
              </a:rPr>
              <a:t> // a++ , a+=1</a:t>
            </a:r>
            <a:endParaRPr lang="es-ES" sz="1200" b="0" dirty="0">
              <a:solidFill>
                <a:srgbClr val="000000"/>
              </a:solidFill>
              <a:effectLst/>
              <a:latin typeface="Consolas" panose="020B0609020204030204" pitchFamily="49" charset="0"/>
            </a:endParaRP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"el valor de a es: %d"</a:t>
            </a:r>
            <a:r>
              <a:rPr lang="es-ES" sz="1200" b="0" dirty="0">
                <a:solidFill>
                  <a:srgbClr val="000000"/>
                </a:solidFill>
                <a:effectLst/>
                <a:latin typeface="Consolas" panose="020B0609020204030204" pitchFamily="49" charset="0"/>
              </a:rPr>
              <a:t>,++a);</a:t>
            </a:r>
          </a:p>
          <a:p>
            <a:r>
              <a:rPr lang="es-ES" sz="1200" b="0" dirty="0">
                <a:solidFill>
                  <a:srgbClr val="000000"/>
                </a:solidFill>
                <a:effectLst/>
                <a:latin typeface="Consolas" panose="020B0609020204030204" pitchFamily="49" charset="0"/>
              </a:rPr>
              <a:t>    res=a*</a:t>
            </a:r>
            <a:r>
              <a:rPr lang="es-ES" sz="1200" b="0" dirty="0">
                <a:solidFill>
                  <a:srgbClr val="098658"/>
                </a:solidFill>
                <a:effectLst/>
                <a:latin typeface="Consolas" panose="020B0609020204030204" pitchFamily="49" charset="0"/>
              </a:rPr>
              <a:t>3</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5</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4</a:t>
            </a:r>
            <a:r>
              <a:rPr lang="es-ES" sz="1200" b="0" dirty="0">
                <a:solidFill>
                  <a:srgbClr val="000000"/>
                </a:solidFill>
                <a:effectLst/>
                <a:latin typeface="Consolas" panose="020B0609020204030204" pitchFamily="49" charset="0"/>
              </a:rPr>
              <a:t>;</a:t>
            </a:r>
            <a:r>
              <a:rPr lang="es-ES" sz="1200" b="0" dirty="0">
                <a:solidFill>
                  <a:srgbClr val="008000"/>
                </a:solidFill>
                <a:effectLst/>
                <a:latin typeface="Consolas" panose="020B0609020204030204" pitchFamily="49" charset="0"/>
              </a:rPr>
              <a:t> //des de </a:t>
            </a:r>
            <a:r>
              <a:rPr lang="es-ES" sz="1200" b="0" dirty="0" err="1">
                <a:solidFill>
                  <a:srgbClr val="008000"/>
                </a:solidFill>
                <a:effectLst/>
                <a:latin typeface="Consolas" panose="020B0609020204030204" pitchFamily="49" charset="0"/>
              </a:rPr>
              <a:t>l’esquerra</a:t>
            </a:r>
            <a:r>
              <a:rPr lang="es-ES" sz="1200" b="0" dirty="0">
                <a:solidFill>
                  <a:srgbClr val="008000"/>
                </a:solidFill>
                <a:effectLst/>
                <a:latin typeface="Consolas" panose="020B0609020204030204" pitchFamily="49" charset="0"/>
              </a:rPr>
              <a:t> a la </a:t>
            </a:r>
            <a:r>
              <a:rPr lang="es-ES" sz="1200" b="0" dirty="0" err="1">
                <a:solidFill>
                  <a:srgbClr val="008000"/>
                </a:solidFill>
                <a:effectLst/>
                <a:latin typeface="Consolas" panose="020B0609020204030204" pitchFamily="49" charset="0"/>
              </a:rPr>
              <a:t>dreta</a:t>
            </a:r>
            <a:endParaRPr lang="es-ES" sz="1200" b="0" dirty="0">
              <a:solidFill>
                <a:srgbClr val="000000"/>
              </a:solidFill>
              <a:effectLst/>
              <a:latin typeface="Consolas" panose="020B0609020204030204" pitchFamily="49" charset="0"/>
            </a:endParaRP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"res: %</a:t>
            </a:r>
            <a:r>
              <a:rPr lang="es-ES" sz="1200" b="0" dirty="0" err="1">
                <a:solidFill>
                  <a:srgbClr val="A31515"/>
                </a:solidFill>
                <a:effectLst/>
                <a:latin typeface="Consolas" panose="020B0609020204030204" pitchFamily="49" charset="0"/>
              </a:rPr>
              <a:t>d"</a:t>
            </a:r>
            <a:r>
              <a:rPr lang="es-ES" sz="1200" b="0" dirty="0" err="1">
                <a:solidFill>
                  <a:srgbClr val="000000"/>
                </a:solidFill>
                <a:effectLst/>
                <a:latin typeface="Consolas" panose="020B0609020204030204" pitchFamily="49" charset="0"/>
              </a:rPr>
              <a:t>,res</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p:txBody>
      </p:sp>
      <p:sp>
        <p:nvSpPr>
          <p:cNvPr id="13" name="CuadroTexto 12">
            <a:extLst>
              <a:ext uri="{FF2B5EF4-FFF2-40B4-BE49-F238E27FC236}">
                <a16:creationId xmlns:a16="http://schemas.microsoft.com/office/drawing/2014/main" id="{25413335-BBCA-9F7E-D5FE-B20D50B80535}"/>
              </a:ext>
            </a:extLst>
          </p:cNvPr>
          <p:cNvSpPr txBox="1"/>
          <p:nvPr/>
        </p:nvSpPr>
        <p:spPr>
          <a:xfrm>
            <a:off x="408431" y="2658828"/>
            <a:ext cx="4658868" cy="1938992"/>
          </a:xfrm>
          <a:prstGeom prst="rect">
            <a:avLst/>
          </a:prstGeom>
          <a:noFill/>
          <a:ln>
            <a:solidFill>
              <a:schemeClr val="tx1"/>
            </a:solidFill>
            <a:prstDash val="dash"/>
          </a:ln>
        </p:spPr>
        <p:txBody>
          <a:bodyPr wrap="square">
            <a:spAutoFit/>
          </a:bodyPr>
          <a:lstStyle/>
          <a:p>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main(){</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int</a:t>
            </a:r>
            <a:r>
              <a:rPr lang="en-US" sz="1200" b="0" dirty="0">
                <a:solidFill>
                  <a:srgbClr val="000000"/>
                </a:solidFill>
                <a:effectLst/>
                <a:latin typeface="Consolas" panose="020B0609020204030204" pitchFamily="49" charset="0"/>
              </a:rPr>
              <a:t> a=</a:t>
            </a:r>
            <a:r>
              <a:rPr lang="en-US" sz="1200" b="0" dirty="0">
                <a:solidFill>
                  <a:srgbClr val="098658"/>
                </a:solidFill>
                <a:effectLst/>
                <a:latin typeface="Consolas" panose="020B0609020204030204" pitchFamily="49" charset="0"/>
              </a:rPr>
              <a:t>2</a:t>
            </a:r>
            <a:r>
              <a:rPr lang="en-US" sz="1200" b="0" dirty="0">
                <a:solidFill>
                  <a:srgbClr val="000000"/>
                </a:solidFill>
                <a:effectLst/>
                <a:latin typeface="Consolas" panose="020B0609020204030204" pitchFamily="49" charset="0"/>
              </a:rPr>
              <a:t>,b=</a:t>
            </a:r>
            <a:r>
              <a:rPr lang="en-US" sz="1200" b="0" dirty="0">
                <a:solidFill>
                  <a:srgbClr val="098658"/>
                </a:solidFill>
                <a:effectLst/>
                <a:latin typeface="Consolas" panose="020B0609020204030204" pitchFamily="49" charset="0"/>
              </a:rPr>
              <a:t>3</a:t>
            </a:r>
            <a:r>
              <a:rPr lang="en-US" sz="1200" b="0" dirty="0">
                <a:solidFill>
                  <a:srgbClr val="000000"/>
                </a:solidFill>
                <a:effectLst/>
                <a:latin typeface="Consolas" panose="020B0609020204030204" pitchFamily="49" charset="0"/>
              </a:rPr>
              <a:t>,c=</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if</a:t>
            </a:r>
            <a:r>
              <a:rPr lang="en-US" sz="1200" b="0" dirty="0">
                <a:solidFill>
                  <a:srgbClr val="000000"/>
                </a:solidFill>
                <a:effectLst/>
                <a:latin typeface="Consolas" panose="020B0609020204030204" pitchFamily="49" charset="0"/>
              </a:rPr>
              <a:t>(a==</a:t>
            </a:r>
            <a:r>
              <a:rPr lang="en-US" sz="1200" b="0" dirty="0">
                <a:solidFill>
                  <a:srgbClr val="098658"/>
                </a:solidFill>
                <a:effectLst/>
                <a:latin typeface="Consolas" panose="020B0609020204030204" pitchFamily="49" charset="0"/>
              </a:rPr>
              <a:t>2</a:t>
            </a:r>
            <a:r>
              <a:rPr lang="en-US" sz="1200" b="0" dirty="0">
                <a:solidFill>
                  <a:srgbClr val="000000"/>
                </a:solidFill>
                <a:effectLst/>
                <a:latin typeface="Consolas" panose="020B0609020204030204" pitchFamily="49" charset="0"/>
              </a:rPr>
              <a:t> &amp;&amp; b==</a:t>
            </a:r>
            <a:r>
              <a:rPr lang="en-US" sz="1200" b="0" dirty="0">
                <a:solidFill>
                  <a:srgbClr val="098658"/>
                </a:solidFill>
                <a:effectLst/>
                <a:latin typeface="Consolas" panose="020B0609020204030204" pitchFamily="49" charset="0"/>
              </a:rPr>
              <a:t>4</a:t>
            </a:r>
            <a:r>
              <a:rPr lang="en-US" sz="1200" b="0" dirty="0">
                <a:solidFill>
                  <a:srgbClr val="000000"/>
                </a:solidFill>
                <a:effectLst/>
                <a:latin typeface="Consolas" panose="020B0609020204030204" pitchFamily="49" charset="0"/>
              </a:rPr>
              <a:t> || c==</a:t>
            </a:r>
            <a:r>
              <a:rPr lang="en-US" sz="1200" b="0" dirty="0">
                <a:solidFill>
                  <a:srgbClr val="098658"/>
                </a:solidFill>
                <a:effectLst/>
                <a:latin typeface="Consolas" panose="020B0609020204030204" pitchFamily="49" charset="0"/>
              </a:rPr>
              <a:t>1</a:t>
            </a:r>
            <a:r>
              <a:rPr lang="en-US" sz="1200" b="0" dirty="0">
                <a:solidFill>
                  <a:srgbClr val="000000"/>
                </a:solidFill>
                <a:effectLst/>
                <a:latin typeface="Consolas" panose="020B0609020204030204" pitchFamily="49" charset="0"/>
              </a:rPr>
              <a:t> &amp;&amp; a==</a:t>
            </a:r>
            <a:r>
              <a:rPr lang="en-US" sz="1200" b="0" dirty="0">
                <a:solidFill>
                  <a:srgbClr val="098658"/>
                </a:solidFill>
                <a:effectLst/>
                <a:latin typeface="Consolas" panose="020B0609020204030204" pitchFamily="49" charset="0"/>
              </a:rPr>
              <a:t>2</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printf</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veritat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br>
              <a:rPr lang="en-US" sz="1200" b="0" dirty="0">
                <a:solidFill>
                  <a:srgbClr val="000000"/>
                </a:solidFill>
                <a:effectLst/>
                <a:latin typeface="Consolas" panose="020B0609020204030204" pitchFamily="49" charset="0"/>
              </a:rPr>
            </a:b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acabament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1826307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307DE-850E-C840-F94E-13E3D4FC0903}"/>
              </a:ext>
            </a:extLst>
          </p:cNvPr>
          <p:cNvSpPr>
            <a:spLocks noGrp="1"/>
          </p:cNvSpPr>
          <p:nvPr>
            <p:ph type="title"/>
          </p:nvPr>
        </p:nvSpPr>
        <p:spPr>
          <a:xfrm>
            <a:off x="247650" y="28748"/>
            <a:ext cx="8534400" cy="462425"/>
          </a:xfrm>
        </p:spPr>
        <p:txBody>
          <a:bodyPr/>
          <a:lstStyle/>
          <a:p>
            <a:r>
              <a:rPr lang="ca-ES" noProof="1"/>
              <a:t>Operadors – Prioritats: Analitza el resultat</a:t>
            </a:r>
            <a:endParaRPr lang="es-ES" dirty="0"/>
          </a:p>
        </p:txBody>
      </p:sp>
      <p:graphicFrame>
        <p:nvGraphicFramePr>
          <p:cNvPr id="7" name="Table 3">
            <a:extLst>
              <a:ext uri="{FF2B5EF4-FFF2-40B4-BE49-F238E27FC236}">
                <a16:creationId xmlns:a16="http://schemas.microsoft.com/office/drawing/2014/main" id="{06930F4E-2E3D-3149-19BE-B88CD3186560}"/>
              </a:ext>
            </a:extLst>
          </p:cNvPr>
          <p:cNvGraphicFramePr>
            <a:graphicFrameLocks noGrp="1"/>
          </p:cNvGraphicFramePr>
          <p:nvPr>
            <p:extLst>
              <p:ext uri="{D42A27DB-BD31-4B8C-83A1-F6EECF244321}">
                <p14:modId xmlns:p14="http://schemas.microsoft.com/office/powerpoint/2010/main" val="2332970444"/>
              </p:ext>
            </p:extLst>
          </p:nvPr>
        </p:nvGraphicFramePr>
        <p:xfrm>
          <a:off x="6858000" y="491173"/>
          <a:ext cx="2148840" cy="3901440"/>
        </p:xfrm>
        <a:graphic>
          <a:graphicData uri="http://schemas.openxmlformats.org/drawingml/2006/table">
            <a:tbl>
              <a:tblPr firstRow="1" bandRow="1">
                <a:tableStyleId>{46F890A9-2807-4EBB-B81D-B2AA78EC7F39}</a:tableStyleId>
              </a:tblPr>
              <a:tblGrid>
                <a:gridCol w="733960">
                  <a:extLst>
                    <a:ext uri="{9D8B030D-6E8A-4147-A177-3AD203B41FA5}">
                      <a16:colId xmlns:a16="http://schemas.microsoft.com/office/drawing/2014/main" val="3640043668"/>
                    </a:ext>
                  </a:extLst>
                </a:gridCol>
                <a:gridCol w="1414880">
                  <a:extLst>
                    <a:ext uri="{9D8B030D-6E8A-4147-A177-3AD203B41FA5}">
                      <a16:colId xmlns:a16="http://schemas.microsoft.com/office/drawing/2014/main" val="3082748458"/>
                    </a:ext>
                  </a:extLst>
                </a:gridCol>
              </a:tblGrid>
              <a:tr h="196781">
                <a:tc>
                  <a:txBody>
                    <a:bodyPr/>
                    <a:lstStyle/>
                    <a:p>
                      <a:r>
                        <a:rPr lang="es-ES" sz="1000" dirty="0"/>
                        <a:t>Operador </a:t>
                      </a:r>
                      <a:r>
                        <a:rPr lang="es-ES" sz="1000" dirty="0" err="1"/>
                        <a:t>Pseudocodi</a:t>
                      </a:r>
                      <a:endParaRPr lang="es-ES" sz="1000" dirty="0"/>
                    </a:p>
                  </a:txBody>
                  <a:tcPr/>
                </a:tc>
                <a:tc>
                  <a:txBody>
                    <a:bodyPr/>
                    <a:lstStyle/>
                    <a:p>
                      <a:pPr algn="l"/>
                      <a:r>
                        <a:rPr lang="es-ES" sz="1000" dirty="0"/>
                        <a:t>Operador</a:t>
                      </a:r>
                      <a:r>
                        <a:rPr lang="es-ES" sz="1000" baseline="0" dirty="0"/>
                        <a:t> en C</a:t>
                      </a:r>
                      <a:endParaRPr lang="es-ES" sz="1000" dirty="0"/>
                    </a:p>
                  </a:txBody>
                  <a:tcPr anchor="ctr"/>
                </a:tc>
                <a:extLst>
                  <a:ext uri="{0D108BD9-81ED-4DB2-BD59-A6C34878D82A}">
                    <a16:rowId xmlns:a16="http://schemas.microsoft.com/office/drawing/2014/main" val="4184248687"/>
                  </a:ext>
                </a:extLst>
              </a:tr>
              <a:tr h="240075">
                <a:tc>
                  <a:txBody>
                    <a:bodyPr/>
                    <a:lstStyle/>
                    <a:p>
                      <a:r>
                        <a:rPr lang="es-ES" sz="1000" b="0" dirty="0">
                          <a:solidFill>
                            <a:schemeClr val="tx1"/>
                          </a:solidFill>
                        </a:rPr>
                        <a:t>()</a:t>
                      </a:r>
                    </a:p>
                  </a:txBody>
                  <a:tcPr/>
                </a:tc>
                <a:tc>
                  <a:txBody>
                    <a:bodyPr/>
                    <a:lstStyle/>
                    <a:p>
                      <a:r>
                        <a:rPr lang="es-ES" sz="1000" b="0" dirty="0">
                          <a:solidFill>
                            <a:schemeClr val="tx1"/>
                          </a:solidFill>
                        </a:rPr>
                        <a:t>()</a:t>
                      </a:r>
                    </a:p>
                  </a:txBody>
                  <a:tcPr/>
                </a:tc>
                <a:extLst>
                  <a:ext uri="{0D108BD9-81ED-4DB2-BD59-A6C34878D82A}">
                    <a16:rowId xmlns:a16="http://schemas.microsoft.com/office/drawing/2014/main" val="4205469200"/>
                  </a:ext>
                </a:extLst>
              </a:tr>
              <a:tr h="367774">
                <a:tc>
                  <a:txBody>
                    <a:bodyPr/>
                    <a:lstStyle/>
                    <a:p>
                      <a:r>
                        <a:rPr lang="es-ES" sz="1000" dirty="0">
                          <a:solidFill>
                            <a:schemeClr val="tx1"/>
                          </a:solidFill>
                        </a:rPr>
                        <a:t>++, --</a:t>
                      </a:r>
                    </a:p>
                  </a:txBody>
                  <a:tcPr/>
                </a:tc>
                <a:tc>
                  <a:txBody>
                    <a:bodyPr/>
                    <a:lstStyle/>
                    <a:p>
                      <a:r>
                        <a:rPr lang="es-ES" sz="1000" baseline="0" dirty="0">
                          <a:solidFill>
                            <a:schemeClr val="tx1"/>
                          </a:solidFill>
                          <a:highlight>
                            <a:srgbClr val="00FFFF"/>
                          </a:highlight>
                        </a:rPr>
                        <a:t>++ (</a:t>
                      </a:r>
                      <a:r>
                        <a:rPr lang="es-ES" sz="1000" baseline="0" dirty="0" err="1">
                          <a:solidFill>
                            <a:schemeClr val="tx1"/>
                          </a:solidFill>
                          <a:highlight>
                            <a:srgbClr val="00FFFF"/>
                          </a:highlight>
                        </a:rPr>
                        <a:t>increment</a:t>
                      </a:r>
                      <a:r>
                        <a:rPr lang="es-ES" sz="1000" baseline="0" dirty="0">
                          <a:solidFill>
                            <a:schemeClr val="tx1"/>
                          </a:solidFill>
                          <a:highlight>
                            <a:srgbClr val="00FFFF"/>
                          </a:highlight>
                        </a:rPr>
                        <a:t>), </a:t>
                      </a:r>
                    </a:p>
                    <a:p>
                      <a:r>
                        <a:rPr lang="es-ES" sz="1000" baseline="0" dirty="0">
                          <a:solidFill>
                            <a:schemeClr val="tx1"/>
                          </a:solidFill>
                          <a:highlight>
                            <a:srgbClr val="00FFFF"/>
                          </a:highlight>
                        </a:rPr>
                        <a:t>--   (</a:t>
                      </a:r>
                      <a:r>
                        <a:rPr lang="es-ES" sz="1000" baseline="0" dirty="0" err="1">
                          <a:solidFill>
                            <a:schemeClr val="tx1"/>
                          </a:solidFill>
                          <a:highlight>
                            <a:srgbClr val="00FFFF"/>
                          </a:highlight>
                        </a:rPr>
                        <a:t>decrement</a:t>
                      </a:r>
                      <a:r>
                        <a:rPr lang="es-ES" sz="1000" baseline="0" dirty="0">
                          <a:solidFill>
                            <a:schemeClr val="tx1"/>
                          </a:solidFill>
                          <a:highlight>
                            <a:srgbClr val="00FFFF"/>
                          </a:highlight>
                        </a:rPr>
                        <a:t>)</a:t>
                      </a:r>
                      <a:endParaRPr lang="es-ES" sz="1000" dirty="0">
                        <a:solidFill>
                          <a:schemeClr val="tx1"/>
                        </a:solidFill>
                        <a:highlight>
                          <a:srgbClr val="00FFFF"/>
                        </a:highlight>
                      </a:endParaRPr>
                    </a:p>
                  </a:txBody>
                  <a:tcPr/>
                </a:tc>
                <a:extLst>
                  <a:ext uri="{0D108BD9-81ED-4DB2-BD59-A6C34878D82A}">
                    <a16:rowId xmlns:a16="http://schemas.microsoft.com/office/drawing/2014/main" val="4158166076"/>
                  </a:ext>
                </a:extLst>
              </a:tr>
              <a:tr h="240075">
                <a:tc>
                  <a:txBody>
                    <a:bodyPr/>
                    <a:lstStyle/>
                    <a:p>
                      <a:r>
                        <a:rPr lang="es-ES" sz="1000" dirty="0">
                          <a:solidFill>
                            <a:schemeClr val="tx1"/>
                          </a:solidFill>
                        </a:rPr>
                        <a:t>No</a:t>
                      </a:r>
                    </a:p>
                  </a:txBody>
                  <a:tcPr/>
                </a:tc>
                <a:tc>
                  <a:txBody>
                    <a:bodyPr/>
                    <a:lstStyle/>
                    <a:p>
                      <a:r>
                        <a:rPr lang="es-ES" sz="1000" dirty="0">
                          <a:solidFill>
                            <a:schemeClr val="tx1"/>
                          </a:solidFill>
                        </a:rPr>
                        <a:t>!</a:t>
                      </a:r>
                    </a:p>
                  </a:txBody>
                  <a:tcPr/>
                </a:tc>
                <a:extLst>
                  <a:ext uri="{0D108BD9-81ED-4DB2-BD59-A6C34878D82A}">
                    <a16:rowId xmlns:a16="http://schemas.microsoft.com/office/drawing/2014/main" val="1476892582"/>
                  </a:ext>
                </a:extLst>
              </a:tr>
              <a:tr h="196781">
                <a:tc>
                  <a:txBody>
                    <a:bodyPr/>
                    <a:lstStyle/>
                    <a:p>
                      <a:r>
                        <a:rPr lang="es-ES" sz="1000" dirty="0">
                          <a:solidFill>
                            <a:schemeClr val="tx1"/>
                          </a:solidFill>
                        </a:rPr>
                        <a:t>*,DIV,MOD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rPr>
                        <a:t>*</a:t>
                      </a:r>
                      <a:r>
                        <a:rPr lang="es-ES" sz="1000" baseline="0" dirty="0">
                          <a:solidFill>
                            <a:schemeClr val="tx1"/>
                          </a:solidFill>
                        </a:rPr>
                        <a:t>, / , % </a:t>
                      </a:r>
                    </a:p>
                  </a:txBody>
                  <a:tcPr/>
                </a:tc>
                <a:extLst>
                  <a:ext uri="{0D108BD9-81ED-4DB2-BD59-A6C34878D82A}">
                    <a16:rowId xmlns:a16="http://schemas.microsoft.com/office/drawing/2014/main" val="3172409948"/>
                  </a:ext>
                </a:extLst>
              </a:tr>
              <a:tr h="319768">
                <a:tc>
                  <a:txBody>
                    <a:bodyPr/>
                    <a:lstStyle/>
                    <a:p>
                      <a:r>
                        <a:rPr lang="es-ES" sz="1000" dirty="0">
                          <a:solidFill>
                            <a:schemeClr val="tx1"/>
                          </a:solidFill>
                        </a:rPr>
                        <a:t>+, -</a:t>
                      </a:r>
                    </a:p>
                  </a:txBody>
                  <a:tcPr/>
                </a:tc>
                <a:tc>
                  <a:txBody>
                    <a:bodyPr/>
                    <a:lstStyle/>
                    <a:p>
                      <a:r>
                        <a:rPr lang="es-ES" sz="1000" dirty="0">
                          <a:solidFill>
                            <a:schemeClr val="tx1"/>
                          </a:solidFill>
                        </a:rPr>
                        <a:t>+, -</a:t>
                      </a:r>
                    </a:p>
                    <a:p>
                      <a:r>
                        <a:rPr lang="es-ES" sz="1000" dirty="0">
                          <a:solidFill>
                            <a:schemeClr val="tx1"/>
                          </a:solidFill>
                        </a:rPr>
                        <a:t>Sumes, restes</a:t>
                      </a:r>
                    </a:p>
                  </a:txBody>
                  <a:tcPr/>
                </a:tc>
                <a:extLst>
                  <a:ext uri="{0D108BD9-81ED-4DB2-BD59-A6C34878D82A}">
                    <a16:rowId xmlns:a16="http://schemas.microsoft.com/office/drawing/2014/main" val="1128615520"/>
                  </a:ext>
                </a:extLst>
              </a:tr>
              <a:tr h="319768">
                <a:tc>
                  <a:txBody>
                    <a:bodyPr/>
                    <a:lstStyle/>
                    <a:p>
                      <a:r>
                        <a:rPr lang="es-ES" sz="1000" dirty="0">
                          <a:solidFill>
                            <a:schemeClr val="tx1"/>
                          </a:solidFill>
                        </a:rPr>
                        <a:t>&lt;,&lt;=, &gt;, &gt;=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rPr>
                        <a:t>&lt;,&lt;=, &gt;,&gt;=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rPr>
                        <a:t>comparatives</a:t>
                      </a:r>
                    </a:p>
                  </a:txBody>
                  <a:tcPr/>
                </a:tc>
                <a:extLst>
                  <a:ext uri="{0D108BD9-81ED-4DB2-BD59-A6C34878D82A}">
                    <a16:rowId xmlns:a16="http://schemas.microsoft.com/office/drawing/2014/main" val="2260964158"/>
                  </a:ext>
                </a:extLst>
              </a:tr>
              <a:tr h="367774">
                <a:tc>
                  <a:txBody>
                    <a:bodyPr/>
                    <a:lstStyle/>
                    <a:p>
                      <a:r>
                        <a:rPr lang="es-ES" sz="1000" dirty="0">
                          <a:solidFill>
                            <a:schemeClr val="tx1"/>
                          </a:solidFill>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rPr>
                        <a:t>== (comparativa),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rPr>
                        <a:t>!= (</a:t>
                      </a:r>
                      <a:r>
                        <a:rPr lang="es-ES" sz="1000" dirty="0" err="1">
                          <a:solidFill>
                            <a:schemeClr val="tx1"/>
                          </a:solidFill>
                        </a:rPr>
                        <a:t>diferent</a:t>
                      </a:r>
                      <a:r>
                        <a:rPr lang="es-ES" sz="1000" dirty="0">
                          <a:solidFill>
                            <a:schemeClr val="tx1"/>
                          </a:solidFill>
                        </a:rPr>
                        <a:t>)</a:t>
                      </a:r>
                    </a:p>
                  </a:txBody>
                  <a:tcPr/>
                </a:tc>
                <a:extLst>
                  <a:ext uri="{0D108BD9-81ED-4DB2-BD59-A6C34878D82A}">
                    <a16:rowId xmlns:a16="http://schemas.microsoft.com/office/drawing/2014/main" val="2161922727"/>
                  </a:ext>
                </a:extLst>
              </a:tr>
              <a:tr h="240075">
                <a:tc>
                  <a:txBody>
                    <a:bodyPr/>
                    <a:lstStyle/>
                    <a:p>
                      <a:r>
                        <a:rPr lang="es-ES" sz="1000" dirty="0">
                          <a:solidFill>
                            <a:schemeClr val="tx1"/>
                          </a:solidFill>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rPr>
                        <a:t>&amp;&amp;</a:t>
                      </a:r>
                    </a:p>
                  </a:txBody>
                  <a:tcPr/>
                </a:tc>
                <a:extLst>
                  <a:ext uri="{0D108BD9-81ED-4DB2-BD59-A6C34878D82A}">
                    <a16:rowId xmlns:a16="http://schemas.microsoft.com/office/drawing/2014/main" val="1585640854"/>
                  </a:ext>
                </a:extLst>
              </a:tr>
              <a:tr h="240075">
                <a:tc>
                  <a:txBody>
                    <a:bodyPr/>
                    <a:lstStyle/>
                    <a:p>
                      <a:r>
                        <a:rPr lang="es-ES" sz="1000" dirty="0">
                          <a:solidFill>
                            <a:schemeClr val="tx1"/>
                          </a:solidFill>
                        </a:rPr>
                        <a:t>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rPr>
                        <a:t>||</a:t>
                      </a:r>
                    </a:p>
                  </a:txBody>
                  <a:tcPr/>
                </a:tc>
                <a:extLst>
                  <a:ext uri="{0D108BD9-81ED-4DB2-BD59-A6C34878D82A}">
                    <a16:rowId xmlns:a16="http://schemas.microsoft.com/office/drawing/2014/main" val="2178473614"/>
                  </a:ext>
                </a:extLst>
              </a:tr>
              <a:tr h="319768">
                <a:tc>
                  <a:txBody>
                    <a:bodyPr/>
                    <a:lstStyle/>
                    <a:p>
                      <a:r>
                        <a:rPr lang="es-ES" sz="1000" b="1" dirty="0">
                          <a:solidFill>
                            <a:schemeClr val="tx1"/>
                          </a:solidFill>
                        </a:rPr>
                        <a:t>:=,</a:t>
                      </a:r>
                      <a:r>
                        <a:rPr lang="es-ES" sz="1000" dirty="0">
                          <a:solidFill>
                            <a:schemeClr val="tx1"/>
                          </a:solidFill>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b="1" dirty="0">
                          <a:solidFill>
                            <a:schemeClr val="tx1"/>
                          </a:solidFill>
                          <a:highlight>
                            <a:srgbClr val="00FFFF"/>
                          </a:highlight>
                        </a:rPr>
                        <a:t>=</a:t>
                      </a:r>
                      <a:r>
                        <a:rPr lang="es-ES" sz="1000" b="1" dirty="0">
                          <a:solidFill>
                            <a:schemeClr val="tx1"/>
                          </a:solidFill>
                        </a:rPr>
                        <a:t>,</a:t>
                      </a:r>
                      <a:r>
                        <a:rPr lang="es-ES" sz="1000" dirty="0">
                          <a:solidFill>
                            <a:schemeClr val="tx1"/>
                          </a:solidFill>
                          <a:highlight>
                            <a:srgbClr val="00FFFF"/>
                          </a:highlight>
                        </a:rPr>
                        <a:t>+=</a:t>
                      </a:r>
                      <a:r>
                        <a:rPr lang="es-ES" sz="1000" dirty="0">
                          <a:solidFill>
                            <a:schemeClr val="tx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err="1">
                          <a:solidFill>
                            <a:schemeClr val="tx1"/>
                          </a:solidFill>
                        </a:rPr>
                        <a:t>assignacions</a:t>
                      </a:r>
                      <a:endParaRPr lang="es-ES" sz="1000" dirty="0">
                        <a:solidFill>
                          <a:schemeClr val="tx1"/>
                        </a:solidFill>
                      </a:endParaRPr>
                    </a:p>
                  </a:txBody>
                  <a:tcPr/>
                </a:tc>
                <a:extLst>
                  <a:ext uri="{0D108BD9-81ED-4DB2-BD59-A6C34878D82A}">
                    <a16:rowId xmlns:a16="http://schemas.microsoft.com/office/drawing/2014/main" val="3701746143"/>
                  </a:ext>
                </a:extLst>
              </a:tr>
            </a:tbl>
          </a:graphicData>
        </a:graphic>
      </p:graphicFrame>
      <p:sp>
        <p:nvSpPr>
          <p:cNvPr id="6" name="CuadroTexto 5">
            <a:extLst>
              <a:ext uri="{FF2B5EF4-FFF2-40B4-BE49-F238E27FC236}">
                <a16:creationId xmlns:a16="http://schemas.microsoft.com/office/drawing/2014/main" id="{D2ECA496-7321-8E73-591B-6E6504C89733}"/>
              </a:ext>
            </a:extLst>
          </p:cNvPr>
          <p:cNvSpPr txBox="1"/>
          <p:nvPr/>
        </p:nvSpPr>
        <p:spPr>
          <a:xfrm>
            <a:off x="361950" y="491173"/>
            <a:ext cx="6381750" cy="3323987"/>
          </a:xfrm>
          <a:prstGeom prst="rect">
            <a:avLst/>
          </a:prstGeom>
          <a:noFill/>
          <a:ln>
            <a:solidFill>
              <a:schemeClr val="tx1"/>
            </a:solidFill>
            <a:prstDash val="dash"/>
          </a:ln>
        </p:spPr>
        <p:txBody>
          <a:bodyPr wrap="square">
            <a:spAutoFit/>
          </a:bodyPr>
          <a:lstStyle/>
          <a:p>
            <a:r>
              <a:rPr lang="es-ES" sz="1000" b="0" dirty="0">
                <a:solidFill>
                  <a:srgbClr val="0000FF"/>
                </a:solidFill>
                <a:effectLst/>
                <a:latin typeface="Consolas" panose="020B0609020204030204" pitchFamily="49" charset="0"/>
              </a:rPr>
              <a:t>#include </a:t>
            </a:r>
            <a:r>
              <a:rPr lang="es-ES" sz="1000" b="0" dirty="0">
                <a:solidFill>
                  <a:srgbClr val="A31515"/>
                </a:solidFill>
                <a:effectLst/>
                <a:latin typeface="Consolas" panose="020B0609020204030204" pitchFamily="49" charset="0"/>
              </a:rPr>
              <a:t>&lt;</a:t>
            </a:r>
            <a:r>
              <a:rPr lang="es-ES" sz="1000" b="0" dirty="0" err="1">
                <a:solidFill>
                  <a:srgbClr val="A31515"/>
                </a:solidFill>
                <a:effectLst/>
                <a:latin typeface="Consolas" panose="020B0609020204030204" pitchFamily="49" charset="0"/>
              </a:rPr>
              <a:t>stdio.h</a:t>
            </a:r>
            <a:r>
              <a:rPr lang="es-ES" sz="1000" b="0" dirty="0">
                <a:solidFill>
                  <a:srgbClr val="A31515"/>
                </a:solidFill>
                <a:effectLst/>
                <a:latin typeface="Consolas" panose="020B0609020204030204" pitchFamily="49" charset="0"/>
              </a:rPr>
              <a:t>&gt;</a:t>
            </a:r>
            <a:endParaRPr lang="es-ES" sz="1000" b="0" dirty="0">
              <a:solidFill>
                <a:srgbClr val="000000"/>
              </a:solidFill>
              <a:effectLst/>
              <a:latin typeface="Consolas" panose="020B0609020204030204" pitchFamily="49" charset="0"/>
            </a:endParaRPr>
          </a:p>
          <a:p>
            <a:r>
              <a:rPr lang="es-ES" sz="1000" b="0" dirty="0">
                <a:solidFill>
                  <a:srgbClr val="0000FF"/>
                </a:solidFill>
                <a:effectLst/>
                <a:latin typeface="Consolas" panose="020B0609020204030204" pitchFamily="49" charset="0"/>
              </a:rPr>
              <a:t>#include </a:t>
            </a:r>
            <a:r>
              <a:rPr lang="es-ES" sz="1000" b="0" dirty="0">
                <a:solidFill>
                  <a:srgbClr val="A31515"/>
                </a:solidFill>
                <a:effectLst/>
                <a:latin typeface="Consolas" panose="020B0609020204030204" pitchFamily="49" charset="0"/>
              </a:rPr>
              <a:t>&lt;</a:t>
            </a:r>
            <a:r>
              <a:rPr lang="es-ES" sz="1000" b="0" dirty="0" err="1">
                <a:solidFill>
                  <a:srgbClr val="A31515"/>
                </a:solidFill>
                <a:effectLst/>
                <a:latin typeface="Consolas" panose="020B0609020204030204" pitchFamily="49" charset="0"/>
              </a:rPr>
              <a:t>windows.h</a:t>
            </a:r>
            <a:r>
              <a:rPr lang="es-ES" sz="1000" b="0" dirty="0">
                <a:solidFill>
                  <a:srgbClr val="A31515"/>
                </a:solidFill>
                <a:effectLst/>
                <a:latin typeface="Consolas" panose="020B0609020204030204" pitchFamily="49" charset="0"/>
              </a:rPr>
              <a:t>&gt;</a:t>
            </a:r>
            <a:endParaRPr lang="es-ES" sz="1000" b="0" dirty="0">
              <a:solidFill>
                <a:srgbClr val="000000"/>
              </a:solidFill>
              <a:effectLst/>
              <a:latin typeface="Consolas" panose="020B0609020204030204" pitchFamily="49" charset="0"/>
            </a:endParaRPr>
          </a:p>
          <a:p>
            <a:r>
              <a:rPr lang="es-ES" sz="1000" b="0" dirty="0" err="1">
                <a:solidFill>
                  <a:srgbClr val="0000FF"/>
                </a:solidFill>
                <a:effectLst/>
                <a:latin typeface="Consolas" panose="020B0609020204030204" pitchFamily="49" charset="0"/>
              </a:rPr>
              <a:t>int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main</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SetConsoleOutputCP</a:t>
            </a:r>
            <a:r>
              <a:rPr lang="es-ES" sz="1000" b="0" dirty="0">
                <a:solidFill>
                  <a:srgbClr val="000000"/>
                </a:solidFill>
                <a:effectLst/>
                <a:latin typeface="Consolas" panose="020B0609020204030204" pitchFamily="49" charset="0"/>
              </a:rPr>
              <a:t>(</a:t>
            </a:r>
            <a:r>
              <a:rPr lang="es-ES" sz="1000" b="0" dirty="0">
                <a:solidFill>
                  <a:srgbClr val="0000FF"/>
                </a:solidFill>
                <a:effectLst/>
                <a:latin typeface="Consolas" panose="020B0609020204030204" pitchFamily="49" charset="0"/>
              </a:rPr>
              <a:t>CP_UTF8</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FF"/>
                </a:solidFill>
                <a:effectLst/>
                <a:latin typeface="Consolas" panose="020B0609020204030204" pitchFamily="49" charset="0"/>
              </a:rPr>
              <a:t>int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 = </a:t>
            </a:r>
            <a:r>
              <a:rPr lang="es-ES" sz="1000" b="0" dirty="0">
                <a:solidFill>
                  <a:srgbClr val="098658"/>
                </a:solidFill>
                <a:effectLst/>
                <a:latin typeface="Consolas" panose="020B0609020204030204" pitchFamily="49" charset="0"/>
              </a:rPr>
              <a:t>0</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FF"/>
                </a:solidFill>
                <a:effectLst/>
                <a:latin typeface="Consolas" panose="020B0609020204030204" pitchFamily="49" charset="0"/>
              </a:rPr>
              <a:t>int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 </a:t>
            </a:r>
            <a:r>
              <a:rPr lang="es-ES" sz="1000" b="0" dirty="0">
                <a:solidFill>
                  <a:srgbClr val="098658"/>
                </a:solidFill>
                <a:effectLst/>
                <a:latin typeface="Consolas" panose="020B0609020204030204" pitchFamily="49" charset="0"/>
              </a:rPr>
              <a:t>0</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a:solidFill>
                  <a:srgbClr val="008000"/>
                </a:solidFill>
                <a:effectLst/>
                <a:latin typeface="Consolas" panose="020B0609020204030204" pitchFamily="49" charset="0"/>
              </a:rPr>
              <a:t>// </a:t>
            </a:r>
            <a:r>
              <a:rPr lang="es-ES" sz="1000" b="0" dirty="0" err="1">
                <a:solidFill>
                  <a:srgbClr val="008000"/>
                </a:solidFill>
                <a:effectLst/>
                <a:latin typeface="Consolas" panose="020B0609020204030204" pitchFamily="49" charset="0"/>
              </a:rPr>
              <a:t>Resolem</a:t>
            </a:r>
            <a:r>
              <a:rPr lang="es-ES" sz="1000" b="0" dirty="0">
                <a:solidFill>
                  <a:srgbClr val="008000"/>
                </a:solidFill>
                <a:effectLst/>
                <a:latin typeface="Consolas" panose="020B0609020204030204" pitchFamily="49" charset="0"/>
              </a:rPr>
              <a:t> </a:t>
            </a:r>
            <a:r>
              <a:rPr lang="es-ES" sz="1000" b="0" dirty="0" err="1">
                <a:solidFill>
                  <a:srgbClr val="008000"/>
                </a:solidFill>
                <a:effectLst/>
                <a:latin typeface="Consolas" panose="020B0609020204030204" pitchFamily="49" charset="0"/>
              </a:rPr>
              <a:t>l'etern</a:t>
            </a:r>
            <a:r>
              <a:rPr lang="es-ES" sz="1000" b="0" dirty="0">
                <a:solidFill>
                  <a:srgbClr val="008000"/>
                </a:solidFill>
                <a:effectLst/>
                <a:latin typeface="Consolas" panose="020B0609020204030204" pitchFamily="49" charset="0"/>
              </a:rPr>
              <a:t> dilema del </a:t>
            </a:r>
            <a:r>
              <a:rPr lang="es-ES" sz="1000" b="0" dirty="0" err="1">
                <a:solidFill>
                  <a:srgbClr val="008000"/>
                </a:solidFill>
                <a:effectLst/>
                <a:latin typeface="Consolas" panose="020B0609020204030204" pitchFamily="49" charset="0"/>
              </a:rPr>
              <a:t>preIncrement</a:t>
            </a:r>
            <a:r>
              <a:rPr lang="es-ES" sz="1000" b="0" dirty="0">
                <a:solidFill>
                  <a:srgbClr val="008000"/>
                </a:solidFill>
                <a:effectLst/>
                <a:latin typeface="Consolas" panose="020B0609020204030204" pitchFamily="49" charset="0"/>
              </a:rPr>
              <a:t>/</a:t>
            </a:r>
            <a:r>
              <a:rPr lang="es-ES" sz="1000" b="0" dirty="0" err="1">
                <a:solidFill>
                  <a:srgbClr val="008000"/>
                </a:solidFill>
                <a:effectLst/>
                <a:latin typeface="Consolas" panose="020B0609020204030204" pitchFamily="49" charset="0"/>
              </a:rPr>
              <a:t>preDecrement</a:t>
            </a:r>
            <a:r>
              <a:rPr lang="es-ES" sz="1000" b="0" dirty="0">
                <a:solidFill>
                  <a:srgbClr val="008000"/>
                </a:solidFill>
                <a:effectLst/>
                <a:latin typeface="Consolas" panose="020B0609020204030204" pitchFamily="49" charset="0"/>
              </a:rPr>
              <a:t> i el </a:t>
            </a:r>
            <a:r>
              <a:rPr lang="es-ES" sz="1000" b="0" dirty="0" err="1">
                <a:solidFill>
                  <a:srgbClr val="008000"/>
                </a:solidFill>
                <a:effectLst/>
                <a:latin typeface="Consolas" panose="020B0609020204030204" pitchFamily="49" charset="0"/>
              </a:rPr>
              <a:t>postIncrement</a:t>
            </a:r>
            <a:r>
              <a:rPr lang="es-ES" sz="1000" b="0" dirty="0">
                <a:solidFill>
                  <a:srgbClr val="008000"/>
                </a:solidFill>
                <a:effectLst/>
                <a:latin typeface="Consolas" panose="020B0609020204030204" pitchFamily="49" charset="0"/>
              </a:rPr>
              <a:t>/</a:t>
            </a:r>
            <a:r>
              <a:rPr lang="es-ES" sz="1000" b="0" dirty="0" err="1">
                <a:solidFill>
                  <a:srgbClr val="008000"/>
                </a:solidFill>
                <a:effectLst/>
                <a:latin typeface="Consolas" panose="020B0609020204030204" pitchFamily="49" charset="0"/>
              </a:rPr>
              <a:t>postDecrement</a:t>
            </a:r>
            <a:endParaRPr lang="es-ES" sz="1000" b="0" dirty="0">
              <a:solidFill>
                <a:srgbClr val="000000"/>
              </a:solidFill>
              <a:effectLst/>
              <a:latin typeface="Consolas" panose="020B0609020204030204" pitchFamily="49" charset="0"/>
            </a:endParaRP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printf</a:t>
            </a:r>
            <a:r>
              <a:rPr lang="es-ES" sz="1000" b="0" dirty="0">
                <a:solidFill>
                  <a:srgbClr val="000000"/>
                </a:solidFill>
                <a:effectLst/>
                <a:latin typeface="Consolas" panose="020B0609020204030204" pitchFamily="49" charset="0"/>
              </a:rPr>
              <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Inicials</a:t>
            </a:r>
            <a:r>
              <a:rPr lang="es-ES" sz="1000" b="0" dirty="0">
                <a:solidFill>
                  <a:srgbClr val="A31515"/>
                </a:solidFill>
                <a:effectLst/>
                <a:latin typeface="Consolas" panose="020B0609020204030204" pitchFamily="49" charset="0"/>
              </a:rPr>
              <a:t>\t\</a:t>
            </a:r>
            <a:r>
              <a:rPr lang="es-ES" sz="1000" b="0" dirty="0" err="1">
                <a:solidFill>
                  <a:srgbClr val="A31515"/>
                </a:solidFill>
                <a:effectLst/>
                <a:latin typeface="Consolas" panose="020B0609020204030204" pitchFamily="49" charset="0"/>
              </a:rPr>
              <a:t>tResultat</a:t>
            </a:r>
            <a:r>
              <a:rPr lang="es-ES" sz="1000" b="0" dirty="0">
                <a:solidFill>
                  <a:srgbClr val="A31515"/>
                </a:solidFill>
                <a:effectLst/>
                <a:latin typeface="Consolas" panose="020B0609020204030204" pitchFamily="49" charset="0"/>
              </a:rPr>
              <a:t>: %d\</a:t>
            </a:r>
            <a:r>
              <a:rPr lang="es-ES" sz="1000" b="0" dirty="0" err="1">
                <a:solidFill>
                  <a:srgbClr val="A31515"/>
                </a:solidFill>
                <a:effectLst/>
                <a:latin typeface="Consolas" panose="020B0609020204030204" pitchFamily="49" charset="0"/>
              </a:rPr>
              <a:t>tComptador</a:t>
            </a:r>
            <a:r>
              <a:rPr lang="es-ES" sz="1000" b="0" dirty="0">
                <a:solidFill>
                  <a:srgbClr val="A31515"/>
                </a:solidFill>
                <a:effectLst/>
                <a:latin typeface="Consolas" panose="020B0609020204030204" pitchFamily="49" charset="0"/>
              </a:rPr>
              <a:t>: %d\n"</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printf</a:t>
            </a:r>
            <a:r>
              <a:rPr lang="es-ES" sz="1000" b="0" dirty="0">
                <a:solidFill>
                  <a:srgbClr val="000000"/>
                </a:solidFill>
                <a:effectLst/>
                <a:latin typeface="Consolas" panose="020B0609020204030204" pitchFamily="49" charset="0"/>
              </a:rPr>
              <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Resultat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Comptador</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tResultat</a:t>
            </a:r>
            <a:r>
              <a:rPr lang="es-ES" sz="1000" b="0" dirty="0">
                <a:solidFill>
                  <a:srgbClr val="A31515"/>
                </a:solidFill>
                <a:effectLst/>
                <a:latin typeface="Consolas" panose="020B0609020204030204" pitchFamily="49" charset="0"/>
              </a:rPr>
              <a:t>: %d\</a:t>
            </a:r>
            <a:r>
              <a:rPr lang="es-ES" sz="1000" b="0" dirty="0" err="1">
                <a:solidFill>
                  <a:srgbClr val="A31515"/>
                </a:solidFill>
                <a:effectLst/>
                <a:latin typeface="Consolas" panose="020B0609020204030204" pitchFamily="49" charset="0"/>
              </a:rPr>
              <a:t>tComptador</a:t>
            </a:r>
            <a:r>
              <a:rPr lang="es-ES" sz="1000" b="0" dirty="0">
                <a:solidFill>
                  <a:srgbClr val="A31515"/>
                </a:solidFill>
                <a:effectLst/>
                <a:latin typeface="Consolas" panose="020B0609020204030204" pitchFamily="49" charset="0"/>
              </a:rPr>
              <a:t>: %d\n"</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printf</a:t>
            </a:r>
            <a:r>
              <a:rPr lang="es-ES" sz="1000" b="0" dirty="0">
                <a:solidFill>
                  <a:srgbClr val="000000"/>
                </a:solidFill>
                <a:effectLst/>
                <a:latin typeface="Consolas" panose="020B0609020204030204" pitchFamily="49" charset="0"/>
              </a:rPr>
              <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Resultat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Comptador</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tResultat</a:t>
            </a:r>
            <a:r>
              <a:rPr lang="es-ES" sz="1000" b="0" dirty="0">
                <a:solidFill>
                  <a:srgbClr val="A31515"/>
                </a:solidFill>
                <a:effectLst/>
                <a:latin typeface="Consolas" panose="020B0609020204030204" pitchFamily="49" charset="0"/>
              </a:rPr>
              <a:t>: %d\</a:t>
            </a:r>
            <a:r>
              <a:rPr lang="es-ES" sz="1000" b="0" dirty="0" err="1">
                <a:solidFill>
                  <a:srgbClr val="A31515"/>
                </a:solidFill>
                <a:effectLst/>
                <a:latin typeface="Consolas" panose="020B0609020204030204" pitchFamily="49" charset="0"/>
              </a:rPr>
              <a:t>tComptador</a:t>
            </a:r>
            <a:r>
              <a:rPr lang="es-ES" sz="1000" b="0" dirty="0">
                <a:solidFill>
                  <a:srgbClr val="A31515"/>
                </a:solidFill>
                <a:effectLst/>
                <a:latin typeface="Consolas" panose="020B0609020204030204" pitchFamily="49" charset="0"/>
              </a:rPr>
              <a:t>: %d\n"</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printf</a:t>
            </a:r>
            <a:r>
              <a:rPr lang="es-ES" sz="1000" b="0" dirty="0">
                <a:solidFill>
                  <a:srgbClr val="000000"/>
                </a:solidFill>
                <a:effectLst/>
                <a:latin typeface="Consolas" panose="020B0609020204030204" pitchFamily="49" charset="0"/>
              </a:rPr>
              <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Resultat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Comptador</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tResultat</a:t>
            </a:r>
            <a:r>
              <a:rPr lang="es-ES" sz="1000" b="0" dirty="0">
                <a:solidFill>
                  <a:srgbClr val="A31515"/>
                </a:solidFill>
                <a:effectLst/>
                <a:latin typeface="Consolas" panose="020B0609020204030204" pitchFamily="49" charset="0"/>
              </a:rPr>
              <a:t>: %d\</a:t>
            </a:r>
            <a:r>
              <a:rPr lang="es-ES" sz="1000" b="0" dirty="0" err="1">
                <a:solidFill>
                  <a:srgbClr val="A31515"/>
                </a:solidFill>
                <a:effectLst/>
                <a:latin typeface="Consolas" panose="020B0609020204030204" pitchFamily="49" charset="0"/>
              </a:rPr>
              <a:t>tComptador</a:t>
            </a:r>
            <a:r>
              <a:rPr lang="es-ES" sz="1000" b="0" dirty="0">
                <a:solidFill>
                  <a:srgbClr val="A31515"/>
                </a:solidFill>
                <a:effectLst/>
                <a:latin typeface="Consolas" panose="020B0609020204030204" pitchFamily="49" charset="0"/>
              </a:rPr>
              <a:t>: %d\n"</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printf</a:t>
            </a:r>
            <a:r>
              <a:rPr lang="es-ES" sz="1000" b="0" dirty="0">
                <a:solidFill>
                  <a:srgbClr val="000000"/>
                </a:solidFill>
                <a:effectLst/>
                <a:latin typeface="Consolas" panose="020B0609020204030204" pitchFamily="49" charset="0"/>
              </a:rPr>
              <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Resultat</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Comptador</a:t>
            </a:r>
            <a:r>
              <a:rPr lang="es-ES" sz="1000" b="0" dirty="0">
                <a:solidFill>
                  <a:srgbClr val="A31515"/>
                </a:solidFill>
                <a:effectLst/>
                <a:latin typeface="Consolas" panose="020B0609020204030204" pitchFamily="49" charset="0"/>
              </a:rPr>
              <a:t>--\</a:t>
            </a:r>
            <a:r>
              <a:rPr lang="es-ES" sz="1000" b="0" dirty="0" err="1">
                <a:solidFill>
                  <a:srgbClr val="A31515"/>
                </a:solidFill>
                <a:effectLst/>
                <a:latin typeface="Consolas" panose="020B0609020204030204" pitchFamily="49" charset="0"/>
              </a:rPr>
              <a:t>tResultat</a:t>
            </a:r>
            <a:r>
              <a:rPr lang="es-ES" sz="1000" b="0" dirty="0">
                <a:solidFill>
                  <a:srgbClr val="A31515"/>
                </a:solidFill>
                <a:effectLst/>
                <a:latin typeface="Consolas" panose="020B0609020204030204" pitchFamily="49" charset="0"/>
              </a:rPr>
              <a:t>: %d\</a:t>
            </a:r>
            <a:r>
              <a:rPr lang="es-ES" sz="1000" b="0" dirty="0" err="1">
                <a:solidFill>
                  <a:srgbClr val="A31515"/>
                </a:solidFill>
                <a:effectLst/>
                <a:latin typeface="Consolas" panose="020B0609020204030204" pitchFamily="49" charset="0"/>
              </a:rPr>
              <a:t>tComptador</a:t>
            </a:r>
            <a:r>
              <a:rPr lang="es-ES" sz="1000" b="0" dirty="0">
                <a:solidFill>
                  <a:srgbClr val="A31515"/>
                </a:solidFill>
                <a:effectLst/>
                <a:latin typeface="Consolas" panose="020B0609020204030204" pitchFamily="49" charset="0"/>
              </a:rPr>
              <a:t>: %d\n"</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resultat</a:t>
            </a:r>
            <a:r>
              <a:rPr lang="es-ES" sz="1000" b="0" dirty="0">
                <a:solidFill>
                  <a:srgbClr val="000000"/>
                </a:solidFill>
                <a:effectLst/>
                <a:latin typeface="Consolas" panose="020B0609020204030204" pitchFamily="49" charset="0"/>
              </a:rPr>
              <a:t>, </a:t>
            </a:r>
            <a:r>
              <a:rPr lang="es-ES" sz="1000" b="0" dirty="0" err="1">
                <a:solidFill>
                  <a:srgbClr val="000000"/>
                </a:solidFill>
                <a:effectLst/>
                <a:latin typeface="Consolas" panose="020B0609020204030204" pitchFamily="49" charset="0"/>
              </a:rPr>
              <a:t>comptador</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FF"/>
                </a:solidFill>
                <a:effectLst/>
                <a:latin typeface="Consolas" panose="020B0609020204030204" pitchFamily="49" charset="0"/>
              </a:rPr>
              <a:t>getch</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    </a:t>
            </a:r>
            <a:r>
              <a:rPr lang="es-ES" sz="1000" b="0" dirty="0" err="1">
                <a:solidFill>
                  <a:srgbClr val="0000FF"/>
                </a:solidFill>
                <a:effectLst/>
                <a:latin typeface="Consolas" panose="020B0609020204030204" pitchFamily="49" charset="0"/>
              </a:rPr>
              <a:t>return</a:t>
            </a:r>
            <a:r>
              <a:rPr lang="es-ES" sz="1000" b="0" dirty="0">
                <a:solidFill>
                  <a:srgbClr val="000000"/>
                </a:solidFill>
                <a:effectLst/>
                <a:latin typeface="Consolas" panose="020B0609020204030204" pitchFamily="49" charset="0"/>
              </a:rPr>
              <a:t> </a:t>
            </a:r>
            <a:r>
              <a:rPr lang="es-ES" sz="1000" b="0" dirty="0">
                <a:solidFill>
                  <a:srgbClr val="098658"/>
                </a:solidFill>
                <a:effectLst/>
                <a:latin typeface="Consolas" panose="020B0609020204030204" pitchFamily="49" charset="0"/>
              </a:rPr>
              <a:t>0</a:t>
            </a:r>
            <a:r>
              <a:rPr lang="es-ES" sz="1000" b="0" dirty="0">
                <a:solidFill>
                  <a:srgbClr val="000000"/>
                </a:solidFill>
                <a:effectLst/>
                <a:latin typeface="Consolas" panose="020B0609020204030204" pitchFamily="49" charset="0"/>
              </a:rPr>
              <a:t>;</a:t>
            </a:r>
          </a:p>
          <a:p>
            <a:r>
              <a:rPr lang="es-ES" sz="10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201166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Seqüències</a:t>
            </a:r>
            <a:r>
              <a:rPr lang="es-ES" dirty="0"/>
              <a:t> escape</a:t>
            </a:r>
          </a:p>
        </p:txBody>
      </p:sp>
      <p:sp>
        <p:nvSpPr>
          <p:cNvPr id="6" name="Content Placeholder 2"/>
          <p:cNvSpPr txBox="1">
            <a:spLocks/>
          </p:cNvSpPr>
          <p:nvPr/>
        </p:nvSpPr>
        <p:spPr>
          <a:xfrm>
            <a:off x="477519" y="4588406"/>
            <a:ext cx="4758693" cy="1621894"/>
          </a:xfrm>
          <a:prstGeom prst="rect">
            <a:avLst/>
          </a:prstGeom>
          <a:noFill/>
          <a:ln>
            <a:solidFill>
              <a:schemeClr val="tx1"/>
            </a:solidFill>
            <a:prstDash val="lgDash"/>
          </a:ln>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s-ES" sz="1200" dirty="0" err="1">
                <a:latin typeface="Century Gothic" panose="020B0502020202020204" pitchFamily="34" charset="0"/>
              </a:rPr>
              <a:t>printf</a:t>
            </a:r>
            <a:r>
              <a:rPr lang="es-ES" sz="1200" dirty="0">
                <a:latin typeface="Century Gothic" panose="020B0502020202020204" pitchFamily="34" charset="0"/>
              </a:rPr>
              <a:t>("\t: tabulador </a:t>
            </a:r>
            <a:r>
              <a:rPr lang="es-ES" sz="1200" dirty="0" err="1">
                <a:latin typeface="Century Gothic" panose="020B0502020202020204" pitchFamily="34" charset="0"/>
              </a:rPr>
              <a:t>horitzontal</a:t>
            </a:r>
            <a:r>
              <a:rPr lang="es-ES" sz="1200" dirty="0">
                <a:latin typeface="Century Gothic" panose="020B0502020202020204" pitchFamily="34" charset="0"/>
              </a:rPr>
              <a:t>");</a:t>
            </a:r>
          </a:p>
          <a:p>
            <a:pPr marL="0" indent="0">
              <a:spcBef>
                <a:spcPts val="0"/>
              </a:spcBef>
              <a:buNone/>
            </a:pPr>
            <a:r>
              <a:rPr lang="es-ES" sz="1200" dirty="0" err="1">
                <a:latin typeface="Century Gothic" panose="020B0502020202020204" pitchFamily="34" charset="0"/>
              </a:rPr>
              <a:t>printf</a:t>
            </a:r>
            <a:r>
              <a:rPr lang="es-ES" sz="1200" dirty="0">
                <a:latin typeface="Century Gothic" panose="020B0502020202020204" pitchFamily="34" charset="0"/>
              </a:rPr>
              <a:t>("\n: </a:t>
            </a:r>
            <a:r>
              <a:rPr lang="es-ES" sz="1200" dirty="0" err="1">
                <a:latin typeface="Century Gothic" panose="020B0502020202020204" pitchFamily="34" charset="0"/>
              </a:rPr>
              <a:t>salt</a:t>
            </a:r>
            <a:r>
              <a:rPr lang="es-ES" sz="1200" dirty="0">
                <a:latin typeface="Century Gothic" panose="020B0502020202020204" pitchFamily="34" charset="0"/>
              </a:rPr>
              <a:t> de </a:t>
            </a:r>
            <a:r>
              <a:rPr lang="es-ES" sz="1200" dirty="0" err="1">
                <a:latin typeface="Century Gothic" panose="020B0502020202020204" pitchFamily="34" charset="0"/>
              </a:rPr>
              <a:t>linia</a:t>
            </a:r>
            <a:r>
              <a:rPr lang="es-ES" sz="1200" dirty="0">
                <a:latin typeface="Century Gothic" panose="020B0502020202020204" pitchFamily="34" charset="0"/>
              </a:rPr>
              <a:t>\n");</a:t>
            </a:r>
          </a:p>
          <a:p>
            <a:pPr marL="0" indent="0">
              <a:spcBef>
                <a:spcPts val="0"/>
              </a:spcBef>
              <a:buNone/>
            </a:pPr>
            <a:r>
              <a:rPr lang="es-ES" sz="1200" dirty="0" err="1">
                <a:latin typeface="Century Gothic" panose="020B0502020202020204" pitchFamily="34" charset="0"/>
              </a:rPr>
              <a:t>printf</a:t>
            </a:r>
            <a:r>
              <a:rPr lang="es-ES" sz="1200" dirty="0">
                <a:latin typeface="Century Gothic" panose="020B0502020202020204" pitchFamily="34" charset="0"/>
              </a:rPr>
              <a:t>("</a:t>
            </a:r>
            <a:r>
              <a:rPr lang="es-ES" sz="1200" dirty="0" err="1">
                <a:latin typeface="Century Gothic" panose="020B0502020202020204" pitchFamily="34" charset="0"/>
              </a:rPr>
              <a:t>proves</a:t>
            </a:r>
            <a:r>
              <a:rPr lang="es-ES" sz="1200" dirty="0">
                <a:latin typeface="Century Gothic" panose="020B0502020202020204" pitchFamily="34" charset="0"/>
              </a:rPr>
              <a:t> de </a:t>
            </a:r>
            <a:r>
              <a:rPr lang="es-ES" sz="1200" dirty="0" err="1">
                <a:latin typeface="Century Gothic" panose="020B0502020202020204" pitchFamily="34" charset="0"/>
              </a:rPr>
              <a:t>com</a:t>
            </a:r>
            <a:r>
              <a:rPr lang="es-ES" sz="1200" dirty="0">
                <a:latin typeface="Century Gothic" panose="020B0502020202020204" pitchFamily="34" charset="0"/>
              </a:rPr>
              <a:t> funcionen les </a:t>
            </a:r>
            <a:r>
              <a:rPr lang="es-ES" sz="1200" dirty="0" err="1">
                <a:latin typeface="Century Gothic" panose="020B0502020202020204" pitchFamily="34" charset="0"/>
              </a:rPr>
              <a:t>sequencies</a:t>
            </a:r>
            <a:r>
              <a:rPr lang="es-ES" sz="1200" dirty="0">
                <a:latin typeface="Century Gothic" panose="020B0502020202020204" pitchFamily="34" charset="0"/>
              </a:rPr>
              <a:t>");</a:t>
            </a:r>
          </a:p>
          <a:p>
            <a:pPr marL="0" indent="0">
              <a:spcBef>
                <a:spcPts val="0"/>
              </a:spcBef>
              <a:buNone/>
            </a:pPr>
            <a:r>
              <a:rPr lang="es-ES" sz="1200" dirty="0" err="1">
                <a:latin typeface="Century Gothic" panose="020B0502020202020204" pitchFamily="34" charset="0"/>
              </a:rPr>
              <a:t>getch</a:t>
            </a:r>
            <a:r>
              <a:rPr lang="es-ES" sz="1200" dirty="0">
                <a:latin typeface="Century Gothic" panose="020B0502020202020204" pitchFamily="34" charset="0"/>
              </a:rPr>
              <a:t>();</a:t>
            </a:r>
          </a:p>
          <a:p>
            <a:pPr marL="0" indent="0">
              <a:spcBef>
                <a:spcPts val="0"/>
              </a:spcBef>
              <a:buNone/>
            </a:pPr>
            <a:r>
              <a:rPr lang="es-ES" sz="1200" dirty="0" err="1">
                <a:latin typeface="Century Gothic" panose="020B0502020202020204" pitchFamily="34" charset="0"/>
              </a:rPr>
              <a:t>printf</a:t>
            </a:r>
            <a:r>
              <a:rPr lang="es-ES" sz="1200" dirty="0">
                <a:latin typeface="Century Gothic" panose="020B0502020202020204" pitchFamily="34" charset="0"/>
              </a:rPr>
              <a:t>("\</a:t>
            </a:r>
            <a:r>
              <a:rPr lang="es-ES" sz="1200" dirty="0" err="1">
                <a:latin typeface="Century Gothic" panose="020B0502020202020204" pitchFamily="34" charset="0"/>
              </a:rPr>
              <a:t>r:carro</a:t>
            </a:r>
            <a:r>
              <a:rPr lang="es-ES" sz="1200" dirty="0">
                <a:latin typeface="Century Gothic" panose="020B0502020202020204" pitchFamily="34" charset="0"/>
              </a:rPr>
              <a:t>: </a:t>
            </a:r>
            <a:r>
              <a:rPr lang="es-ES" sz="1200" dirty="0" err="1">
                <a:latin typeface="Century Gothic" panose="020B0502020202020204" pitchFamily="34" charset="0"/>
              </a:rPr>
              <a:t>inici</a:t>
            </a:r>
            <a:r>
              <a:rPr lang="es-ES" sz="1200" dirty="0">
                <a:latin typeface="Century Gothic" panose="020B0502020202020204" pitchFamily="34" charset="0"/>
              </a:rPr>
              <a:t> de la </a:t>
            </a:r>
            <a:r>
              <a:rPr lang="es-ES" sz="1200" dirty="0" err="1">
                <a:latin typeface="Century Gothic" panose="020B0502020202020204" pitchFamily="34" charset="0"/>
              </a:rPr>
              <a:t>linia</a:t>
            </a:r>
            <a:r>
              <a:rPr lang="es-ES" sz="1200" dirty="0">
                <a:latin typeface="Century Gothic" panose="020B0502020202020204" pitchFamily="34" charset="0"/>
              </a:rPr>
              <a:t> (no </a:t>
            </a:r>
            <a:r>
              <a:rPr lang="es-ES" sz="1200" dirty="0" err="1">
                <a:latin typeface="Century Gothic" panose="020B0502020202020204" pitchFamily="34" charset="0"/>
              </a:rPr>
              <a:t>neteja</a:t>
            </a:r>
            <a:r>
              <a:rPr lang="es-ES" sz="1200" dirty="0">
                <a:latin typeface="Century Gothic" panose="020B0502020202020204" pitchFamily="34" charset="0"/>
              </a:rPr>
              <a:t> la </a:t>
            </a:r>
            <a:r>
              <a:rPr lang="es-ES" sz="1200" dirty="0" err="1">
                <a:latin typeface="Century Gothic" panose="020B0502020202020204" pitchFamily="34" charset="0"/>
              </a:rPr>
              <a:t>linia</a:t>
            </a:r>
            <a:r>
              <a:rPr lang="es-ES" sz="1200" dirty="0">
                <a:latin typeface="Century Gothic" panose="020B0502020202020204" pitchFamily="34" charset="0"/>
              </a:rPr>
              <a:t>)");</a:t>
            </a:r>
          </a:p>
          <a:p>
            <a:pPr marL="0" indent="0">
              <a:spcBef>
                <a:spcPts val="0"/>
              </a:spcBef>
              <a:buNone/>
            </a:pPr>
            <a:r>
              <a:rPr lang="es-ES" sz="1200" dirty="0" err="1">
                <a:latin typeface="Century Gothic" panose="020B0502020202020204" pitchFamily="34" charset="0"/>
              </a:rPr>
              <a:t>printf</a:t>
            </a:r>
            <a:r>
              <a:rPr lang="es-ES" sz="1200" dirty="0">
                <a:latin typeface="Century Gothic" panose="020B0502020202020204" pitchFamily="34" charset="0"/>
              </a:rPr>
              <a:t>("\</a:t>
            </a:r>
            <a:r>
              <a:rPr lang="es-ES" sz="1200" dirty="0" err="1">
                <a:latin typeface="Century Gothic" panose="020B0502020202020204" pitchFamily="34" charset="0"/>
              </a:rPr>
              <a:t>nper</a:t>
            </a:r>
            <a:r>
              <a:rPr lang="es-ES" sz="1200" dirty="0">
                <a:latin typeface="Century Gothic" panose="020B0502020202020204" pitchFamily="34" charset="0"/>
              </a:rPr>
              <a:t> a </a:t>
            </a:r>
            <a:r>
              <a:rPr lang="es-ES" sz="1200" dirty="0" err="1">
                <a:latin typeface="Century Gothic" panose="020B0502020202020204" pitchFamily="34" charset="0"/>
              </a:rPr>
              <a:t>escriure</a:t>
            </a:r>
            <a:r>
              <a:rPr lang="es-ES" sz="1200" dirty="0">
                <a:latin typeface="Century Gothic" panose="020B0502020202020204" pitchFamily="34" charset="0"/>
              </a:rPr>
              <a:t> la </a:t>
            </a:r>
            <a:r>
              <a:rPr lang="es-ES" sz="1200" dirty="0" err="1">
                <a:latin typeface="Century Gothic" panose="020B0502020202020204" pitchFamily="34" charset="0"/>
              </a:rPr>
              <a:t>contrabarra</a:t>
            </a:r>
            <a:r>
              <a:rPr lang="es-ES" sz="1200" dirty="0">
                <a:latin typeface="Century Gothic" panose="020B0502020202020204" pitchFamily="34" charset="0"/>
              </a:rPr>
              <a:t> es posa: \\");</a:t>
            </a:r>
          </a:p>
          <a:p>
            <a:pPr marL="0" indent="0">
              <a:spcBef>
                <a:spcPts val="0"/>
              </a:spcBef>
              <a:buNone/>
            </a:pPr>
            <a:r>
              <a:rPr lang="es-ES" sz="1200" dirty="0" err="1">
                <a:latin typeface="Century Gothic" panose="020B0502020202020204" pitchFamily="34" charset="0"/>
              </a:rPr>
              <a:t>printf</a:t>
            </a:r>
            <a:r>
              <a:rPr lang="es-ES" sz="1200" dirty="0">
                <a:latin typeface="Century Gothic" panose="020B0502020202020204" pitchFamily="34" charset="0"/>
              </a:rPr>
              <a:t>("\</a:t>
            </a:r>
            <a:r>
              <a:rPr lang="es-ES" sz="1200" dirty="0" err="1">
                <a:latin typeface="Century Gothic" panose="020B0502020202020204" pitchFamily="34" charset="0"/>
              </a:rPr>
              <a:t>nper</a:t>
            </a:r>
            <a:r>
              <a:rPr lang="es-ES" sz="1200" dirty="0">
                <a:latin typeface="Century Gothic" panose="020B0502020202020204" pitchFamily="34" charset="0"/>
              </a:rPr>
              <a:t> a </a:t>
            </a:r>
            <a:r>
              <a:rPr lang="es-ES" sz="1200" dirty="0" err="1">
                <a:latin typeface="Century Gothic" panose="020B0502020202020204" pitchFamily="34" charset="0"/>
              </a:rPr>
              <a:t>fer</a:t>
            </a:r>
            <a:r>
              <a:rPr lang="es-ES" sz="1200" dirty="0">
                <a:latin typeface="Century Gothic" panose="020B0502020202020204" pitchFamily="34" charset="0"/>
              </a:rPr>
              <a:t> un </a:t>
            </a:r>
            <a:r>
              <a:rPr lang="es-ES" sz="1200" dirty="0" err="1">
                <a:latin typeface="Century Gothic" panose="020B0502020202020204" pitchFamily="34" charset="0"/>
              </a:rPr>
              <a:t>beep</a:t>
            </a:r>
            <a:r>
              <a:rPr lang="es-ES" sz="1200" dirty="0">
                <a:latin typeface="Century Gothic" panose="020B0502020202020204" pitchFamily="34" charset="0"/>
              </a:rPr>
              <a:t> \a");</a:t>
            </a:r>
          </a:p>
          <a:p>
            <a:pPr marL="0" indent="0">
              <a:spcBef>
                <a:spcPts val="0"/>
              </a:spcBef>
              <a:buNone/>
            </a:pPr>
            <a:r>
              <a:rPr lang="es-ES" sz="1200" dirty="0" err="1">
                <a:latin typeface="Century Gothic" panose="020B0502020202020204" pitchFamily="34" charset="0"/>
              </a:rPr>
              <a:t>printf</a:t>
            </a:r>
            <a:r>
              <a:rPr lang="es-ES" sz="1200" dirty="0">
                <a:latin typeface="Century Gothic" panose="020B0502020202020204" pitchFamily="34" charset="0"/>
              </a:rPr>
              <a:t>("\</a:t>
            </a:r>
            <a:r>
              <a:rPr lang="es-ES" sz="1200" dirty="0" err="1">
                <a:latin typeface="Century Gothic" panose="020B0502020202020204" pitchFamily="34" charset="0"/>
              </a:rPr>
              <a:t>nPer</a:t>
            </a:r>
            <a:r>
              <a:rPr lang="es-ES" sz="1200" dirty="0">
                <a:latin typeface="Century Gothic" panose="020B0502020202020204" pitchFamily="34" charset="0"/>
              </a:rPr>
              <a:t> a </a:t>
            </a:r>
            <a:r>
              <a:rPr lang="es-ES" sz="1200" dirty="0" err="1">
                <a:latin typeface="Century Gothic" panose="020B0502020202020204" pitchFamily="34" charset="0"/>
              </a:rPr>
              <a:t>escriure</a:t>
            </a:r>
            <a:r>
              <a:rPr lang="es-ES" sz="1200" dirty="0">
                <a:latin typeface="Century Gothic" panose="020B0502020202020204" pitchFamily="34" charset="0"/>
              </a:rPr>
              <a:t> unes cometes \'hola\' ");</a:t>
            </a:r>
            <a:endParaRPr lang="es-ES" sz="1400" dirty="0">
              <a:solidFill>
                <a:srgbClr val="FF0000"/>
              </a:solidFill>
              <a:latin typeface="Century Gothic" panose="020B0502020202020204" pitchFamily="34" charset="0"/>
            </a:endParaRPr>
          </a:p>
          <a:p>
            <a:pPr marL="0" indent="0">
              <a:spcBef>
                <a:spcPts val="0"/>
              </a:spcBef>
              <a:buNone/>
            </a:pPr>
            <a:endParaRPr lang="es-ES" sz="1400" dirty="0">
              <a:solidFill>
                <a:srgbClr val="FF0000"/>
              </a:solidFill>
              <a:latin typeface="Century Gothic" panose="020B0502020202020204" pitchFamily="34" charset="0"/>
            </a:endParaRPr>
          </a:p>
        </p:txBody>
      </p:sp>
      <p:graphicFrame>
        <p:nvGraphicFramePr>
          <p:cNvPr id="4" name="Table 4">
            <a:extLst>
              <a:ext uri="{FF2B5EF4-FFF2-40B4-BE49-F238E27FC236}">
                <a16:creationId xmlns:a16="http://schemas.microsoft.com/office/drawing/2014/main" id="{E3EC92D7-1A22-1CC1-208C-9B3BEA448E36}"/>
              </a:ext>
            </a:extLst>
          </p:cNvPr>
          <p:cNvGraphicFramePr>
            <a:graphicFrameLocks noGrp="1"/>
          </p:cNvGraphicFramePr>
          <p:nvPr>
            <p:extLst>
              <p:ext uri="{D42A27DB-BD31-4B8C-83A1-F6EECF244321}">
                <p14:modId xmlns:p14="http://schemas.microsoft.com/office/powerpoint/2010/main" val="1756710448"/>
              </p:ext>
            </p:extLst>
          </p:nvPr>
        </p:nvGraphicFramePr>
        <p:xfrm>
          <a:off x="477519" y="912813"/>
          <a:ext cx="3644713" cy="3492714"/>
        </p:xfrm>
        <a:graphic>
          <a:graphicData uri="http://schemas.openxmlformats.org/drawingml/2006/table">
            <a:tbl>
              <a:tblPr firstRow="1" bandRow="1">
                <a:tableStyleId>{46F890A9-2807-4EBB-B81D-B2AA78EC7F39}</a:tableStyleId>
              </a:tblPr>
              <a:tblGrid>
                <a:gridCol w="976630">
                  <a:extLst>
                    <a:ext uri="{9D8B030D-6E8A-4147-A177-3AD203B41FA5}">
                      <a16:colId xmlns:a16="http://schemas.microsoft.com/office/drawing/2014/main" val="3640043668"/>
                    </a:ext>
                  </a:extLst>
                </a:gridCol>
                <a:gridCol w="2668083">
                  <a:extLst>
                    <a:ext uri="{9D8B030D-6E8A-4147-A177-3AD203B41FA5}">
                      <a16:colId xmlns:a16="http://schemas.microsoft.com/office/drawing/2014/main" val="616367729"/>
                    </a:ext>
                  </a:extLst>
                </a:gridCol>
              </a:tblGrid>
              <a:tr h="713880">
                <a:tc>
                  <a:txBody>
                    <a:bodyPr/>
                    <a:lstStyle/>
                    <a:p>
                      <a:r>
                        <a:rPr lang="es-ES" sz="1400" noProof="1"/>
                        <a:t>Seqüència</a:t>
                      </a:r>
                    </a:p>
                  </a:txBody>
                  <a:tcPr anchor="ctr"/>
                </a:tc>
                <a:tc>
                  <a:txBody>
                    <a:bodyPr/>
                    <a:lstStyle/>
                    <a:p>
                      <a:pPr algn="l"/>
                      <a:r>
                        <a:rPr lang="es-ES" sz="1400" noProof="1"/>
                        <a:t>Què representa</a:t>
                      </a:r>
                      <a:r>
                        <a:rPr lang="es-ES" sz="1400" baseline="0" noProof="1"/>
                        <a:t> </a:t>
                      </a:r>
                      <a:endParaRPr lang="es-ES" sz="1200" noProof="1"/>
                    </a:p>
                  </a:txBody>
                  <a:tcPr anchor="ctr"/>
                </a:tc>
                <a:extLst>
                  <a:ext uri="{0D108BD9-81ED-4DB2-BD59-A6C34878D82A}">
                    <a16:rowId xmlns:a16="http://schemas.microsoft.com/office/drawing/2014/main" val="4184248687"/>
                  </a:ext>
                </a:extLst>
              </a:tr>
              <a:tr h="372045">
                <a:tc>
                  <a:txBody>
                    <a:bodyPr/>
                    <a:lstStyle/>
                    <a:p>
                      <a:r>
                        <a:rPr lang="es-ES" sz="1400" noProof="1"/>
                        <a:t>\t</a:t>
                      </a:r>
                    </a:p>
                  </a:txBody>
                  <a:tcPr/>
                </a:tc>
                <a:tc>
                  <a:txBody>
                    <a:bodyPr/>
                    <a:lstStyle/>
                    <a:p>
                      <a:r>
                        <a:rPr lang="es-ES" sz="1400" noProof="1"/>
                        <a:t>Tabulador </a:t>
                      </a:r>
                    </a:p>
                  </a:txBody>
                  <a:tcPr/>
                </a:tc>
                <a:extLst>
                  <a:ext uri="{0D108BD9-81ED-4DB2-BD59-A6C34878D82A}">
                    <a16:rowId xmlns:a16="http://schemas.microsoft.com/office/drawing/2014/main" val="922891379"/>
                  </a:ext>
                </a:extLst>
              </a:tr>
              <a:tr h="372045">
                <a:tc>
                  <a:txBody>
                    <a:bodyPr/>
                    <a:lstStyle/>
                    <a:p>
                      <a:r>
                        <a:rPr lang="es-ES" sz="1400" noProof="1"/>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noProof="1"/>
                        <a:t>Salt de Línia</a:t>
                      </a:r>
                    </a:p>
                  </a:txBody>
                  <a:tcPr/>
                </a:tc>
                <a:extLst>
                  <a:ext uri="{0D108BD9-81ED-4DB2-BD59-A6C34878D82A}">
                    <a16:rowId xmlns:a16="http://schemas.microsoft.com/office/drawing/2014/main" val="3218163111"/>
                  </a:ext>
                </a:extLst>
              </a:tr>
              <a:tr h="372045">
                <a:tc>
                  <a:txBody>
                    <a:bodyPr/>
                    <a:lstStyle/>
                    <a:p>
                      <a:r>
                        <a:rPr lang="es-ES" sz="1400" noProof="1"/>
                        <a:t>\r</a:t>
                      </a:r>
                    </a:p>
                  </a:txBody>
                  <a:tcPr/>
                </a:tc>
                <a:tc>
                  <a:txBody>
                    <a:bodyPr/>
                    <a:lstStyle/>
                    <a:p>
                      <a:r>
                        <a:rPr lang="es-ES" sz="1400" noProof="1"/>
                        <a:t>Torna a l’inici de la línea</a:t>
                      </a:r>
                    </a:p>
                  </a:txBody>
                  <a:tcPr/>
                </a:tc>
                <a:extLst>
                  <a:ext uri="{0D108BD9-81ED-4DB2-BD59-A6C34878D82A}">
                    <a16:rowId xmlns:a16="http://schemas.microsoft.com/office/drawing/2014/main" val="4158166076"/>
                  </a:ext>
                </a:extLst>
              </a:tr>
              <a:tr h="393579">
                <a:tc>
                  <a:txBody>
                    <a:bodyPr/>
                    <a:lstStyle/>
                    <a:p>
                      <a:r>
                        <a:rPr lang="es-ES" sz="1400" noProof="1"/>
                        <a:t>\\</a:t>
                      </a:r>
                    </a:p>
                  </a:txBody>
                  <a:tcPr/>
                </a:tc>
                <a:tc>
                  <a:txBody>
                    <a:bodyPr/>
                    <a:lstStyle/>
                    <a:p>
                      <a:r>
                        <a:rPr lang="es-ES" sz="1400" noProof="1"/>
                        <a:t>Escriu</a:t>
                      </a:r>
                      <a:r>
                        <a:rPr lang="es-ES" sz="1400" baseline="0" noProof="1"/>
                        <a:t> per pantalla el signe \</a:t>
                      </a:r>
                      <a:endParaRPr lang="es-ES" sz="1400" noProof="1"/>
                    </a:p>
                  </a:txBody>
                  <a:tcPr/>
                </a:tc>
                <a:extLst>
                  <a:ext uri="{0D108BD9-81ED-4DB2-BD59-A6C34878D82A}">
                    <a16:rowId xmlns:a16="http://schemas.microsoft.com/office/drawing/2014/main" val="1476892582"/>
                  </a:ext>
                </a:extLst>
              </a:tr>
              <a:tr h="317280">
                <a:tc>
                  <a:txBody>
                    <a:bodyPr/>
                    <a:lstStyle/>
                    <a:p>
                      <a:r>
                        <a:rPr lang="es-ES" sz="1400" noProof="1"/>
                        <a:t>\?</a:t>
                      </a:r>
                    </a:p>
                  </a:txBody>
                  <a:tcPr/>
                </a:tc>
                <a:tc>
                  <a:txBody>
                    <a:bodyPr/>
                    <a:lstStyle/>
                    <a:p>
                      <a:r>
                        <a:rPr lang="es-ES" sz="1400" noProof="1"/>
                        <a:t>Escriu</a:t>
                      </a:r>
                      <a:r>
                        <a:rPr lang="es-ES" sz="1400" baseline="0" noProof="1"/>
                        <a:t> per pantalla el signe ?</a:t>
                      </a:r>
                      <a:endParaRPr lang="es-ES" sz="1400" noProof="1"/>
                    </a:p>
                  </a:txBody>
                  <a:tcPr/>
                </a:tc>
                <a:extLst>
                  <a:ext uri="{0D108BD9-81ED-4DB2-BD59-A6C34878D82A}">
                    <a16:rowId xmlns:a16="http://schemas.microsoft.com/office/drawing/2014/main" val="1128615520"/>
                  </a:ext>
                </a:extLst>
              </a:tr>
              <a:tr h="317280">
                <a:tc>
                  <a:txBody>
                    <a:bodyPr/>
                    <a:lstStyle/>
                    <a:p>
                      <a:r>
                        <a:rPr lang="es-ES" sz="1400" noProof="1"/>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noProof="1"/>
                        <a:t>Escriu</a:t>
                      </a:r>
                      <a:r>
                        <a:rPr lang="es-ES" sz="1400" baseline="0" noProof="1"/>
                        <a:t> per pantalla el signe ’</a:t>
                      </a:r>
                      <a:endParaRPr lang="es-ES" sz="1400" noProof="1"/>
                    </a:p>
                  </a:txBody>
                  <a:tcPr/>
                </a:tc>
                <a:extLst>
                  <a:ext uri="{0D108BD9-81ED-4DB2-BD59-A6C34878D82A}">
                    <a16:rowId xmlns:a16="http://schemas.microsoft.com/office/drawing/2014/main" val="3603193261"/>
                  </a:ext>
                </a:extLst>
              </a:tr>
              <a:tr h="317280">
                <a:tc>
                  <a:txBody>
                    <a:bodyPr/>
                    <a:lstStyle/>
                    <a:p>
                      <a:r>
                        <a:rPr lang="es-ES" sz="1400" noProof="1"/>
                        <a:t>\a</a:t>
                      </a:r>
                    </a:p>
                  </a:txBody>
                  <a:tcPr/>
                </a:tc>
                <a:tc>
                  <a:txBody>
                    <a:bodyPr/>
                    <a:lstStyle/>
                    <a:p>
                      <a:r>
                        <a:rPr lang="es-ES" sz="1400" noProof="1"/>
                        <a:t>“beep”</a:t>
                      </a:r>
                    </a:p>
                  </a:txBody>
                  <a:tcPr/>
                </a:tc>
                <a:extLst>
                  <a:ext uri="{0D108BD9-81ED-4DB2-BD59-A6C34878D82A}">
                    <a16:rowId xmlns:a16="http://schemas.microsoft.com/office/drawing/2014/main" val="349672737"/>
                  </a:ext>
                </a:extLst>
              </a:tr>
              <a:tr h="317280">
                <a:tc>
                  <a:txBody>
                    <a:bodyPr/>
                    <a:lstStyle/>
                    <a:p>
                      <a:r>
                        <a:rPr lang="es-ES" sz="1400" noProof="1"/>
                        <a:t>%%</a:t>
                      </a:r>
                    </a:p>
                  </a:txBody>
                  <a:tcPr/>
                </a:tc>
                <a:tc>
                  <a:txBody>
                    <a:bodyPr/>
                    <a:lstStyle/>
                    <a:p>
                      <a:r>
                        <a:rPr lang="es-ES" sz="1400" noProof="1"/>
                        <a:t>Escriu per pantalla el caràcter %</a:t>
                      </a:r>
                    </a:p>
                  </a:txBody>
                  <a:tcPr/>
                </a:tc>
                <a:extLst>
                  <a:ext uri="{0D108BD9-81ED-4DB2-BD59-A6C34878D82A}">
                    <a16:rowId xmlns:a16="http://schemas.microsoft.com/office/drawing/2014/main" val="316173707"/>
                  </a:ext>
                </a:extLst>
              </a:tr>
            </a:tbl>
          </a:graphicData>
        </a:graphic>
      </p:graphicFrame>
    </p:spTree>
    <p:extLst>
      <p:ext uri="{BB962C8B-B14F-4D97-AF65-F5344CB8AC3E}">
        <p14:creationId xmlns:p14="http://schemas.microsoft.com/office/powerpoint/2010/main" val="3806482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35DB24-CA26-E641-F286-C8754B00069E}"/>
              </a:ext>
            </a:extLst>
          </p:cNvPr>
          <p:cNvSpPr>
            <a:spLocks noGrp="1"/>
          </p:cNvSpPr>
          <p:nvPr>
            <p:ph type="ctrTitle"/>
          </p:nvPr>
        </p:nvSpPr>
        <p:spPr/>
        <p:txBody>
          <a:bodyPr>
            <a:normAutofit/>
          </a:bodyPr>
          <a:lstStyle/>
          <a:p>
            <a:r>
              <a:rPr lang="es-ES" dirty="0"/>
              <a:t>ESTRUCTURES ALGORÍTMIQUES</a:t>
            </a:r>
          </a:p>
        </p:txBody>
      </p:sp>
    </p:spTree>
    <p:extLst>
      <p:ext uri="{BB962C8B-B14F-4D97-AF65-F5344CB8AC3E}">
        <p14:creationId xmlns:p14="http://schemas.microsoft.com/office/powerpoint/2010/main" val="2065528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a-ES" dirty="0"/>
              <a:t>Estructures algorítmiques </a:t>
            </a:r>
          </a:p>
        </p:txBody>
      </p:sp>
      <p:sp>
        <p:nvSpPr>
          <p:cNvPr id="3" name="Content Placeholder 2"/>
          <p:cNvSpPr>
            <a:spLocks noGrp="1"/>
          </p:cNvSpPr>
          <p:nvPr>
            <p:ph idx="1"/>
          </p:nvPr>
        </p:nvSpPr>
        <p:spPr/>
        <p:txBody>
          <a:bodyPr>
            <a:normAutofit/>
          </a:bodyPr>
          <a:lstStyle/>
          <a:p>
            <a:r>
              <a:rPr lang="es-ES" sz="1800" dirty="0"/>
              <a:t>Les estructures </a:t>
            </a:r>
            <a:r>
              <a:rPr lang="es-ES" sz="1800" dirty="0" err="1"/>
              <a:t>algorítmiques</a:t>
            </a:r>
            <a:r>
              <a:rPr lang="es-ES" sz="1800" dirty="0"/>
              <a:t> </a:t>
            </a:r>
            <a:r>
              <a:rPr lang="es-ES" sz="1800" dirty="0" err="1"/>
              <a:t>són</a:t>
            </a:r>
            <a:r>
              <a:rPr lang="es-ES" sz="1800" dirty="0"/>
              <a:t> </a:t>
            </a:r>
            <a:r>
              <a:rPr lang="es-ES" sz="1800" dirty="0" err="1"/>
              <a:t>els</a:t>
            </a:r>
            <a:r>
              <a:rPr lang="es-ES" sz="1800" dirty="0"/>
              <a:t> </a:t>
            </a:r>
            <a:r>
              <a:rPr lang="es-ES" sz="1800" dirty="0" err="1"/>
              <a:t>pilars</a:t>
            </a:r>
            <a:r>
              <a:rPr lang="es-ES" sz="1800" dirty="0"/>
              <a:t> </a:t>
            </a:r>
            <a:r>
              <a:rPr lang="es-ES" sz="1800" dirty="0" err="1"/>
              <a:t>bàsics</a:t>
            </a:r>
            <a:r>
              <a:rPr lang="es-ES" sz="1800" dirty="0"/>
              <a:t> de la </a:t>
            </a:r>
            <a:r>
              <a:rPr lang="es-ES" sz="1800" dirty="0" err="1"/>
              <a:t>programació</a:t>
            </a:r>
            <a:r>
              <a:rPr lang="es-ES" sz="1800" dirty="0"/>
              <a:t>. Tota la resta </a:t>
            </a:r>
            <a:r>
              <a:rPr lang="es-ES" sz="1800" dirty="0" err="1"/>
              <a:t>d’estructures</a:t>
            </a:r>
            <a:r>
              <a:rPr lang="es-ES" sz="1800" dirty="0"/>
              <a:t> es basen en </a:t>
            </a:r>
            <a:r>
              <a:rPr lang="es-ES" sz="1800" dirty="0" err="1"/>
              <a:t>aquestes</a:t>
            </a:r>
            <a:r>
              <a:rPr lang="es-ES" sz="1800" dirty="0"/>
              <a:t> tres. </a:t>
            </a:r>
          </a:p>
          <a:p>
            <a:pPr marL="800100" lvl="1" indent="-342900">
              <a:buFont typeface="+mj-lt"/>
              <a:buAutoNum type="arabicPeriod"/>
            </a:pPr>
            <a:r>
              <a:rPr lang="ca-ES" sz="1800" b="1" dirty="0"/>
              <a:t>Estructura seqüencial </a:t>
            </a:r>
          </a:p>
          <a:p>
            <a:pPr marL="800100" lvl="1" indent="-342900">
              <a:buFont typeface="+mj-lt"/>
              <a:buAutoNum type="arabicPeriod"/>
            </a:pPr>
            <a:r>
              <a:rPr lang="ca-ES" sz="1800" b="1" dirty="0"/>
              <a:t>Estructura alternativa </a:t>
            </a:r>
          </a:p>
          <a:p>
            <a:pPr marL="800100" lvl="1" indent="-342900">
              <a:buFont typeface="+mj-lt"/>
              <a:buAutoNum type="arabicPeriod"/>
            </a:pPr>
            <a:r>
              <a:rPr lang="ca-ES" sz="1800" b="1" dirty="0"/>
              <a:t>Estructura iterativa </a:t>
            </a:r>
            <a:endParaRPr lang="ca-ES" sz="1800" dirty="0"/>
          </a:p>
        </p:txBody>
      </p:sp>
    </p:spTree>
    <p:extLst>
      <p:ext uri="{BB962C8B-B14F-4D97-AF65-F5344CB8AC3E}">
        <p14:creationId xmlns:p14="http://schemas.microsoft.com/office/powerpoint/2010/main" val="433707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ca-ES" sz="4400" b="1" kern="1200" dirty="0">
                <a:solidFill>
                  <a:srgbClr val="002060"/>
                </a:solidFill>
                <a:latin typeface="+mj-lt"/>
                <a:ea typeface="+mj-ea"/>
                <a:cs typeface="+mj-cs"/>
              </a:rPr>
              <a:t>Estructura seqüencial </a:t>
            </a:r>
          </a:p>
        </p:txBody>
      </p:sp>
      <p:sp>
        <p:nvSpPr>
          <p:cNvPr id="3" name="Content Placeholder 2"/>
          <p:cNvSpPr>
            <a:spLocks noGrp="1"/>
          </p:cNvSpPr>
          <p:nvPr>
            <p:ph idx="1"/>
          </p:nvPr>
        </p:nvSpPr>
        <p:spPr/>
        <p:txBody>
          <a:bodyPr>
            <a:normAutofit/>
          </a:bodyPr>
          <a:lstStyle/>
          <a:p>
            <a:r>
              <a:rPr lang="ca-ES" sz="2000" dirty="0"/>
              <a:t>L’estructura seqüencial és la més bàsica de les tres, on es van executant les instruccions una darrera de l’altra.</a:t>
            </a:r>
          </a:p>
          <a:p>
            <a:r>
              <a:rPr lang="ca-ES" sz="2000" dirty="0"/>
              <a:t>Cal tenir en compte que un programa només executa una instrucció cada vegada. </a:t>
            </a:r>
          </a:p>
        </p:txBody>
      </p:sp>
      <p:sp>
        <p:nvSpPr>
          <p:cNvPr id="6" name="CuadroTexto 5">
            <a:extLst>
              <a:ext uri="{FF2B5EF4-FFF2-40B4-BE49-F238E27FC236}">
                <a16:creationId xmlns:a16="http://schemas.microsoft.com/office/drawing/2014/main" id="{139F2847-CF15-DE29-79B8-04ADEE99BEBD}"/>
              </a:ext>
            </a:extLst>
          </p:cNvPr>
          <p:cNvSpPr txBox="1"/>
          <p:nvPr/>
        </p:nvSpPr>
        <p:spPr>
          <a:xfrm>
            <a:off x="619124" y="2624991"/>
            <a:ext cx="4857751" cy="3293209"/>
          </a:xfrm>
          <a:prstGeom prst="rect">
            <a:avLst/>
          </a:prstGeom>
          <a:noFill/>
          <a:ln>
            <a:solidFill>
              <a:schemeClr val="tx1"/>
            </a:solidFill>
            <a:prstDash val="dash"/>
          </a:ln>
        </p:spPr>
        <p:txBody>
          <a:bodyPr wrap="square">
            <a:spAutoFit/>
          </a:bodyPr>
          <a:lstStyle/>
          <a:p>
            <a:r>
              <a:rPr lang="pt-BR" sz="1600" b="0" dirty="0" err="1">
                <a:solidFill>
                  <a:srgbClr val="0000FF"/>
                </a:solidFill>
                <a:effectLst/>
                <a:latin typeface="Consolas" panose="020B0609020204030204" pitchFamily="49" charset="0"/>
              </a:rPr>
              <a:t>int</a:t>
            </a:r>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main</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p>
          <a:p>
            <a:r>
              <a:rPr lang="pt-BR" sz="1600" b="0" dirty="0">
                <a:solidFill>
                  <a:srgbClr val="000000"/>
                </a:solidFill>
                <a:effectLst/>
                <a:latin typeface="Consolas" panose="020B0609020204030204" pitchFamily="49" charset="0"/>
              </a:rPr>
              <a:t>    </a:t>
            </a:r>
            <a:r>
              <a:rPr lang="pt-BR" sz="1600" b="0" dirty="0" err="1">
                <a:solidFill>
                  <a:srgbClr val="0000FF"/>
                </a:solidFill>
                <a:effectLst/>
                <a:latin typeface="Consolas" panose="020B0609020204030204" pitchFamily="49" charset="0"/>
              </a:rPr>
              <a:t>int</a:t>
            </a:r>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num,res</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printf</a:t>
            </a:r>
            <a:r>
              <a:rPr lang="pt-BR" sz="1600" b="0" dirty="0">
                <a:solidFill>
                  <a:srgbClr val="000000"/>
                </a:solidFill>
                <a:effectLst/>
                <a:latin typeface="Consolas" panose="020B0609020204030204" pitchFamily="49" charset="0"/>
              </a:rPr>
              <a:t>(</a:t>
            </a:r>
            <a:r>
              <a:rPr lang="pt-BR" sz="1600" b="0" dirty="0">
                <a:solidFill>
                  <a:srgbClr val="A31515"/>
                </a:solidFill>
                <a:effectLst/>
                <a:latin typeface="Consolas" panose="020B0609020204030204" pitchFamily="49" charset="0"/>
              </a:rPr>
              <a:t>"</a:t>
            </a:r>
            <a:r>
              <a:rPr lang="pt-BR" sz="1600" b="0" dirty="0" err="1">
                <a:solidFill>
                  <a:srgbClr val="A31515"/>
                </a:solidFill>
                <a:effectLst/>
                <a:latin typeface="Consolas" panose="020B0609020204030204" pitchFamily="49" charset="0"/>
              </a:rPr>
              <a:t>Introdueix</a:t>
            </a:r>
            <a:r>
              <a:rPr lang="pt-BR" sz="1600" b="0" dirty="0">
                <a:solidFill>
                  <a:srgbClr val="A31515"/>
                </a:solidFill>
                <a:effectLst/>
                <a:latin typeface="Consolas" panose="020B0609020204030204" pitchFamily="49" charset="0"/>
              </a:rPr>
              <a:t> </a:t>
            </a:r>
            <a:r>
              <a:rPr lang="pt-BR" sz="1600" b="0" dirty="0" err="1">
                <a:solidFill>
                  <a:srgbClr val="A31515"/>
                </a:solidFill>
                <a:effectLst/>
                <a:latin typeface="Consolas" panose="020B0609020204030204" pitchFamily="49" charset="0"/>
              </a:rPr>
              <a:t>el</a:t>
            </a:r>
            <a:r>
              <a:rPr lang="pt-BR" sz="1600" b="0" dirty="0">
                <a:solidFill>
                  <a:srgbClr val="A31515"/>
                </a:solidFill>
                <a:effectLst/>
                <a:latin typeface="Consolas" panose="020B0609020204030204" pitchFamily="49" charset="0"/>
              </a:rPr>
              <a:t> numero: "</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scanf</a:t>
            </a:r>
            <a:r>
              <a:rPr lang="pt-BR" sz="1600" b="0" dirty="0">
                <a:solidFill>
                  <a:srgbClr val="000000"/>
                </a:solidFill>
                <a:effectLst/>
                <a:latin typeface="Consolas" panose="020B0609020204030204" pitchFamily="49" charset="0"/>
              </a:rPr>
              <a:t>(</a:t>
            </a:r>
            <a:r>
              <a:rPr lang="pt-BR" sz="1600" b="0" dirty="0">
                <a:solidFill>
                  <a:srgbClr val="A31515"/>
                </a:solidFill>
                <a:effectLst/>
                <a:latin typeface="Consolas" panose="020B0609020204030204" pitchFamily="49" charset="0"/>
              </a:rPr>
              <a:t>"%</a:t>
            </a:r>
            <a:r>
              <a:rPr lang="pt-BR" sz="1600" b="0" dirty="0" err="1">
                <a:solidFill>
                  <a:srgbClr val="A31515"/>
                </a:solidFill>
                <a:effectLst/>
                <a:latin typeface="Consolas" panose="020B0609020204030204" pitchFamily="49" charset="0"/>
              </a:rPr>
              <a:t>d"</a:t>
            </a:r>
            <a:r>
              <a:rPr lang="pt-BR" sz="1600" b="0" dirty="0" err="1">
                <a:solidFill>
                  <a:srgbClr val="000000"/>
                </a:solidFill>
                <a:effectLst/>
                <a:latin typeface="Consolas" panose="020B0609020204030204" pitchFamily="49" charset="0"/>
              </a:rPr>
              <a:t>,&amp;num</a:t>
            </a:r>
            <a:r>
              <a:rPr lang="pt-BR" sz="1600" b="0" dirty="0">
                <a:solidFill>
                  <a:srgbClr val="000000"/>
                </a:solidFill>
                <a:effectLst/>
                <a:latin typeface="Consolas" panose="020B0609020204030204" pitchFamily="49" charset="0"/>
              </a:rPr>
              <a:t>);</a:t>
            </a:r>
          </a:p>
          <a:p>
            <a:br>
              <a:rPr lang="pt-BR" sz="1600" b="0" dirty="0">
                <a:solidFill>
                  <a:srgbClr val="000000"/>
                </a:solidFill>
                <a:effectLst/>
                <a:latin typeface="Consolas" panose="020B0609020204030204" pitchFamily="49" charset="0"/>
              </a:rPr>
            </a:br>
            <a:r>
              <a:rPr lang="pt-BR" sz="1600" b="0" dirty="0">
                <a:solidFill>
                  <a:srgbClr val="000000"/>
                </a:solidFill>
                <a:effectLst/>
                <a:latin typeface="Consolas" panose="020B0609020204030204" pitchFamily="49" charset="0"/>
              </a:rPr>
              <a:t>    res=num*</a:t>
            </a:r>
            <a:r>
              <a:rPr lang="pt-BR" sz="1600" b="0" dirty="0">
                <a:solidFill>
                  <a:srgbClr val="098658"/>
                </a:solidFill>
                <a:effectLst/>
                <a:latin typeface="Consolas" panose="020B0609020204030204" pitchFamily="49" charset="0"/>
              </a:rPr>
              <a:t>10</a:t>
            </a:r>
            <a:r>
              <a:rPr lang="pt-BR" sz="1600" b="0" dirty="0">
                <a:solidFill>
                  <a:srgbClr val="000000"/>
                </a:solidFill>
                <a:effectLst/>
                <a:latin typeface="Consolas" panose="020B0609020204030204" pitchFamily="49" charset="0"/>
              </a:rPr>
              <a:t>;</a:t>
            </a:r>
          </a:p>
          <a:p>
            <a:br>
              <a:rPr lang="pt-BR" sz="1600" b="0" dirty="0">
                <a:solidFill>
                  <a:srgbClr val="000000"/>
                </a:solidFill>
                <a:effectLst/>
                <a:latin typeface="Consolas" panose="020B0609020204030204" pitchFamily="49" charset="0"/>
              </a:rPr>
            </a:br>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printf</a:t>
            </a:r>
            <a:r>
              <a:rPr lang="pt-BR" sz="1600" b="0" dirty="0">
                <a:solidFill>
                  <a:srgbClr val="000000"/>
                </a:solidFill>
                <a:effectLst/>
                <a:latin typeface="Consolas" panose="020B0609020204030204" pitchFamily="49" charset="0"/>
              </a:rPr>
              <a:t>(</a:t>
            </a:r>
            <a:r>
              <a:rPr lang="pt-BR" sz="1600" b="0" dirty="0">
                <a:solidFill>
                  <a:srgbClr val="A31515"/>
                </a:solidFill>
                <a:effectLst/>
                <a:latin typeface="Consolas" panose="020B0609020204030204" pitchFamily="49" charset="0"/>
              </a:rPr>
              <a:t>"\</a:t>
            </a:r>
            <a:r>
              <a:rPr lang="pt-BR" sz="1600" b="0" dirty="0" err="1">
                <a:solidFill>
                  <a:srgbClr val="A31515"/>
                </a:solidFill>
                <a:effectLst/>
                <a:latin typeface="Consolas" panose="020B0609020204030204" pitchFamily="49" charset="0"/>
              </a:rPr>
              <a:t>nEl</a:t>
            </a:r>
            <a:r>
              <a:rPr lang="pt-BR" sz="1600" b="0" dirty="0">
                <a:solidFill>
                  <a:srgbClr val="A31515"/>
                </a:solidFill>
                <a:effectLst/>
                <a:latin typeface="Consolas" panose="020B0609020204030204" pitchFamily="49" charset="0"/>
              </a:rPr>
              <a:t> numero final es %</a:t>
            </a:r>
            <a:r>
              <a:rPr lang="pt-BR" sz="1600" b="0" dirty="0" err="1">
                <a:solidFill>
                  <a:srgbClr val="A31515"/>
                </a:solidFill>
                <a:effectLst/>
                <a:latin typeface="Consolas" panose="020B0609020204030204" pitchFamily="49" charset="0"/>
              </a:rPr>
              <a:t>d"</a:t>
            </a:r>
            <a:r>
              <a:rPr lang="pt-BR" sz="1600" b="0" dirty="0" err="1">
                <a:solidFill>
                  <a:srgbClr val="000000"/>
                </a:solidFill>
                <a:effectLst/>
                <a:latin typeface="Consolas" panose="020B0609020204030204" pitchFamily="49" charset="0"/>
              </a:rPr>
              <a:t>,res</a:t>
            </a:r>
            <a:r>
              <a:rPr lang="pt-BR" sz="1600" b="0" dirty="0">
                <a:solidFill>
                  <a:srgbClr val="000000"/>
                </a:solidFill>
                <a:effectLst/>
                <a:latin typeface="Consolas" panose="020B0609020204030204" pitchFamily="49" charset="0"/>
              </a:rPr>
              <a:t>);</a:t>
            </a:r>
          </a:p>
          <a:p>
            <a:br>
              <a:rPr lang="pt-BR" sz="1600" b="0" dirty="0">
                <a:solidFill>
                  <a:srgbClr val="000000"/>
                </a:solidFill>
                <a:effectLst/>
                <a:latin typeface="Consolas" panose="020B0609020204030204" pitchFamily="49" charset="0"/>
              </a:rPr>
            </a:br>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acabament</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FF"/>
                </a:solidFill>
                <a:effectLst/>
                <a:latin typeface="Consolas" panose="020B0609020204030204" pitchFamily="49" charset="0"/>
              </a:rPr>
              <a:t>return</a:t>
            </a:r>
            <a:r>
              <a:rPr lang="pt-BR" sz="1600" b="0" dirty="0">
                <a:solidFill>
                  <a:srgbClr val="000000"/>
                </a:solidFill>
                <a:effectLst/>
                <a:latin typeface="Consolas" panose="020B0609020204030204" pitchFamily="49" charset="0"/>
              </a:rPr>
              <a:t> </a:t>
            </a:r>
            <a:r>
              <a:rPr lang="pt-BR" sz="1600" b="0" dirty="0">
                <a:solidFill>
                  <a:srgbClr val="098658"/>
                </a:solidFill>
                <a:effectLst/>
                <a:latin typeface="Consolas" panose="020B0609020204030204" pitchFamily="49" charset="0"/>
              </a:rPr>
              <a:t>0</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617223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es-ES" sz="4400" b="1" kern="1200" dirty="0" err="1">
                <a:solidFill>
                  <a:srgbClr val="002060"/>
                </a:solidFill>
                <a:latin typeface="+mj-lt"/>
                <a:ea typeface="+mj-ea"/>
                <a:cs typeface="+mj-cs"/>
              </a:rPr>
              <a:t>Exercicis</a:t>
            </a:r>
            <a:endParaRPr lang="ca-ES" sz="4400" b="1" kern="1200" dirty="0">
              <a:solidFill>
                <a:srgbClr val="002060"/>
              </a:solidFill>
              <a:latin typeface="+mj-lt"/>
              <a:ea typeface="+mj-ea"/>
              <a:cs typeface="+mj-cs"/>
            </a:endParaRP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s-ES" dirty="0" err="1"/>
              <a:t>Fer</a:t>
            </a:r>
            <a:r>
              <a:rPr lang="es-ES" dirty="0"/>
              <a:t> un programa que </a:t>
            </a:r>
            <a:r>
              <a:rPr lang="es-ES" dirty="0" err="1"/>
              <a:t>demani</a:t>
            </a:r>
            <a:r>
              <a:rPr lang="es-ES" dirty="0"/>
              <a:t> dos nombres </a:t>
            </a:r>
            <a:r>
              <a:rPr lang="es-ES" dirty="0" err="1"/>
              <a:t>enters</a:t>
            </a:r>
            <a:r>
              <a:rPr lang="es-ES" dirty="0"/>
              <a:t> a </a:t>
            </a:r>
            <a:r>
              <a:rPr lang="es-ES" dirty="0" err="1"/>
              <a:t>l’usuari</a:t>
            </a:r>
            <a:r>
              <a:rPr lang="es-ES" dirty="0"/>
              <a:t> i </a:t>
            </a:r>
            <a:r>
              <a:rPr lang="es-ES" dirty="0" err="1"/>
              <a:t>mostri</a:t>
            </a:r>
            <a:r>
              <a:rPr lang="es-ES" dirty="0"/>
              <a:t> per pantalla la </a:t>
            </a:r>
            <a:r>
              <a:rPr lang="es-ES" dirty="0" err="1"/>
              <a:t>seva</a:t>
            </a:r>
            <a:r>
              <a:rPr lang="es-ES" dirty="0"/>
              <a:t> suma.</a:t>
            </a:r>
          </a:p>
          <a:p>
            <a:pPr marL="457200" indent="-457200">
              <a:buFont typeface="+mj-lt"/>
              <a:buAutoNum type="arabicPeriod"/>
            </a:pPr>
            <a:r>
              <a:rPr lang="es-ES" dirty="0" err="1"/>
              <a:t>Fer</a:t>
            </a:r>
            <a:r>
              <a:rPr lang="es-ES" dirty="0"/>
              <a:t> un programa que </a:t>
            </a:r>
            <a:r>
              <a:rPr lang="es-ES" dirty="0" err="1"/>
              <a:t>demani</a:t>
            </a:r>
            <a:r>
              <a:rPr lang="es-ES" dirty="0"/>
              <a:t> dos nombres </a:t>
            </a:r>
            <a:r>
              <a:rPr lang="es-ES" dirty="0" err="1"/>
              <a:t>enters</a:t>
            </a:r>
            <a:r>
              <a:rPr lang="es-ES" dirty="0"/>
              <a:t> a </a:t>
            </a:r>
            <a:r>
              <a:rPr lang="es-ES" dirty="0" err="1"/>
              <a:t>l’usuari</a:t>
            </a:r>
            <a:r>
              <a:rPr lang="es-ES" dirty="0"/>
              <a:t> i </a:t>
            </a:r>
            <a:r>
              <a:rPr lang="es-ES" dirty="0" err="1"/>
              <a:t>mostri</a:t>
            </a:r>
            <a:r>
              <a:rPr lang="es-ES" dirty="0"/>
              <a:t> per pantalla la </a:t>
            </a:r>
            <a:r>
              <a:rPr lang="es-ES" dirty="0" err="1"/>
              <a:t>seva</a:t>
            </a:r>
            <a:r>
              <a:rPr lang="es-ES" dirty="0"/>
              <a:t> suma, resta, </a:t>
            </a:r>
            <a:r>
              <a:rPr lang="es-ES" dirty="0" err="1"/>
              <a:t>multiplicació</a:t>
            </a:r>
            <a:r>
              <a:rPr lang="es-ES" dirty="0"/>
              <a:t> i </a:t>
            </a:r>
            <a:r>
              <a:rPr lang="es-ES" dirty="0" err="1"/>
              <a:t>divisió</a:t>
            </a:r>
            <a:r>
              <a:rPr lang="es-ES" dirty="0"/>
              <a:t> </a:t>
            </a:r>
            <a:r>
              <a:rPr lang="es-ES" dirty="0" err="1"/>
              <a:t>sencera</a:t>
            </a:r>
            <a:endParaRPr lang="es-ES" dirty="0"/>
          </a:p>
          <a:p>
            <a:pPr marL="457200" indent="-457200">
              <a:buFont typeface="+mj-lt"/>
              <a:buAutoNum type="arabicPeriod"/>
            </a:pPr>
            <a:r>
              <a:rPr lang="es-ES" dirty="0" err="1"/>
              <a:t>Dissenya</a:t>
            </a:r>
            <a:r>
              <a:rPr lang="es-ES" dirty="0"/>
              <a:t> un </a:t>
            </a:r>
            <a:r>
              <a:rPr lang="es-ES" dirty="0" err="1"/>
              <a:t>algorisme</a:t>
            </a:r>
            <a:r>
              <a:rPr lang="es-ES" dirty="0"/>
              <a:t> que </a:t>
            </a:r>
            <a:r>
              <a:rPr lang="es-ES" dirty="0" err="1"/>
              <a:t>intercanviï</a:t>
            </a:r>
            <a:r>
              <a:rPr lang="es-ES" dirty="0"/>
              <a:t> el valor de </a:t>
            </a:r>
            <a:r>
              <a:rPr lang="es-ES" dirty="0" err="1"/>
              <a:t>dues</a:t>
            </a:r>
            <a:r>
              <a:rPr lang="es-ES" dirty="0"/>
              <a:t> variables </a:t>
            </a:r>
            <a:r>
              <a:rPr lang="es-ES" dirty="0" err="1"/>
              <a:t>introduïdes</a:t>
            </a:r>
            <a:r>
              <a:rPr lang="es-ES" dirty="0"/>
              <a:t> </a:t>
            </a:r>
            <a:r>
              <a:rPr lang="es-ES" dirty="0" err="1"/>
              <a:t>pel</a:t>
            </a:r>
            <a:r>
              <a:rPr lang="es-ES" dirty="0"/>
              <a:t> </a:t>
            </a:r>
            <a:r>
              <a:rPr lang="es-ES" dirty="0" err="1"/>
              <a:t>teclat</a:t>
            </a:r>
            <a:r>
              <a:rPr lang="es-ES" dirty="0"/>
              <a:t>. No </a:t>
            </a:r>
            <a:r>
              <a:rPr lang="es-ES" dirty="0" err="1"/>
              <a:t>s’ha</a:t>
            </a:r>
            <a:r>
              <a:rPr lang="es-ES" dirty="0"/>
              <a:t> </a:t>
            </a:r>
            <a:r>
              <a:rPr lang="es-ES" dirty="0" err="1"/>
              <a:t>d’imprimir</a:t>
            </a:r>
            <a:r>
              <a:rPr lang="es-ES" dirty="0"/>
              <a:t> les </a:t>
            </a:r>
            <a:r>
              <a:rPr lang="es-ES" dirty="0" err="1"/>
              <a:t>dues</a:t>
            </a:r>
            <a:r>
              <a:rPr lang="es-ES" dirty="0"/>
              <a:t> al revés, sino que ha </a:t>
            </a:r>
            <a:r>
              <a:rPr lang="es-ES" dirty="0" err="1"/>
              <a:t>d’intercanviar</a:t>
            </a:r>
            <a:r>
              <a:rPr lang="es-ES" dirty="0"/>
              <a:t> el </a:t>
            </a:r>
            <a:r>
              <a:rPr lang="es-ES" dirty="0" err="1"/>
              <a:t>seu</a:t>
            </a:r>
            <a:r>
              <a:rPr lang="es-ES" dirty="0"/>
              <a:t> valor.</a:t>
            </a:r>
            <a:endParaRPr lang="ca-ES" dirty="0"/>
          </a:p>
          <a:p>
            <a:pPr marL="0" indent="0">
              <a:buNone/>
            </a:pPr>
            <a:endParaRPr lang="es-ES" sz="2000" dirty="0"/>
          </a:p>
          <a:p>
            <a:pPr marL="457200" indent="-457200">
              <a:buFont typeface="+mj-lt"/>
              <a:buAutoNum type="arabicPeriod"/>
            </a:pPr>
            <a:endParaRPr lang="es-ES" sz="2000" dirty="0"/>
          </a:p>
        </p:txBody>
      </p:sp>
    </p:spTree>
    <p:extLst>
      <p:ext uri="{BB962C8B-B14F-4D97-AF65-F5344CB8AC3E}">
        <p14:creationId xmlns:p14="http://schemas.microsoft.com/office/powerpoint/2010/main" val="883611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38908F-1D0D-A7F2-79ED-06BBE9623AAC}"/>
              </a:ext>
            </a:extLst>
          </p:cNvPr>
          <p:cNvSpPr>
            <a:spLocks noGrp="1"/>
          </p:cNvSpPr>
          <p:nvPr>
            <p:ph type="ctrTitle"/>
          </p:nvPr>
        </p:nvSpPr>
        <p:spPr/>
        <p:txBody>
          <a:bodyPr/>
          <a:lstStyle/>
          <a:p>
            <a:r>
              <a:rPr lang="es-ES" dirty="0"/>
              <a:t>ESTRUCTURA ALTERNATIVA</a:t>
            </a:r>
          </a:p>
        </p:txBody>
      </p:sp>
    </p:spTree>
    <p:extLst>
      <p:ext uri="{BB962C8B-B14F-4D97-AF65-F5344CB8AC3E}">
        <p14:creationId xmlns:p14="http://schemas.microsoft.com/office/powerpoint/2010/main" val="4181010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ca-ES" sz="4400" b="1" kern="1200" dirty="0">
                <a:solidFill>
                  <a:srgbClr val="002060"/>
                </a:solidFill>
                <a:latin typeface="+mj-lt"/>
                <a:ea typeface="+mj-ea"/>
                <a:cs typeface="+mj-cs"/>
              </a:rPr>
              <a:t>Estructura alternativa </a:t>
            </a:r>
          </a:p>
        </p:txBody>
      </p:sp>
      <p:sp>
        <p:nvSpPr>
          <p:cNvPr id="3" name="Content Placeholder 2"/>
          <p:cNvSpPr>
            <a:spLocks noGrp="1"/>
          </p:cNvSpPr>
          <p:nvPr>
            <p:ph idx="1"/>
          </p:nvPr>
        </p:nvSpPr>
        <p:spPr>
          <a:xfrm>
            <a:off x="361950" y="787400"/>
            <a:ext cx="8534401" cy="5772930"/>
          </a:xfrm>
        </p:spPr>
        <p:txBody>
          <a:bodyPr>
            <a:normAutofit/>
          </a:bodyPr>
          <a:lstStyle/>
          <a:p>
            <a:r>
              <a:rPr lang="ca-ES" sz="2000" dirty="0"/>
              <a:t>L’estructura alternativa serveix per alterar l’orde establert per l’estructura seqüencial. En un programa pot ser interessa fer unes accions o unes altres depenent del valor d’una variable. </a:t>
            </a:r>
          </a:p>
          <a:p>
            <a:pPr lvl="1">
              <a:spcBef>
                <a:spcPts val="600"/>
              </a:spcBef>
            </a:pPr>
            <a:r>
              <a:rPr lang="ca-ES" sz="1600" dirty="0"/>
              <a:t>Per exemple, quan arribem a un semàfor, depenent del color del semàfor, farem una cosa o una altra. En cas que estigui en “verd” passarem; en cas que estigui en color “groc” passarem ràpidament i en el cas que estigui en color “vermell” ens haurem d’aturar.</a:t>
            </a:r>
            <a:endParaRPr lang="es-ES" sz="1400" dirty="0"/>
          </a:p>
        </p:txBody>
      </p:sp>
      <p:sp>
        <p:nvSpPr>
          <p:cNvPr id="5" name="TextBox 4">
            <a:extLst>
              <a:ext uri="{FF2B5EF4-FFF2-40B4-BE49-F238E27FC236}">
                <a16:creationId xmlns:a16="http://schemas.microsoft.com/office/drawing/2014/main" id="{8BBFAACB-97CB-43B7-9911-C37924A7778D}"/>
              </a:ext>
            </a:extLst>
          </p:cNvPr>
          <p:cNvSpPr txBox="1"/>
          <p:nvPr/>
        </p:nvSpPr>
        <p:spPr>
          <a:xfrm>
            <a:off x="1103855" y="3254416"/>
            <a:ext cx="4390572" cy="1631216"/>
          </a:xfrm>
          <a:prstGeom prst="rect">
            <a:avLst/>
          </a:prstGeom>
          <a:solidFill>
            <a:schemeClr val="accent6">
              <a:lumMod val="20000"/>
              <a:lumOff val="80000"/>
            </a:schemeClr>
          </a:solidFill>
        </p:spPr>
        <p:txBody>
          <a:bodyPr wrap="square" rtlCol="0">
            <a:spAutoFit/>
          </a:bodyPr>
          <a:lstStyle/>
          <a:p>
            <a:r>
              <a:rPr lang="es-ES" sz="2000" dirty="0"/>
              <a:t>Si </a:t>
            </a:r>
            <a:r>
              <a:rPr lang="es-ES" sz="2000" dirty="0" err="1"/>
              <a:t>expresion_logica</a:t>
            </a:r>
            <a:r>
              <a:rPr lang="es-ES" sz="2000" dirty="0"/>
              <a:t> </a:t>
            </a:r>
            <a:r>
              <a:rPr lang="es-ES" sz="2000" dirty="0" err="1"/>
              <a:t>llavors</a:t>
            </a:r>
            <a:endParaRPr lang="es-ES" sz="2000" dirty="0"/>
          </a:p>
          <a:p>
            <a:r>
              <a:rPr lang="es-ES" sz="2000" dirty="0"/>
              <a:t>	</a:t>
            </a:r>
            <a:r>
              <a:rPr lang="es-ES" sz="2000" dirty="0" err="1"/>
              <a:t>acciones_por_verdadero</a:t>
            </a:r>
            <a:endParaRPr lang="es-ES" sz="2000" dirty="0"/>
          </a:p>
          <a:p>
            <a:r>
              <a:rPr lang="es-ES" sz="2000" dirty="0" err="1"/>
              <a:t>SiNo</a:t>
            </a:r>
            <a:endParaRPr lang="es-ES" sz="2000" dirty="0"/>
          </a:p>
          <a:p>
            <a:r>
              <a:rPr lang="es-ES" sz="2000" dirty="0"/>
              <a:t>	</a:t>
            </a:r>
            <a:r>
              <a:rPr lang="es-ES" sz="2000" dirty="0" err="1"/>
              <a:t>acciones_por_falso</a:t>
            </a:r>
            <a:endParaRPr lang="es-ES" sz="2000" dirty="0"/>
          </a:p>
          <a:p>
            <a:r>
              <a:rPr lang="es-ES" sz="2000" dirty="0"/>
              <a:t>Fin Si</a:t>
            </a:r>
            <a:endParaRPr lang="ca-E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17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ca-ES" sz="4400" b="1" kern="1200" dirty="0">
                <a:solidFill>
                  <a:srgbClr val="002060"/>
                </a:solidFill>
                <a:latin typeface="+mj-lt"/>
                <a:ea typeface="+mj-ea"/>
                <a:cs typeface="+mj-cs"/>
              </a:rPr>
              <a:t>Estructura alternativa </a:t>
            </a:r>
          </a:p>
        </p:txBody>
      </p:sp>
      <p:sp>
        <p:nvSpPr>
          <p:cNvPr id="3" name="Content Placeholder 2"/>
          <p:cNvSpPr>
            <a:spLocks noGrp="1"/>
          </p:cNvSpPr>
          <p:nvPr>
            <p:ph idx="1"/>
          </p:nvPr>
        </p:nvSpPr>
        <p:spPr>
          <a:xfrm>
            <a:off x="369331" y="787400"/>
            <a:ext cx="8534401" cy="5772930"/>
          </a:xfrm>
        </p:spPr>
        <p:txBody>
          <a:bodyPr>
            <a:normAutofit/>
          </a:bodyPr>
          <a:lstStyle/>
          <a:p>
            <a:r>
              <a:rPr lang="ca-ES" sz="1600" dirty="0"/>
              <a:t>En el cas que es compleixi la condició lògica, el programa executarà les “instruccions cert”, </a:t>
            </a:r>
            <a:r>
              <a:rPr lang="ca-ES" sz="1600" b="1" dirty="0"/>
              <a:t>i no farà cap de les “instruccions fals”</a:t>
            </a:r>
            <a:r>
              <a:rPr lang="ca-ES" sz="1600" dirty="0"/>
              <a:t>. Si pel contrari, la condició lògica és falsa, l’execució del programa continuarà per les “instruccions fals”, </a:t>
            </a:r>
            <a:r>
              <a:rPr lang="ca-ES" sz="1600" b="1" dirty="0"/>
              <a:t>i no farà cap de les “instruccions cert”. </a:t>
            </a:r>
          </a:p>
          <a:p>
            <a:r>
              <a:rPr lang="ca-ES" sz="1600" dirty="0"/>
              <a:t>Es diu que les dues opcions de l’estructura SI són </a:t>
            </a:r>
            <a:r>
              <a:rPr lang="ca-ES" sz="1600" dirty="0">
                <a:highlight>
                  <a:srgbClr val="FFFF00"/>
                </a:highlight>
              </a:rPr>
              <a:t>mútuament excloents </a:t>
            </a:r>
            <a:endParaRPr lang="es-ES" sz="1600" dirty="0">
              <a:highlight>
                <a:srgbClr val="FFFF00"/>
              </a:highlight>
            </a:endParaRPr>
          </a:p>
        </p:txBody>
      </p:sp>
      <p:pic>
        <p:nvPicPr>
          <p:cNvPr id="5" name="Imagen 4">
            <a:extLst>
              <a:ext uri="{FF2B5EF4-FFF2-40B4-BE49-F238E27FC236}">
                <a16:creationId xmlns:a16="http://schemas.microsoft.com/office/drawing/2014/main" id="{FE70778C-5B0F-4F60-8563-2BCB500883A9}"/>
              </a:ext>
            </a:extLst>
          </p:cNvPr>
          <p:cNvPicPr>
            <a:picLocks noChangeAspect="1"/>
          </p:cNvPicPr>
          <p:nvPr/>
        </p:nvPicPr>
        <p:blipFill>
          <a:blip r:embed="rId2"/>
          <a:stretch>
            <a:fillRect/>
          </a:stretch>
        </p:blipFill>
        <p:spPr>
          <a:xfrm>
            <a:off x="5198580" y="2406289"/>
            <a:ext cx="3594311" cy="2872268"/>
          </a:xfrm>
          <a:prstGeom prst="rect">
            <a:avLst/>
          </a:prstGeom>
          <a:ln>
            <a:solidFill>
              <a:schemeClr val="tx1"/>
            </a:solidFill>
            <a:prstDash val="lgDash"/>
          </a:ln>
        </p:spPr>
      </p:pic>
      <p:sp>
        <p:nvSpPr>
          <p:cNvPr id="8" name="CuadroTexto 7">
            <a:extLst>
              <a:ext uri="{FF2B5EF4-FFF2-40B4-BE49-F238E27FC236}">
                <a16:creationId xmlns:a16="http://schemas.microsoft.com/office/drawing/2014/main" id="{3998FC83-6523-8A67-2447-A3AB28F961AB}"/>
              </a:ext>
            </a:extLst>
          </p:cNvPr>
          <p:cNvSpPr txBox="1"/>
          <p:nvPr/>
        </p:nvSpPr>
        <p:spPr>
          <a:xfrm>
            <a:off x="461951" y="2406289"/>
            <a:ext cx="4625788" cy="3970318"/>
          </a:xfrm>
          <a:prstGeom prst="rect">
            <a:avLst/>
          </a:prstGeom>
          <a:noFill/>
          <a:ln>
            <a:solidFill>
              <a:schemeClr val="tx1"/>
            </a:solidFill>
            <a:prstDash val="dash"/>
          </a:ln>
        </p:spPr>
        <p:txBody>
          <a:bodyPr wrap="square">
            <a:spAutoFit/>
          </a:bodyPr>
          <a:lstStyle/>
          <a:p>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main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srand</a:t>
            </a:r>
            <a:r>
              <a:rPr lang="es-ES" sz="1400" b="0" dirty="0">
                <a:solidFill>
                  <a:srgbClr val="000000"/>
                </a:solidFill>
                <a:effectLst/>
                <a:latin typeface="Consolas" panose="020B0609020204030204" pitchFamily="49" charset="0"/>
              </a:rPr>
              <a:t>(time(</a:t>
            </a:r>
            <a:r>
              <a:rPr lang="es-ES" sz="1400" b="0" dirty="0">
                <a:solidFill>
                  <a:srgbClr val="0000FF"/>
                </a:solidFill>
                <a:effectLst/>
                <a:latin typeface="Consolas" panose="020B0609020204030204" pitchFamily="49" charset="0"/>
              </a:rPr>
              <a:t>NULL</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nIntrodueix</a:t>
            </a:r>
            <a:r>
              <a:rPr lang="es-ES" sz="1400" b="0" dirty="0">
                <a:solidFill>
                  <a:srgbClr val="A31515"/>
                </a:solidFill>
                <a:effectLst/>
                <a:latin typeface="Consolas" panose="020B0609020204030204" pitchFamily="49" charset="0"/>
              </a:rPr>
              <a:t> un numero: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d"</a:t>
            </a:r>
            <a:r>
              <a:rPr lang="es-ES" sz="1400" b="0" dirty="0" err="1">
                <a:solidFill>
                  <a:srgbClr val="000000"/>
                </a:solidFill>
                <a:effectLst/>
                <a:latin typeface="Consolas" panose="020B0609020204030204" pitchFamily="49" charset="0"/>
              </a:rPr>
              <a:t>,&amp;a</a:t>
            </a:r>
            <a:r>
              <a:rPr lang="es-ES" sz="1400" b="0" dirty="0">
                <a:solidFill>
                  <a:srgbClr val="000000"/>
                </a:solidFill>
                <a:effectLst/>
                <a:latin typeface="Consolas" panose="020B0609020204030204" pitchFamily="49" charset="0"/>
              </a:rPr>
              <a:t>);</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if</a:t>
            </a:r>
            <a:r>
              <a:rPr lang="es-ES" sz="1400" b="0" dirty="0">
                <a:solidFill>
                  <a:srgbClr val="000000"/>
                </a:solidFill>
                <a:effectLst/>
                <a:latin typeface="Consolas" panose="020B0609020204030204" pitchFamily="49" charset="0"/>
              </a:rPr>
              <a:t> (a&lt;</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nNumero</a:t>
            </a:r>
            <a:r>
              <a:rPr lang="es-ES" sz="1400" b="0" dirty="0">
                <a:solidFill>
                  <a:srgbClr val="A31515"/>
                </a:solidFill>
                <a:effectLst/>
                <a:latin typeface="Consolas" panose="020B0609020204030204" pitchFamily="49" charset="0"/>
              </a:rPr>
              <a:t> </a:t>
            </a:r>
            <a:r>
              <a:rPr lang="es-ES" sz="1400" b="0" dirty="0" err="1">
                <a:solidFill>
                  <a:srgbClr val="A31515"/>
                </a:solidFill>
                <a:effectLst/>
                <a:latin typeface="Consolas" panose="020B0609020204030204" pitchFamily="49" charset="0"/>
              </a:rPr>
              <a:t>negatiu</a:t>
            </a:r>
            <a:r>
              <a:rPr lang="es-ES" sz="1400" b="0" dirty="0">
                <a:solidFill>
                  <a:srgbClr val="A31515"/>
                </a:solidFill>
                <a:effectLst/>
                <a:latin typeface="Consolas" panose="020B0609020204030204" pitchFamily="49" charset="0"/>
              </a:rPr>
              <a: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else</a:t>
            </a:r>
            <a:endParaRPr lang="es-ES" sz="1400" b="0" dirty="0">
              <a:solidFill>
                <a:srgbClr val="000000"/>
              </a:solidFill>
              <a:effectLst/>
              <a:latin typeface="Consolas" panose="020B0609020204030204" pitchFamily="49" charset="0"/>
            </a:endParaRP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nNumero</a:t>
            </a:r>
            <a:r>
              <a:rPr lang="es-ES" sz="1400" b="0" dirty="0">
                <a:solidFill>
                  <a:srgbClr val="A31515"/>
                </a:solidFill>
                <a:effectLst/>
                <a:latin typeface="Consolas" panose="020B0609020204030204" pitchFamily="49" charset="0"/>
              </a:rPr>
              <a:t> </a:t>
            </a:r>
            <a:r>
              <a:rPr lang="es-ES" sz="1400" b="0" dirty="0" err="1">
                <a:solidFill>
                  <a:srgbClr val="A31515"/>
                </a:solidFill>
                <a:effectLst/>
                <a:latin typeface="Consolas" panose="020B0609020204030204" pitchFamily="49" charset="0"/>
              </a:rPr>
              <a:t>positiu</a:t>
            </a:r>
            <a:r>
              <a:rPr lang="es-ES" sz="1400" b="0" dirty="0">
                <a:solidFill>
                  <a:srgbClr val="A31515"/>
                </a:solidFill>
                <a:effectLst/>
                <a:latin typeface="Consolas" panose="020B0609020204030204" pitchFamily="49" charset="0"/>
              </a:rPr>
              <a: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acabament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return</a:t>
            </a:r>
            <a:r>
              <a:rPr lang="es-ES" sz="1400" b="0" dirty="0">
                <a:solidFill>
                  <a:srgbClr val="000000"/>
                </a:solidFill>
                <a:effectLst/>
                <a:latin typeface="Consolas" panose="020B0609020204030204" pitchFamily="49" charset="0"/>
              </a:rPr>
              <a:t> </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64227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ca-ES" sz="4400" b="1" kern="1200" dirty="0">
                <a:solidFill>
                  <a:srgbClr val="002060"/>
                </a:solidFill>
                <a:latin typeface="+mj-lt"/>
                <a:ea typeface="+mj-ea"/>
                <a:cs typeface="+mj-cs"/>
              </a:rPr>
              <a:t>Exercici Divisió</a:t>
            </a:r>
          </a:p>
        </p:txBody>
      </p:sp>
      <p:sp>
        <p:nvSpPr>
          <p:cNvPr id="3" name="Content Placeholder 2"/>
          <p:cNvSpPr>
            <a:spLocks noGrp="1"/>
          </p:cNvSpPr>
          <p:nvPr>
            <p:ph idx="1"/>
          </p:nvPr>
        </p:nvSpPr>
        <p:spPr/>
        <p:txBody>
          <a:bodyPr>
            <a:normAutofit/>
          </a:bodyPr>
          <a:lstStyle/>
          <a:p>
            <a:pPr>
              <a:spcBef>
                <a:spcPts val="600"/>
              </a:spcBef>
            </a:pPr>
            <a:r>
              <a:rPr lang="ca-ES" sz="1600" dirty="0"/>
              <a:t>Fer un programa que demani dos nombres i ens mostri per pantalla el resultat de la seva divisió. En cas que el divisor sigui 0, ens mostrarà un missatge de que no es pot dividir entre 0.</a:t>
            </a:r>
          </a:p>
        </p:txBody>
      </p:sp>
    </p:spTree>
    <p:extLst>
      <p:ext uri="{BB962C8B-B14F-4D97-AF65-F5344CB8AC3E}">
        <p14:creationId xmlns:p14="http://schemas.microsoft.com/office/powerpoint/2010/main" val="19569690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r>
              <a:rPr lang="ca-ES" sz="4400" b="1" kern="1200" dirty="0">
                <a:solidFill>
                  <a:srgbClr val="002060"/>
                </a:solidFill>
                <a:latin typeface="+mj-lt"/>
                <a:ea typeface="+mj-ea"/>
                <a:cs typeface="+mj-cs"/>
              </a:rPr>
              <a:t>Estructura alternativa </a:t>
            </a:r>
          </a:p>
        </p:txBody>
      </p:sp>
      <p:sp>
        <p:nvSpPr>
          <p:cNvPr id="3" name="Marcador de contenido 2">
            <a:extLst>
              <a:ext uri="{FF2B5EF4-FFF2-40B4-BE49-F238E27FC236}">
                <a16:creationId xmlns:a16="http://schemas.microsoft.com/office/drawing/2014/main" id="{99E5FE63-DADF-34EB-C26B-9D69A063B86C}"/>
              </a:ext>
            </a:extLst>
          </p:cNvPr>
          <p:cNvSpPr>
            <a:spLocks noGrp="1"/>
          </p:cNvSpPr>
          <p:nvPr>
            <p:ph idx="1"/>
          </p:nvPr>
        </p:nvSpPr>
        <p:spPr>
          <a:xfrm>
            <a:off x="361950" y="787400"/>
            <a:ext cx="8534401" cy="5772930"/>
          </a:xfrm>
        </p:spPr>
        <p:txBody>
          <a:bodyPr/>
          <a:lstStyle/>
          <a:p>
            <a:r>
              <a:rPr lang="ca-ES" sz="1600" dirty="0"/>
              <a:t>Si la condició lògica és certa, s’executaran les “instruccions cert” i si no, el programa continuarà normalment, sense executar aquestes instruccions.</a:t>
            </a:r>
          </a:p>
          <a:p>
            <a:endParaRPr lang="es-ES" dirty="0"/>
          </a:p>
        </p:txBody>
      </p:sp>
      <p:sp>
        <p:nvSpPr>
          <p:cNvPr id="5" name="TextBox 4"/>
          <p:cNvSpPr txBox="1"/>
          <p:nvPr/>
        </p:nvSpPr>
        <p:spPr>
          <a:xfrm>
            <a:off x="706078" y="1566717"/>
            <a:ext cx="4390572" cy="1015663"/>
          </a:xfrm>
          <a:prstGeom prst="rect">
            <a:avLst/>
          </a:prstGeom>
          <a:solidFill>
            <a:schemeClr val="accent6">
              <a:lumMod val="20000"/>
              <a:lumOff val="80000"/>
            </a:schemeClr>
          </a:solidFill>
        </p:spPr>
        <p:txBody>
          <a:bodyPr wrap="square" rtlCol="0">
            <a:spAutoFit/>
          </a:bodyPr>
          <a:lstStyle/>
          <a:p>
            <a:r>
              <a:rPr lang="es-ES" sz="2000" dirty="0"/>
              <a:t>Si </a:t>
            </a:r>
            <a:r>
              <a:rPr lang="es-ES" sz="2000" dirty="0" err="1"/>
              <a:t>expresion_logica</a:t>
            </a:r>
            <a:r>
              <a:rPr lang="es-ES" sz="2000" dirty="0"/>
              <a:t> Entonces</a:t>
            </a:r>
          </a:p>
          <a:p>
            <a:r>
              <a:rPr lang="es-ES" sz="2000" dirty="0"/>
              <a:t>	</a:t>
            </a:r>
            <a:r>
              <a:rPr lang="es-ES" sz="2000" dirty="0" err="1"/>
              <a:t>acciones_por_verdadero</a:t>
            </a:r>
            <a:endParaRPr lang="es-ES" sz="2000" dirty="0"/>
          </a:p>
          <a:p>
            <a:r>
              <a:rPr lang="es-ES" sz="2000" dirty="0"/>
              <a:t>Fin Si</a:t>
            </a:r>
            <a:endParaRPr lang="ca-E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CuadroTexto 8">
            <a:extLst>
              <a:ext uri="{FF2B5EF4-FFF2-40B4-BE49-F238E27FC236}">
                <a16:creationId xmlns:a16="http://schemas.microsoft.com/office/drawing/2014/main" id="{7F2D6D63-759E-23C4-1976-3434BBB2C1FD}"/>
              </a:ext>
            </a:extLst>
          </p:cNvPr>
          <p:cNvSpPr txBox="1"/>
          <p:nvPr/>
        </p:nvSpPr>
        <p:spPr>
          <a:xfrm>
            <a:off x="706078" y="2801640"/>
            <a:ext cx="4390572" cy="3539430"/>
          </a:xfrm>
          <a:prstGeom prst="rect">
            <a:avLst/>
          </a:prstGeom>
          <a:noFill/>
          <a:ln>
            <a:solidFill>
              <a:schemeClr val="tx1"/>
            </a:solidFill>
            <a:prstDash val="dash"/>
          </a:ln>
        </p:spPr>
        <p:txBody>
          <a:bodyPr wrap="square">
            <a:spAutoFit/>
          </a:bodyPr>
          <a:lstStyle/>
          <a:p>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main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srand</a:t>
            </a:r>
            <a:r>
              <a:rPr lang="es-ES" sz="1400" b="0" dirty="0">
                <a:solidFill>
                  <a:srgbClr val="000000"/>
                </a:solidFill>
                <a:effectLst/>
                <a:latin typeface="Consolas" panose="020B0609020204030204" pitchFamily="49" charset="0"/>
              </a:rPr>
              <a:t>(time(</a:t>
            </a:r>
            <a:r>
              <a:rPr lang="es-ES" sz="1400" b="0" dirty="0">
                <a:solidFill>
                  <a:srgbClr val="0000FF"/>
                </a:solidFill>
                <a:effectLst/>
                <a:latin typeface="Consolas" panose="020B0609020204030204" pitchFamily="49" charset="0"/>
              </a:rPr>
              <a:t>NULL</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float</a:t>
            </a:r>
            <a:r>
              <a:rPr lang="es-ES" sz="1400" b="0" dirty="0">
                <a:solidFill>
                  <a:srgbClr val="000000"/>
                </a:solidFill>
                <a:effectLst/>
                <a:latin typeface="Consolas" panose="020B0609020204030204" pitchFamily="49" charset="0"/>
              </a:rPr>
              <a:t> preu;</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nIntrodueix</a:t>
            </a:r>
            <a:r>
              <a:rPr lang="es-ES" sz="1400" b="0" dirty="0">
                <a:solidFill>
                  <a:srgbClr val="A31515"/>
                </a:solidFill>
                <a:effectLst/>
                <a:latin typeface="Consolas" panose="020B0609020204030204" pitchFamily="49" charset="0"/>
              </a:rPr>
              <a:t> el preu :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f"</a:t>
            </a:r>
            <a:r>
              <a:rPr lang="es-ES" sz="1400" b="0" dirty="0" err="1">
                <a:solidFill>
                  <a:srgbClr val="000000"/>
                </a:solidFill>
                <a:effectLst/>
                <a:latin typeface="Consolas" panose="020B0609020204030204" pitchFamily="49" charset="0"/>
              </a:rPr>
              <a:t>,&amp;preu</a:t>
            </a:r>
            <a:r>
              <a:rPr lang="es-ES" sz="1400" b="0" dirty="0">
                <a:solidFill>
                  <a:srgbClr val="000000"/>
                </a:solidFill>
                <a:effectLst/>
                <a:latin typeface="Consolas" panose="020B0609020204030204" pitchFamily="49" charset="0"/>
              </a:rPr>
              <a:t>);</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if</a:t>
            </a:r>
            <a:r>
              <a:rPr lang="es-ES" sz="1400" b="0" dirty="0">
                <a:solidFill>
                  <a:srgbClr val="000000"/>
                </a:solidFill>
                <a:effectLst/>
                <a:latin typeface="Consolas" panose="020B0609020204030204" pitchFamily="49" charset="0"/>
              </a:rPr>
              <a:t> (preu&gt;</a:t>
            </a:r>
            <a:r>
              <a:rPr lang="es-ES" sz="1400" b="0" dirty="0">
                <a:solidFill>
                  <a:srgbClr val="098658"/>
                </a:solidFill>
                <a:effectLst/>
                <a:latin typeface="Consolas" panose="020B0609020204030204" pitchFamily="49" charset="0"/>
              </a:rPr>
              <a:t>100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preu=preu-preu*</a:t>
            </a:r>
            <a:r>
              <a:rPr lang="es-ES" sz="1400" b="0" dirty="0">
                <a:solidFill>
                  <a:srgbClr val="098658"/>
                </a:solidFill>
                <a:effectLst/>
                <a:latin typeface="Consolas" panose="020B0609020204030204" pitchFamily="49" charset="0"/>
              </a:rPr>
              <a:t>0.10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"El preu final es %.2f"</a:t>
            </a:r>
            <a:r>
              <a:rPr lang="es-ES" sz="1400" b="0" dirty="0">
                <a:solidFill>
                  <a:srgbClr val="000000"/>
                </a:solidFill>
                <a:effectLst/>
                <a:latin typeface="Consolas" panose="020B0609020204030204" pitchFamily="49" charset="0"/>
              </a:rPr>
              <a:t>,preu);</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acabament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return</a:t>
            </a:r>
            <a:r>
              <a:rPr lang="es-ES" sz="1400" b="0" dirty="0">
                <a:solidFill>
                  <a:srgbClr val="000000"/>
                </a:solidFill>
                <a:effectLst/>
                <a:latin typeface="Consolas" panose="020B0609020204030204" pitchFamily="49" charset="0"/>
              </a:rPr>
              <a:t> </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870671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1D4629-49FB-ECC7-98A0-0CC14452F766}"/>
              </a:ext>
            </a:extLst>
          </p:cNvPr>
          <p:cNvSpPr>
            <a:spLocks noGrp="1"/>
          </p:cNvSpPr>
          <p:nvPr>
            <p:ph type="title"/>
          </p:nvPr>
        </p:nvSpPr>
        <p:spPr/>
        <p:txBody>
          <a:bodyPr/>
          <a:lstStyle/>
          <a:p>
            <a:r>
              <a:rPr lang="ca-ES" sz="4000" b="1" kern="1200" dirty="0">
                <a:solidFill>
                  <a:srgbClr val="002060"/>
                </a:solidFill>
                <a:latin typeface="+mj-lt"/>
                <a:ea typeface="+mj-ea"/>
                <a:cs typeface="+mj-cs"/>
              </a:rPr>
              <a:t>Estructura alternativa niada</a:t>
            </a:r>
            <a:endParaRPr lang="es-ES" dirty="0"/>
          </a:p>
        </p:txBody>
      </p:sp>
      <p:sp>
        <p:nvSpPr>
          <p:cNvPr id="4" name="TextBox 3">
            <a:extLst>
              <a:ext uri="{FF2B5EF4-FFF2-40B4-BE49-F238E27FC236}">
                <a16:creationId xmlns:a16="http://schemas.microsoft.com/office/drawing/2014/main" id="{98FC6E28-C059-7CDC-35A3-F576CBC2865A}"/>
              </a:ext>
            </a:extLst>
          </p:cNvPr>
          <p:cNvSpPr txBox="1"/>
          <p:nvPr/>
        </p:nvSpPr>
        <p:spPr>
          <a:xfrm>
            <a:off x="508855" y="787400"/>
            <a:ext cx="5248728" cy="3693319"/>
          </a:xfrm>
          <a:prstGeom prst="rect">
            <a:avLst/>
          </a:prstGeom>
          <a:noFill/>
          <a:ln>
            <a:solidFill>
              <a:schemeClr val="tx1"/>
            </a:solidFill>
            <a:prstDash val="dash"/>
          </a:ln>
        </p:spPr>
        <p:txBody>
          <a:bodyPr wrap="square" rtlCol="0">
            <a:spAutoFit/>
          </a:bodyPr>
          <a:lstStyle/>
          <a:p>
            <a:r>
              <a:rPr lang="es-ES" dirty="0"/>
              <a:t>Si </a:t>
            </a:r>
            <a:r>
              <a:rPr lang="es-ES" dirty="0" err="1"/>
              <a:t>expresion_logica</a:t>
            </a:r>
            <a:r>
              <a:rPr lang="es-ES" dirty="0"/>
              <a:t> Entonces</a:t>
            </a:r>
          </a:p>
          <a:p>
            <a:r>
              <a:rPr lang="es-ES" dirty="0"/>
              <a:t>		</a:t>
            </a:r>
            <a:r>
              <a:rPr lang="es-ES" dirty="0" err="1"/>
              <a:t>acciones_por_verdadero</a:t>
            </a:r>
            <a:endParaRPr lang="es-ES" dirty="0"/>
          </a:p>
          <a:p>
            <a:r>
              <a:rPr lang="es-ES" dirty="0"/>
              <a:t>	</a:t>
            </a:r>
            <a:r>
              <a:rPr lang="es-ES" dirty="0" err="1"/>
              <a:t>SiNo</a:t>
            </a:r>
            <a:endParaRPr lang="es-ES" dirty="0"/>
          </a:p>
          <a:p>
            <a:r>
              <a:rPr lang="es-ES" dirty="0"/>
              <a:t>		Si </a:t>
            </a:r>
            <a:r>
              <a:rPr lang="es-ES" dirty="0" err="1"/>
              <a:t>expresion_logica</a:t>
            </a:r>
            <a:r>
              <a:rPr lang="es-ES" dirty="0"/>
              <a:t> Entonces</a:t>
            </a:r>
          </a:p>
          <a:p>
            <a:r>
              <a:rPr lang="es-ES" dirty="0"/>
              <a:t>			</a:t>
            </a:r>
            <a:r>
              <a:rPr lang="es-ES" dirty="0" err="1"/>
              <a:t>acciones_por_verdadero</a:t>
            </a:r>
            <a:endParaRPr lang="es-ES" dirty="0"/>
          </a:p>
          <a:p>
            <a:r>
              <a:rPr lang="es-ES" dirty="0"/>
              <a:t>		</a:t>
            </a:r>
            <a:r>
              <a:rPr lang="es-ES" dirty="0" err="1"/>
              <a:t>SiNo</a:t>
            </a:r>
            <a:endParaRPr lang="es-ES" dirty="0"/>
          </a:p>
          <a:p>
            <a:r>
              <a:rPr lang="es-ES" dirty="0"/>
              <a:t>			Si </a:t>
            </a:r>
            <a:r>
              <a:rPr lang="es-ES" dirty="0" err="1"/>
              <a:t>expresion_logica</a:t>
            </a:r>
            <a:r>
              <a:rPr lang="es-ES" dirty="0"/>
              <a:t> Entonces</a:t>
            </a:r>
          </a:p>
          <a:p>
            <a:r>
              <a:rPr lang="es-ES" dirty="0"/>
              <a:t>				</a:t>
            </a:r>
            <a:r>
              <a:rPr lang="es-ES" dirty="0" err="1"/>
              <a:t>acciones_por_verdadero</a:t>
            </a:r>
            <a:endParaRPr lang="es-ES" dirty="0"/>
          </a:p>
          <a:p>
            <a:r>
              <a:rPr lang="es-ES" dirty="0"/>
              <a:t>			</a:t>
            </a:r>
            <a:r>
              <a:rPr lang="es-ES" dirty="0" err="1"/>
              <a:t>SiNo</a:t>
            </a:r>
            <a:endParaRPr lang="es-ES" dirty="0"/>
          </a:p>
          <a:p>
            <a:r>
              <a:rPr lang="es-ES" dirty="0"/>
              <a:t>				</a:t>
            </a:r>
            <a:r>
              <a:rPr lang="es-ES" dirty="0" err="1"/>
              <a:t>acciones_por_falso</a:t>
            </a:r>
            <a:endParaRPr lang="es-ES" dirty="0"/>
          </a:p>
          <a:p>
            <a:r>
              <a:rPr lang="es-ES" dirty="0"/>
              <a:t>			Fin Si</a:t>
            </a:r>
          </a:p>
          <a:p>
            <a:r>
              <a:rPr lang="es-ES" dirty="0"/>
              <a:t>		Fin Si</a:t>
            </a:r>
          </a:p>
          <a:p>
            <a:r>
              <a:rPr lang="es-ES" dirty="0"/>
              <a:t>	Fin Si</a:t>
            </a:r>
            <a:endParaRPr lang="ca-E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1756460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B383B3-5E7F-4588-8666-24B6749629A4}"/>
              </a:ext>
            </a:extLst>
          </p:cNvPr>
          <p:cNvSpPr>
            <a:spLocks noGrp="1"/>
          </p:cNvSpPr>
          <p:nvPr>
            <p:ph type="title"/>
          </p:nvPr>
        </p:nvSpPr>
        <p:spPr/>
        <p:txBody>
          <a:bodyPr/>
          <a:lstStyle/>
          <a:p>
            <a:r>
              <a:rPr lang="ca-ES" dirty="0"/>
              <a:t>Exemple alternativa niada</a:t>
            </a:r>
          </a:p>
        </p:txBody>
      </p:sp>
      <p:sp>
        <p:nvSpPr>
          <p:cNvPr id="3" name="Marcador de contenido 2">
            <a:extLst>
              <a:ext uri="{FF2B5EF4-FFF2-40B4-BE49-F238E27FC236}">
                <a16:creationId xmlns:a16="http://schemas.microsoft.com/office/drawing/2014/main" id="{B49DD6F1-A669-4574-9235-6E76C92DC9FF}"/>
              </a:ext>
            </a:extLst>
          </p:cNvPr>
          <p:cNvSpPr>
            <a:spLocks noGrp="1"/>
          </p:cNvSpPr>
          <p:nvPr>
            <p:ph idx="1"/>
          </p:nvPr>
        </p:nvSpPr>
        <p:spPr/>
        <p:txBody>
          <a:bodyPr>
            <a:normAutofit/>
          </a:bodyPr>
          <a:lstStyle/>
          <a:p>
            <a:r>
              <a:rPr lang="ca-ES" sz="1600" dirty="0"/>
              <a:t>Fer un programa que demani a l’usuari el color d’un semàfor i ens mostri per pantalla què cal fer, tenint en compte que si el color és “Verd” passarem; en cas que sigui “groc” passarem ràpidament i en el cas que estigui en color “vermell” mostrarà un missatge de que cal aturar-se. Suposarem que el color que introdueix l’usuari és correcte (V, R o A)</a:t>
            </a:r>
            <a:endParaRPr lang="es-ES" sz="1600" dirty="0"/>
          </a:p>
          <a:p>
            <a:endParaRPr lang="ca-ES" dirty="0"/>
          </a:p>
        </p:txBody>
      </p:sp>
      <p:pic>
        <p:nvPicPr>
          <p:cNvPr id="8" name="Imagen 7">
            <a:extLst>
              <a:ext uri="{FF2B5EF4-FFF2-40B4-BE49-F238E27FC236}">
                <a16:creationId xmlns:a16="http://schemas.microsoft.com/office/drawing/2014/main" id="{085F4B72-A894-6575-62EA-BEEF644503BD}"/>
              </a:ext>
            </a:extLst>
          </p:cNvPr>
          <p:cNvPicPr>
            <a:picLocks noChangeAspect="1"/>
          </p:cNvPicPr>
          <p:nvPr/>
        </p:nvPicPr>
        <p:blipFill>
          <a:blip r:embed="rId2"/>
          <a:stretch>
            <a:fillRect/>
          </a:stretch>
        </p:blipFill>
        <p:spPr>
          <a:xfrm>
            <a:off x="725186" y="2284983"/>
            <a:ext cx="4846939" cy="2878581"/>
          </a:xfrm>
          <a:prstGeom prst="rect">
            <a:avLst/>
          </a:prstGeom>
          <a:ln>
            <a:solidFill>
              <a:schemeClr val="tx1"/>
            </a:solidFill>
            <a:prstDash val="lgDash"/>
          </a:ln>
        </p:spPr>
      </p:pic>
    </p:spTree>
    <p:extLst>
      <p:ext uri="{BB962C8B-B14F-4D97-AF65-F5344CB8AC3E}">
        <p14:creationId xmlns:p14="http://schemas.microsoft.com/office/powerpoint/2010/main" val="11162688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B383B3-5E7F-4588-8666-24B6749629A4}"/>
              </a:ext>
            </a:extLst>
          </p:cNvPr>
          <p:cNvSpPr>
            <a:spLocks noGrp="1"/>
          </p:cNvSpPr>
          <p:nvPr>
            <p:ph type="title"/>
          </p:nvPr>
        </p:nvSpPr>
        <p:spPr/>
        <p:txBody>
          <a:bodyPr/>
          <a:lstStyle/>
          <a:p>
            <a:r>
              <a:rPr lang="ca-ES" dirty="0"/>
              <a:t>Exemple alternativa niada</a:t>
            </a:r>
          </a:p>
        </p:txBody>
      </p:sp>
      <p:sp>
        <p:nvSpPr>
          <p:cNvPr id="3" name="Marcador de contenido 2">
            <a:extLst>
              <a:ext uri="{FF2B5EF4-FFF2-40B4-BE49-F238E27FC236}">
                <a16:creationId xmlns:a16="http://schemas.microsoft.com/office/drawing/2014/main" id="{CDD3435B-A5E5-476A-B3D3-279797309D95}"/>
              </a:ext>
            </a:extLst>
          </p:cNvPr>
          <p:cNvSpPr>
            <a:spLocks noGrp="1"/>
          </p:cNvSpPr>
          <p:nvPr>
            <p:ph idx="1"/>
          </p:nvPr>
        </p:nvSpPr>
        <p:spPr/>
        <p:txBody>
          <a:bodyPr>
            <a:normAutofit/>
          </a:bodyPr>
          <a:lstStyle/>
          <a:p>
            <a:r>
              <a:rPr lang="ca-ES" sz="1800" dirty="0"/>
              <a:t>Fer un programa que demani a l’usuari un número i ens mostri un dels següents missatges: </a:t>
            </a:r>
          </a:p>
          <a:p>
            <a:pPr lvl="1"/>
            <a:r>
              <a:rPr lang="ca-ES" sz="1400" dirty="0"/>
              <a:t>Positiu</a:t>
            </a:r>
          </a:p>
          <a:p>
            <a:pPr lvl="1"/>
            <a:r>
              <a:rPr lang="ca-ES" sz="1400" dirty="0"/>
              <a:t>Zero</a:t>
            </a:r>
          </a:p>
          <a:p>
            <a:pPr lvl="1"/>
            <a:r>
              <a:rPr lang="ca-ES" sz="1400" dirty="0"/>
              <a:t>Negatiu</a:t>
            </a:r>
          </a:p>
        </p:txBody>
      </p:sp>
    </p:spTree>
    <p:extLst>
      <p:ext uri="{BB962C8B-B14F-4D97-AF65-F5344CB8AC3E}">
        <p14:creationId xmlns:p14="http://schemas.microsoft.com/office/powerpoint/2010/main" val="3121469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52A9D-529E-D11F-B6EA-3AD911E189D0}"/>
              </a:ext>
            </a:extLst>
          </p:cNvPr>
          <p:cNvSpPr>
            <a:spLocks noGrp="1"/>
          </p:cNvSpPr>
          <p:nvPr>
            <p:ph type="title"/>
          </p:nvPr>
        </p:nvSpPr>
        <p:spPr/>
        <p:txBody>
          <a:bodyPr/>
          <a:lstStyle/>
          <a:p>
            <a:r>
              <a:rPr lang="ca-ES" sz="3200" b="1" kern="1200" dirty="0">
                <a:solidFill>
                  <a:srgbClr val="002060"/>
                </a:solidFill>
                <a:latin typeface="+mj-lt"/>
                <a:ea typeface="+mj-ea"/>
                <a:cs typeface="+mj-cs"/>
              </a:rPr>
              <a:t>Exemple estructura alternativa niada</a:t>
            </a:r>
            <a:endParaRPr lang="es-ES" dirty="0"/>
          </a:p>
        </p:txBody>
      </p:sp>
      <p:sp>
        <p:nvSpPr>
          <p:cNvPr id="3" name="Marcador de contenido 2">
            <a:extLst>
              <a:ext uri="{FF2B5EF4-FFF2-40B4-BE49-F238E27FC236}">
                <a16:creationId xmlns:a16="http://schemas.microsoft.com/office/drawing/2014/main" id="{937A8065-A331-8D3B-A48C-610A526CFF04}"/>
              </a:ext>
            </a:extLst>
          </p:cNvPr>
          <p:cNvSpPr>
            <a:spLocks noGrp="1"/>
          </p:cNvSpPr>
          <p:nvPr>
            <p:ph idx="1"/>
          </p:nvPr>
        </p:nvSpPr>
        <p:spPr>
          <a:xfrm>
            <a:off x="369331" y="696256"/>
            <a:ext cx="8534401" cy="3675719"/>
          </a:xfrm>
        </p:spPr>
        <p:txBody>
          <a:bodyPr/>
          <a:lstStyle/>
          <a:p>
            <a:r>
              <a:rPr lang="es-ES" dirty="0">
                <a:solidFill>
                  <a:srgbClr val="000000"/>
                </a:solidFill>
                <a:latin typeface="Verdana" panose="020B0604030504040204" pitchFamily="34" charset="0"/>
                <a:ea typeface="Times New Roman" panose="02020603050405020304" pitchFamily="18" charset="0"/>
                <a:cs typeface="Arial" panose="020B0604020202020204" pitchFamily="34" charset="0"/>
              </a:rPr>
              <a:t>(</a:t>
            </a:r>
            <a:r>
              <a:rPr lang="es-ES" b="1" dirty="0">
                <a:solidFill>
                  <a:srgbClr val="000000"/>
                </a:solidFill>
                <a:latin typeface="Verdana" panose="020B0604030504040204" pitchFamily="34" charset="0"/>
                <a:ea typeface="Times New Roman" panose="02020603050405020304" pitchFamily="18" charset="0"/>
                <a:cs typeface="Arial" panose="020B0604020202020204" pitchFamily="34" charset="0"/>
              </a:rPr>
              <a:t>Notes</a:t>
            </a:r>
            <a:r>
              <a:rPr lang="es-ES" dirty="0">
                <a:solidFill>
                  <a:srgbClr val="000000"/>
                </a:solidFill>
                <a:latin typeface="Verdana" panose="020B0604030504040204" pitchFamily="34" charset="0"/>
                <a:ea typeface="Times New Roman" panose="02020603050405020304" pitchFamily="18" charset="0"/>
                <a:cs typeface="Arial" panose="020B0604020202020204" pitchFamily="34" charset="0"/>
              </a:rPr>
              <a:t>) </a:t>
            </a:r>
            <a:r>
              <a:rPr lang="ca-ES" dirty="0">
                <a:solidFill>
                  <a:srgbClr val="000000"/>
                </a:solidFill>
                <a:latin typeface="Verdana" panose="020B0604030504040204" pitchFamily="34" charset="0"/>
                <a:ea typeface="Times New Roman" panose="02020603050405020304" pitchFamily="18" charset="0"/>
                <a:cs typeface="Arial" panose="020B0604020202020204" pitchFamily="34" charset="0"/>
              </a:rPr>
              <a:t>Fer un algoritme que donada una nota numèrica ens mostri per pantalla la nota en lletres, atenent a la següent taula</a:t>
            </a:r>
            <a:r>
              <a:rPr lang="es-ES" dirty="0">
                <a:solidFill>
                  <a:srgbClr val="000000"/>
                </a:solidFill>
                <a:latin typeface="Verdana" panose="020B0604030504040204" pitchFamily="34" charset="0"/>
                <a:ea typeface="Times New Roman" panose="02020603050405020304" pitchFamily="18" charset="0"/>
                <a:cs typeface="Arial" panose="020B0604020202020204" pitchFamily="34" charset="0"/>
              </a:rPr>
              <a:t>: </a:t>
            </a:r>
          </a:p>
          <a:p>
            <a:endParaRPr lang="es-ES" dirty="0">
              <a:solidFill>
                <a:srgbClr val="000000"/>
              </a:solidFill>
              <a:ea typeface="Times New Roman" panose="02020603050405020304" pitchFamily="18" charset="0"/>
              <a:cs typeface="Arial" panose="020B0604020202020204" pitchFamily="34" charset="0"/>
            </a:endParaRPr>
          </a:p>
          <a:p>
            <a:endParaRPr lang="es-ES" dirty="0">
              <a:solidFill>
                <a:srgbClr val="000000"/>
              </a:solidFill>
              <a:latin typeface="Verdana" panose="020B0604030504040204" pitchFamily="34" charset="0"/>
              <a:ea typeface="Times New Roman" panose="02020603050405020304" pitchFamily="18" charset="0"/>
              <a:cs typeface="Arial" panose="020B0604020202020204" pitchFamily="34" charset="0"/>
            </a:endParaRPr>
          </a:p>
          <a:p>
            <a:endParaRPr lang="es-ES" dirty="0">
              <a:solidFill>
                <a:srgbClr val="000000"/>
              </a:solidFill>
              <a:ea typeface="Times New Roman" panose="02020603050405020304" pitchFamily="18" charset="0"/>
              <a:cs typeface="Arial" panose="020B0604020202020204" pitchFamily="34" charset="0"/>
            </a:endParaRPr>
          </a:p>
          <a:p>
            <a:endParaRPr lang="es-ES" dirty="0">
              <a:solidFill>
                <a:srgbClr val="000000"/>
              </a:solidFill>
              <a:latin typeface="Verdana" panose="020B0604030504040204" pitchFamily="34" charset="0"/>
              <a:ea typeface="Times New Roman" panose="02020603050405020304" pitchFamily="18" charset="0"/>
              <a:cs typeface="Arial" panose="020B0604020202020204" pitchFamily="34" charset="0"/>
            </a:endParaRPr>
          </a:p>
          <a:p>
            <a:endParaRPr lang="es-ES" dirty="0">
              <a:solidFill>
                <a:srgbClr val="000000"/>
              </a:solidFill>
              <a:ea typeface="Times New Roman" panose="02020603050405020304" pitchFamily="18" charset="0"/>
              <a:cs typeface="Arial" panose="020B0604020202020204" pitchFamily="34" charset="0"/>
            </a:endParaRPr>
          </a:p>
          <a:p>
            <a:r>
              <a:rPr lang="es-ES" dirty="0" err="1">
                <a:solidFill>
                  <a:srgbClr val="000000"/>
                </a:solidFill>
                <a:ea typeface="Times New Roman" panose="02020603050405020304" pitchFamily="18" charset="0"/>
                <a:cs typeface="Arial" panose="020B0604020202020204" pitchFamily="34" charset="0"/>
              </a:rPr>
              <a:t>Caldrà</a:t>
            </a:r>
            <a:r>
              <a:rPr lang="es-ES" dirty="0">
                <a:solidFill>
                  <a:srgbClr val="000000"/>
                </a:solidFill>
                <a:ea typeface="Times New Roman" panose="02020603050405020304" pitchFamily="18" charset="0"/>
                <a:cs typeface="Arial" panose="020B0604020202020204" pitchFamily="34" charset="0"/>
              </a:rPr>
              <a:t> mostrar un </a:t>
            </a:r>
            <a:r>
              <a:rPr lang="es-ES" dirty="0" err="1">
                <a:solidFill>
                  <a:srgbClr val="000000"/>
                </a:solidFill>
                <a:ea typeface="Times New Roman" panose="02020603050405020304" pitchFamily="18" charset="0"/>
                <a:cs typeface="Arial" panose="020B0604020202020204" pitchFamily="34" charset="0"/>
              </a:rPr>
              <a:t>missatge</a:t>
            </a:r>
            <a:r>
              <a:rPr lang="es-ES" dirty="0">
                <a:solidFill>
                  <a:srgbClr val="000000"/>
                </a:solidFill>
                <a:ea typeface="Times New Roman" panose="02020603050405020304" pitchFamily="18" charset="0"/>
                <a:cs typeface="Arial" panose="020B0604020202020204" pitchFamily="34" charset="0"/>
              </a:rPr>
              <a:t> en el cas que la nota </a:t>
            </a:r>
            <a:r>
              <a:rPr lang="es-ES" dirty="0" err="1">
                <a:solidFill>
                  <a:srgbClr val="000000"/>
                </a:solidFill>
                <a:ea typeface="Times New Roman" panose="02020603050405020304" pitchFamily="18" charset="0"/>
                <a:cs typeface="Arial" panose="020B0604020202020204" pitchFamily="34" charset="0"/>
              </a:rPr>
              <a:t>introduïda</a:t>
            </a:r>
            <a:r>
              <a:rPr lang="es-ES" dirty="0">
                <a:solidFill>
                  <a:srgbClr val="000000"/>
                </a:solidFill>
                <a:ea typeface="Times New Roman" panose="02020603050405020304" pitchFamily="18" charset="0"/>
                <a:cs typeface="Arial" panose="020B0604020202020204" pitchFamily="34" charset="0"/>
              </a:rPr>
              <a:t> no </a:t>
            </a:r>
            <a:r>
              <a:rPr lang="es-ES" dirty="0" err="1">
                <a:solidFill>
                  <a:srgbClr val="000000"/>
                </a:solidFill>
                <a:ea typeface="Times New Roman" panose="02020603050405020304" pitchFamily="18" charset="0"/>
                <a:cs typeface="Arial" panose="020B0604020202020204" pitchFamily="34" charset="0"/>
              </a:rPr>
              <a:t>sigui</a:t>
            </a:r>
            <a:r>
              <a:rPr lang="es-ES" dirty="0">
                <a:solidFill>
                  <a:srgbClr val="000000"/>
                </a:solidFill>
                <a:ea typeface="Times New Roman" panose="02020603050405020304" pitchFamily="18" charset="0"/>
                <a:cs typeface="Arial" panose="020B0604020202020204" pitchFamily="34" charset="0"/>
              </a:rPr>
              <a:t> </a:t>
            </a:r>
            <a:r>
              <a:rPr lang="es-ES" dirty="0" err="1">
                <a:solidFill>
                  <a:srgbClr val="000000"/>
                </a:solidFill>
                <a:ea typeface="Times New Roman" panose="02020603050405020304" pitchFamily="18" charset="0"/>
                <a:cs typeface="Arial" panose="020B0604020202020204" pitchFamily="34" charset="0"/>
              </a:rPr>
              <a:t>vàlida</a:t>
            </a:r>
            <a:endParaRPr lang="ca-ES" dirty="0">
              <a:solidFill>
                <a:srgbClr val="000000"/>
              </a:solidFill>
              <a:latin typeface="Verdana" panose="020B0604030504040204" pitchFamily="34" charset="0"/>
              <a:ea typeface="Times New Roman" panose="02020603050405020304" pitchFamily="18" charset="0"/>
              <a:cs typeface="Arial" panose="020B0604020202020204" pitchFamily="34" charset="0"/>
            </a:endParaRPr>
          </a:p>
          <a:p>
            <a:endParaRPr lang="es-ES" dirty="0"/>
          </a:p>
        </p:txBody>
      </p:sp>
      <p:graphicFrame>
        <p:nvGraphicFramePr>
          <p:cNvPr id="8" name="Table 5">
            <a:extLst>
              <a:ext uri="{FF2B5EF4-FFF2-40B4-BE49-F238E27FC236}">
                <a16:creationId xmlns:a16="http://schemas.microsoft.com/office/drawing/2014/main" id="{B706434C-73E7-1B0D-95A6-7D2CBCBADFB1}"/>
              </a:ext>
            </a:extLst>
          </p:cNvPr>
          <p:cNvGraphicFramePr>
            <a:graphicFrameLocks noGrp="1"/>
          </p:cNvGraphicFramePr>
          <p:nvPr>
            <p:extLst>
              <p:ext uri="{D42A27DB-BD31-4B8C-83A1-F6EECF244321}">
                <p14:modId xmlns:p14="http://schemas.microsoft.com/office/powerpoint/2010/main" val="3402532596"/>
              </p:ext>
            </p:extLst>
          </p:nvPr>
        </p:nvGraphicFramePr>
        <p:xfrm>
          <a:off x="711648" y="1488736"/>
          <a:ext cx="3378200" cy="1524000"/>
        </p:xfrm>
        <a:graphic>
          <a:graphicData uri="http://schemas.openxmlformats.org/drawingml/2006/table">
            <a:tbl>
              <a:tblPr firstRow="1" bandRow="1">
                <a:tableStyleId>{2D5ABB26-0587-4C30-8999-92F81FD0307C}</a:tableStyleId>
              </a:tblPr>
              <a:tblGrid>
                <a:gridCol w="1689100">
                  <a:extLst>
                    <a:ext uri="{9D8B030D-6E8A-4147-A177-3AD203B41FA5}">
                      <a16:colId xmlns:a16="http://schemas.microsoft.com/office/drawing/2014/main" val="4016359319"/>
                    </a:ext>
                  </a:extLst>
                </a:gridCol>
                <a:gridCol w="1689100">
                  <a:extLst>
                    <a:ext uri="{9D8B030D-6E8A-4147-A177-3AD203B41FA5}">
                      <a16:colId xmlns:a16="http://schemas.microsoft.com/office/drawing/2014/main" val="4275643637"/>
                    </a:ext>
                  </a:extLst>
                </a:gridCol>
              </a:tblGrid>
              <a:tr h="276094">
                <a:tc>
                  <a:txBody>
                    <a:bodyPr/>
                    <a:lstStyle/>
                    <a:p>
                      <a:r>
                        <a:rPr lang="es-ES" sz="1400" dirty="0"/>
                        <a:t>Nota </a:t>
                      </a:r>
                      <a:r>
                        <a:rPr lang="es-ES" sz="1400" dirty="0" err="1"/>
                        <a:t>numèrica</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400" dirty="0"/>
                        <a:t>Nota Textual</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8405553"/>
                  </a:ext>
                </a:extLst>
              </a:tr>
              <a:tr h="235122">
                <a:tc>
                  <a:txBody>
                    <a:bodyPr/>
                    <a:lstStyle/>
                    <a:p>
                      <a:r>
                        <a:rPr lang="es-ES" sz="1400" dirty="0"/>
                        <a:t>1,2,3,4</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400" dirty="0" err="1"/>
                        <a:t>Insuficient</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5144422"/>
                  </a:ext>
                </a:extLst>
              </a:tr>
              <a:tr h="235122">
                <a:tc>
                  <a:txBody>
                    <a:bodyPr/>
                    <a:lstStyle/>
                    <a:p>
                      <a:r>
                        <a:rPr lang="es-ES" sz="1400" dirty="0"/>
                        <a:t>5,6</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400" dirty="0" err="1"/>
                        <a:t>Suficient</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365393"/>
                  </a:ext>
                </a:extLst>
              </a:tr>
              <a:tr h="235122">
                <a:tc>
                  <a:txBody>
                    <a:bodyPr/>
                    <a:lstStyle/>
                    <a:p>
                      <a:r>
                        <a:rPr lang="es-ES" sz="1400" dirty="0"/>
                        <a:t>7,8</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400" dirty="0"/>
                        <a:t>Notable</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3901452"/>
                  </a:ext>
                </a:extLst>
              </a:tr>
              <a:tr h="235122">
                <a:tc>
                  <a:txBody>
                    <a:bodyPr/>
                    <a:lstStyle/>
                    <a:p>
                      <a:r>
                        <a:rPr lang="es-ES" sz="1400" dirty="0"/>
                        <a:t>9</a:t>
                      </a:r>
                      <a:r>
                        <a:rPr lang="es-ES" sz="1400" baseline="0" dirty="0"/>
                        <a:t>, 10</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ES" sz="1400" dirty="0" err="1"/>
                        <a:t>Excel·lent</a:t>
                      </a:r>
                      <a:endParaRPr lang="ca-E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0190524"/>
                  </a:ext>
                </a:extLst>
              </a:tr>
            </a:tbl>
          </a:graphicData>
        </a:graphic>
      </p:graphicFrame>
    </p:spTree>
    <p:extLst>
      <p:ext uri="{BB962C8B-B14F-4D97-AF65-F5344CB8AC3E}">
        <p14:creationId xmlns:p14="http://schemas.microsoft.com/office/powerpoint/2010/main" val="3379809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chor="ctr">
            <a:normAutofit/>
          </a:bodyPr>
          <a:lstStyle/>
          <a:p>
            <a:r>
              <a:rPr lang="ca-ES" noProof="1"/>
              <a:t>Instrucció Alternativa (IF) - Ternària</a:t>
            </a:r>
          </a:p>
        </p:txBody>
      </p:sp>
      <p:sp>
        <p:nvSpPr>
          <p:cNvPr id="13" name="Content Placeholder 2">
            <a:extLst>
              <a:ext uri="{FF2B5EF4-FFF2-40B4-BE49-F238E27FC236}">
                <a16:creationId xmlns:a16="http://schemas.microsoft.com/office/drawing/2014/main" id="{C171B540-ED24-E21E-59D1-85F8DE3B6092}"/>
              </a:ext>
            </a:extLst>
          </p:cNvPr>
          <p:cNvSpPr txBox="1">
            <a:spLocks/>
          </p:cNvSpPr>
          <p:nvPr/>
        </p:nvSpPr>
        <p:spPr>
          <a:xfrm>
            <a:off x="361950" y="814897"/>
            <a:ext cx="8175411" cy="287906"/>
          </a:xfrm>
          <a:prstGeom prst="rect">
            <a:avLst/>
          </a:prstGeom>
          <a:ln>
            <a:noFill/>
          </a:ln>
        </p:spPr>
        <p:txBody>
          <a:bodyPr vert="horz" lIns="68580" tIns="34290" rIns="68580" bIns="3429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s-ES" sz="1350" b="1" noProof="1">
                <a:latin typeface="Consolas" panose="020B0609020204030204" pitchFamily="49" charset="0"/>
                <a:cs typeface="Courier New" panose="02070309020205020404" pitchFamily="49" charset="0"/>
              </a:rPr>
              <a:t>(condició) ? (Cas True) : (Cas False)</a:t>
            </a:r>
          </a:p>
        </p:txBody>
      </p:sp>
      <p:sp>
        <p:nvSpPr>
          <p:cNvPr id="8" name="CuadroTexto 7">
            <a:extLst>
              <a:ext uri="{FF2B5EF4-FFF2-40B4-BE49-F238E27FC236}">
                <a16:creationId xmlns:a16="http://schemas.microsoft.com/office/drawing/2014/main" id="{5C434BAE-A0D8-68F3-82D4-10179A33910A}"/>
              </a:ext>
            </a:extLst>
          </p:cNvPr>
          <p:cNvSpPr txBox="1"/>
          <p:nvPr/>
        </p:nvSpPr>
        <p:spPr>
          <a:xfrm>
            <a:off x="446194" y="1254403"/>
            <a:ext cx="4938712" cy="2462213"/>
          </a:xfrm>
          <a:prstGeom prst="rect">
            <a:avLst/>
          </a:prstGeom>
          <a:noFill/>
          <a:ln>
            <a:solidFill>
              <a:schemeClr val="tx1"/>
            </a:solidFill>
            <a:prstDash val="dash"/>
          </a:ln>
        </p:spPr>
        <p:txBody>
          <a:bodyPr wrap="square">
            <a:spAutoFit/>
          </a:bodyPr>
          <a:lstStyle/>
          <a:p>
            <a:r>
              <a:rPr lang="pt-BR" sz="1100" b="0" dirty="0" err="1">
                <a:solidFill>
                  <a:srgbClr val="0000FF"/>
                </a:solidFill>
                <a:effectLst/>
                <a:latin typeface="Consolas" panose="020B0609020204030204" pitchFamily="49" charset="0"/>
              </a:rPr>
              <a:t>int</a:t>
            </a:r>
            <a:r>
              <a:rPr lang="pt-BR" sz="1100" b="0" dirty="0">
                <a:solidFill>
                  <a:srgbClr val="000000"/>
                </a:solidFill>
                <a:effectLst/>
                <a:latin typeface="Consolas" panose="020B0609020204030204" pitchFamily="49" charset="0"/>
              </a:rPr>
              <a:t> </a:t>
            </a:r>
            <a:r>
              <a:rPr lang="pt-BR" sz="1100" b="0" dirty="0" err="1">
                <a:solidFill>
                  <a:srgbClr val="000000"/>
                </a:solidFill>
                <a:effectLst/>
                <a:latin typeface="Consolas" panose="020B0609020204030204" pitchFamily="49" charset="0"/>
              </a:rPr>
              <a:t>main</a:t>
            </a:r>
            <a:r>
              <a:rPr lang="pt-BR" sz="1100" b="0" dirty="0">
                <a:solidFill>
                  <a:srgbClr val="000000"/>
                </a:solidFill>
                <a:effectLst/>
                <a:latin typeface="Consolas" panose="020B0609020204030204" pitchFamily="49" charset="0"/>
              </a:rPr>
              <a:t>()</a:t>
            </a:r>
          </a:p>
          <a:p>
            <a:r>
              <a:rPr lang="pt-BR" sz="1100" b="0" dirty="0">
                <a:solidFill>
                  <a:srgbClr val="000000"/>
                </a:solidFill>
                <a:effectLst/>
                <a:latin typeface="Consolas" panose="020B0609020204030204" pitchFamily="49" charset="0"/>
              </a:rPr>
              <a:t>{</a:t>
            </a:r>
          </a:p>
          <a:p>
            <a:r>
              <a:rPr lang="pt-BR" sz="1100" b="0" dirty="0">
                <a:solidFill>
                  <a:srgbClr val="000000"/>
                </a:solidFill>
                <a:effectLst/>
                <a:latin typeface="Consolas" panose="020B0609020204030204" pitchFamily="49" charset="0"/>
              </a:rPr>
              <a:t>    </a:t>
            </a:r>
            <a:r>
              <a:rPr lang="pt-BR" sz="1100" b="0" dirty="0" err="1">
                <a:solidFill>
                  <a:srgbClr val="000000"/>
                </a:solidFill>
                <a:effectLst/>
                <a:latin typeface="Consolas" panose="020B0609020204030204" pitchFamily="49" charset="0"/>
              </a:rPr>
              <a:t>SetConsoleOutputCP</a:t>
            </a:r>
            <a:r>
              <a:rPr lang="pt-BR" sz="1100" b="0" dirty="0">
                <a:solidFill>
                  <a:srgbClr val="000000"/>
                </a:solidFill>
                <a:effectLst/>
                <a:latin typeface="Consolas" panose="020B0609020204030204" pitchFamily="49" charset="0"/>
              </a:rPr>
              <a:t>(</a:t>
            </a:r>
            <a:r>
              <a:rPr lang="pt-BR" sz="1100" b="0" dirty="0">
                <a:solidFill>
                  <a:srgbClr val="0000FF"/>
                </a:solidFill>
                <a:effectLst/>
                <a:latin typeface="Consolas" panose="020B0609020204030204" pitchFamily="49" charset="0"/>
              </a:rPr>
              <a:t>CP_UTF8</a:t>
            </a:r>
            <a:r>
              <a:rPr lang="pt-BR" sz="1100" b="0" dirty="0">
                <a:solidFill>
                  <a:srgbClr val="000000"/>
                </a:solidFill>
                <a:effectLst/>
                <a:latin typeface="Consolas" panose="020B0609020204030204" pitchFamily="49" charset="0"/>
              </a:rPr>
              <a:t>);</a:t>
            </a:r>
          </a:p>
          <a:p>
            <a:br>
              <a:rPr lang="pt-BR" sz="1100" b="0" dirty="0">
                <a:solidFill>
                  <a:srgbClr val="000000"/>
                </a:solidFill>
                <a:effectLst/>
                <a:latin typeface="Consolas" panose="020B0609020204030204" pitchFamily="49" charset="0"/>
              </a:rPr>
            </a:br>
            <a:r>
              <a:rPr lang="pt-BR" sz="1100" b="0" dirty="0">
                <a:solidFill>
                  <a:srgbClr val="000000"/>
                </a:solidFill>
                <a:effectLst/>
                <a:latin typeface="Consolas" panose="020B0609020204030204" pitchFamily="49" charset="0"/>
              </a:rPr>
              <a:t>    </a:t>
            </a:r>
            <a:r>
              <a:rPr lang="pt-BR" sz="1100" b="0" dirty="0" err="1">
                <a:solidFill>
                  <a:srgbClr val="0000FF"/>
                </a:solidFill>
                <a:effectLst/>
                <a:latin typeface="Consolas" panose="020B0609020204030204" pitchFamily="49" charset="0"/>
              </a:rPr>
              <a:t>int</a:t>
            </a:r>
            <a:r>
              <a:rPr lang="pt-BR" sz="1100" b="0" dirty="0">
                <a:solidFill>
                  <a:srgbClr val="000000"/>
                </a:solidFill>
                <a:effectLst/>
                <a:latin typeface="Consolas" panose="020B0609020204030204" pitchFamily="49" charset="0"/>
              </a:rPr>
              <a:t> num1 = </a:t>
            </a:r>
            <a:r>
              <a:rPr lang="pt-BR" sz="1100" b="0" dirty="0">
                <a:solidFill>
                  <a:srgbClr val="098658"/>
                </a:solidFill>
                <a:effectLst/>
                <a:latin typeface="Consolas" panose="020B0609020204030204" pitchFamily="49" charset="0"/>
              </a:rPr>
              <a:t>3</a:t>
            </a:r>
            <a:r>
              <a:rPr lang="pt-BR" sz="1100" b="0" dirty="0">
                <a:solidFill>
                  <a:srgbClr val="000000"/>
                </a:solidFill>
                <a:effectLst/>
                <a:latin typeface="Consolas" panose="020B0609020204030204" pitchFamily="49" charset="0"/>
              </a:rPr>
              <a:t>, num2;</a:t>
            </a:r>
          </a:p>
          <a:p>
            <a:r>
              <a:rPr lang="pt-BR" sz="1100" b="0" dirty="0">
                <a:solidFill>
                  <a:srgbClr val="000000"/>
                </a:solidFill>
                <a:effectLst/>
                <a:latin typeface="Consolas" panose="020B0609020204030204" pitchFamily="49" charset="0"/>
              </a:rPr>
              <a:t>    </a:t>
            </a:r>
            <a:r>
              <a:rPr lang="pt-BR" sz="1100" b="0" dirty="0">
                <a:solidFill>
                  <a:srgbClr val="008000"/>
                </a:solidFill>
                <a:effectLst/>
                <a:latin typeface="Consolas" panose="020B0609020204030204" pitchFamily="49" charset="0"/>
              </a:rPr>
              <a:t>// Exemple de </a:t>
            </a:r>
            <a:r>
              <a:rPr lang="pt-BR" sz="1100" b="0" dirty="0" err="1">
                <a:solidFill>
                  <a:srgbClr val="008000"/>
                </a:solidFill>
                <a:effectLst/>
                <a:latin typeface="Consolas" panose="020B0609020204030204" pitchFamily="49" charset="0"/>
              </a:rPr>
              <a:t>ternària</a:t>
            </a:r>
            <a:r>
              <a:rPr lang="pt-BR" sz="1100" b="0" dirty="0">
                <a:solidFill>
                  <a:srgbClr val="008000"/>
                </a:solidFill>
                <a:effectLst/>
                <a:latin typeface="Consolas" panose="020B0609020204030204" pitchFamily="49" charset="0"/>
              </a:rPr>
              <a:t> (</a:t>
            </a:r>
            <a:r>
              <a:rPr lang="pt-BR" sz="1100" b="0" dirty="0" err="1">
                <a:solidFill>
                  <a:srgbClr val="008000"/>
                </a:solidFill>
                <a:effectLst/>
                <a:latin typeface="Consolas" panose="020B0609020204030204" pitchFamily="49" charset="0"/>
              </a:rPr>
              <a:t>if-else</a:t>
            </a:r>
            <a:r>
              <a:rPr lang="pt-BR" sz="1100" b="0" dirty="0">
                <a:solidFill>
                  <a:srgbClr val="008000"/>
                </a:solidFill>
                <a:effectLst/>
                <a:latin typeface="Consolas" panose="020B0609020204030204" pitchFamily="49" charset="0"/>
              </a:rPr>
              <a:t> </a:t>
            </a:r>
            <a:r>
              <a:rPr lang="pt-BR" sz="1100" b="0" dirty="0" err="1">
                <a:solidFill>
                  <a:srgbClr val="008000"/>
                </a:solidFill>
                <a:effectLst/>
                <a:latin typeface="Consolas" panose="020B0609020204030204" pitchFamily="49" charset="0"/>
              </a:rPr>
              <a:t>inline</a:t>
            </a:r>
            <a:r>
              <a:rPr lang="pt-BR" sz="1100" b="0" dirty="0">
                <a:solidFill>
                  <a:srgbClr val="008000"/>
                </a:solidFill>
                <a:effectLst/>
                <a:latin typeface="Consolas" panose="020B0609020204030204" pitchFamily="49" charset="0"/>
              </a:rPr>
              <a:t>)</a:t>
            </a:r>
            <a:endParaRPr lang="pt-BR" sz="1100" b="0" dirty="0">
              <a:solidFill>
                <a:srgbClr val="000000"/>
              </a:solidFill>
              <a:effectLst/>
              <a:latin typeface="Consolas" panose="020B0609020204030204" pitchFamily="49" charset="0"/>
            </a:endParaRPr>
          </a:p>
          <a:p>
            <a:r>
              <a:rPr lang="pt-BR" sz="1100" b="0" dirty="0">
                <a:solidFill>
                  <a:srgbClr val="000000"/>
                </a:solidFill>
                <a:effectLst/>
                <a:latin typeface="Consolas" panose="020B0609020204030204" pitchFamily="49" charset="0"/>
              </a:rPr>
              <a:t>    num2 = num1 &lt; </a:t>
            </a:r>
            <a:r>
              <a:rPr lang="pt-BR" sz="1100" b="0" dirty="0">
                <a:solidFill>
                  <a:srgbClr val="098658"/>
                </a:solidFill>
                <a:effectLst/>
                <a:latin typeface="Consolas" panose="020B0609020204030204" pitchFamily="49" charset="0"/>
              </a:rPr>
              <a:t>10</a:t>
            </a:r>
            <a:r>
              <a:rPr lang="pt-BR" sz="1100" b="0" dirty="0">
                <a:solidFill>
                  <a:srgbClr val="000000"/>
                </a:solidFill>
                <a:effectLst/>
                <a:latin typeface="Consolas" panose="020B0609020204030204" pitchFamily="49" charset="0"/>
              </a:rPr>
              <a:t> ? num1 * </a:t>
            </a:r>
            <a:r>
              <a:rPr lang="pt-BR" sz="1100" b="0" dirty="0">
                <a:solidFill>
                  <a:srgbClr val="098658"/>
                </a:solidFill>
                <a:effectLst/>
                <a:latin typeface="Consolas" panose="020B0609020204030204" pitchFamily="49" charset="0"/>
              </a:rPr>
              <a:t>2</a:t>
            </a:r>
            <a:r>
              <a:rPr lang="pt-BR" sz="1100" b="0" dirty="0">
                <a:solidFill>
                  <a:srgbClr val="000000"/>
                </a:solidFill>
                <a:effectLst/>
                <a:latin typeface="Consolas" panose="020B0609020204030204" pitchFamily="49" charset="0"/>
              </a:rPr>
              <a:t> : num1 / </a:t>
            </a:r>
            <a:r>
              <a:rPr lang="pt-BR" sz="1100" b="0" dirty="0">
                <a:solidFill>
                  <a:srgbClr val="098658"/>
                </a:solidFill>
                <a:effectLst/>
                <a:latin typeface="Consolas" panose="020B0609020204030204" pitchFamily="49" charset="0"/>
              </a:rPr>
              <a:t>2</a:t>
            </a:r>
            <a:r>
              <a:rPr lang="pt-BR" sz="1100" b="0" dirty="0">
                <a:solidFill>
                  <a:srgbClr val="000000"/>
                </a:solidFill>
                <a:effectLst/>
                <a:latin typeface="Consolas" panose="020B0609020204030204" pitchFamily="49" charset="0"/>
              </a:rPr>
              <a:t>;</a:t>
            </a:r>
          </a:p>
          <a:p>
            <a:r>
              <a:rPr lang="pt-BR" sz="1100" b="0" dirty="0">
                <a:solidFill>
                  <a:srgbClr val="000000"/>
                </a:solidFill>
                <a:effectLst/>
                <a:latin typeface="Consolas" panose="020B0609020204030204" pitchFamily="49" charset="0"/>
              </a:rPr>
              <a:t>    </a:t>
            </a:r>
          </a:p>
          <a:p>
            <a:r>
              <a:rPr lang="pt-BR" sz="1100" b="0" dirty="0">
                <a:solidFill>
                  <a:srgbClr val="000000"/>
                </a:solidFill>
                <a:effectLst/>
                <a:latin typeface="Consolas" panose="020B0609020204030204" pitchFamily="49" charset="0"/>
              </a:rPr>
              <a:t>    </a:t>
            </a:r>
            <a:r>
              <a:rPr lang="pt-BR" sz="1100" b="0" dirty="0" err="1">
                <a:solidFill>
                  <a:srgbClr val="000000"/>
                </a:solidFill>
                <a:effectLst/>
                <a:latin typeface="Consolas" panose="020B0609020204030204" pitchFamily="49" charset="0"/>
              </a:rPr>
              <a:t>printf</a:t>
            </a:r>
            <a:r>
              <a:rPr lang="pt-BR" sz="1100" b="0" dirty="0">
                <a:solidFill>
                  <a:srgbClr val="000000"/>
                </a:solidFill>
                <a:effectLst/>
                <a:latin typeface="Consolas" panose="020B0609020204030204" pitchFamily="49" charset="0"/>
              </a:rPr>
              <a:t>(</a:t>
            </a:r>
            <a:r>
              <a:rPr lang="pt-BR" sz="1100" b="0" dirty="0">
                <a:solidFill>
                  <a:srgbClr val="A31515"/>
                </a:solidFill>
                <a:effectLst/>
                <a:latin typeface="Consolas" panose="020B0609020204030204" pitchFamily="49" charset="0"/>
              </a:rPr>
              <a:t>"%d\n"</a:t>
            </a:r>
            <a:r>
              <a:rPr lang="pt-BR" sz="1100" b="0" dirty="0">
                <a:solidFill>
                  <a:srgbClr val="000000"/>
                </a:solidFill>
                <a:effectLst/>
                <a:latin typeface="Consolas" panose="020B0609020204030204" pitchFamily="49" charset="0"/>
              </a:rPr>
              <a:t>, num2);</a:t>
            </a:r>
          </a:p>
          <a:p>
            <a:r>
              <a:rPr lang="pt-BR" sz="1100" b="0" dirty="0">
                <a:solidFill>
                  <a:srgbClr val="000000"/>
                </a:solidFill>
                <a:effectLst/>
                <a:latin typeface="Consolas" panose="020B0609020204030204" pitchFamily="49" charset="0"/>
              </a:rPr>
              <a:t>    num2 &gt; </a:t>
            </a:r>
            <a:r>
              <a:rPr lang="pt-BR" sz="1100" b="0" dirty="0">
                <a:solidFill>
                  <a:srgbClr val="098658"/>
                </a:solidFill>
                <a:effectLst/>
                <a:latin typeface="Consolas" panose="020B0609020204030204" pitchFamily="49" charset="0"/>
              </a:rPr>
              <a:t>10</a:t>
            </a:r>
            <a:r>
              <a:rPr lang="pt-BR" sz="1100" b="0" dirty="0">
                <a:solidFill>
                  <a:srgbClr val="000000"/>
                </a:solidFill>
                <a:effectLst/>
                <a:latin typeface="Consolas" panose="020B0609020204030204" pitchFamily="49" charset="0"/>
              </a:rPr>
              <a:t> ? </a:t>
            </a:r>
            <a:r>
              <a:rPr lang="pt-BR" sz="1100" b="0" dirty="0" err="1">
                <a:solidFill>
                  <a:srgbClr val="000000"/>
                </a:solidFill>
                <a:effectLst/>
                <a:latin typeface="Consolas" panose="020B0609020204030204" pitchFamily="49" charset="0"/>
              </a:rPr>
              <a:t>printf</a:t>
            </a:r>
            <a:r>
              <a:rPr lang="pt-BR" sz="1100" b="0" dirty="0">
                <a:solidFill>
                  <a:srgbClr val="000000"/>
                </a:solidFill>
                <a:effectLst/>
                <a:latin typeface="Consolas" panose="020B0609020204030204" pitchFamily="49" charset="0"/>
              </a:rPr>
              <a:t>(</a:t>
            </a:r>
            <a:r>
              <a:rPr lang="pt-BR" sz="1100" b="0" dirty="0">
                <a:solidFill>
                  <a:srgbClr val="A31515"/>
                </a:solidFill>
                <a:effectLst/>
                <a:latin typeface="Consolas" panose="020B0609020204030204" pitchFamily="49" charset="0"/>
              </a:rPr>
              <a:t>"%d\n"</a:t>
            </a:r>
            <a:r>
              <a:rPr lang="pt-BR" sz="1100" b="0" dirty="0">
                <a:solidFill>
                  <a:srgbClr val="000000"/>
                </a:solidFill>
                <a:effectLst/>
                <a:latin typeface="Consolas" panose="020B0609020204030204" pitchFamily="49" charset="0"/>
              </a:rPr>
              <a:t>, num2) : </a:t>
            </a:r>
            <a:r>
              <a:rPr lang="pt-BR" sz="1100" b="0" dirty="0" err="1">
                <a:solidFill>
                  <a:srgbClr val="000000"/>
                </a:solidFill>
                <a:effectLst/>
                <a:latin typeface="Consolas" panose="020B0609020204030204" pitchFamily="49" charset="0"/>
              </a:rPr>
              <a:t>printf</a:t>
            </a:r>
            <a:r>
              <a:rPr lang="pt-BR" sz="1100" b="0" dirty="0">
                <a:solidFill>
                  <a:srgbClr val="000000"/>
                </a:solidFill>
                <a:effectLst/>
                <a:latin typeface="Consolas" panose="020B0609020204030204" pitchFamily="49" charset="0"/>
              </a:rPr>
              <a:t>(</a:t>
            </a:r>
            <a:r>
              <a:rPr lang="pt-BR" sz="1100" b="0" dirty="0">
                <a:solidFill>
                  <a:srgbClr val="A31515"/>
                </a:solidFill>
                <a:effectLst/>
                <a:latin typeface="Consolas" panose="020B0609020204030204" pitchFamily="49" charset="0"/>
              </a:rPr>
              <a:t>"%d\n"</a:t>
            </a:r>
            <a:r>
              <a:rPr lang="pt-BR" sz="1100" b="0" dirty="0">
                <a:solidFill>
                  <a:srgbClr val="000000"/>
                </a:solidFill>
                <a:effectLst/>
                <a:latin typeface="Consolas" panose="020B0609020204030204" pitchFamily="49" charset="0"/>
              </a:rPr>
              <a:t>, num1);</a:t>
            </a:r>
          </a:p>
          <a:p>
            <a:br>
              <a:rPr lang="pt-BR" sz="1100" b="0" dirty="0">
                <a:solidFill>
                  <a:srgbClr val="000000"/>
                </a:solidFill>
                <a:effectLst/>
                <a:latin typeface="Consolas" panose="020B0609020204030204" pitchFamily="49" charset="0"/>
              </a:rPr>
            </a:br>
            <a:r>
              <a:rPr lang="pt-BR" sz="1100" b="0" dirty="0">
                <a:solidFill>
                  <a:srgbClr val="000000"/>
                </a:solidFill>
                <a:effectLst/>
                <a:latin typeface="Consolas" panose="020B0609020204030204" pitchFamily="49" charset="0"/>
              </a:rPr>
              <a:t>    </a:t>
            </a:r>
            <a:r>
              <a:rPr lang="pt-BR" sz="1100" b="0" dirty="0" err="1">
                <a:solidFill>
                  <a:srgbClr val="0000FF"/>
                </a:solidFill>
                <a:effectLst/>
                <a:latin typeface="Consolas" panose="020B0609020204030204" pitchFamily="49" charset="0"/>
              </a:rPr>
              <a:t>getch</a:t>
            </a:r>
            <a:r>
              <a:rPr lang="pt-BR" sz="1100" b="0" dirty="0">
                <a:solidFill>
                  <a:srgbClr val="000000"/>
                </a:solidFill>
                <a:effectLst/>
                <a:latin typeface="Consolas" panose="020B0609020204030204" pitchFamily="49" charset="0"/>
              </a:rPr>
              <a:t>();</a:t>
            </a:r>
          </a:p>
          <a:p>
            <a:r>
              <a:rPr lang="pt-BR" sz="1100" b="0" dirty="0">
                <a:solidFill>
                  <a:srgbClr val="000000"/>
                </a:solidFill>
                <a:effectLst/>
                <a:latin typeface="Consolas" panose="020B0609020204030204" pitchFamily="49" charset="0"/>
              </a:rPr>
              <a:t>    </a:t>
            </a:r>
            <a:r>
              <a:rPr lang="pt-BR" sz="1100" b="0" dirty="0" err="1">
                <a:solidFill>
                  <a:srgbClr val="0000FF"/>
                </a:solidFill>
                <a:effectLst/>
                <a:latin typeface="Consolas" panose="020B0609020204030204" pitchFamily="49" charset="0"/>
              </a:rPr>
              <a:t>return</a:t>
            </a:r>
            <a:r>
              <a:rPr lang="pt-BR" sz="1100" b="0" dirty="0">
                <a:solidFill>
                  <a:srgbClr val="000000"/>
                </a:solidFill>
                <a:effectLst/>
                <a:latin typeface="Consolas" panose="020B0609020204030204" pitchFamily="49" charset="0"/>
              </a:rPr>
              <a:t> </a:t>
            </a:r>
            <a:r>
              <a:rPr lang="pt-BR" sz="1100" b="0" dirty="0">
                <a:solidFill>
                  <a:srgbClr val="098658"/>
                </a:solidFill>
                <a:effectLst/>
                <a:latin typeface="Consolas" panose="020B0609020204030204" pitchFamily="49" charset="0"/>
              </a:rPr>
              <a:t>0</a:t>
            </a:r>
            <a:r>
              <a:rPr lang="pt-BR" sz="1100" b="0" dirty="0">
                <a:solidFill>
                  <a:srgbClr val="000000"/>
                </a:solidFill>
                <a:effectLst/>
                <a:latin typeface="Consolas" panose="020B0609020204030204" pitchFamily="49" charset="0"/>
              </a:rPr>
              <a:t>;</a:t>
            </a:r>
          </a:p>
          <a:p>
            <a:r>
              <a:rPr lang="pt-BR" sz="1100" b="0" dirty="0">
                <a:solidFill>
                  <a:srgbClr val="000000"/>
                </a:solidFill>
                <a:effectLst/>
                <a:latin typeface="Consolas" panose="020B0609020204030204" pitchFamily="49" charset="0"/>
              </a:rPr>
              <a:t>}</a:t>
            </a:r>
          </a:p>
        </p:txBody>
      </p:sp>
      <p:sp>
        <p:nvSpPr>
          <p:cNvPr id="12" name="CuadroTexto 11">
            <a:extLst>
              <a:ext uri="{FF2B5EF4-FFF2-40B4-BE49-F238E27FC236}">
                <a16:creationId xmlns:a16="http://schemas.microsoft.com/office/drawing/2014/main" id="{F3C962FE-DC78-FBD2-5DA9-8CA0C96A57D5}"/>
              </a:ext>
            </a:extLst>
          </p:cNvPr>
          <p:cNvSpPr txBox="1"/>
          <p:nvPr/>
        </p:nvSpPr>
        <p:spPr>
          <a:xfrm>
            <a:off x="446194" y="3868216"/>
            <a:ext cx="633412" cy="523220"/>
          </a:xfrm>
          <a:prstGeom prst="rect">
            <a:avLst/>
          </a:prstGeom>
          <a:noFill/>
          <a:ln>
            <a:solidFill>
              <a:schemeClr val="tx1"/>
            </a:solidFill>
            <a:prstDash val="dash"/>
          </a:ln>
        </p:spPr>
        <p:txBody>
          <a:bodyPr wrap="square">
            <a:spAutoFit/>
          </a:bodyPr>
          <a:lstStyle/>
          <a:p>
            <a:r>
              <a:rPr lang="es-ES" sz="1400" dirty="0"/>
              <a:t>6</a:t>
            </a:r>
          </a:p>
          <a:p>
            <a:r>
              <a:rPr lang="es-ES" sz="1400" dirty="0"/>
              <a:t>3</a:t>
            </a:r>
          </a:p>
        </p:txBody>
      </p:sp>
    </p:spTree>
    <p:extLst>
      <p:ext uri="{BB962C8B-B14F-4D97-AF65-F5344CB8AC3E}">
        <p14:creationId xmlns:p14="http://schemas.microsoft.com/office/powerpoint/2010/main" val="279085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Exercicis</a:t>
            </a:r>
            <a:r>
              <a:rPr lang="es-ES" dirty="0"/>
              <a:t> Dossier</a:t>
            </a:r>
            <a:endParaRPr lang="ca-ES" dirty="0"/>
          </a:p>
        </p:txBody>
      </p:sp>
    </p:spTree>
    <p:extLst>
      <p:ext uri="{BB962C8B-B14F-4D97-AF65-F5344CB8AC3E}">
        <p14:creationId xmlns:p14="http://schemas.microsoft.com/office/powerpoint/2010/main" val="2895840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CBCB37-EE6A-70ED-0A5A-BB767300EDAA}"/>
              </a:ext>
            </a:extLst>
          </p:cNvPr>
          <p:cNvSpPr>
            <a:spLocks noGrp="1"/>
          </p:cNvSpPr>
          <p:nvPr>
            <p:ph type="ctrTitle"/>
          </p:nvPr>
        </p:nvSpPr>
        <p:spPr/>
        <p:txBody>
          <a:bodyPr/>
          <a:lstStyle/>
          <a:p>
            <a:r>
              <a:rPr lang="es-ES" dirty="0"/>
              <a:t>CAS-SWITCH</a:t>
            </a:r>
          </a:p>
        </p:txBody>
      </p:sp>
    </p:spTree>
    <p:extLst>
      <p:ext uri="{BB962C8B-B14F-4D97-AF65-F5344CB8AC3E}">
        <p14:creationId xmlns:p14="http://schemas.microsoft.com/office/powerpoint/2010/main" val="12168893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Estructura SEGONS</a:t>
            </a:r>
          </a:p>
        </p:txBody>
      </p:sp>
      <p:sp>
        <p:nvSpPr>
          <p:cNvPr id="3" name="Content Placeholder 2"/>
          <p:cNvSpPr>
            <a:spLocks noGrp="1"/>
          </p:cNvSpPr>
          <p:nvPr>
            <p:ph idx="1"/>
          </p:nvPr>
        </p:nvSpPr>
        <p:spPr>
          <a:xfrm>
            <a:off x="304799" y="787400"/>
            <a:ext cx="8534401" cy="5772930"/>
          </a:xfrm>
        </p:spPr>
        <p:txBody>
          <a:bodyPr>
            <a:normAutofit/>
          </a:bodyPr>
          <a:lstStyle/>
          <a:p>
            <a:r>
              <a:rPr lang="ca-ES" dirty="0"/>
              <a:t>Aquesta estructura avalua el valor de la variable del CAS (que només pot ser de tipus </a:t>
            </a:r>
            <a:r>
              <a:rPr lang="ca-ES" dirty="0">
                <a:highlight>
                  <a:srgbClr val="FFFF00"/>
                </a:highlight>
              </a:rPr>
              <a:t>enter o caràcter</a:t>
            </a:r>
            <a:r>
              <a:rPr lang="ca-ES" dirty="0"/>
              <a:t>) i depenent del seu valor, executa una sèrie d’instruccions o unes altres. </a:t>
            </a:r>
          </a:p>
          <a:p>
            <a:r>
              <a:rPr lang="ca-ES" dirty="0"/>
              <a:t>Estructura</a:t>
            </a:r>
          </a:p>
          <a:p>
            <a:endParaRPr lang="ca-ES" sz="1800" dirty="0"/>
          </a:p>
          <a:p>
            <a:endParaRPr lang="ca-ES" sz="1800" dirty="0"/>
          </a:p>
          <a:p>
            <a:endParaRPr lang="ca-ES" sz="1800" dirty="0"/>
          </a:p>
          <a:p>
            <a:endParaRPr lang="ca-ES" sz="1800" dirty="0"/>
          </a:p>
          <a:p>
            <a:endParaRPr lang="ca-ES" sz="1800" dirty="0"/>
          </a:p>
          <a:p>
            <a:endParaRPr lang="ca-ES" sz="1800" dirty="0"/>
          </a:p>
          <a:p>
            <a:endParaRPr lang="ca-ES" sz="1800" dirty="0"/>
          </a:p>
          <a:p>
            <a:endParaRPr lang="ca-ES" sz="1800" dirty="0"/>
          </a:p>
          <a:p>
            <a:pPr marL="0" indent="0">
              <a:buNone/>
            </a:pPr>
            <a:endParaRPr lang="ca-ES" sz="1800" dirty="0"/>
          </a:p>
        </p:txBody>
      </p:sp>
      <p:sp>
        <p:nvSpPr>
          <p:cNvPr id="4" name="TextBox 3"/>
          <p:cNvSpPr txBox="1"/>
          <p:nvPr/>
        </p:nvSpPr>
        <p:spPr>
          <a:xfrm>
            <a:off x="5368726" y="2125030"/>
            <a:ext cx="3708400" cy="3293209"/>
          </a:xfrm>
          <a:prstGeom prst="rect">
            <a:avLst/>
          </a:prstGeom>
          <a:noFill/>
          <a:ln>
            <a:solidFill>
              <a:schemeClr val="tx1"/>
            </a:solidFill>
            <a:prstDash val="dash"/>
          </a:ln>
        </p:spPr>
        <p:txBody>
          <a:bodyPr wrap="square" rtlCol="0">
            <a:spAutoFit/>
          </a:bodyPr>
          <a:lstStyle>
            <a:defPPr>
              <a:defRPr lang="en-US"/>
            </a:defPPr>
            <a:lvl1pPr>
              <a:defRPr sz="1600">
                <a:latin typeface="Century Gothic" panose="020B0502020202020204" pitchFamily="34" charset="0"/>
              </a:defRPr>
            </a:lvl1pPr>
          </a:lstStyle>
          <a:p>
            <a:r>
              <a:rPr lang="es-ES" dirty="0"/>
              <a:t>SI (variable==a) LLAVORS</a:t>
            </a:r>
          </a:p>
          <a:p>
            <a:pPr lvl="1"/>
            <a:r>
              <a:rPr lang="es-ES" dirty="0" err="1"/>
              <a:t>Instruccions</a:t>
            </a:r>
            <a:r>
              <a:rPr lang="es-ES" dirty="0"/>
              <a:t> cas a</a:t>
            </a:r>
          </a:p>
          <a:p>
            <a:r>
              <a:rPr lang="es-ES" dirty="0"/>
              <a:t>SINO</a:t>
            </a:r>
          </a:p>
          <a:p>
            <a:r>
              <a:rPr lang="es-ES" dirty="0"/>
              <a:t>	SI (variable==b) LLAVORS</a:t>
            </a:r>
          </a:p>
          <a:p>
            <a:pPr lvl="1"/>
            <a:r>
              <a:rPr lang="es-ES" dirty="0"/>
              <a:t>	</a:t>
            </a:r>
            <a:r>
              <a:rPr lang="es-ES" dirty="0" err="1"/>
              <a:t>Instruccions</a:t>
            </a:r>
            <a:r>
              <a:rPr lang="es-ES" dirty="0"/>
              <a:t> cas b</a:t>
            </a:r>
          </a:p>
          <a:p>
            <a:r>
              <a:rPr lang="es-ES" dirty="0"/>
              <a:t>	SINO</a:t>
            </a:r>
          </a:p>
          <a:p>
            <a:r>
              <a:rPr lang="es-ES" dirty="0"/>
              <a:t>		SI (variable==c) LLAVORS</a:t>
            </a:r>
          </a:p>
          <a:p>
            <a:pPr lvl="1"/>
            <a:r>
              <a:rPr lang="es-ES" dirty="0"/>
              <a:t>		</a:t>
            </a:r>
            <a:r>
              <a:rPr lang="es-ES" dirty="0" err="1"/>
              <a:t>Instruccions</a:t>
            </a:r>
            <a:r>
              <a:rPr lang="es-ES" dirty="0"/>
              <a:t> cas c</a:t>
            </a:r>
          </a:p>
          <a:p>
            <a:r>
              <a:rPr lang="es-ES" dirty="0"/>
              <a:t>		SINO</a:t>
            </a:r>
          </a:p>
          <a:p>
            <a:r>
              <a:rPr lang="es-ES" dirty="0"/>
              <a:t>			 </a:t>
            </a:r>
            <a:r>
              <a:rPr lang="es-ES" dirty="0" err="1"/>
              <a:t>altres</a:t>
            </a:r>
            <a:r>
              <a:rPr lang="es-ES" dirty="0"/>
              <a:t> </a:t>
            </a:r>
            <a:r>
              <a:rPr lang="es-ES" dirty="0" err="1"/>
              <a:t>instruccions</a:t>
            </a:r>
            <a:endParaRPr lang="es-ES" dirty="0"/>
          </a:p>
          <a:p>
            <a:r>
              <a:rPr lang="es-ES" dirty="0"/>
              <a:t>		FISI</a:t>
            </a:r>
          </a:p>
          <a:p>
            <a:r>
              <a:rPr lang="es-ES" dirty="0"/>
              <a:t>	FISI</a:t>
            </a:r>
          </a:p>
          <a:p>
            <a:r>
              <a:rPr lang="es-ES" dirty="0"/>
              <a:t>FISI</a:t>
            </a:r>
          </a:p>
        </p:txBody>
      </p:sp>
      <p:sp>
        <p:nvSpPr>
          <p:cNvPr id="5" name="TextBox 4"/>
          <p:cNvSpPr txBox="1"/>
          <p:nvPr/>
        </p:nvSpPr>
        <p:spPr>
          <a:xfrm>
            <a:off x="391818" y="2125030"/>
            <a:ext cx="4885046" cy="2554545"/>
          </a:xfrm>
          <a:prstGeom prst="rect">
            <a:avLst/>
          </a:prstGeom>
          <a:noFill/>
          <a:ln>
            <a:solidFill>
              <a:schemeClr val="tx1"/>
            </a:solidFill>
            <a:prstDash val="dash"/>
          </a:ln>
        </p:spPr>
        <p:txBody>
          <a:bodyPr wrap="square" rtlCol="0">
            <a:spAutoFit/>
          </a:bodyPr>
          <a:lstStyle/>
          <a:p>
            <a:r>
              <a:rPr lang="es-ES" sz="1600" dirty="0" err="1">
                <a:latin typeface="Century Gothic" panose="020B0502020202020204" pitchFamily="34" charset="0"/>
              </a:rPr>
              <a:t>Segun</a:t>
            </a:r>
            <a:r>
              <a:rPr lang="es-ES" sz="1600" dirty="0">
                <a:latin typeface="Century Gothic" panose="020B0502020202020204" pitchFamily="34" charset="0"/>
              </a:rPr>
              <a:t> </a:t>
            </a:r>
            <a:r>
              <a:rPr lang="es-ES" sz="1600" dirty="0" err="1">
                <a:latin typeface="Century Gothic" panose="020B0502020202020204" pitchFamily="34" charset="0"/>
              </a:rPr>
              <a:t>variable_numerica</a:t>
            </a:r>
            <a:r>
              <a:rPr lang="es-ES" sz="1600" dirty="0">
                <a:latin typeface="Century Gothic" panose="020B0502020202020204" pitchFamily="34" charset="0"/>
              </a:rPr>
              <a:t> Hacer</a:t>
            </a:r>
          </a:p>
          <a:p>
            <a:r>
              <a:rPr lang="es-ES" sz="1600" dirty="0">
                <a:latin typeface="Century Gothic" panose="020B0502020202020204" pitchFamily="34" charset="0"/>
              </a:rPr>
              <a:t>		opcion_1:</a:t>
            </a:r>
          </a:p>
          <a:p>
            <a:r>
              <a:rPr lang="es-ES" sz="1600" dirty="0">
                <a:latin typeface="Century Gothic" panose="020B0502020202020204" pitchFamily="34" charset="0"/>
              </a:rPr>
              <a:t>			secuencia_de_acciones_1</a:t>
            </a:r>
          </a:p>
          <a:p>
            <a:r>
              <a:rPr lang="es-ES" sz="1600" dirty="0">
                <a:latin typeface="Century Gothic" panose="020B0502020202020204" pitchFamily="34" charset="0"/>
              </a:rPr>
              <a:t>		opcion_2:</a:t>
            </a:r>
          </a:p>
          <a:p>
            <a:r>
              <a:rPr lang="es-ES" sz="1600" dirty="0">
                <a:latin typeface="Century Gothic" panose="020B0502020202020204" pitchFamily="34" charset="0"/>
              </a:rPr>
              <a:t>			secuencia_de_acciones_2</a:t>
            </a:r>
          </a:p>
          <a:p>
            <a:r>
              <a:rPr lang="es-ES" sz="1600" dirty="0">
                <a:latin typeface="Century Gothic" panose="020B0502020202020204" pitchFamily="34" charset="0"/>
              </a:rPr>
              <a:t>		opcion_3:</a:t>
            </a:r>
          </a:p>
          <a:p>
            <a:r>
              <a:rPr lang="es-ES" sz="1600" dirty="0">
                <a:latin typeface="Century Gothic" panose="020B0502020202020204" pitchFamily="34" charset="0"/>
              </a:rPr>
              <a:t>			secuencia_de_acciones_3</a:t>
            </a:r>
          </a:p>
          <a:p>
            <a:r>
              <a:rPr lang="es-ES" sz="1600" dirty="0">
                <a:latin typeface="Century Gothic" panose="020B0502020202020204" pitchFamily="34" charset="0"/>
              </a:rPr>
              <a:t>		De Otro Modo:</a:t>
            </a:r>
          </a:p>
          <a:p>
            <a:r>
              <a:rPr lang="es-ES" sz="1600" dirty="0">
                <a:latin typeface="Century Gothic" panose="020B0502020202020204" pitchFamily="34" charset="0"/>
              </a:rPr>
              <a:t>			</a:t>
            </a:r>
            <a:r>
              <a:rPr lang="es-ES" sz="1600" dirty="0" err="1">
                <a:latin typeface="Century Gothic" panose="020B0502020202020204" pitchFamily="34" charset="0"/>
              </a:rPr>
              <a:t>secuencia_de_acciones_dom</a:t>
            </a:r>
            <a:endParaRPr lang="es-ES" sz="1600" dirty="0">
              <a:latin typeface="Century Gothic" panose="020B0502020202020204" pitchFamily="34" charset="0"/>
            </a:endParaRPr>
          </a:p>
          <a:p>
            <a:r>
              <a:rPr lang="es-ES" sz="1600" dirty="0">
                <a:latin typeface="Century Gothic" panose="020B0502020202020204" pitchFamily="34" charset="0"/>
              </a:rPr>
              <a:t>	Fin </a:t>
            </a:r>
            <a:r>
              <a:rPr lang="es-ES" sz="1600" dirty="0" err="1">
                <a:latin typeface="Century Gothic" panose="020B0502020202020204" pitchFamily="34" charset="0"/>
              </a:rPr>
              <a:t>Segun</a:t>
            </a:r>
            <a:endParaRPr lang="es-ES" sz="1600" dirty="0">
              <a:latin typeface="Century Gothic" panose="020B0502020202020204" pitchFamily="34" charset="0"/>
            </a:endParaRPr>
          </a:p>
        </p:txBody>
      </p:sp>
    </p:spTree>
    <p:extLst>
      <p:ext uri="{BB962C8B-B14F-4D97-AF65-F5344CB8AC3E}">
        <p14:creationId xmlns:p14="http://schemas.microsoft.com/office/powerpoint/2010/main" val="427378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4268E4-7B3E-36C9-2A5A-F0FB84861946}"/>
              </a:ext>
            </a:extLst>
          </p:cNvPr>
          <p:cNvSpPr>
            <a:spLocks noGrp="1"/>
          </p:cNvSpPr>
          <p:nvPr>
            <p:ph type="title"/>
          </p:nvPr>
        </p:nvSpPr>
        <p:spPr/>
        <p:txBody>
          <a:bodyPr/>
          <a:lstStyle/>
          <a:p>
            <a:r>
              <a:rPr lang="es-ES" dirty="0" err="1"/>
              <a:t>Exemple</a:t>
            </a:r>
            <a:r>
              <a:rPr lang="es-ES" dirty="0"/>
              <a:t> </a:t>
            </a:r>
            <a:r>
              <a:rPr lang="es-ES" dirty="0" err="1"/>
              <a:t>Instrucció</a:t>
            </a:r>
            <a:r>
              <a:rPr lang="es-ES" dirty="0"/>
              <a:t> SEGONS</a:t>
            </a:r>
          </a:p>
        </p:txBody>
      </p:sp>
      <p:sp>
        <p:nvSpPr>
          <p:cNvPr id="3" name="Marcador de contenido 2">
            <a:extLst>
              <a:ext uri="{FF2B5EF4-FFF2-40B4-BE49-F238E27FC236}">
                <a16:creationId xmlns:a16="http://schemas.microsoft.com/office/drawing/2014/main" id="{4FB4ADE7-45D6-AE47-8EA5-2C23CAD7FC9E}"/>
              </a:ext>
            </a:extLst>
          </p:cNvPr>
          <p:cNvSpPr>
            <a:spLocks noGrp="1"/>
          </p:cNvSpPr>
          <p:nvPr>
            <p:ph idx="1"/>
          </p:nvPr>
        </p:nvSpPr>
        <p:spPr>
          <a:xfrm>
            <a:off x="361949" y="604704"/>
            <a:ext cx="8534401" cy="639485"/>
          </a:xfrm>
        </p:spPr>
        <p:txBody>
          <a:bodyPr/>
          <a:lstStyle/>
          <a:p>
            <a:r>
              <a:rPr lang="ca-ES" dirty="0"/>
              <a:t>Fer un algorisme que donada una nota numèrica (número natural), calculi la nota textual, segons la següent taula: </a:t>
            </a:r>
          </a:p>
        </p:txBody>
      </p:sp>
      <p:sp>
        <p:nvSpPr>
          <p:cNvPr id="5" name="CuadroTexto 4">
            <a:extLst>
              <a:ext uri="{FF2B5EF4-FFF2-40B4-BE49-F238E27FC236}">
                <a16:creationId xmlns:a16="http://schemas.microsoft.com/office/drawing/2014/main" id="{09391D7C-43EE-7B1B-DCC4-86588DC1BE0C}"/>
              </a:ext>
            </a:extLst>
          </p:cNvPr>
          <p:cNvSpPr txBox="1"/>
          <p:nvPr/>
        </p:nvSpPr>
        <p:spPr>
          <a:xfrm>
            <a:off x="3852655" y="1356776"/>
            <a:ext cx="4177551" cy="5493812"/>
          </a:xfrm>
          <a:prstGeom prst="rect">
            <a:avLst/>
          </a:prstGeom>
          <a:noFill/>
          <a:ln>
            <a:solidFill>
              <a:schemeClr val="tx1"/>
            </a:solidFill>
            <a:prstDash val="dash"/>
          </a:ln>
        </p:spPr>
        <p:txBody>
          <a:bodyPr wrap="square">
            <a:spAutoFit/>
          </a:bodyPr>
          <a:lstStyle/>
          <a:p>
            <a:r>
              <a:rPr lang="es-ES" sz="1300" b="0" dirty="0" err="1">
                <a:solidFill>
                  <a:srgbClr val="0000FF"/>
                </a:solidFill>
                <a:effectLst/>
                <a:latin typeface="Consolas" panose="020B0609020204030204" pitchFamily="49" charset="0"/>
              </a:rPr>
              <a:t>int</a:t>
            </a: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main</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int</a:t>
            </a:r>
            <a:r>
              <a:rPr lang="es-ES" sz="1300" b="0" dirty="0">
                <a:solidFill>
                  <a:srgbClr val="000000"/>
                </a:solidFill>
                <a:effectLst/>
                <a:latin typeface="Consolas" panose="020B0609020204030204" pitchFamily="49" charset="0"/>
              </a:rPr>
              <a:t> nota;</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a:t>
            </a:r>
            <a:r>
              <a:rPr lang="es-ES" sz="1300" b="0" dirty="0" err="1">
                <a:solidFill>
                  <a:srgbClr val="A31515"/>
                </a:solidFill>
                <a:effectLst/>
                <a:latin typeface="Consolas" panose="020B0609020204030204" pitchFamily="49" charset="0"/>
              </a:rPr>
              <a:t>Introdueix</a:t>
            </a:r>
            <a:r>
              <a:rPr lang="es-ES" sz="1300" b="0" dirty="0">
                <a:solidFill>
                  <a:srgbClr val="A31515"/>
                </a:solidFill>
                <a:effectLst/>
                <a:latin typeface="Consolas" panose="020B0609020204030204" pitchFamily="49" charset="0"/>
              </a:rPr>
              <a:t> la nota: "</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scanf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"%d"</a:t>
            </a:r>
            <a:r>
              <a:rPr lang="es-ES" sz="1300" b="0" dirty="0">
                <a:solidFill>
                  <a:srgbClr val="000000"/>
                </a:solidFill>
                <a:effectLst/>
                <a:latin typeface="Consolas" panose="020B0609020204030204" pitchFamily="49" charset="0"/>
              </a:rPr>
              <a:t>, &amp;nota);</a:t>
            </a:r>
          </a:p>
          <a:p>
            <a:br>
              <a:rPr lang="es-ES" sz="1300" b="0" dirty="0">
                <a:solidFill>
                  <a:srgbClr val="000000"/>
                </a:solidFill>
                <a:effectLst/>
                <a:latin typeface="Consolas" panose="020B0609020204030204" pitchFamily="49" charset="0"/>
              </a:rPr>
            </a:br>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switch</a:t>
            </a:r>
            <a:r>
              <a:rPr lang="es-ES" sz="1300" b="0" dirty="0">
                <a:solidFill>
                  <a:srgbClr val="000000"/>
                </a:solidFill>
                <a:effectLst/>
                <a:latin typeface="Consolas" panose="020B0609020204030204" pitchFamily="49" charset="0"/>
              </a:rPr>
              <a:t> (nota)</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case</a:t>
            </a:r>
            <a:r>
              <a:rPr lang="es-ES" sz="1300" b="0" dirty="0">
                <a:solidFill>
                  <a:srgbClr val="000000"/>
                </a:solidFill>
                <a:effectLst/>
                <a:latin typeface="Consolas" panose="020B0609020204030204" pitchFamily="49" charset="0"/>
              </a:rPr>
              <a:t> </a:t>
            </a:r>
            <a:r>
              <a:rPr lang="es-ES" sz="1300" b="0" dirty="0">
                <a:solidFill>
                  <a:srgbClr val="098658"/>
                </a:solidFill>
                <a:effectLst/>
                <a:latin typeface="Consolas" panose="020B0609020204030204" pitchFamily="49" charset="0"/>
              </a:rPr>
              <a:t>1</a:t>
            </a:r>
            <a:r>
              <a:rPr lang="es-ES" sz="1300" b="0" dirty="0">
                <a:solidFill>
                  <a:srgbClr val="000000"/>
                </a:solidFill>
                <a:effectLst/>
                <a:latin typeface="Consolas" panose="020B0609020204030204" pitchFamily="49" charset="0"/>
              </a:rPr>
              <a:t> ... </a:t>
            </a:r>
            <a:r>
              <a:rPr lang="es-ES" sz="1300" b="0" dirty="0">
                <a:solidFill>
                  <a:srgbClr val="098658"/>
                </a:solidFill>
                <a:effectLst/>
                <a:latin typeface="Consolas" panose="020B0609020204030204" pitchFamily="49" charset="0"/>
              </a:rPr>
              <a:t>4</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a:t>
            </a:r>
            <a:r>
              <a:rPr lang="es-ES" sz="1300" b="0" dirty="0" err="1">
                <a:solidFill>
                  <a:srgbClr val="A31515"/>
                </a:solidFill>
                <a:effectLst/>
                <a:latin typeface="Consolas" panose="020B0609020204030204" pitchFamily="49" charset="0"/>
              </a:rPr>
              <a:t>Insuficient</a:t>
            </a:r>
            <a:r>
              <a:rPr lang="es-ES" sz="1300" b="0" dirty="0">
                <a:solidFill>
                  <a:srgbClr val="A31515"/>
                </a:solidFill>
                <a:effectLst/>
                <a:latin typeface="Consolas" panose="020B0609020204030204" pitchFamily="49" charset="0"/>
              </a:rPr>
              <a:t>"</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break</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case</a:t>
            </a:r>
            <a:r>
              <a:rPr lang="es-ES" sz="1300" b="0" dirty="0">
                <a:solidFill>
                  <a:srgbClr val="000000"/>
                </a:solidFill>
                <a:effectLst/>
                <a:latin typeface="Consolas" panose="020B0609020204030204" pitchFamily="49" charset="0"/>
              </a:rPr>
              <a:t> </a:t>
            </a:r>
            <a:r>
              <a:rPr lang="es-ES" sz="1300" b="0" dirty="0">
                <a:solidFill>
                  <a:srgbClr val="098658"/>
                </a:solidFill>
                <a:effectLst/>
                <a:latin typeface="Consolas" panose="020B0609020204030204" pitchFamily="49" charset="0"/>
              </a:rPr>
              <a:t>5</a:t>
            </a:r>
            <a:r>
              <a:rPr lang="es-ES" sz="1300" b="0" dirty="0">
                <a:solidFill>
                  <a:srgbClr val="000000"/>
                </a:solidFill>
                <a:effectLst/>
                <a:latin typeface="Consolas" panose="020B0609020204030204" pitchFamily="49" charset="0"/>
              </a:rPr>
              <a:t> ... </a:t>
            </a:r>
            <a:r>
              <a:rPr lang="es-ES" sz="1300" b="0" dirty="0">
                <a:solidFill>
                  <a:srgbClr val="098658"/>
                </a:solidFill>
                <a:effectLst/>
                <a:latin typeface="Consolas" panose="020B0609020204030204" pitchFamily="49" charset="0"/>
              </a:rPr>
              <a:t>6</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a:t>
            </a:r>
            <a:r>
              <a:rPr lang="es-ES" sz="1300" b="0" dirty="0" err="1">
                <a:solidFill>
                  <a:srgbClr val="A31515"/>
                </a:solidFill>
                <a:effectLst/>
                <a:latin typeface="Consolas" panose="020B0609020204030204" pitchFamily="49" charset="0"/>
              </a:rPr>
              <a:t>Suficient</a:t>
            </a:r>
            <a:r>
              <a:rPr lang="es-ES" sz="1300" b="0" dirty="0">
                <a:solidFill>
                  <a:srgbClr val="A31515"/>
                </a:solidFill>
                <a:effectLst/>
                <a:latin typeface="Consolas" panose="020B0609020204030204" pitchFamily="49" charset="0"/>
              </a:rPr>
              <a:t>"</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break</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case</a:t>
            </a:r>
            <a:r>
              <a:rPr lang="es-ES" sz="1300" b="0" dirty="0">
                <a:solidFill>
                  <a:srgbClr val="000000"/>
                </a:solidFill>
                <a:effectLst/>
                <a:latin typeface="Consolas" panose="020B0609020204030204" pitchFamily="49" charset="0"/>
              </a:rPr>
              <a:t> </a:t>
            </a:r>
            <a:r>
              <a:rPr lang="es-ES" sz="1300" b="0" dirty="0">
                <a:solidFill>
                  <a:srgbClr val="098658"/>
                </a:solidFill>
                <a:effectLst/>
                <a:latin typeface="Consolas" panose="020B0609020204030204" pitchFamily="49" charset="0"/>
              </a:rPr>
              <a:t>7</a:t>
            </a:r>
            <a:r>
              <a:rPr lang="es-ES" sz="1300" b="0" dirty="0">
                <a:solidFill>
                  <a:srgbClr val="000000"/>
                </a:solidFill>
                <a:effectLst/>
                <a:latin typeface="Consolas" panose="020B0609020204030204" pitchFamily="49" charset="0"/>
              </a:rPr>
              <a:t> ... </a:t>
            </a:r>
            <a:r>
              <a:rPr lang="es-ES" sz="1300" b="0" dirty="0">
                <a:solidFill>
                  <a:srgbClr val="098658"/>
                </a:solidFill>
                <a:effectLst/>
                <a:latin typeface="Consolas" panose="020B0609020204030204" pitchFamily="49" charset="0"/>
              </a:rPr>
              <a:t>8</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"Notable"</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break</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case</a:t>
            </a:r>
            <a:r>
              <a:rPr lang="es-ES" sz="1300" b="0" dirty="0">
                <a:solidFill>
                  <a:srgbClr val="000000"/>
                </a:solidFill>
                <a:effectLst/>
                <a:latin typeface="Consolas" panose="020B0609020204030204" pitchFamily="49" charset="0"/>
              </a:rPr>
              <a:t> </a:t>
            </a:r>
            <a:r>
              <a:rPr lang="es-ES" sz="1300" b="0" dirty="0">
                <a:solidFill>
                  <a:srgbClr val="098658"/>
                </a:solidFill>
                <a:effectLst/>
                <a:latin typeface="Consolas" panose="020B0609020204030204" pitchFamily="49" charset="0"/>
              </a:rPr>
              <a:t>9</a:t>
            </a:r>
            <a:r>
              <a:rPr lang="es-ES" sz="1300" b="0" dirty="0">
                <a:solidFill>
                  <a:srgbClr val="000000"/>
                </a:solidFill>
                <a:effectLst/>
                <a:latin typeface="Consolas" panose="020B0609020204030204" pitchFamily="49" charset="0"/>
              </a:rPr>
              <a:t> ... </a:t>
            </a:r>
            <a:r>
              <a:rPr lang="es-ES" sz="1300" b="0" dirty="0">
                <a:solidFill>
                  <a:srgbClr val="098658"/>
                </a:solidFill>
                <a:effectLst/>
                <a:latin typeface="Consolas" panose="020B0609020204030204" pitchFamily="49" charset="0"/>
              </a:rPr>
              <a:t>10</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a:t>
            </a:r>
            <a:r>
              <a:rPr lang="es-ES" sz="1300" b="0" dirty="0" err="1">
                <a:solidFill>
                  <a:srgbClr val="A31515"/>
                </a:solidFill>
                <a:effectLst/>
                <a:latin typeface="Consolas" panose="020B0609020204030204" pitchFamily="49" charset="0"/>
              </a:rPr>
              <a:t>Excel·lent</a:t>
            </a:r>
            <a:r>
              <a:rPr lang="es-ES" sz="1300" b="0" dirty="0">
                <a:solidFill>
                  <a:srgbClr val="A31515"/>
                </a:solidFill>
                <a:effectLst/>
                <a:latin typeface="Consolas" panose="020B0609020204030204" pitchFamily="49" charset="0"/>
              </a:rPr>
              <a:t>"</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break</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default</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"No es una nota valida"</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a:solidFill>
                  <a:srgbClr val="0000FF"/>
                </a:solidFill>
                <a:effectLst/>
                <a:latin typeface="Consolas" panose="020B0609020204030204" pitchFamily="49" charset="0"/>
              </a:rPr>
              <a:t>break</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br>
              <a:rPr lang="es-ES" sz="1300" b="0" dirty="0">
                <a:solidFill>
                  <a:srgbClr val="000000"/>
                </a:solidFill>
                <a:effectLst/>
                <a:latin typeface="Consolas" panose="020B0609020204030204" pitchFamily="49" charset="0"/>
              </a:rPr>
            </a:b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acabament</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return</a:t>
            </a:r>
            <a:r>
              <a:rPr lang="es-ES" sz="1300" b="0" dirty="0">
                <a:solidFill>
                  <a:srgbClr val="000000"/>
                </a:solidFill>
                <a:effectLst/>
                <a:latin typeface="Consolas" panose="020B0609020204030204" pitchFamily="49" charset="0"/>
              </a:rPr>
              <a:t> </a:t>
            </a:r>
            <a:r>
              <a:rPr lang="es-ES" sz="1300" b="0" dirty="0">
                <a:solidFill>
                  <a:srgbClr val="098658"/>
                </a:solidFill>
                <a:effectLst/>
                <a:latin typeface="Consolas" panose="020B0609020204030204" pitchFamily="49" charset="0"/>
              </a:rPr>
              <a:t>0</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a:t>
            </a:r>
          </a:p>
        </p:txBody>
      </p:sp>
      <p:graphicFrame>
        <p:nvGraphicFramePr>
          <p:cNvPr id="8" name="Tabla 8">
            <a:extLst>
              <a:ext uri="{FF2B5EF4-FFF2-40B4-BE49-F238E27FC236}">
                <a16:creationId xmlns:a16="http://schemas.microsoft.com/office/drawing/2014/main" id="{0B12D04D-5AF8-4B36-5002-30884701DB10}"/>
              </a:ext>
            </a:extLst>
          </p:cNvPr>
          <p:cNvGraphicFramePr>
            <a:graphicFrameLocks noGrp="1"/>
          </p:cNvGraphicFramePr>
          <p:nvPr>
            <p:extLst>
              <p:ext uri="{D42A27DB-BD31-4B8C-83A1-F6EECF244321}">
                <p14:modId xmlns:p14="http://schemas.microsoft.com/office/powerpoint/2010/main" val="3930146971"/>
              </p:ext>
            </p:extLst>
          </p:nvPr>
        </p:nvGraphicFramePr>
        <p:xfrm>
          <a:off x="646652" y="1356776"/>
          <a:ext cx="2786830" cy="1666985"/>
        </p:xfrm>
        <a:graphic>
          <a:graphicData uri="http://schemas.openxmlformats.org/drawingml/2006/table">
            <a:tbl>
              <a:tblPr firstRow="1" bandRow="1">
                <a:tableStyleId>{93296810-A885-4BE3-A3E7-6D5BEEA58F35}</a:tableStyleId>
              </a:tblPr>
              <a:tblGrid>
                <a:gridCol w="1393415">
                  <a:extLst>
                    <a:ext uri="{9D8B030D-6E8A-4147-A177-3AD203B41FA5}">
                      <a16:colId xmlns:a16="http://schemas.microsoft.com/office/drawing/2014/main" val="3351498565"/>
                    </a:ext>
                  </a:extLst>
                </a:gridCol>
                <a:gridCol w="1393415">
                  <a:extLst>
                    <a:ext uri="{9D8B030D-6E8A-4147-A177-3AD203B41FA5}">
                      <a16:colId xmlns:a16="http://schemas.microsoft.com/office/drawing/2014/main" val="1370412942"/>
                    </a:ext>
                  </a:extLst>
                </a:gridCol>
              </a:tblGrid>
              <a:tr h="333397">
                <a:tc>
                  <a:txBody>
                    <a:bodyPr/>
                    <a:lstStyle/>
                    <a:p>
                      <a:r>
                        <a:rPr lang="es-ES" sz="1400" dirty="0"/>
                        <a:t>Nota </a:t>
                      </a:r>
                      <a:r>
                        <a:rPr lang="es-ES" sz="1400" dirty="0" err="1"/>
                        <a:t>numèrica</a:t>
                      </a:r>
                      <a:endParaRPr lang="es-ES" sz="1400" dirty="0"/>
                    </a:p>
                  </a:txBody>
                  <a:tcPr/>
                </a:tc>
                <a:tc>
                  <a:txBody>
                    <a:bodyPr/>
                    <a:lstStyle/>
                    <a:p>
                      <a:r>
                        <a:rPr lang="es-ES" sz="1400" dirty="0"/>
                        <a:t>Nota Textual</a:t>
                      </a:r>
                    </a:p>
                  </a:txBody>
                  <a:tcPr/>
                </a:tc>
                <a:extLst>
                  <a:ext uri="{0D108BD9-81ED-4DB2-BD59-A6C34878D82A}">
                    <a16:rowId xmlns:a16="http://schemas.microsoft.com/office/drawing/2014/main" val="2363279190"/>
                  </a:ext>
                </a:extLst>
              </a:tr>
              <a:tr h="333397">
                <a:tc>
                  <a:txBody>
                    <a:bodyPr/>
                    <a:lstStyle/>
                    <a:p>
                      <a:r>
                        <a:rPr lang="es-ES" sz="1400" dirty="0"/>
                        <a:t>1,2,3,4</a:t>
                      </a:r>
                    </a:p>
                  </a:txBody>
                  <a:tcPr/>
                </a:tc>
                <a:tc>
                  <a:txBody>
                    <a:bodyPr/>
                    <a:lstStyle/>
                    <a:p>
                      <a:r>
                        <a:rPr lang="es-ES" sz="1400" dirty="0" err="1"/>
                        <a:t>Insuficient</a:t>
                      </a:r>
                      <a:endParaRPr lang="es-ES" sz="1400" dirty="0"/>
                    </a:p>
                  </a:txBody>
                  <a:tcPr/>
                </a:tc>
                <a:extLst>
                  <a:ext uri="{0D108BD9-81ED-4DB2-BD59-A6C34878D82A}">
                    <a16:rowId xmlns:a16="http://schemas.microsoft.com/office/drawing/2014/main" val="1562817612"/>
                  </a:ext>
                </a:extLst>
              </a:tr>
              <a:tr h="333397">
                <a:tc>
                  <a:txBody>
                    <a:bodyPr/>
                    <a:lstStyle/>
                    <a:p>
                      <a:r>
                        <a:rPr lang="es-ES" sz="1400" dirty="0"/>
                        <a:t>5,6</a:t>
                      </a:r>
                    </a:p>
                  </a:txBody>
                  <a:tcPr/>
                </a:tc>
                <a:tc>
                  <a:txBody>
                    <a:bodyPr/>
                    <a:lstStyle/>
                    <a:p>
                      <a:r>
                        <a:rPr lang="es-ES" sz="1400" dirty="0" err="1"/>
                        <a:t>Suficient</a:t>
                      </a:r>
                      <a:endParaRPr lang="es-ES" sz="1400" dirty="0"/>
                    </a:p>
                  </a:txBody>
                  <a:tcPr/>
                </a:tc>
                <a:extLst>
                  <a:ext uri="{0D108BD9-81ED-4DB2-BD59-A6C34878D82A}">
                    <a16:rowId xmlns:a16="http://schemas.microsoft.com/office/drawing/2014/main" val="2087984484"/>
                  </a:ext>
                </a:extLst>
              </a:tr>
              <a:tr h="333397">
                <a:tc>
                  <a:txBody>
                    <a:bodyPr/>
                    <a:lstStyle/>
                    <a:p>
                      <a:r>
                        <a:rPr lang="es-ES" sz="1400" dirty="0"/>
                        <a:t>7,8</a:t>
                      </a:r>
                    </a:p>
                  </a:txBody>
                  <a:tcPr/>
                </a:tc>
                <a:tc>
                  <a:txBody>
                    <a:bodyPr/>
                    <a:lstStyle/>
                    <a:p>
                      <a:r>
                        <a:rPr lang="es-ES" sz="1400" dirty="0"/>
                        <a:t>Notable</a:t>
                      </a:r>
                    </a:p>
                  </a:txBody>
                  <a:tcPr/>
                </a:tc>
                <a:extLst>
                  <a:ext uri="{0D108BD9-81ED-4DB2-BD59-A6C34878D82A}">
                    <a16:rowId xmlns:a16="http://schemas.microsoft.com/office/drawing/2014/main" val="2268491783"/>
                  </a:ext>
                </a:extLst>
              </a:tr>
              <a:tr h="333397">
                <a:tc>
                  <a:txBody>
                    <a:bodyPr/>
                    <a:lstStyle/>
                    <a:p>
                      <a:r>
                        <a:rPr lang="es-ES" sz="1400" dirty="0"/>
                        <a:t>9,10</a:t>
                      </a:r>
                    </a:p>
                  </a:txBody>
                  <a:tcPr/>
                </a:tc>
                <a:tc>
                  <a:txBody>
                    <a:bodyPr/>
                    <a:lstStyle/>
                    <a:p>
                      <a:r>
                        <a:rPr lang="es-ES" sz="1400" dirty="0" err="1"/>
                        <a:t>Excel·lent</a:t>
                      </a:r>
                      <a:endParaRPr lang="es-ES" sz="1400" dirty="0"/>
                    </a:p>
                  </a:txBody>
                  <a:tcPr/>
                </a:tc>
                <a:extLst>
                  <a:ext uri="{0D108BD9-81ED-4DB2-BD59-A6C34878D82A}">
                    <a16:rowId xmlns:a16="http://schemas.microsoft.com/office/drawing/2014/main" val="2351198669"/>
                  </a:ext>
                </a:extLst>
              </a:tr>
            </a:tbl>
          </a:graphicData>
        </a:graphic>
      </p:graphicFrame>
    </p:spTree>
    <p:extLst>
      <p:ext uri="{BB962C8B-B14F-4D97-AF65-F5344CB8AC3E}">
        <p14:creationId xmlns:p14="http://schemas.microsoft.com/office/powerpoint/2010/main" val="41673843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690E38-C5D6-62F0-465F-E9F10851AE08}"/>
              </a:ext>
            </a:extLst>
          </p:cNvPr>
          <p:cNvSpPr>
            <a:spLocks noGrp="1"/>
          </p:cNvSpPr>
          <p:nvPr>
            <p:ph type="ctrTitle"/>
          </p:nvPr>
        </p:nvSpPr>
        <p:spPr/>
        <p:txBody>
          <a:bodyPr/>
          <a:lstStyle/>
          <a:p>
            <a:r>
              <a:rPr lang="es-ES" dirty="0"/>
              <a:t>ESTRUCTURES ITERATIVES</a:t>
            </a:r>
          </a:p>
        </p:txBody>
      </p:sp>
    </p:spTree>
    <p:extLst>
      <p:ext uri="{BB962C8B-B14F-4D97-AF65-F5344CB8AC3E}">
        <p14:creationId xmlns:p14="http://schemas.microsoft.com/office/powerpoint/2010/main" val="39247782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Estructures </a:t>
            </a:r>
            <a:r>
              <a:rPr lang="es-ES" dirty="0" err="1"/>
              <a:t>iteratives</a:t>
            </a:r>
            <a:endParaRPr lang="es-ES" dirty="0"/>
          </a:p>
        </p:txBody>
      </p:sp>
      <p:sp>
        <p:nvSpPr>
          <p:cNvPr id="3" name="Content Placeholder 2"/>
          <p:cNvSpPr>
            <a:spLocks noGrp="1"/>
          </p:cNvSpPr>
          <p:nvPr>
            <p:ph idx="1"/>
          </p:nvPr>
        </p:nvSpPr>
        <p:spPr/>
        <p:txBody>
          <a:bodyPr>
            <a:normAutofit/>
          </a:bodyPr>
          <a:lstStyle/>
          <a:p>
            <a:pPr>
              <a:lnSpc>
                <a:spcPct val="150000"/>
              </a:lnSpc>
            </a:pPr>
            <a:r>
              <a:rPr lang="es-ES" sz="2000" dirty="0" err="1"/>
              <a:t>Fem</a:t>
            </a:r>
            <a:r>
              <a:rPr lang="es-ES" sz="2000" dirty="0"/>
              <a:t> servir les estructures </a:t>
            </a:r>
            <a:r>
              <a:rPr lang="es-ES" sz="2000" dirty="0" err="1"/>
              <a:t>iteratives</a:t>
            </a:r>
            <a:r>
              <a:rPr lang="es-ES" sz="2000" dirty="0"/>
              <a:t> </a:t>
            </a:r>
            <a:r>
              <a:rPr lang="es-ES" sz="2000" dirty="0" err="1"/>
              <a:t>quan</a:t>
            </a:r>
            <a:r>
              <a:rPr lang="es-ES" sz="2000" dirty="0"/>
              <a:t> </a:t>
            </a:r>
            <a:r>
              <a:rPr lang="es-ES" sz="2000" dirty="0" err="1"/>
              <a:t>volem</a:t>
            </a:r>
            <a:r>
              <a:rPr lang="es-ES" sz="2000" dirty="0"/>
              <a:t> que el programa </a:t>
            </a:r>
            <a:r>
              <a:rPr lang="es-ES" sz="2000" dirty="0" err="1"/>
              <a:t>repeteixi</a:t>
            </a:r>
            <a:r>
              <a:rPr lang="es-ES" sz="2000" dirty="0"/>
              <a:t> una </a:t>
            </a:r>
            <a:r>
              <a:rPr lang="es-ES" sz="2000" dirty="0" err="1"/>
              <a:t>sèrie</a:t>
            </a:r>
            <a:r>
              <a:rPr lang="es-ES" sz="2000" dirty="0"/>
              <a:t> </a:t>
            </a:r>
            <a:r>
              <a:rPr lang="es-ES" sz="2000" dirty="0" err="1"/>
              <a:t>d’operacions</a:t>
            </a:r>
            <a:r>
              <a:rPr lang="es-ES" sz="2000" dirty="0"/>
              <a:t> </a:t>
            </a:r>
            <a:r>
              <a:rPr lang="es-ES" sz="2000" dirty="0" err="1"/>
              <a:t>moltes</a:t>
            </a:r>
            <a:r>
              <a:rPr lang="es-ES" sz="2000" dirty="0"/>
              <a:t> </a:t>
            </a:r>
            <a:r>
              <a:rPr lang="es-ES" sz="2000" dirty="0" err="1"/>
              <a:t>vegades</a:t>
            </a:r>
            <a:r>
              <a:rPr lang="es-ES" sz="2000" dirty="0"/>
              <a:t>. </a:t>
            </a:r>
          </a:p>
          <a:p>
            <a:pPr>
              <a:lnSpc>
                <a:spcPct val="150000"/>
              </a:lnSpc>
            </a:pPr>
            <a:r>
              <a:rPr lang="es-ES" sz="2000" dirty="0" err="1"/>
              <a:t>S’anomenen</a:t>
            </a:r>
            <a:r>
              <a:rPr lang="es-ES" sz="2000" dirty="0"/>
              <a:t> també bucles</a:t>
            </a:r>
          </a:p>
        </p:txBody>
      </p:sp>
    </p:spTree>
    <p:extLst>
      <p:ext uri="{BB962C8B-B14F-4D97-AF65-F5344CB8AC3E}">
        <p14:creationId xmlns:p14="http://schemas.microsoft.com/office/powerpoint/2010/main" val="5489557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Exemples</a:t>
            </a:r>
            <a:r>
              <a:rPr lang="es-ES" dirty="0"/>
              <a:t>  de la vida </a:t>
            </a:r>
            <a:r>
              <a:rPr lang="es-ES" dirty="0" err="1"/>
              <a:t>quotidiana</a:t>
            </a:r>
            <a:endParaRPr lang="es-ES" dirty="0"/>
          </a:p>
        </p:txBody>
      </p:sp>
      <p:sp>
        <p:nvSpPr>
          <p:cNvPr id="3" name="Content Placeholder 2"/>
          <p:cNvSpPr>
            <a:spLocks noGrp="1"/>
          </p:cNvSpPr>
          <p:nvPr>
            <p:ph idx="1"/>
          </p:nvPr>
        </p:nvSpPr>
        <p:spPr/>
        <p:txBody>
          <a:bodyPr>
            <a:normAutofit/>
          </a:bodyPr>
          <a:lstStyle/>
          <a:p>
            <a:pPr marL="514350" indent="-514350">
              <a:lnSpc>
                <a:spcPct val="100000"/>
              </a:lnSpc>
              <a:buFont typeface="+mj-lt"/>
              <a:buAutoNum type="arabicPeriod"/>
            </a:pPr>
            <a:r>
              <a:rPr lang="es-ES" sz="2000" dirty="0" err="1"/>
              <a:t>Nois</a:t>
            </a:r>
            <a:r>
              <a:rPr lang="es-ES" sz="2000" dirty="0"/>
              <a:t>, </a:t>
            </a:r>
            <a:r>
              <a:rPr lang="es-ES" sz="2000" dirty="0" err="1"/>
              <a:t>heu</a:t>
            </a:r>
            <a:r>
              <a:rPr lang="es-ES" sz="2000" dirty="0"/>
              <a:t> de </a:t>
            </a:r>
            <a:r>
              <a:rPr lang="es-ES" sz="2000" dirty="0" err="1"/>
              <a:t>fer</a:t>
            </a:r>
            <a:r>
              <a:rPr lang="es-ES" sz="2000" dirty="0"/>
              <a:t> 3 </a:t>
            </a:r>
            <a:r>
              <a:rPr lang="es-ES" sz="2000" dirty="0" err="1"/>
              <a:t>voltes</a:t>
            </a:r>
            <a:r>
              <a:rPr lang="es-ES" sz="2000" dirty="0"/>
              <a:t> </a:t>
            </a:r>
            <a:r>
              <a:rPr lang="es-ES" sz="2000" dirty="0" err="1"/>
              <a:t>corrent</a:t>
            </a:r>
            <a:r>
              <a:rPr lang="es-ES" sz="2000" dirty="0"/>
              <a:t> al </a:t>
            </a:r>
            <a:r>
              <a:rPr lang="es-ES" sz="2000" dirty="0" err="1"/>
              <a:t>pati</a:t>
            </a:r>
            <a:r>
              <a:rPr lang="es-ES" sz="2000" dirty="0"/>
              <a:t> de </a:t>
            </a:r>
            <a:r>
              <a:rPr lang="es-ES" sz="2000" dirty="0" err="1"/>
              <a:t>l’escola</a:t>
            </a:r>
            <a:endParaRPr lang="es-ES" sz="2000" dirty="0"/>
          </a:p>
          <a:p>
            <a:pPr marL="514350" indent="-514350">
              <a:lnSpc>
                <a:spcPct val="100000"/>
              </a:lnSpc>
              <a:buFont typeface="+mj-lt"/>
              <a:buAutoNum type="arabicPeriod"/>
            </a:pPr>
            <a:r>
              <a:rPr lang="es-ES" sz="2000" dirty="0" err="1"/>
              <a:t>Disposem</a:t>
            </a:r>
            <a:r>
              <a:rPr lang="es-ES" sz="2000" dirty="0"/>
              <a:t> d’un </a:t>
            </a:r>
            <a:r>
              <a:rPr lang="es-ES" sz="2000" dirty="0" err="1"/>
              <a:t>clauer</a:t>
            </a:r>
            <a:r>
              <a:rPr lang="es-ES" sz="2000" dirty="0"/>
              <a:t> </a:t>
            </a:r>
            <a:r>
              <a:rPr lang="es-ES" sz="2000" dirty="0" err="1"/>
              <a:t>amb</a:t>
            </a:r>
            <a:r>
              <a:rPr lang="es-ES" sz="2000" dirty="0"/>
              <a:t> 10 Claus i </a:t>
            </a:r>
            <a:r>
              <a:rPr lang="es-ES" sz="2000" dirty="0" err="1"/>
              <a:t>hem</a:t>
            </a:r>
            <a:r>
              <a:rPr lang="es-ES" sz="2000" dirty="0"/>
              <a:t> </a:t>
            </a:r>
            <a:r>
              <a:rPr lang="es-ES" sz="2000" dirty="0" err="1"/>
              <a:t>d’obrir</a:t>
            </a:r>
            <a:r>
              <a:rPr lang="es-ES" sz="2000" dirty="0"/>
              <a:t> la porta </a:t>
            </a:r>
            <a:r>
              <a:rPr lang="es-ES" sz="2000" dirty="0" err="1"/>
              <a:t>d’entrada</a:t>
            </a:r>
            <a:r>
              <a:rPr lang="es-ES" sz="2000" dirty="0"/>
              <a:t> a </a:t>
            </a:r>
            <a:r>
              <a:rPr lang="es-ES" sz="2000" dirty="0" err="1"/>
              <a:t>l’aula</a:t>
            </a:r>
            <a:endParaRPr lang="es-ES" sz="2000" dirty="0"/>
          </a:p>
          <a:p>
            <a:pPr marL="514350" indent="-514350">
              <a:lnSpc>
                <a:spcPct val="100000"/>
              </a:lnSpc>
              <a:buFont typeface="+mj-lt"/>
              <a:buAutoNum type="arabicPeriod"/>
            </a:pPr>
            <a:r>
              <a:rPr lang="es-ES" sz="2000" dirty="0"/>
              <a:t>Martí, </a:t>
            </a:r>
            <a:r>
              <a:rPr lang="es-ES" sz="2000" dirty="0" err="1"/>
              <a:t>jugarem</a:t>
            </a:r>
            <a:r>
              <a:rPr lang="es-ES" sz="2000" dirty="0"/>
              <a:t> 5 partides al dominó i </a:t>
            </a:r>
            <a:r>
              <a:rPr lang="es-ES" sz="2000" dirty="0" err="1"/>
              <a:t>després</a:t>
            </a:r>
            <a:r>
              <a:rPr lang="es-ES" sz="2000" dirty="0"/>
              <a:t> a </a:t>
            </a:r>
            <a:r>
              <a:rPr lang="es-ES" sz="2000" dirty="0" err="1"/>
              <a:t>llegir</a:t>
            </a:r>
            <a:endParaRPr lang="ca-ES" sz="2000" dirty="0"/>
          </a:p>
          <a:p>
            <a:pPr marL="514350" indent="-514350">
              <a:lnSpc>
                <a:spcPct val="100000"/>
              </a:lnSpc>
              <a:buFont typeface="+mj-lt"/>
              <a:buAutoNum type="arabicPeriod"/>
            </a:pPr>
            <a:r>
              <a:rPr lang="ca-ES" sz="2000" dirty="0"/>
              <a:t>Tutora, demana el telèfon a cadascun dels teus alumnes</a:t>
            </a:r>
          </a:p>
          <a:p>
            <a:pPr marL="514350" indent="-514350">
              <a:lnSpc>
                <a:spcPct val="100000"/>
              </a:lnSpc>
              <a:buFont typeface="+mj-lt"/>
              <a:buAutoNum type="arabicPeriod"/>
            </a:pPr>
            <a:r>
              <a:rPr lang="ca-ES" sz="2000" dirty="0"/>
              <a:t>Una recomanació: “demana-li per sortir i insisteix fins que et digui que sí”.</a:t>
            </a:r>
            <a:endParaRPr lang="es-ES" sz="2000" dirty="0"/>
          </a:p>
        </p:txBody>
      </p:sp>
    </p:spTree>
    <p:extLst>
      <p:ext uri="{BB962C8B-B14F-4D97-AF65-F5344CB8AC3E}">
        <p14:creationId xmlns:p14="http://schemas.microsoft.com/office/powerpoint/2010/main" val="2608864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879" y="2353583"/>
            <a:ext cx="7886700" cy="1521731"/>
          </a:xfrm>
        </p:spPr>
        <p:txBody>
          <a:bodyPr>
            <a:normAutofit fontScale="90000"/>
          </a:bodyPr>
          <a:lstStyle/>
          <a:p>
            <a:pPr algn="ctr"/>
            <a:r>
              <a:rPr lang="es-ES" dirty="0" err="1"/>
              <a:t>Quantes</a:t>
            </a:r>
            <a:r>
              <a:rPr lang="es-ES" dirty="0"/>
              <a:t> </a:t>
            </a:r>
            <a:r>
              <a:rPr lang="es-ES" dirty="0" err="1"/>
              <a:t>vegades</a:t>
            </a:r>
            <a:r>
              <a:rPr lang="es-ES" dirty="0"/>
              <a:t> </a:t>
            </a:r>
            <a:r>
              <a:rPr lang="es-ES" dirty="0" err="1"/>
              <a:t>haurem</a:t>
            </a:r>
            <a:r>
              <a:rPr lang="es-ES" dirty="0"/>
              <a:t> de repetir </a:t>
            </a:r>
            <a:r>
              <a:rPr lang="es-ES" dirty="0" err="1"/>
              <a:t>cadascuna</a:t>
            </a:r>
            <a:r>
              <a:rPr lang="es-ES" dirty="0"/>
              <a:t> de les preguntes </a:t>
            </a:r>
            <a:r>
              <a:rPr lang="es-ES" dirty="0" err="1"/>
              <a:t>anteriors</a:t>
            </a:r>
            <a:r>
              <a:rPr lang="es-ES" dirty="0"/>
              <a:t>?</a:t>
            </a:r>
          </a:p>
        </p:txBody>
      </p:sp>
    </p:spTree>
    <p:extLst>
      <p:ext uri="{BB962C8B-B14F-4D97-AF65-F5344CB8AC3E}">
        <p14:creationId xmlns:p14="http://schemas.microsoft.com/office/powerpoint/2010/main" val="12028495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Tipus</a:t>
            </a:r>
            <a:r>
              <a:rPr lang="es-ES" dirty="0"/>
              <a:t> de Bucles</a:t>
            </a:r>
          </a:p>
        </p:txBody>
      </p:sp>
      <p:sp>
        <p:nvSpPr>
          <p:cNvPr id="3" name="Content Placeholder 2"/>
          <p:cNvSpPr>
            <a:spLocks noGrp="1"/>
          </p:cNvSpPr>
          <p:nvPr>
            <p:ph idx="1"/>
          </p:nvPr>
        </p:nvSpPr>
        <p:spPr/>
        <p:txBody>
          <a:bodyPr>
            <a:normAutofit/>
          </a:bodyPr>
          <a:lstStyle/>
          <a:p>
            <a:pPr marL="514350" indent="-514350">
              <a:lnSpc>
                <a:spcPct val="150000"/>
              </a:lnSpc>
              <a:buFont typeface="+mj-lt"/>
              <a:buAutoNum type="arabicPeriod"/>
            </a:pPr>
            <a:r>
              <a:rPr lang="es-ES" dirty="0">
                <a:solidFill>
                  <a:srgbClr val="FF0000"/>
                </a:solidFill>
              </a:rPr>
              <a:t>PER CONDICIÓ</a:t>
            </a:r>
          </a:p>
          <a:p>
            <a:pPr marL="971550" lvl="1" indent="-514350">
              <a:lnSpc>
                <a:spcPct val="150000"/>
              </a:lnSpc>
              <a:buFont typeface="+mj-lt"/>
              <a:buAutoNum type="arabicPeriod"/>
            </a:pPr>
            <a:r>
              <a:rPr lang="es-ES" dirty="0"/>
              <a:t>BUCLE MENTRE</a:t>
            </a:r>
          </a:p>
          <a:p>
            <a:pPr marL="971550" lvl="1" indent="-514350">
              <a:lnSpc>
                <a:spcPct val="150000"/>
              </a:lnSpc>
              <a:buFont typeface="+mj-lt"/>
              <a:buAutoNum type="arabicPeriod"/>
            </a:pPr>
            <a:r>
              <a:rPr lang="es-ES" dirty="0"/>
              <a:t>BUCLE REPETIR</a:t>
            </a:r>
          </a:p>
          <a:p>
            <a:pPr marL="514350" indent="-514350">
              <a:lnSpc>
                <a:spcPct val="150000"/>
              </a:lnSpc>
              <a:buFont typeface="+mj-lt"/>
              <a:buAutoNum type="arabicPeriod"/>
            </a:pPr>
            <a:r>
              <a:rPr lang="es-ES" dirty="0">
                <a:solidFill>
                  <a:srgbClr val="FF0000"/>
                </a:solidFill>
              </a:rPr>
              <a:t>PER NÚMERO DE VOLTES</a:t>
            </a:r>
          </a:p>
          <a:p>
            <a:pPr marL="971550" lvl="1" indent="-514350">
              <a:lnSpc>
                <a:spcPct val="150000"/>
              </a:lnSpc>
              <a:buFont typeface="+mj-lt"/>
              <a:buAutoNum type="arabicPeriod"/>
            </a:pPr>
            <a:r>
              <a:rPr lang="es-ES" dirty="0"/>
              <a:t>BUCLE PER</a:t>
            </a:r>
          </a:p>
          <a:p>
            <a:pPr marL="514350" indent="-514350">
              <a:buFont typeface="+mj-lt"/>
              <a:buAutoNum type="arabicPeriod"/>
            </a:pPr>
            <a:endParaRPr lang="es-ES" b="1" dirty="0">
              <a:solidFill>
                <a:srgbClr val="FF0000"/>
              </a:solidFill>
            </a:endParaRPr>
          </a:p>
          <a:p>
            <a:pPr marL="514350" indent="-514350">
              <a:buFont typeface="+mj-lt"/>
              <a:buAutoNum type="arabicPeriod"/>
            </a:pPr>
            <a:endParaRPr lang="es-ES" b="1" dirty="0">
              <a:solidFill>
                <a:srgbClr val="FF0000"/>
              </a:solidFill>
            </a:endParaRPr>
          </a:p>
          <a:p>
            <a:pPr marL="514350" indent="-514350">
              <a:buFont typeface="+mj-lt"/>
              <a:buAutoNum type="arabicPeriod"/>
            </a:pPr>
            <a:endParaRPr lang="es-ES" b="1" dirty="0">
              <a:solidFill>
                <a:srgbClr val="FF0000"/>
              </a:solidFill>
            </a:endParaRPr>
          </a:p>
          <a:p>
            <a:pPr marL="514350" indent="-514350">
              <a:buFont typeface="+mj-lt"/>
              <a:buAutoNum type="arabicPeriod"/>
            </a:pPr>
            <a:endParaRPr lang="es-ES" b="1" dirty="0">
              <a:solidFill>
                <a:srgbClr val="FF0000"/>
              </a:solidFill>
            </a:endParaRPr>
          </a:p>
        </p:txBody>
      </p:sp>
    </p:spTree>
    <p:extLst>
      <p:ext uri="{BB962C8B-B14F-4D97-AF65-F5344CB8AC3E}">
        <p14:creationId xmlns:p14="http://schemas.microsoft.com/office/powerpoint/2010/main" val="31839042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Bucle per </a:t>
            </a:r>
            <a:r>
              <a:rPr lang="es-ES" dirty="0" err="1"/>
              <a:t>Condició</a:t>
            </a:r>
            <a:endParaRPr lang="es-ES" dirty="0"/>
          </a:p>
        </p:txBody>
      </p:sp>
      <p:sp>
        <p:nvSpPr>
          <p:cNvPr id="3" name="Content Placeholder 2"/>
          <p:cNvSpPr>
            <a:spLocks noGrp="1"/>
          </p:cNvSpPr>
          <p:nvPr>
            <p:ph idx="1"/>
          </p:nvPr>
        </p:nvSpPr>
        <p:spPr/>
        <p:txBody>
          <a:bodyPr/>
          <a:lstStyle/>
          <a:p>
            <a:pPr marL="457200" indent="-457200">
              <a:buFont typeface="+mj-lt"/>
              <a:buAutoNum type="arabicPeriod"/>
            </a:pPr>
            <a:r>
              <a:rPr lang="es-ES" dirty="0">
                <a:solidFill>
                  <a:srgbClr val="FF0000"/>
                </a:solidFill>
              </a:rPr>
              <a:t>BUCLE MENTRE</a:t>
            </a:r>
          </a:p>
          <a:p>
            <a:pPr lvl="1">
              <a:lnSpc>
                <a:spcPct val="150000"/>
              </a:lnSpc>
            </a:pPr>
            <a:r>
              <a:rPr lang="es-ES" dirty="0"/>
              <a:t>El nombre </a:t>
            </a:r>
            <a:r>
              <a:rPr lang="es-ES" dirty="0" err="1"/>
              <a:t>d’iteracions</a:t>
            </a:r>
            <a:r>
              <a:rPr lang="es-ES" dirty="0"/>
              <a:t> </a:t>
            </a:r>
            <a:r>
              <a:rPr lang="es-ES" dirty="0" err="1"/>
              <a:t>vindrà</a:t>
            </a:r>
            <a:r>
              <a:rPr lang="es-ES" dirty="0"/>
              <a:t> </a:t>
            </a:r>
            <a:r>
              <a:rPr lang="es-ES" dirty="0" err="1"/>
              <a:t>determinat</a:t>
            </a:r>
            <a:r>
              <a:rPr lang="es-ES" dirty="0"/>
              <a:t> per la </a:t>
            </a:r>
            <a:r>
              <a:rPr lang="es-ES" dirty="0" err="1"/>
              <a:t>condició</a:t>
            </a:r>
            <a:endParaRPr lang="es-ES" dirty="0"/>
          </a:p>
          <a:p>
            <a:pPr lvl="1">
              <a:lnSpc>
                <a:spcPct val="150000"/>
              </a:lnSpc>
            </a:pPr>
            <a:r>
              <a:rPr lang="es-ES" dirty="0" err="1">
                <a:highlight>
                  <a:srgbClr val="CCFFCC"/>
                </a:highlight>
              </a:rPr>
              <a:t>Desconneixem</a:t>
            </a:r>
            <a:r>
              <a:rPr lang="es-ES" dirty="0">
                <a:highlight>
                  <a:srgbClr val="CCFFCC"/>
                </a:highlight>
              </a:rPr>
              <a:t> el nombre de </a:t>
            </a:r>
            <a:r>
              <a:rPr lang="es-ES" dirty="0" err="1">
                <a:highlight>
                  <a:srgbClr val="CCFFCC"/>
                </a:highlight>
              </a:rPr>
              <a:t>vegades</a:t>
            </a:r>
            <a:r>
              <a:rPr lang="es-ES" dirty="0">
                <a:highlight>
                  <a:srgbClr val="CCFFCC"/>
                </a:highlight>
              </a:rPr>
              <a:t> que es </a:t>
            </a:r>
            <a:r>
              <a:rPr lang="es-ES" dirty="0" err="1">
                <a:highlight>
                  <a:srgbClr val="CCFFCC"/>
                </a:highlight>
              </a:rPr>
              <a:t>realitzarà</a:t>
            </a:r>
            <a:r>
              <a:rPr lang="es-ES" dirty="0">
                <a:highlight>
                  <a:srgbClr val="CCFFCC"/>
                </a:highlight>
              </a:rPr>
              <a:t> (0 o </a:t>
            </a:r>
            <a:r>
              <a:rPr lang="es-ES" dirty="0" err="1">
                <a:highlight>
                  <a:srgbClr val="CCFFCC"/>
                </a:highlight>
              </a:rPr>
              <a:t>molts</a:t>
            </a:r>
            <a:r>
              <a:rPr lang="es-ES" dirty="0">
                <a:highlight>
                  <a:srgbClr val="CCFFCC"/>
                </a:highlight>
              </a:rPr>
              <a:t>)</a:t>
            </a:r>
          </a:p>
          <a:p>
            <a:pPr lvl="1">
              <a:lnSpc>
                <a:spcPct val="150000"/>
              </a:lnSpc>
            </a:pPr>
            <a:r>
              <a:rPr lang="es-ES" dirty="0"/>
              <a:t>ESTRUCTURA:</a:t>
            </a:r>
          </a:p>
          <a:p>
            <a:pPr marL="457200" lvl="1" indent="0">
              <a:buNone/>
            </a:pPr>
            <a:r>
              <a:rPr lang="es-ES" dirty="0"/>
              <a:t>		</a:t>
            </a:r>
            <a:r>
              <a:rPr lang="es-ES" sz="1800" dirty="0">
                <a:latin typeface="Century Gothic" panose="020B0502020202020204" pitchFamily="34" charset="0"/>
              </a:rPr>
              <a:t>Mientras </a:t>
            </a:r>
            <a:r>
              <a:rPr lang="es-ES" sz="1800" dirty="0" err="1">
                <a:latin typeface="Century Gothic" panose="020B0502020202020204" pitchFamily="34" charset="0"/>
              </a:rPr>
              <a:t>expresion_lógica</a:t>
            </a:r>
            <a:r>
              <a:rPr lang="es-ES" sz="1800" dirty="0">
                <a:latin typeface="Century Gothic" panose="020B0502020202020204" pitchFamily="34" charset="0"/>
              </a:rPr>
              <a:t>==</a:t>
            </a:r>
            <a:r>
              <a:rPr lang="es-ES" sz="1800" dirty="0" err="1">
                <a:latin typeface="Century Gothic" panose="020B0502020202020204" pitchFamily="34" charset="0"/>
              </a:rPr>
              <a:t>certa</a:t>
            </a:r>
            <a:r>
              <a:rPr lang="es-ES" sz="1800" dirty="0">
                <a:latin typeface="Century Gothic" panose="020B0502020202020204" pitchFamily="34" charset="0"/>
              </a:rPr>
              <a:t> Hacer</a:t>
            </a:r>
          </a:p>
          <a:p>
            <a:pPr marL="457200" lvl="1" indent="0">
              <a:buNone/>
            </a:pPr>
            <a:r>
              <a:rPr lang="es-ES" sz="1800" dirty="0">
                <a:latin typeface="Century Gothic" panose="020B0502020202020204" pitchFamily="34" charset="0"/>
              </a:rPr>
              <a:t>			</a:t>
            </a:r>
            <a:r>
              <a:rPr lang="es-ES" sz="1800" dirty="0" err="1">
                <a:latin typeface="Century Gothic" panose="020B0502020202020204" pitchFamily="34" charset="0"/>
              </a:rPr>
              <a:t>secuencia_de_acciones</a:t>
            </a:r>
            <a:endParaRPr lang="es-ES" sz="1800" dirty="0">
              <a:latin typeface="Century Gothic" panose="020B0502020202020204" pitchFamily="34" charset="0"/>
            </a:endParaRPr>
          </a:p>
          <a:p>
            <a:pPr marL="457200" lvl="1" indent="0">
              <a:buNone/>
            </a:pPr>
            <a:r>
              <a:rPr lang="es-ES" sz="1800" dirty="0">
                <a:latin typeface="Century Gothic" panose="020B0502020202020204" pitchFamily="34" charset="0"/>
              </a:rPr>
              <a:t>		Fin Mientras</a:t>
            </a:r>
          </a:p>
        </p:txBody>
      </p:sp>
    </p:spTree>
    <p:extLst>
      <p:ext uri="{BB962C8B-B14F-4D97-AF65-F5344CB8AC3E}">
        <p14:creationId xmlns:p14="http://schemas.microsoft.com/office/powerpoint/2010/main" val="3378553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Resolució</a:t>
            </a:r>
            <a:r>
              <a:rPr lang="es-ES" dirty="0"/>
              <a:t> </a:t>
            </a:r>
            <a:r>
              <a:rPr lang="es-ES" dirty="0" err="1"/>
              <a:t>Exercici</a:t>
            </a:r>
            <a:r>
              <a:rPr lang="es-ES" dirty="0"/>
              <a:t> 5</a:t>
            </a:r>
          </a:p>
        </p:txBody>
      </p:sp>
      <p:sp>
        <p:nvSpPr>
          <p:cNvPr id="3" name="Content Placeholder 2"/>
          <p:cNvSpPr>
            <a:spLocks noGrp="1"/>
          </p:cNvSpPr>
          <p:nvPr>
            <p:ph idx="1"/>
          </p:nvPr>
        </p:nvSpPr>
        <p:spPr/>
        <p:txBody>
          <a:bodyPr>
            <a:normAutofit/>
          </a:bodyPr>
          <a:lstStyle/>
          <a:p>
            <a:r>
              <a:rPr lang="ca-ES" dirty="0"/>
              <a:t>Una recomanació: demana-li per sortir i insisteix fins que et digui que sí.</a:t>
            </a:r>
          </a:p>
        </p:txBody>
      </p:sp>
      <p:pic>
        <p:nvPicPr>
          <p:cNvPr id="6" name="Imagen 5">
            <a:extLst>
              <a:ext uri="{FF2B5EF4-FFF2-40B4-BE49-F238E27FC236}">
                <a16:creationId xmlns:a16="http://schemas.microsoft.com/office/drawing/2014/main" id="{962C26D8-4F63-4A76-8563-CD6BBA23C947}"/>
              </a:ext>
            </a:extLst>
          </p:cNvPr>
          <p:cNvPicPr>
            <a:picLocks noChangeAspect="1"/>
          </p:cNvPicPr>
          <p:nvPr/>
        </p:nvPicPr>
        <p:blipFill>
          <a:blip r:embed="rId2"/>
          <a:stretch>
            <a:fillRect/>
          </a:stretch>
        </p:blipFill>
        <p:spPr>
          <a:xfrm>
            <a:off x="5453355" y="1089660"/>
            <a:ext cx="2899171" cy="3616914"/>
          </a:xfrm>
          <a:prstGeom prst="rect">
            <a:avLst/>
          </a:prstGeom>
          <a:ln>
            <a:solidFill>
              <a:schemeClr val="tx1"/>
            </a:solidFill>
            <a:prstDash val="lgDash"/>
          </a:ln>
        </p:spPr>
      </p:pic>
      <p:sp>
        <p:nvSpPr>
          <p:cNvPr id="7" name="CuadroTexto 6">
            <a:extLst>
              <a:ext uri="{FF2B5EF4-FFF2-40B4-BE49-F238E27FC236}">
                <a16:creationId xmlns:a16="http://schemas.microsoft.com/office/drawing/2014/main" id="{2C7C3560-AA47-B678-A4CD-8EF05CEFCCCA}"/>
              </a:ext>
            </a:extLst>
          </p:cNvPr>
          <p:cNvSpPr txBox="1"/>
          <p:nvPr/>
        </p:nvSpPr>
        <p:spPr>
          <a:xfrm>
            <a:off x="686303" y="1078230"/>
            <a:ext cx="4625340" cy="3539430"/>
          </a:xfrm>
          <a:prstGeom prst="rect">
            <a:avLst/>
          </a:prstGeom>
          <a:noFill/>
          <a:ln>
            <a:solidFill>
              <a:schemeClr val="tx1"/>
            </a:solidFill>
            <a:prstDash val="dash"/>
          </a:ln>
        </p:spPr>
        <p:txBody>
          <a:bodyPr wrap="square">
            <a:spAutoFit/>
          </a:bodyPr>
          <a:lstStyle/>
          <a:p>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main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bool</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resposta</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Vols</a:t>
            </a:r>
            <a:r>
              <a:rPr lang="es-ES" sz="1400" b="0" dirty="0">
                <a:solidFill>
                  <a:srgbClr val="A31515"/>
                </a:solidFill>
                <a:effectLst/>
                <a:latin typeface="Consolas" panose="020B0609020204030204" pitchFamily="49" charset="0"/>
              </a:rPr>
              <a:t> </a:t>
            </a:r>
            <a:r>
              <a:rPr lang="es-ES" sz="1400" b="0" dirty="0" err="1">
                <a:solidFill>
                  <a:srgbClr val="A31515"/>
                </a:solidFill>
                <a:effectLst/>
                <a:latin typeface="Consolas" panose="020B0609020204030204" pitchFamily="49" charset="0"/>
              </a:rPr>
              <a:t>sortir</a:t>
            </a:r>
            <a:r>
              <a:rPr lang="es-ES" sz="1400" b="0" dirty="0">
                <a:solidFill>
                  <a:srgbClr val="A31515"/>
                </a:solidFill>
                <a:effectLst/>
                <a:latin typeface="Consolas" panose="020B0609020204030204" pitchFamily="49" charset="0"/>
              </a:rPr>
              <a:t> </a:t>
            </a:r>
            <a:r>
              <a:rPr lang="es-ES" sz="1400" b="0" dirty="0" err="1">
                <a:solidFill>
                  <a:srgbClr val="A31515"/>
                </a:solidFill>
                <a:effectLst/>
                <a:latin typeface="Consolas" panose="020B0609020204030204" pitchFamily="49" charset="0"/>
              </a:rPr>
              <a:t>amb</a:t>
            </a:r>
            <a:r>
              <a:rPr lang="es-ES" sz="1400" b="0" dirty="0">
                <a:solidFill>
                  <a:srgbClr val="A31515"/>
                </a:solidFill>
                <a:effectLst/>
                <a:latin typeface="Consolas" panose="020B0609020204030204" pitchFamily="49" charset="0"/>
              </a:rPr>
              <a:t> mi?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a:t>
            </a:r>
            <a:r>
              <a:rPr lang="es-ES" sz="1400" b="0" dirty="0" err="1">
                <a:solidFill>
                  <a:srgbClr val="000000"/>
                </a:solidFill>
                <a:effectLst/>
                <a:latin typeface="Consolas" panose="020B0609020204030204" pitchFamily="49" charset="0"/>
              </a:rPr>
              <a:t>resposta</a:t>
            </a:r>
            <a:r>
              <a:rPr lang="es-ES" sz="1400" b="0" dirty="0">
                <a:solidFill>
                  <a:srgbClr val="000000"/>
                </a:solidFill>
                <a:effectLst/>
                <a:latin typeface="Consolas" panose="020B0609020204030204" pitchFamily="49" charset="0"/>
              </a:rPr>
              <a:t>);</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while</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resposta</a:t>
            </a:r>
            <a:r>
              <a:rPr lang="es-ES" sz="1400" b="0" dirty="0">
                <a:solidFill>
                  <a:srgbClr val="000000"/>
                </a:solidFill>
                <a:effectLst/>
                <a:latin typeface="Consolas" panose="020B0609020204030204" pitchFamily="49" charset="0"/>
              </a:rPr>
              <a:t>==</a:t>
            </a:r>
            <a:r>
              <a:rPr lang="es-ES" sz="1400" b="0" dirty="0">
                <a:solidFill>
                  <a:srgbClr val="0000FF"/>
                </a:solidFill>
                <a:effectLst/>
                <a:latin typeface="Consolas" panose="020B0609020204030204" pitchFamily="49" charset="0"/>
              </a:rPr>
              <a:t>false</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Vols</a:t>
            </a:r>
            <a:r>
              <a:rPr lang="es-ES" sz="1400" b="0" dirty="0">
                <a:solidFill>
                  <a:srgbClr val="A31515"/>
                </a:solidFill>
                <a:effectLst/>
                <a:latin typeface="Consolas" panose="020B0609020204030204" pitchFamily="49" charset="0"/>
              </a:rPr>
              <a:t> </a:t>
            </a:r>
            <a:r>
              <a:rPr lang="es-ES" sz="1400" b="0" dirty="0" err="1">
                <a:solidFill>
                  <a:srgbClr val="A31515"/>
                </a:solidFill>
                <a:effectLst/>
                <a:latin typeface="Consolas" panose="020B0609020204030204" pitchFamily="49" charset="0"/>
              </a:rPr>
              <a:t>sortir</a:t>
            </a:r>
            <a:r>
              <a:rPr lang="es-ES" sz="1400" b="0" dirty="0">
                <a:solidFill>
                  <a:srgbClr val="A31515"/>
                </a:solidFill>
                <a:effectLst/>
                <a:latin typeface="Consolas" panose="020B0609020204030204" pitchFamily="49" charset="0"/>
              </a:rPr>
              <a:t> </a:t>
            </a:r>
            <a:r>
              <a:rPr lang="es-ES" sz="1400" b="0" dirty="0" err="1">
                <a:solidFill>
                  <a:srgbClr val="A31515"/>
                </a:solidFill>
                <a:effectLst/>
                <a:latin typeface="Consolas" panose="020B0609020204030204" pitchFamily="49" charset="0"/>
              </a:rPr>
              <a:t>amb</a:t>
            </a:r>
            <a:r>
              <a:rPr lang="es-ES" sz="1400" b="0" dirty="0">
                <a:solidFill>
                  <a:srgbClr val="A31515"/>
                </a:solidFill>
                <a:effectLst/>
                <a:latin typeface="Consolas" panose="020B0609020204030204" pitchFamily="49" charset="0"/>
              </a:rPr>
              <a:t> mi?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a:t>
            </a:r>
            <a:r>
              <a:rPr lang="es-ES" sz="1400" b="0" dirty="0" err="1">
                <a:solidFill>
                  <a:srgbClr val="000000"/>
                </a:solidFill>
                <a:effectLst/>
                <a:latin typeface="Consolas" panose="020B0609020204030204" pitchFamily="49" charset="0"/>
              </a:rPr>
              <a:t>resposta</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Gracies</a:t>
            </a:r>
            <a:r>
              <a:rPr lang="es-ES" sz="1400" b="0" dirty="0">
                <a:solidFill>
                  <a:srgbClr val="A31515"/>
                </a:solidFill>
                <a:effectLst/>
                <a:latin typeface="Consolas" panose="020B0609020204030204" pitchFamily="49" charset="0"/>
              </a:rPr>
              <a:t>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acabament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return</a:t>
            </a:r>
            <a:r>
              <a:rPr lang="es-ES" sz="1400" b="0" dirty="0">
                <a:solidFill>
                  <a:srgbClr val="000000"/>
                </a:solidFill>
                <a:effectLst/>
                <a:latin typeface="Consolas" panose="020B0609020204030204" pitchFamily="49" charset="0"/>
              </a:rPr>
              <a:t> </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50567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Exemple</a:t>
            </a:r>
            <a:r>
              <a:rPr lang="es-ES" dirty="0"/>
              <a:t>:</a:t>
            </a:r>
          </a:p>
        </p:txBody>
      </p:sp>
      <p:sp>
        <p:nvSpPr>
          <p:cNvPr id="3" name="Content Placeholder 2"/>
          <p:cNvSpPr>
            <a:spLocks noGrp="1"/>
          </p:cNvSpPr>
          <p:nvPr>
            <p:ph idx="1"/>
          </p:nvPr>
        </p:nvSpPr>
        <p:spPr/>
        <p:txBody>
          <a:bodyPr>
            <a:normAutofit/>
          </a:bodyPr>
          <a:lstStyle/>
          <a:p>
            <a:pPr marL="0" indent="0" algn="just">
              <a:lnSpc>
                <a:spcPct val="130000"/>
              </a:lnSpc>
              <a:buNone/>
            </a:pPr>
            <a:r>
              <a:rPr lang="ca-ES" dirty="0"/>
              <a:t>Fer un programa que realitzi la divisió de dos nombres. Caldrà controlar que el divisor no sigui zero. Si es produeix aquest fet, li tornarem a demanar a l’usuari fins que el valor sigui correcte.</a:t>
            </a:r>
          </a:p>
        </p:txBody>
      </p:sp>
      <p:sp>
        <p:nvSpPr>
          <p:cNvPr id="6" name="CuadroTexto 5">
            <a:extLst>
              <a:ext uri="{FF2B5EF4-FFF2-40B4-BE49-F238E27FC236}">
                <a16:creationId xmlns:a16="http://schemas.microsoft.com/office/drawing/2014/main" id="{5BB72081-0BC8-9664-E01E-A8885D8DEA26}"/>
              </a:ext>
            </a:extLst>
          </p:cNvPr>
          <p:cNvSpPr txBox="1"/>
          <p:nvPr/>
        </p:nvSpPr>
        <p:spPr>
          <a:xfrm>
            <a:off x="466164" y="1770651"/>
            <a:ext cx="5638801" cy="4185761"/>
          </a:xfrm>
          <a:prstGeom prst="rect">
            <a:avLst/>
          </a:prstGeom>
          <a:noFill/>
          <a:ln>
            <a:solidFill>
              <a:schemeClr val="tx1"/>
            </a:solidFill>
            <a:prstDash val="dash"/>
          </a:ln>
        </p:spPr>
        <p:txBody>
          <a:bodyPr wrap="square">
            <a:spAutoFit/>
          </a:bodyPr>
          <a:lstStyle/>
          <a:p>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main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num,den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Introdueix</a:t>
            </a:r>
            <a:r>
              <a:rPr lang="es-ES" sz="1400" b="0" dirty="0">
                <a:solidFill>
                  <a:srgbClr val="A31515"/>
                </a:solidFill>
                <a:effectLst/>
                <a:latin typeface="Consolas" panose="020B0609020204030204" pitchFamily="49" charset="0"/>
              </a:rPr>
              <a:t> el numerador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Introdueix</a:t>
            </a:r>
            <a:r>
              <a:rPr lang="es-ES" sz="1400" b="0" dirty="0">
                <a:solidFill>
                  <a:srgbClr val="A31515"/>
                </a:solidFill>
                <a:effectLst/>
                <a:latin typeface="Consolas" panose="020B0609020204030204" pitchFamily="49" charset="0"/>
              </a:rPr>
              <a:t> el </a:t>
            </a:r>
            <a:r>
              <a:rPr lang="es-ES" sz="1400" b="0" dirty="0" err="1">
                <a:solidFill>
                  <a:srgbClr val="A31515"/>
                </a:solidFill>
                <a:effectLst/>
                <a:latin typeface="Consolas" panose="020B0609020204030204" pitchFamily="49" charset="0"/>
              </a:rPr>
              <a:t>denumerador</a:t>
            </a:r>
            <a:r>
              <a:rPr lang="es-ES" sz="1400" b="0" dirty="0">
                <a:solidFill>
                  <a:srgbClr val="A31515"/>
                </a:solidFill>
                <a:effectLst/>
                <a:latin typeface="Consolas" panose="020B0609020204030204" pitchFamily="49" charset="0"/>
              </a:rPr>
              <a:t>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&amp;den);</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while</a:t>
            </a:r>
            <a:r>
              <a:rPr lang="es-ES" sz="1400" b="0" dirty="0">
                <a:solidFill>
                  <a:srgbClr val="000000"/>
                </a:solidFill>
                <a:effectLst/>
                <a:latin typeface="Consolas" panose="020B0609020204030204" pitchFamily="49" charset="0"/>
              </a:rPr>
              <a:t> (den==</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Introdueix</a:t>
            </a:r>
            <a:r>
              <a:rPr lang="es-ES" sz="1400" b="0" dirty="0">
                <a:solidFill>
                  <a:srgbClr val="A31515"/>
                </a:solidFill>
                <a:effectLst/>
                <a:latin typeface="Consolas" panose="020B0609020204030204" pitchFamily="49" charset="0"/>
              </a:rPr>
              <a:t> el </a:t>
            </a:r>
            <a:r>
              <a:rPr lang="es-ES" sz="1400" b="0" dirty="0" err="1">
                <a:solidFill>
                  <a:srgbClr val="A31515"/>
                </a:solidFill>
                <a:effectLst/>
                <a:latin typeface="Consolas" panose="020B0609020204030204" pitchFamily="49" charset="0"/>
              </a:rPr>
              <a:t>denumerador</a:t>
            </a:r>
            <a:r>
              <a:rPr lang="es-ES" sz="1400" b="0" dirty="0">
                <a:solidFill>
                  <a:srgbClr val="A31515"/>
                </a:solidFill>
                <a:effectLst/>
                <a:latin typeface="Consolas" panose="020B0609020204030204" pitchFamily="49" charset="0"/>
              </a:rPr>
              <a:t>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&amp;den);</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"La </a:t>
            </a:r>
            <a:r>
              <a:rPr lang="es-ES" sz="1400" b="0" dirty="0" err="1">
                <a:solidFill>
                  <a:srgbClr val="A31515"/>
                </a:solidFill>
                <a:effectLst/>
                <a:latin typeface="Consolas" panose="020B0609020204030204" pitchFamily="49" charset="0"/>
              </a:rPr>
              <a:t>divisio</a:t>
            </a:r>
            <a:r>
              <a:rPr lang="es-ES" sz="1400" b="0" dirty="0">
                <a:solidFill>
                  <a:srgbClr val="A31515"/>
                </a:solidFill>
                <a:effectLst/>
                <a:latin typeface="Consolas" panose="020B0609020204030204" pitchFamily="49" charset="0"/>
              </a:rPr>
              <a:t> val %.2f"</a:t>
            </a:r>
            <a:r>
              <a:rPr lang="es-ES" sz="1400" b="0" dirty="0">
                <a:solidFill>
                  <a:srgbClr val="000000"/>
                </a:solidFill>
                <a:effectLst/>
                <a:latin typeface="Consolas" panose="020B0609020204030204" pitchFamily="49" charset="0"/>
              </a:rPr>
              <a:t>,(</a:t>
            </a:r>
            <a:r>
              <a:rPr lang="es-ES" sz="1400" b="0" dirty="0" err="1">
                <a:solidFill>
                  <a:srgbClr val="0000FF"/>
                </a:solidFill>
                <a:effectLst/>
                <a:latin typeface="Consolas" panose="020B0609020204030204" pitchFamily="49" charset="0"/>
              </a:rPr>
              <a:t>float</a:t>
            </a:r>
            <a:r>
              <a:rPr lang="es-ES" sz="1400" b="0" dirty="0">
                <a:solidFill>
                  <a:srgbClr val="000000"/>
                </a:solidFill>
                <a:effectLst/>
                <a:latin typeface="Consolas" panose="020B0609020204030204" pitchFamily="49" charset="0"/>
              </a:rPr>
              <a:t>)</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/den);</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acabament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return</a:t>
            </a:r>
            <a:r>
              <a:rPr lang="es-ES" sz="1400" b="0" dirty="0">
                <a:solidFill>
                  <a:srgbClr val="000000"/>
                </a:solidFill>
                <a:effectLst/>
                <a:latin typeface="Consolas" panose="020B0609020204030204" pitchFamily="49" charset="0"/>
              </a:rPr>
              <a:t> </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3500420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Bucle per </a:t>
            </a:r>
            <a:r>
              <a:rPr lang="es-ES" dirty="0" err="1"/>
              <a:t>Condició</a:t>
            </a:r>
            <a:endParaRPr lang="es-ES" dirty="0"/>
          </a:p>
        </p:txBody>
      </p:sp>
      <p:sp>
        <p:nvSpPr>
          <p:cNvPr id="3" name="Content Placeholder 2"/>
          <p:cNvSpPr>
            <a:spLocks noGrp="1"/>
          </p:cNvSpPr>
          <p:nvPr>
            <p:ph idx="1"/>
          </p:nvPr>
        </p:nvSpPr>
        <p:spPr/>
        <p:txBody>
          <a:bodyPr/>
          <a:lstStyle/>
          <a:p>
            <a:pPr marL="457200" indent="-457200">
              <a:buFont typeface="+mj-lt"/>
              <a:buAutoNum type="arabicPeriod" startAt="2"/>
            </a:pPr>
            <a:r>
              <a:rPr lang="es-ES" dirty="0">
                <a:solidFill>
                  <a:srgbClr val="FF0000"/>
                </a:solidFill>
              </a:rPr>
              <a:t>Bucle REPETIR … MENTRE QUE</a:t>
            </a:r>
          </a:p>
          <a:p>
            <a:pPr lvl="1">
              <a:lnSpc>
                <a:spcPct val="150000"/>
              </a:lnSpc>
            </a:pPr>
            <a:r>
              <a:rPr lang="ca-ES" dirty="0"/>
              <a:t>El nombre d’iteracions vindrà determinat per la condició</a:t>
            </a:r>
          </a:p>
          <a:p>
            <a:pPr lvl="1">
              <a:lnSpc>
                <a:spcPct val="150000"/>
              </a:lnSpc>
            </a:pPr>
            <a:r>
              <a:rPr lang="ca-ES" dirty="0" err="1"/>
              <a:t>Desconneixem</a:t>
            </a:r>
            <a:r>
              <a:rPr lang="ca-ES" dirty="0"/>
              <a:t> el nombre de vegades que es realitzarà, </a:t>
            </a:r>
            <a:r>
              <a:rPr lang="ca-ES" dirty="0">
                <a:solidFill>
                  <a:srgbClr val="FF0000"/>
                </a:solidFill>
              </a:rPr>
              <a:t>PERÒ COM A MÍNIM ENTRA UN COP</a:t>
            </a:r>
          </a:p>
          <a:p>
            <a:pPr lvl="1">
              <a:lnSpc>
                <a:spcPct val="150000"/>
              </a:lnSpc>
            </a:pPr>
            <a:r>
              <a:rPr lang="ca-ES" dirty="0"/>
              <a:t>ESTRUCTURA:</a:t>
            </a:r>
          </a:p>
          <a:p>
            <a:pPr lvl="1">
              <a:lnSpc>
                <a:spcPct val="100000"/>
              </a:lnSpc>
            </a:pPr>
            <a:endParaRPr lang="ca-ES" sz="500" dirty="0"/>
          </a:p>
          <a:p>
            <a:pPr marL="457200" lvl="1" indent="0">
              <a:lnSpc>
                <a:spcPct val="100000"/>
              </a:lnSpc>
              <a:buNone/>
            </a:pPr>
            <a:r>
              <a:rPr lang="ca-ES" dirty="0"/>
              <a:t>		</a:t>
            </a:r>
            <a:r>
              <a:rPr lang="ca-ES" sz="1800" dirty="0">
                <a:latin typeface="Century Gothic" panose="020B0502020202020204" pitchFamily="34" charset="0"/>
              </a:rPr>
              <a:t>Repetir</a:t>
            </a:r>
          </a:p>
          <a:p>
            <a:pPr marL="457200" lvl="1" indent="0">
              <a:lnSpc>
                <a:spcPct val="100000"/>
              </a:lnSpc>
              <a:buNone/>
            </a:pPr>
            <a:r>
              <a:rPr lang="ca-ES" sz="1800" dirty="0">
                <a:latin typeface="Century Gothic" panose="020B0502020202020204" pitchFamily="34" charset="0"/>
              </a:rPr>
              <a:t>			</a:t>
            </a:r>
            <a:r>
              <a:rPr lang="ca-ES" sz="1800" dirty="0" err="1">
                <a:latin typeface="Century Gothic" panose="020B0502020202020204" pitchFamily="34" charset="0"/>
              </a:rPr>
              <a:t>secuencia_de_acciones</a:t>
            </a:r>
            <a:endParaRPr lang="ca-ES" sz="1800" dirty="0">
              <a:latin typeface="Century Gothic" panose="020B0502020202020204" pitchFamily="34" charset="0"/>
            </a:endParaRPr>
          </a:p>
          <a:p>
            <a:pPr marL="457200" lvl="1" indent="0">
              <a:lnSpc>
                <a:spcPct val="100000"/>
              </a:lnSpc>
              <a:buNone/>
            </a:pPr>
            <a:r>
              <a:rPr lang="ca-ES" sz="1800" dirty="0">
                <a:latin typeface="Century Gothic" panose="020B0502020202020204" pitchFamily="34" charset="0"/>
              </a:rPr>
              <a:t>		Mentre Que(</a:t>
            </a:r>
            <a:r>
              <a:rPr lang="ca-ES" sz="1800" dirty="0" err="1">
                <a:latin typeface="Century Gothic" panose="020B0502020202020204" pitchFamily="34" charset="0"/>
              </a:rPr>
              <a:t>expresion_lógica</a:t>
            </a:r>
            <a:r>
              <a:rPr lang="ca-ES" sz="1800" dirty="0">
                <a:latin typeface="Century Gothic" panose="020B0502020202020204" pitchFamily="34" charset="0"/>
              </a:rPr>
              <a:t> sigui certa)</a:t>
            </a:r>
            <a:endParaRPr lang="ca-ES" dirty="0">
              <a:latin typeface="Century Gothic" panose="020B0502020202020204" pitchFamily="34" charset="0"/>
            </a:endParaRPr>
          </a:p>
        </p:txBody>
      </p:sp>
    </p:spTree>
    <p:extLst>
      <p:ext uri="{BB962C8B-B14F-4D97-AF65-F5344CB8AC3E}">
        <p14:creationId xmlns:p14="http://schemas.microsoft.com/office/powerpoint/2010/main" val="31648091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7E7125-8AF7-4616-83F1-9D4B427A2CDE}"/>
              </a:ext>
            </a:extLst>
          </p:cNvPr>
          <p:cNvSpPr>
            <a:spLocks noGrp="1"/>
          </p:cNvSpPr>
          <p:nvPr>
            <p:ph type="title"/>
          </p:nvPr>
        </p:nvSpPr>
        <p:spPr/>
        <p:txBody>
          <a:bodyPr/>
          <a:lstStyle/>
          <a:p>
            <a:r>
              <a:rPr lang="ca-ES" dirty="0"/>
              <a:t>Exercici Menú</a:t>
            </a:r>
          </a:p>
        </p:txBody>
      </p:sp>
      <p:sp>
        <p:nvSpPr>
          <p:cNvPr id="3" name="Marcador de contenido 2">
            <a:extLst>
              <a:ext uri="{FF2B5EF4-FFF2-40B4-BE49-F238E27FC236}">
                <a16:creationId xmlns:a16="http://schemas.microsoft.com/office/drawing/2014/main" id="{D8747383-281C-4026-A89A-08DAA14CA6F1}"/>
              </a:ext>
            </a:extLst>
          </p:cNvPr>
          <p:cNvSpPr>
            <a:spLocks noGrp="1"/>
          </p:cNvSpPr>
          <p:nvPr>
            <p:ph idx="1"/>
          </p:nvPr>
        </p:nvSpPr>
        <p:spPr>
          <a:xfrm>
            <a:off x="369331" y="696256"/>
            <a:ext cx="8534401" cy="629624"/>
          </a:xfrm>
        </p:spPr>
        <p:txBody>
          <a:bodyPr>
            <a:normAutofit/>
          </a:bodyPr>
          <a:lstStyle/>
          <a:p>
            <a:pPr marL="0" indent="0">
              <a:buNone/>
            </a:pPr>
            <a:r>
              <a:rPr lang="ca-ES" dirty="0"/>
              <a:t>Fes un programa per controlar que l’opció que ens insereixi l’usuari sigui vàlida. Considerem que el menú tindrà les opcions vàlides entre 1 i el 5.</a:t>
            </a:r>
          </a:p>
          <a:p>
            <a:pPr marL="0" indent="0">
              <a:buNone/>
            </a:pPr>
            <a:endParaRPr lang="ca-ES" dirty="0"/>
          </a:p>
          <a:p>
            <a:pPr marL="0" indent="0">
              <a:buNone/>
            </a:pPr>
            <a:endParaRPr lang="ca-ES" dirty="0"/>
          </a:p>
        </p:txBody>
      </p:sp>
    </p:spTree>
    <p:extLst>
      <p:ext uri="{BB962C8B-B14F-4D97-AF65-F5344CB8AC3E}">
        <p14:creationId xmlns:p14="http://schemas.microsoft.com/office/powerpoint/2010/main" val="25537003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Resolució</a:t>
            </a:r>
            <a:r>
              <a:rPr lang="es-ES" dirty="0"/>
              <a:t> Exercici2</a:t>
            </a:r>
          </a:p>
        </p:txBody>
      </p:sp>
      <p:sp>
        <p:nvSpPr>
          <p:cNvPr id="3" name="Content Placeholder 2"/>
          <p:cNvSpPr>
            <a:spLocks noGrp="1"/>
          </p:cNvSpPr>
          <p:nvPr>
            <p:ph idx="1"/>
          </p:nvPr>
        </p:nvSpPr>
        <p:spPr>
          <a:ln>
            <a:noFill/>
          </a:ln>
        </p:spPr>
        <p:txBody>
          <a:bodyPr>
            <a:normAutofit/>
          </a:bodyPr>
          <a:lstStyle/>
          <a:p>
            <a:pPr marL="0" indent="0">
              <a:buNone/>
            </a:pPr>
            <a:r>
              <a:rPr lang="es-ES" sz="2000" dirty="0" err="1"/>
              <a:t>Tenim</a:t>
            </a:r>
            <a:r>
              <a:rPr lang="es-ES" sz="2000" dirty="0"/>
              <a:t> n Claus i </a:t>
            </a:r>
            <a:r>
              <a:rPr lang="es-ES" sz="2000" dirty="0" err="1"/>
              <a:t>volem</a:t>
            </a:r>
            <a:r>
              <a:rPr lang="es-ES" sz="2000" dirty="0"/>
              <a:t> </a:t>
            </a:r>
            <a:r>
              <a:rPr lang="es-ES" sz="2000" dirty="0" err="1"/>
              <a:t>obrir</a:t>
            </a:r>
            <a:r>
              <a:rPr lang="es-ES" sz="2000" dirty="0"/>
              <a:t> una porta. </a:t>
            </a:r>
            <a:r>
              <a:rPr lang="es-ES" sz="2000" dirty="0" err="1"/>
              <a:t>Sabem</a:t>
            </a:r>
            <a:r>
              <a:rPr lang="es-ES" sz="2000" dirty="0"/>
              <a:t> que una de les Claus </a:t>
            </a:r>
            <a:r>
              <a:rPr lang="es-ES" sz="2000" dirty="0" err="1"/>
              <a:t>és</a:t>
            </a:r>
            <a:r>
              <a:rPr lang="es-ES" sz="2000" dirty="0"/>
              <a:t> bona</a:t>
            </a:r>
          </a:p>
        </p:txBody>
      </p:sp>
      <p:sp>
        <p:nvSpPr>
          <p:cNvPr id="4" name="Content Placeholder 2"/>
          <p:cNvSpPr txBox="1">
            <a:spLocks/>
          </p:cNvSpPr>
          <p:nvPr/>
        </p:nvSpPr>
        <p:spPr>
          <a:xfrm>
            <a:off x="4352171" y="1551691"/>
            <a:ext cx="4367441" cy="167810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000" dirty="0">
                <a:solidFill>
                  <a:srgbClr val="FF0000"/>
                </a:solidFill>
              </a:rPr>
              <a:t>REPETIR</a:t>
            </a:r>
            <a:endParaRPr lang="es-ES" sz="2000" dirty="0"/>
          </a:p>
          <a:p>
            <a:pPr marL="0" indent="0">
              <a:spcBef>
                <a:spcPts val="600"/>
              </a:spcBef>
              <a:buNone/>
            </a:pPr>
            <a:r>
              <a:rPr lang="es-ES" sz="1600" u="sng" dirty="0">
                <a:latin typeface="Century Gothic" panose="020B0502020202020204" pitchFamily="34" charset="0"/>
              </a:rPr>
              <a:t>REPETIR</a:t>
            </a:r>
            <a:r>
              <a:rPr lang="es-ES" sz="1800" dirty="0">
                <a:latin typeface="Century Gothic" panose="020B0502020202020204" pitchFamily="34" charset="0"/>
              </a:rPr>
              <a:t> </a:t>
            </a:r>
          </a:p>
          <a:p>
            <a:pPr marL="0" indent="0">
              <a:spcBef>
                <a:spcPts val="600"/>
              </a:spcBef>
              <a:buNone/>
            </a:pPr>
            <a:r>
              <a:rPr lang="es-ES" sz="1800" dirty="0">
                <a:latin typeface="Century Gothic" panose="020B0502020202020204" pitchFamily="34" charset="0"/>
              </a:rPr>
              <a:t>	Agafar </a:t>
            </a:r>
            <a:r>
              <a:rPr lang="es-ES" sz="1800" dirty="0" err="1">
                <a:latin typeface="Century Gothic" panose="020B0502020202020204" pitchFamily="34" charset="0"/>
              </a:rPr>
              <a:t>clau</a:t>
            </a:r>
            <a:endParaRPr lang="es-ES" sz="1800" dirty="0">
              <a:latin typeface="Century Gothic" panose="020B0502020202020204" pitchFamily="34" charset="0"/>
            </a:endParaRPr>
          </a:p>
          <a:p>
            <a:pPr marL="0" indent="0">
              <a:spcBef>
                <a:spcPts val="600"/>
              </a:spcBef>
              <a:buNone/>
            </a:pPr>
            <a:r>
              <a:rPr lang="es-ES" sz="1600" u="sng" dirty="0">
                <a:latin typeface="Century Gothic" panose="020B0502020202020204" pitchFamily="34" charset="0"/>
              </a:rPr>
              <a:t>MENTRE QUE</a:t>
            </a:r>
            <a:r>
              <a:rPr lang="es-ES" sz="1800" dirty="0">
                <a:latin typeface="Century Gothic" panose="020B0502020202020204" pitchFamily="34" charset="0"/>
              </a:rPr>
              <a:t>(la </a:t>
            </a:r>
            <a:r>
              <a:rPr lang="es-ES" sz="1800" dirty="0" err="1">
                <a:latin typeface="Century Gothic" panose="020B0502020202020204" pitchFamily="34" charset="0"/>
              </a:rPr>
              <a:t>clau</a:t>
            </a:r>
            <a:r>
              <a:rPr lang="es-ES" sz="1800" dirty="0">
                <a:latin typeface="Century Gothic" panose="020B0502020202020204" pitchFamily="34" charset="0"/>
              </a:rPr>
              <a:t> no </a:t>
            </a:r>
            <a:r>
              <a:rPr lang="es-ES" sz="1800" dirty="0" err="1">
                <a:latin typeface="Century Gothic" panose="020B0502020202020204" pitchFamily="34" charset="0"/>
              </a:rPr>
              <a:t>obri</a:t>
            </a:r>
            <a:r>
              <a:rPr lang="es-ES" sz="1800" dirty="0">
                <a:latin typeface="Century Gothic" panose="020B0502020202020204" pitchFamily="34" charset="0"/>
              </a:rPr>
              <a:t> la porta);</a:t>
            </a:r>
          </a:p>
        </p:txBody>
      </p:sp>
      <p:sp>
        <p:nvSpPr>
          <p:cNvPr id="6" name="Content Placeholder 2"/>
          <p:cNvSpPr txBox="1">
            <a:spLocks/>
          </p:cNvSpPr>
          <p:nvPr/>
        </p:nvSpPr>
        <p:spPr>
          <a:xfrm>
            <a:off x="461010" y="1551691"/>
            <a:ext cx="3707041" cy="170204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000" dirty="0">
                <a:solidFill>
                  <a:srgbClr val="FF0000"/>
                </a:solidFill>
              </a:rPr>
              <a:t>MENTRE</a:t>
            </a:r>
          </a:p>
          <a:p>
            <a:pPr marL="0" indent="0">
              <a:spcBef>
                <a:spcPts val="600"/>
              </a:spcBef>
              <a:buNone/>
            </a:pPr>
            <a:r>
              <a:rPr lang="es-ES" sz="1600" dirty="0">
                <a:latin typeface="Century Gothic" panose="020B0502020202020204" pitchFamily="34" charset="0"/>
              </a:rPr>
              <a:t>Agafar </a:t>
            </a:r>
            <a:r>
              <a:rPr lang="es-ES" sz="1600" dirty="0" err="1">
                <a:latin typeface="Century Gothic" panose="020B0502020202020204" pitchFamily="34" charset="0"/>
              </a:rPr>
              <a:t>clau</a:t>
            </a:r>
            <a:endParaRPr lang="es-ES" sz="1600" dirty="0">
              <a:latin typeface="Century Gothic" panose="020B0502020202020204" pitchFamily="34" charset="0"/>
            </a:endParaRPr>
          </a:p>
          <a:p>
            <a:pPr marL="0" indent="0">
              <a:spcBef>
                <a:spcPts val="600"/>
              </a:spcBef>
              <a:buNone/>
            </a:pPr>
            <a:r>
              <a:rPr lang="es-ES" sz="1400" u="sng" dirty="0">
                <a:latin typeface="Century Gothic" panose="020B0502020202020204" pitchFamily="34" charset="0"/>
              </a:rPr>
              <a:t>MENTRE</a:t>
            </a:r>
            <a:r>
              <a:rPr lang="es-ES" sz="1600" dirty="0">
                <a:latin typeface="Century Gothic" panose="020B0502020202020204" pitchFamily="34" charset="0"/>
              </a:rPr>
              <a:t> (</a:t>
            </a:r>
            <a:r>
              <a:rPr lang="es-ES" sz="1600" dirty="0" err="1">
                <a:latin typeface="Century Gothic" panose="020B0502020202020204" pitchFamily="34" charset="0"/>
              </a:rPr>
              <a:t>clau</a:t>
            </a:r>
            <a:r>
              <a:rPr lang="es-ES" sz="1600" dirty="0">
                <a:latin typeface="Century Gothic" panose="020B0502020202020204" pitchFamily="34" charset="0"/>
              </a:rPr>
              <a:t> no </a:t>
            </a:r>
            <a:r>
              <a:rPr lang="es-ES" sz="1600" dirty="0" err="1">
                <a:latin typeface="Century Gothic" panose="020B0502020202020204" pitchFamily="34" charset="0"/>
              </a:rPr>
              <a:t>obri</a:t>
            </a:r>
            <a:r>
              <a:rPr lang="es-ES" sz="1600" dirty="0">
                <a:latin typeface="Century Gothic" panose="020B0502020202020204" pitchFamily="34" charset="0"/>
              </a:rPr>
              <a:t> la porta) </a:t>
            </a:r>
            <a:r>
              <a:rPr lang="es-ES" sz="1400" u="sng" dirty="0">
                <a:latin typeface="Century Gothic" panose="020B0502020202020204" pitchFamily="34" charset="0"/>
              </a:rPr>
              <a:t>FER</a:t>
            </a:r>
          </a:p>
          <a:p>
            <a:pPr marL="0" indent="0">
              <a:spcBef>
                <a:spcPts val="600"/>
              </a:spcBef>
              <a:buNone/>
            </a:pPr>
            <a:r>
              <a:rPr lang="es-ES" sz="1600" dirty="0">
                <a:latin typeface="Century Gothic" panose="020B0502020202020204" pitchFamily="34" charset="0"/>
              </a:rPr>
              <a:t>	Agafar una </a:t>
            </a:r>
            <a:r>
              <a:rPr lang="es-ES" sz="1600" dirty="0" err="1">
                <a:latin typeface="Century Gothic" panose="020B0502020202020204" pitchFamily="34" charset="0"/>
              </a:rPr>
              <a:t>altra</a:t>
            </a:r>
            <a:r>
              <a:rPr lang="es-ES" sz="1600" dirty="0">
                <a:latin typeface="Century Gothic" panose="020B0502020202020204" pitchFamily="34" charset="0"/>
              </a:rPr>
              <a:t> </a:t>
            </a:r>
            <a:r>
              <a:rPr lang="es-ES" sz="1600" dirty="0" err="1">
                <a:latin typeface="Century Gothic" panose="020B0502020202020204" pitchFamily="34" charset="0"/>
              </a:rPr>
              <a:t>clau</a:t>
            </a:r>
            <a:endParaRPr lang="es-ES" sz="1600" dirty="0">
              <a:latin typeface="Century Gothic" panose="020B0502020202020204" pitchFamily="34" charset="0"/>
            </a:endParaRPr>
          </a:p>
          <a:p>
            <a:pPr marL="0" indent="0">
              <a:spcBef>
                <a:spcPts val="600"/>
              </a:spcBef>
              <a:buNone/>
            </a:pPr>
            <a:r>
              <a:rPr lang="es-ES" sz="1400" u="sng" dirty="0">
                <a:latin typeface="Century Gothic" panose="020B0502020202020204" pitchFamily="34" charset="0"/>
              </a:rPr>
              <a:t>FIMENTRE</a:t>
            </a:r>
          </a:p>
        </p:txBody>
      </p:sp>
    </p:spTree>
    <p:extLst>
      <p:ext uri="{BB962C8B-B14F-4D97-AF65-F5344CB8AC3E}">
        <p14:creationId xmlns:p14="http://schemas.microsoft.com/office/powerpoint/2010/main" val="146130637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2"/>
                  </p:tgtEl>
                </p:cond>
              </p:nextCondLst>
            </p:seq>
          </p:childTnLst>
        </p:cTn>
      </p:par>
    </p:tnLst>
    <p:bldLst>
      <p:bldP spid="4" grpId="0" animBg="1"/>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err="1"/>
              <a:t>Exercici</a:t>
            </a:r>
            <a:r>
              <a:rPr lang="es-ES" dirty="0"/>
              <a:t> Bucle Per </a:t>
            </a:r>
            <a:r>
              <a:rPr lang="es-ES" dirty="0" err="1"/>
              <a:t>Condició</a:t>
            </a:r>
            <a:endParaRPr lang="es-ES" dirty="0"/>
          </a:p>
        </p:txBody>
      </p:sp>
      <p:sp>
        <p:nvSpPr>
          <p:cNvPr id="3" name="Content Placeholder 2"/>
          <p:cNvSpPr>
            <a:spLocks noGrp="1"/>
          </p:cNvSpPr>
          <p:nvPr>
            <p:ph idx="1"/>
          </p:nvPr>
        </p:nvSpPr>
        <p:spPr>
          <a:xfrm>
            <a:off x="369331" y="696256"/>
            <a:ext cx="3046969" cy="3212356"/>
          </a:xfrm>
        </p:spPr>
        <p:txBody>
          <a:bodyPr>
            <a:normAutofit/>
          </a:bodyPr>
          <a:lstStyle/>
          <a:p>
            <a:pPr>
              <a:lnSpc>
                <a:spcPct val="130000"/>
              </a:lnSpc>
            </a:pPr>
            <a:r>
              <a:rPr lang="ca-ES" sz="1600" dirty="0"/>
              <a:t>Demana números a l’usuari. Acabarem de demanar números quan l’usuari ens introdueixi un número superior a 100.</a:t>
            </a:r>
          </a:p>
          <a:p>
            <a:pPr>
              <a:lnSpc>
                <a:spcPct val="130000"/>
              </a:lnSpc>
            </a:pPr>
            <a:r>
              <a:rPr lang="ca-ES" sz="1600" dirty="0"/>
              <a:t>Resolt l’exercici amb MENTRAS i amb REPETIR .. </a:t>
            </a:r>
            <a:r>
              <a:rPr lang="ca-ES" dirty="0"/>
              <a:t>MENTRE</a:t>
            </a:r>
            <a:r>
              <a:rPr lang="ca-ES" sz="1600" dirty="0"/>
              <a:t> QUE</a:t>
            </a:r>
          </a:p>
          <a:p>
            <a:pPr marL="457200" lvl="1" indent="0">
              <a:buNone/>
            </a:pPr>
            <a:endParaRPr lang="es-ES" sz="1200" dirty="0"/>
          </a:p>
        </p:txBody>
      </p:sp>
    </p:spTree>
    <p:extLst>
      <p:ext uri="{BB962C8B-B14F-4D97-AF65-F5344CB8AC3E}">
        <p14:creationId xmlns:p14="http://schemas.microsoft.com/office/powerpoint/2010/main" val="40518210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Bucles per Número de </a:t>
            </a:r>
            <a:r>
              <a:rPr lang="es-ES" dirty="0" err="1"/>
              <a:t>Voltes</a:t>
            </a:r>
            <a:endParaRPr lang="es-ES" dirty="0"/>
          </a:p>
        </p:txBody>
      </p:sp>
      <p:sp>
        <p:nvSpPr>
          <p:cNvPr id="3" name="Content Placeholder 2"/>
          <p:cNvSpPr>
            <a:spLocks noGrp="1"/>
          </p:cNvSpPr>
          <p:nvPr>
            <p:ph idx="1"/>
          </p:nvPr>
        </p:nvSpPr>
        <p:spPr/>
        <p:txBody>
          <a:bodyPr>
            <a:normAutofit/>
          </a:bodyPr>
          <a:lstStyle/>
          <a:p>
            <a:r>
              <a:rPr lang="ca-ES" sz="2200" dirty="0">
                <a:solidFill>
                  <a:srgbClr val="FF0000"/>
                </a:solidFill>
              </a:rPr>
              <a:t>BUCLE PARA</a:t>
            </a:r>
          </a:p>
          <a:p>
            <a:pPr marL="533400" lvl="1" indent="-266700">
              <a:lnSpc>
                <a:spcPct val="150000"/>
              </a:lnSpc>
              <a:spcBef>
                <a:spcPts val="1200"/>
              </a:spcBef>
            </a:pPr>
            <a:r>
              <a:rPr lang="ca-ES" sz="1700" dirty="0"/>
              <a:t>El número d’iteracions del bucle és conegut abans de començar.</a:t>
            </a:r>
          </a:p>
          <a:p>
            <a:pPr marL="533400" lvl="1" indent="-266700">
              <a:lnSpc>
                <a:spcPct val="150000"/>
              </a:lnSpc>
              <a:spcBef>
                <a:spcPts val="1200"/>
              </a:spcBef>
            </a:pPr>
            <a:r>
              <a:rPr lang="ca-ES" sz="1700" dirty="0"/>
              <a:t>Es comença pel primer element i s’acaba per l’últim, </a:t>
            </a:r>
            <a:r>
              <a:rPr lang="ca-ES" sz="1700" dirty="0">
                <a:solidFill>
                  <a:srgbClr val="FF0000"/>
                </a:solidFill>
                <a:highlight>
                  <a:srgbClr val="CCFFCC"/>
                </a:highlight>
              </a:rPr>
              <a:t>SENSE</a:t>
            </a:r>
            <a:r>
              <a:rPr lang="ca-ES" sz="1700" dirty="0">
                <a:solidFill>
                  <a:srgbClr val="FF0000"/>
                </a:solidFill>
              </a:rPr>
              <a:t> </a:t>
            </a:r>
            <a:r>
              <a:rPr lang="ca-ES" sz="1700" dirty="0">
                <a:solidFill>
                  <a:srgbClr val="FF0000"/>
                </a:solidFill>
                <a:highlight>
                  <a:srgbClr val="CCFFCC"/>
                </a:highlight>
              </a:rPr>
              <a:t>LA POSSIBILITAT DE PARAR EL BUCLE A MIG CAMÍ</a:t>
            </a:r>
          </a:p>
          <a:p>
            <a:pPr marL="533400" lvl="1" indent="-266700">
              <a:lnSpc>
                <a:spcPct val="150000"/>
              </a:lnSpc>
              <a:spcBef>
                <a:spcPts val="1200"/>
              </a:spcBef>
            </a:pPr>
            <a:r>
              <a:rPr lang="ca-ES" sz="1700" dirty="0"/>
              <a:t>ESTRUCTURA:</a:t>
            </a:r>
          </a:p>
          <a:p>
            <a:pPr marL="914400" lvl="2" indent="0">
              <a:buNone/>
            </a:pPr>
            <a:r>
              <a:rPr lang="ca-ES" sz="1600" dirty="0">
                <a:latin typeface="Century Gothic" panose="020B0502020202020204" pitchFamily="34" charset="0"/>
              </a:rPr>
              <a:t>for (inicialització;  condició; increment)</a:t>
            </a:r>
          </a:p>
          <a:p>
            <a:pPr marL="914400" lvl="2" indent="0">
              <a:buNone/>
            </a:pPr>
            <a:r>
              <a:rPr lang="ca-ES" sz="1600" dirty="0">
                <a:latin typeface="Century Gothic" panose="020B0502020202020204" pitchFamily="34" charset="0"/>
              </a:rPr>
              <a:t>{</a:t>
            </a:r>
          </a:p>
          <a:p>
            <a:pPr marL="914400" lvl="2" indent="0">
              <a:buNone/>
            </a:pPr>
            <a:r>
              <a:rPr lang="ca-ES" sz="1600" dirty="0">
                <a:latin typeface="Century Gothic" panose="020B0502020202020204" pitchFamily="34" charset="0"/>
              </a:rPr>
              <a:t>	instruccions</a:t>
            </a:r>
          </a:p>
          <a:p>
            <a:pPr marL="914400" lvl="2" indent="0">
              <a:buNone/>
            </a:pPr>
            <a:r>
              <a:rPr lang="ca-ES" sz="1600" dirty="0">
                <a:latin typeface="Century Gothic" panose="020B0502020202020204" pitchFamily="34" charset="0"/>
              </a:rPr>
              <a:t>}</a:t>
            </a:r>
          </a:p>
          <a:p>
            <a:pPr marL="914400" lvl="2" indent="0">
              <a:buNone/>
            </a:pPr>
            <a:r>
              <a:rPr lang="es-ES" dirty="0"/>
              <a:t>	</a:t>
            </a:r>
          </a:p>
          <a:p>
            <a:pPr lvl="1"/>
            <a:endParaRPr lang="es-ES" dirty="0"/>
          </a:p>
        </p:txBody>
      </p:sp>
    </p:spTree>
    <p:extLst>
      <p:ext uri="{BB962C8B-B14F-4D97-AF65-F5344CB8AC3E}">
        <p14:creationId xmlns:p14="http://schemas.microsoft.com/office/powerpoint/2010/main" val="1900143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Estructures </a:t>
            </a:r>
            <a:r>
              <a:rPr lang="es-ES" dirty="0" err="1"/>
              <a:t>iteratives</a:t>
            </a:r>
            <a:endParaRPr lang="es-ES" dirty="0"/>
          </a:p>
        </p:txBody>
      </p:sp>
      <p:sp>
        <p:nvSpPr>
          <p:cNvPr id="3" name="Content Placeholder 2"/>
          <p:cNvSpPr>
            <a:spLocks noGrp="1"/>
          </p:cNvSpPr>
          <p:nvPr>
            <p:ph idx="1"/>
          </p:nvPr>
        </p:nvSpPr>
        <p:spPr/>
        <p:txBody>
          <a:bodyPr>
            <a:normAutofit/>
          </a:bodyPr>
          <a:lstStyle/>
          <a:p>
            <a:r>
              <a:rPr lang="es-ES" dirty="0"/>
              <a:t>Regles:</a:t>
            </a:r>
          </a:p>
          <a:p>
            <a:pPr marL="914400" lvl="1" indent="-457200" algn="just">
              <a:spcBef>
                <a:spcPts val="1200"/>
              </a:spcBef>
              <a:buFont typeface="+mj-lt"/>
              <a:buAutoNum type="arabicPeriod"/>
            </a:pPr>
            <a:r>
              <a:rPr lang="ca-ES" sz="1600" dirty="0"/>
              <a:t>Tot bucle ha de tenir una variable que s’encarrega de comptar les iteracions que s’han produït fins al moment</a:t>
            </a:r>
          </a:p>
          <a:p>
            <a:pPr marL="914400" lvl="1" indent="-457200" algn="just">
              <a:spcBef>
                <a:spcPts val="1200"/>
              </a:spcBef>
              <a:buFont typeface="+mj-lt"/>
              <a:buAutoNum type="arabicPeriod"/>
            </a:pPr>
            <a:r>
              <a:rPr lang="ca-ES" sz="1600" dirty="0"/>
              <a:t>Aquesta variable s’ha d’inicialitzar abans de començar el bucle</a:t>
            </a:r>
          </a:p>
          <a:p>
            <a:pPr marL="914400" lvl="1" indent="-457200" algn="just">
              <a:spcBef>
                <a:spcPts val="1200"/>
              </a:spcBef>
              <a:buFont typeface="+mj-lt"/>
              <a:buAutoNum type="arabicPeriod"/>
            </a:pPr>
            <a:r>
              <a:rPr lang="ca-ES" sz="1600" dirty="0"/>
              <a:t>Dins del bucle, aquesta variable ha de canviar el seu valor de manera que s’acosti a fer certa la condició de sortida del bucle</a:t>
            </a:r>
          </a:p>
          <a:p>
            <a:pPr marL="914400" lvl="1" indent="-457200" algn="just">
              <a:spcBef>
                <a:spcPts val="1200"/>
              </a:spcBef>
              <a:buFont typeface="+mj-lt"/>
              <a:buAutoNum type="arabicPeriod"/>
            </a:pPr>
            <a:r>
              <a:rPr lang="ca-ES" sz="1600" dirty="0"/>
              <a:t>La condició de sortida del bucle s’ha de fer certa en algun moment</a:t>
            </a:r>
          </a:p>
          <a:p>
            <a:pPr marL="914400" lvl="1" indent="-457200" algn="just">
              <a:spcBef>
                <a:spcPts val="1200"/>
              </a:spcBef>
              <a:buFont typeface="+mj-lt"/>
              <a:buAutoNum type="arabicPeriod"/>
            </a:pPr>
            <a:r>
              <a:rPr lang="ca-ES" sz="1600" dirty="0"/>
              <a:t>No es pot modificar el valor de la variable de control dins del bucle</a:t>
            </a:r>
          </a:p>
        </p:txBody>
      </p:sp>
    </p:spTree>
    <p:extLst>
      <p:ext uri="{BB962C8B-B14F-4D97-AF65-F5344CB8AC3E}">
        <p14:creationId xmlns:p14="http://schemas.microsoft.com/office/powerpoint/2010/main" val="5730149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Bucles per Número de </a:t>
            </a:r>
            <a:r>
              <a:rPr lang="es-ES" dirty="0" err="1"/>
              <a:t>Voltes</a:t>
            </a:r>
            <a:endParaRPr lang="es-ES" dirty="0"/>
          </a:p>
        </p:txBody>
      </p:sp>
      <p:sp>
        <p:nvSpPr>
          <p:cNvPr id="3" name="Content Placeholder 2"/>
          <p:cNvSpPr>
            <a:spLocks noGrp="1"/>
          </p:cNvSpPr>
          <p:nvPr>
            <p:ph idx="1"/>
          </p:nvPr>
        </p:nvSpPr>
        <p:spPr/>
        <p:txBody>
          <a:bodyPr>
            <a:normAutofit fontScale="55000" lnSpcReduction="20000"/>
          </a:bodyPr>
          <a:lstStyle/>
          <a:p>
            <a:pPr marL="0" indent="0">
              <a:buNone/>
            </a:pPr>
            <a:r>
              <a:rPr lang="es-ES" sz="3400" dirty="0">
                <a:solidFill>
                  <a:srgbClr val="FF0000"/>
                </a:solidFill>
              </a:rPr>
              <a:t>BUCLE PER EN C</a:t>
            </a:r>
          </a:p>
          <a:p>
            <a:pPr marL="623888" lvl="1" indent="-357188">
              <a:lnSpc>
                <a:spcPct val="150000"/>
              </a:lnSpc>
              <a:spcBef>
                <a:spcPts val="1200"/>
              </a:spcBef>
            </a:pPr>
            <a:r>
              <a:rPr lang="es-ES" sz="3000" dirty="0"/>
              <a:t>ESTRUCTURA</a:t>
            </a:r>
            <a:r>
              <a:rPr lang="es-ES" sz="2600" dirty="0"/>
              <a:t>:</a:t>
            </a:r>
          </a:p>
          <a:p>
            <a:pPr marL="914400" lvl="2" indent="0">
              <a:lnSpc>
                <a:spcPct val="150000"/>
              </a:lnSpc>
              <a:buNone/>
            </a:pPr>
            <a:r>
              <a:rPr lang="es-ES" sz="3300" u="sng" dirty="0">
                <a:latin typeface="Century Gothic" panose="020B0502020202020204" pitchFamily="34" charset="0"/>
              </a:rPr>
              <a:t>PER</a:t>
            </a:r>
            <a:r>
              <a:rPr lang="es-ES" sz="3300" dirty="0">
                <a:latin typeface="Century Gothic" panose="020B0502020202020204" pitchFamily="34" charset="0"/>
              </a:rPr>
              <a:t> variable=</a:t>
            </a:r>
            <a:r>
              <a:rPr lang="es-ES" sz="3300" dirty="0" err="1">
                <a:latin typeface="Century Gothic" panose="020B0502020202020204" pitchFamily="34" charset="0"/>
              </a:rPr>
              <a:t>valorInicial</a:t>
            </a:r>
            <a:r>
              <a:rPr lang="es-ES" sz="3300" dirty="0">
                <a:latin typeface="Century Gothic" panose="020B0502020202020204" pitchFamily="34" charset="0"/>
              </a:rPr>
              <a:t>  </a:t>
            </a:r>
            <a:r>
              <a:rPr lang="es-ES" sz="3300" u="sng" dirty="0">
                <a:latin typeface="Century Gothic" panose="020B0502020202020204" pitchFamily="34" charset="0"/>
              </a:rPr>
              <a:t>MENTRE QUE</a:t>
            </a:r>
            <a:r>
              <a:rPr lang="es-ES" sz="3300" dirty="0">
                <a:latin typeface="Century Gothic" panose="020B0502020202020204" pitchFamily="34" charset="0"/>
              </a:rPr>
              <a:t>  </a:t>
            </a:r>
            <a:r>
              <a:rPr lang="es-ES" sz="3300" dirty="0" err="1">
                <a:latin typeface="Century Gothic" panose="020B0502020202020204" pitchFamily="34" charset="0"/>
              </a:rPr>
              <a:t>condicio</a:t>
            </a:r>
            <a:r>
              <a:rPr lang="es-ES" sz="3300" dirty="0">
                <a:latin typeface="Century Gothic" panose="020B0502020202020204" pitchFamily="34" charset="0"/>
              </a:rPr>
              <a:t>==CERTA  (</a:t>
            </a:r>
            <a:r>
              <a:rPr lang="es-ES" sz="3300" dirty="0" err="1">
                <a:latin typeface="Century Gothic" panose="020B0502020202020204" pitchFamily="34" charset="0"/>
              </a:rPr>
              <a:t>pas</a:t>
            </a:r>
            <a:r>
              <a:rPr lang="es-ES" sz="3300" dirty="0">
                <a:latin typeface="Century Gothic" panose="020B0502020202020204" pitchFamily="34" charset="0"/>
              </a:rPr>
              <a:t>) </a:t>
            </a:r>
            <a:r>
              <a:rPr lang="es-ES" sz="3300" u="sng" dirty="0">
                <a:latin typeface="Century Gothic" panose="020B0502020202020204" pitchFamily="34" charset="0"/>
              </a:rPr>
              <a:t>FER</a:t>
            </a:r>
          </a:p>
          <a:p>
            <a:pPr marL="914400" lvl="2" indent="0">
              <a:lnSpc>
                <a:spcPct val="150000"/>
              </a:lnSpc>
              <a:buNone/>
            </a:pPr>
            <a:r>
              <a:rPr lang="es-ES" sz="3300" dirty="0">
                <a:latin typeface="Century Gothic" panose="020B0502020202020204" pitchFamily="34" charset="0"/>
              </a:rPr>
              <a:t>	</a:t>
            </a:r>
            <a:r>
              <a:rPr lang="es-ES" sz="3300" dirty="0" err="1">
                <a:latin typeface="Century Gothic" panose="020B0502020202020204" pitchFamily="34" charset="0"/>
              </a:rPr>
              <a:t>instruccions</a:t>
            </a:r>
            <a:endParaRPr lang="es-ES" sz="3300" dirty="0">
              <a:latin typeface="Century Gothic" panose="020B0502020202020204" pitchFamily="34" charset="0"/>
            </a:endParaRPr>
          </a:p>
          <a:p>
            <a:pPr marL="914400" lvl="2" indent="0">
              <a:lnSpc>
                <a:spcPct val="150000"/>
              </a:lnSpc>
              <a:buNone/>
            </a:pPr>
            <a:r>
              <a:rPr lang="es-ES" sz="3300" u="sng" dirty="0">
                <a:latin typeface="Century Gothic" panose="020B0502020202020204" pitchFamily="34" charset="0"/>
              </a:rPr>
              <a:t>FIPER</a:t>
            </a:r>
          </a:p>
          <a:p>
            <a:pPr lvl="1">
              <a:lnSpc>
                <a:spcPct val="150000"/>
              </a:lnSpc>
              <a:spcBef>
                <a:spcPts val="1800"/>
              </a:spcBef>
            </a:pPr>
            <a:r>
              <a:rPr lang="es-ES" sz="3200" dirty="0"/>
              <a:t>PASSOS</a:t>
            </a:r>
          </a:p>
          <a:p>
            <a:pPr marL="1428750" lvl="2" indent="-514350">
              <a:lnSpc>
                <a:spcPct val="150000"/>
              </a:lnSpc>
              <a:buFont typeface="+mj-lt"/>
              <a:buAutoNum type="arabicPeriod"/>
            </a:pPr>
            <a:r>
              <a:rPr lang="ca-ES" sz="2600" dirty="0"/>
              <a:t>Inicialitzar la variable</a:t>
            </a:r>
          </a:p>
          <a:p>
            <a:pPr marL="1428750" lvl="2" indent="-514350">
              <a:lnSpc>
                <a:spcPct val="150000"/>
              </a:lnSpc>
              <a:buFont typeface="+mj-lt"/>
              <a:buAutoNum type="arabicPeriod"/>
            </a:pPr>
            <a:r>
              <a:rPr lang="ca-ES" sz="2600" dirty="0"/>
              <a:t>Comprovar si és compleix la condició</a:t>
            </a:r>
          </a:p>
          <a:p>
            <a:pPr marL="1428750" lvl="2" indent="-514350">
              <a:lnSpc>
                <a:spcPct val="150000"/>
              </a:lnSpc>
              <a:buFont typeface="+mj-lt"/>
              <a:buAutoNum type="arabicPeriod"/>
            </a:pPr>
            <a:r>
              <a:rPr lang="ca-ES" sz="2600" dirty="0"/>
              <a:t>Fer les instruccions</a:t>
            </a:r>
          </a:p>
          <a:p>
            <a:pPr marL="1428750" lvl="2" indent="-514350">
              <a:lnSpc>
                <a:spcPct val="150000"/>
              </a:lnSpc>
              <a:buFont typeface="+mj-lt"/>
              <a:buAutoNum type="arabicPeriod"/>
            </a:pPr>
            <a:r>
              <a:rPr lang="ca-ES" sz="2600" dirty="0"/>
              <a:t>Incrementar la variable </a:t>
            </a:r>
          </a:p>
          <a:p>
            <a:pPr marL="1428750" lvl="2" indent="-514350">
              <a:lnSpc>
                <a:spcPct val="150000"/>
              </a:lnSpc>
              <a:buFont typeface="+mj-lt"/>
              <a:buAutoNum type="arabicPeriod"/>
            </a:pPr>
            <a:r>
              <a:rPr lang="ca-ES" sz="2600" dirty="0"/>
              <a:t>Comprovar la condició (si és certa passar al 2; sinó finalitzar el bucle)</a:t>
            </a:r>
          </a:p>
          <a:p>
            <a:pPr marL="914400" lvl="2" indent="0">
              <a:buNone/>
            </a:pPr>
            <a:endParaRPr lang="ca-ES" dirty="0"/>
          </a:p>
          <a:p>
            <a:pPr marL="914400" lvl="2" indent="0">
              <a:buNone/>
            </a:pPr>
            <a:r>
              <a:rPr lang="es-ES" dirty="0"/>
              <a:t>	</a:t>
            </a:r>
          </a:p>
          <a:p>
            <a:pPr lvl="1"/>
            <a:endParaRPr lang="es-ES" dirty="0"/>
          </a:p>
        </p:txBody>
      </p:sp>
    </p:spTree>
    <p:extLst>
      <p:ext uri="{BB962C8B-B14F-4D97-AF65-F5344CB8AC3E}">
        <p14:creationId xmlns:p14="http://schemas.microsoft.com/office/powerpoint/2010/main" val="22672923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Exemple</a:t>
            </a:r>
            <a:r>
              <a:rPr lang="es-ES" dirty="0"/>
              <a:t>: FOR</a:t>
            </a:r>
          </a:p>
        </p:txBody>
      </p:sp>
      <p:sp>
        <p:nvSpPr>
          <p:cNvPr id="3" name="1"/>
          <p:cNvSpPr>
            <a:spLocks noGrp="1"/>
          </p:cNvSpPr>
          <p:nvPr>
            <p:ph idx="1"/>
          </p:nvPr>
        </p:nvSpPr>
        <p:spPr>
          <a:xfrm>
            <a:off x="304798" y="696256"/>
            <a:ext cx="8534401" cy="5872184"/>
          </a:xfrm>
        </p:spPr>
        <p:txBody>
          <a:bodyPr>
            <a:normAutofit/>
          </a:bodyPr>
          <a:lstStyle/>
          <a:p>
            <a:pPr marL="457200" indent="-457200">
              <a:buFont typeface="+mj-lt"/>
              <a:buAutoNum type="arabicPeriod"/>
            </a:pPr>
            <a:r>
              <a:rPr lang="es-ES" dirty="0" err="1"/>
              <a:t>Escriu</a:t>
            </a:r>
            <a:r>
              <a:rPr lang="es-ES" dirty="0"/>
              <a:t> </a:t>
            </a:r>
            <a:r>
              <a:rPr lang="es-ES" dirty="0" err="1"/>
              <a:t>els</a:t>
            </a:r>
            <a:r>
              <a:rPr lang="es-ES" dirty="0"/>
              <a:t> número des de l’1 </a:t>
            </a:r>
            <a:r>
              <a:rPr lang="es-ES" dirty="0" err="1"/>
              <a:t>fins</a:t>
            </a:r>
            <a:r>
              <a:rPr lang="es-ES" dirty="0"/>
              <a:t> al 5</a:t>
            </a:r>
          </a:p>
          <a:p>
            <a:pPr marL="0" indent="0">
              <a:buNone/>
            </a:pPr>
            <a:endParaRPr lang="es-ES" sz="2000" dirty="0">
              <a:latin typeface="Century Gothic" panose="020B0502020202020204" pitchFamily="34" charset="0"/>
            </a:endParaRPr>
          </a:p>
        </p:txBody>
      </p:sp>
      <p:sp>
        <p:nvSpPr>
          <p:cNvPr id="6" name="2"/>
          <p:cNvSpPr txBox="1">
            <a:spLocks/>
          </p:cNvSpPr>
          <p:nvPr/>
        </p:nvSpPr>
        <p:spPr>
          <a:xfrm>
            <a:off x="304798" y="3220242"/>
            <a:ext cx="7929465" cy="63524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2"/>
            </a:pPr>
            <a:r>
              <a:rPr lang="es-ES" sz="1600" dirty="0" err="1"/>
              <a:t>Escriu</a:t>
            </a:r>
            <a:r>
              <a:rPr lang="es-ES" sz="1600" dirty="0"/>
              <a:t> </a:t>
            </a:r>
            <a:r>
              <a:rPr lang="es-ES" sz="1600" dirty="0" err="1"/>
              <a:t>els</a:t>
            </a:r>
            <a:r>
              <a:rPr lang="es-ES" sz="1600" dirty="0"/>
              <a:t> números </a:t>
            </a:r>
            <a:r>
              <a:rPr lang="es-ES" sz="1600" dirty="0" err="1"/>
              <a:t>parells</a:t>
            </a:r>
            <a:r>
              <a:rPr lang="es-ES" sz="1600" dirty="0"/>
              <a:t> des del 0 </a:t>
            </a:r>
            <a:r>
              <a:rPr lang="es-ES" sz="1600" dirty="0" err="1"/>
              <a:t>fins</a:t>
            </a:r>
            <a:r>
              <a:rPr lang="es-ES" sz="1600" dirty="0"/>
              <a:t> al 11</a:t>
            </a:r>
          </a:p>
        </p:txBody>
      </p:sp>
      <p:pic>
        <p:nvPicPr>
          <p:cNvPr id="8" name="Imagen 7">
            <a:extLst>
              <a:ext uri="{FF2B5EF4-FFF2-40B4-BE49-F238E27FC236}">
                <a16:creationId xmlns:a16="http://schemas.microsoft.com/office/drawing/2014/main" id="{4F32C0C3-623A-439D-930C-0B8C91D17EED}"/>
              </a:ext>
            </a:extLst>
          </p:cNvPr>
          <p:cNvPicPr>
            <a:picLocks noChangeAspect="1"/>
          </p:cNvPicPr>
          <p:nvPr/>
        </p:nvPicPr>
        <p:blipFill>
          <a:blip r:embed="rId2"/>
          <a:stretch>
            <a:fillRect/>
          </a:stretch>
        </p:blipFill>
        <p:spPr>
          <a:xfrm>
            <a:off x="4384030" y="1046588"/>
            <a:ext cx="2140594" cy="2028353"/>
          </a:xfrm>
          <a:prstGeom prst="rect">
            <a:avLst/>
          </a:prstGeom>
          <a:ln>
            <a:solidFill>
              <a:schemeClr val="tx1"/>
            </a:solidFill>
            <a:prstDash val="lgDash"/>
          </a:ln>
        </p:spPr>
      </p:pic>
      <p:pic>
        <p:nvPicPr>
          <p:cNvPr id="10" name="Imagen 9">
            <a:extLst>
              <a:ext uri="{FF2B5EF4-FFF2-40B4-BE49-F238E27FC236}">
                <a16:creationId xmlns:a16="http://schemas.microsoft.com/office/drawing/2014/main" id="{9908A554-94CA-4AF1-8DC2-40DD572C4C9D}"/>
              </a:ext>
            </a:extLst>
          </p:cNvPr>
          <p:cNvPicPr>
            <a:picLocks noChangeAspect="1"/>
          </p:cNvPicPr>
          <p:nvPr/>
        </p:nvPicPr>
        <p:blipFill>
          <a:blip r:embed="rId3"/>
          <a:stretch>
            <a:fillRect/>
          </a:stretch>
        </p:blipFill>
        <p:spPr>
          <a:xfrm>
            <a:off x="5624578" y="3728047"/>
            <a:ext cx="2609685" cy="2509312"/>
          </a:xfrm>
          <a:prstGeom prst="rect">
            <a:avLst/>
          </a:prstGeom>
          <a:ln>
            <a:solidFill>
              <a:schemeClr val="tx1"/>
            </a:solidFill>
            <a:prstDash val="lgDash"/>
          </a:ln>
        </p:spPr>
      </p:pic>
      <p:sp>
        <p:nvSpPr>
          <p:cNvPr id="11" name="CuadroTexto 10">
            <a:extLst>
              <a:ext uri="{FF2B5EF4-FFF2-40B4-BE49-F238E27FC236}">
                <a16:creationId xmlns:a16="http://schemas.microsoft.com/office/drawing/2014/main" id="{AE88700D-19E2-8424-36AA-39E7CFCEACDA}"/>
              </a:ext>
            </a:extLst>
          </p:cNvPr>
          <p:cNvSpPr txBox="1"/>
          <p:nvPr/>
        </p:nvSpPr>
        <p:spPr>
          <a:xfrm>
            <a:off x="858963" y="1046588"/>
            <a:ext cx="3351087" cy="954107"/>
          </a:xfrm>
          <a:prstGeom prst="rect">
            <a:avLst/>
          </a:prstGeom>
          <a:noFill/>
          <a:ln>
            <a:solidFill>
              <a:schemeClr val="tx1"/>
            </a:solidFill>
            <a:prstDash val="dash"/>
          </a:ln>
        </p:spPr>
        <p:txBody>
          <a:bodyPr wrap="square">
            <a:spAutoFit/>
          </a:bodyPr>
          <a:lstStyle/>
          <a:p>
            <a:r>
              <a:rPr lang="pt-BR" sz="1400" b="0" dirty="0">
                <a:solidFill>
                  <a:srgbClr val="0000FF"/>
                </a:solidFill>
                <a:effectLst/>
                <a:latin typeface="Consolas" panose="020B0609020204030204" pitchFamily="49" charset="0"/>
              </a:rPr>
              <a:t>for</a:t>
            </a:r>
            <a:r>
              <a:rPr lang="pt-BR" sz="1400" b="0" dirty="0">
                <a:solidFill>
                  <a:srgbClr val="000000"/>
                </a:solidFill>
                <a:effectLst/>
                <a:latin typeface="Consolas" panose="020B0609020204030204" pitchFamily="49" charset="0"/>
              </a:rPr>
              <a:t> (</a:t>
            </a:r>
            <a:r>
              <a:rPr lang="pt-BR" sz="1400" b="0" dirty="0" err="1">
                <a:solidFill>
                  <a:srgbClr val="0000FF"/>
                </a:solidFill>
                <a:effectLst/>
                <a:latin typeface="Consolas" panose="020B0609020204030204" pitchFamily="49" charset="0"/>
              </a:rPr>
              <a:t>int</a:t>
            </a:r>
            <a:r>
              <a:rPr lang="pt-BR" sz="1400" b="0" dirty="0">
                <a:solidFill>
                  <a:srgbClr val="000000"/>
                </a:solidFill>
                <a:effectLst/>
                <a:latin typeface="Consolas" panose="020B0609020204030204" pitchFamily="49" charset="0"/>
              </a:rPr>
              <a:t> num=</a:t>
            </a:r>
            <a:r>
              <a:rPr lang="pt-BR" sz="1400" b="0" dirty="0">
                <a:solidFill>
                  <a:srgbClr val="098658"/>
                </a:solidFill>
                <a:effectLst/>
                <a:latin typeface="Consolas" panose="020B0609020204030204" pitchFamily="49" charset="0"/>
              </a:rPr>
              <a:t>1</a:t>
            </a:r>
            <a:r>
              <a:rPr lang="pt-BR" sz="1400" b="0" dirty="0">
                <a:solidFill>
                  <a:srgbClr val="000000"/>
                </a:solidFill>
                <a:effectLst/>
                <a:latin typeface="Consolas" panose="020B0609020204030204" pitchFamily="49" charset="0"/>
              </a:rPr>
              <a:t>;num&lt;=</a:t>
            </a:r>
            <a:r>
              <a:rPr lang="pt-BR" sz="1400" b="0" dirty="0">
                <a:solidFill>
                  <a:srgbClr val="098658"/>
                </a:solidFill>
                <a:effectLst/>
                <a:latin typeface="Consolas" panose="020B0609020204030204" pitchFamily="49" charset="0"/>
              </a:rPr>
              <a:t>5</a:t>
            </a:r>
            <a:r>
              <a:rPr lang="pt-BR" sz="1400" b="0" dirty="0">
                <a:solidFill>
                  <a:srgbClr val="000000"/>
                </a:solidFill>
                <a:effectLst/>
                <a:latin typeface="Consolas" panose="020B0609020204030204" pitchFamily="49" charset="0"/>
              </a:rPr>
              <a:t>;num++)</a:t>
            </a:r>
          </a:p>
          <a:p>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    </a:t>
            </a:r>
            <a:r>
              <a:rPr lang="pt-BR" sz="1400" b="0" dirty="0" err="1">
                <a:solidFill>
                  <a:srgbClr val="000000"/>
                </a:solidFill>
                <a:effectLst/>
                <a:latin typeface="Consolas" panose="020B0609020204030204" pitchFamily="49" charset="0"/>
              </a:rPr>
              <a:t>printf</a:t>
            </a:r>
            <a:r>
              <a:rPr lang="pt-BR" sz="1400" b="0" dirty="0">
                <a:solidFill>
                  <a:srgbClr val="000000"/>
                </a:solidFill>
                <a:effectLst/>
                <a:latin typeface="Consolas" panose="020B0609020204030204" pitchFamily="49" charset="0"/>
              </a:rPr>
              <a:t>(</a:t>
            </a:r>
            <a:r>
              <a:rPr lang="pt-BR" sz="1400" b="0" dirty="0">
                <a:solidFill>
                  <a:srgbClr val="A31515"/>
                </a:solidFill>
                <a:effectLst/>
                <a:latin typeface="Consolas" panose="020B0609020204030204" pitchFamily="49" charset="0"/>
              </a:rPr>
              <a:t>"%d\</a:t>
            </a:r>
            <a:r>
              <a:rPr lang="pt-BR" sz="1400" b="0" dirty="0" err="1">
                <a:solidFill>
                  <a:srgbClr val="A31515"/>
                </a:solidFill>
                <a:effectLst/>
                <a:latin typeface="Consolas" panose="020B0609020204030204" pitchFamily="49" charset="0"/>
              </a:rPr>
              <a:t>n"</a:t>
            </a:r>
            <a:r>
              <a:rPr lang="pt-BR" sz="1400" b="0" dirty="0" err="1">
                <a:solidFill>
                  <a:srgbClr val="000000"/>
                </a:solidFill>
                <a:effectLst/>
                <a:latin typeface="Consolas" panose="020B0609020204030204" pitchFamily="49" charset="0"/>
              </a:rPr>
              <a:t>,num</a:t>
            </a:r>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a:t>
            </a:r>
          </a:p>
        </p:txBody>
      </p:sp>
      <p:sp>
        <p:nvSpPr>
          <p:cNvPr id="12" name="CuadroTexto 11">
            <a:extLst>
              <a:ext uri="{FF2B5EF4-FFF2-40B4-BE49-F238E27FC236}">
                <a16:creationId xmlns:a16="http://schemas.microsoft.com/office/drawing/2014/main" id="{CC910825-FEF9-C372-C279-DF1F0806CBD0}"/>
              </a:ext>
            </a:extLst>
          </p:cNvPr>
          <p:cNvSpPr txBox="1"/>
          <p:nvPr/>
        </p:nvSpPr>
        <p:spPr>
          <a:xfrm>
            <a:off x="854917" y="3711347"/>
            <a:ext cx="4629150" cy="954107"/>
          </a:xfrm>
          <a:prstGeom prst="rect">
            <a:avLst/>
          </a:prstGeom>
          <a:noFill/>
          <a:ln>
            <a:solidFill>
              <a:schemeClr val="tx1"/>
            </a:solidFill>
            <a:prstDash val="dash"/>
          </a:ln>
        </p:spPr>
        <p:txBody>
          <a:bodyPr wrap="square">
            <a:spAutoFit/>
          </a:bodyPr>
          <a:lstStyle/>
          <a:p>
            <a:r>
              <a:rPr lang="pt-BR" sz="1400" b="0" dirty="0">
                <a:solidFill>
                  <a:srgbClr val="0000FF"/>
                </a:solidFill>
                <a:effectLst/>
                <a:latin typeface="Consolas" panose="020B0609020204030204" pitchFamily="49" charset="0"/>
              </a:rPr>
              <a:t>for</a:t>
            </a:r>
            <a:r>
              <a:rPr lang="pt-BR" sz="1400" b="0" dirty="0">
                <a:solidFill>
                  <a:srgbClr val="000000"/>
                </a:solidFill>
                <a:effectLst/>
                <a:latin typeface="Consolas" panose="020B0609020204030204" pitchFamily="49" charset="0"/>
              </a:rPr>
              <a:t> (</a:t>
            </a:r>
            <a:r>
              <a:rPr lang="pt-BR" sz="1400" b="0" dirty="0" err="1">
                <a:solidFill>
                  <a:srgbClr val="0000FF"/>
                </a:solidFill>
                <a:effectLst/>
                <a:latin typeface="Consolas" panose="020B0609020204030204" pitchFamily="49" charset="0"/>
              </a:rPr>
              <a:t>int</a:t>
            </a:r>
            <a:r>
              <a:rPr lang="pt-BR" sz="1400" b="0" dirty="0">
                <a:solidFill>
                  <a:srgbClr val="000000"/>
                </a:solidFill>
                <a:effectLst/>
                <a:latin typeface="Consolas" panose="020B0609020204030204" pitchFamily="49" charset="0"/>
              </a:rPr>
              <a:t> num=</a:t>
            </a:r>
            <a:r>
              <a:rPr lang="pt-BR" sz="1400" b="0" dirty="0">
                <a:solidFill>
                  <a:srgbClr val="098658"/>
                </a:solidFill>
                <a:effectLst/>
                <a:latin typeface="Consolas" panose="020B0609020204030204" pitchFamily="49" charset="0"/>
              </a:rPr>
              <a:t>0</a:t>
            </a:r>
            <a:r>
              <a:rPr lang="pt-BR" sz="1400" b="0" dirty="0">
                <a:solidFill>
                  <a:srgbClr val="000000"/>
                </a:solidFill>
                <a:effectLst/>
                <a:latin typeface="Consolas" panose="020B0609020204030204" pitchFamily="49" charset="0"/>
              </a:rPr>
              <a:t>;num&lt;=</a:t>
            </a:r>
            <a:r>
              <a:rPr lang="pt-BR" sz="1400" b="0" dirty="0">
                <a:solidFill>
                  <a:srgbClr val="098658"/>
                </a:solidFill>
                <a:effectLst/>
                <a:latin typeface="Consolas" panose="020B0609020204030204" pitchFamily="49" charset="0"/>
              </a:rPr>
              <a:t>11</a:t>
            </a:r>
            <a:r>
              <a:rPr lang="pt-BR" sz="1400" b="0" dirty="0">
                <a:solidFill>
                  <a:srgbClr val="000000"/>
                </a:solidFill>
                <a:effectLst/>
                <a:latin typeface="Consolas" panose="020B0609020204030204" pitchFamily="49" charset="0"/>
              </a:rPr>
              <a:t>;num=num+</a:t>
            </a:r>
            <a:r>
              <a:rPr lang="pt-BR" sz="1400" b="0" dirty="0">
                <a:solidFill>
                  <a:srgbClr val="098658"/>
                </a:solidFill>
                <a:effectLst/>
                <a:latin typeface="Consolas" panose="020B0609020204030204" pitchFamily="49" charset="0"/>
              </a:rPr>
              <a:t>2</a:t>
            </a:r>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    </a:t>
            </a:r>
            <a:r>
              <a:rPr lang="pt-BR" sz="1400" b="0" dirty="0" err="1">
                <a:solidFill>
                  <a:srgbClr val="000000"/>
                </a:solidFill>
                <a:effectLst/>
                <a:latin typeface="Consolas" panose="020B0609020204030204" pitchFamily="49" charset="0"/>
              </a:rPr>
              <a:t>printf</a:t>
            </a:r>
            <a:r>
              <a:rPr lang="pt-BR" sz="1400" b="0" dirty="0">
                <a:solidFill>
                  <a:srgbClr val="000000"/>
                </a:solidFill>
                <a:effectLst/>
                <a:latin typeface="Consolas" panose="020B0609020204030204" pitchFamily="49" charset="0"/>
              </a:rPr>
              <a:t>(</a:t>
            </a:r>
            <a:r>
              <a:rPr lang="pt-BR" sz="1400" b="0" dirty="0">
                <a:solidFill>
                  <a:srgbClr val="A31515"/>
                </a:solidFill>
                <a:effectLst/>
                <a:latin typeface="Consolas" panose="020B0609020204030204" pitchFamily="49" charset="0"/>
              </a:rPr>
              <a:t>"%d\</a:t>
            </a:r>
            <a:r>
              <a:rPr lang="pt-BR" sz="1400" b="0" dirty="0" err="1">
                <a:solidFill>
                  <a:srgbClr val="A31515"/>
                </a:solidFill>
                <a:effectLst/>
                <a:latin typeface="Consolas" panose="020B0609020204030204" pitchFamily="49" charset="0"/>
              </a:rPr>
              <a:t>n"</a:t>
            </a:r>
            <a:r>
              <a:rPr lang="pt-BR" sz="1400" b="0" dirty="0" err="1">
                <a:solidFill>
                  <a:srgbClr val="000000"/>
                </a:solidFill>
                <a:effectLst/>
                <a:latin typeface="Consolas" panose="020B0609020204030204" pitchFamily="49" charset="0"/>
              </a:rPr>
              <a:t>,num</a:t>
            </a:r>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22500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animBg="1"/>
      <p:bldP spid="1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Exemple</a:t>
            </a:r>
            <a:endParaRPr lang="es-ES" dirty="0"/>
          </a:p>
        </p:txBody>
      </p:sp>
      <p:sp>
        <p:nvSpPr>
          <p:cNvPr id="3" name="1"/>
          <p:cNvSpPr>
            <a:spLocks noGrp="1"/>
          </p:cNvSpPr>
          <p:nvPr>
            <p:ph idx="1"/>
          </p:nvPr>
        </p:nvSpPr>
        <p:spPr/>
        <p:txBody>
          <a:bodyPr>
            <a:normAutofit/>
          </a:bodyPr>
          <a:lstStyle/>
          <a:p>
            <a:pPr marL="0" indent="0">
              <a:buNone/>
            </a:pPr>
            <a:r>
              <a:rPr lang="es-ES" sz="2000" dirty="0"/>
              <a:t>3. </a:t>
            </a:r>
            <a:r>
              <a:rPr lang="es-ES" sz="2000" dirty="0" err="1"/>
              <a:t>Escriu</a:t>
            </a:r>
            <a:r>
              <a:rPr lang="es-ES" sz="2000" dirty="0"/>
              <a:t> </a:t>
            </a:r>
            <a:r>
              <a:rPr lang="es-ES" sz="2000" dirty="0" err="1"/>
              <a:t>els</a:t>
            </a:r>
            <a:r>
              <a:rPr lang="es-ES" sz="2000" dirty="0"/>
              <a:t> número des de l’100 </a:t>
            </a:r>
            <a:r>
              <a:rPr lang="es-ES" sz="2000" dirty="0" err="1"/>
              <a:t>fins</a:t>
            </a:r>
            <a:r>
              <a:rPr lang="es-ES" sz="2000" dirty="0"/>
              <a:t> a l’1</a:t>
            </a:r>
          </a:p>
          <a:p>
            <a:pPr marL="0" indent="0">
              <a:buNone/>
            </a:pPr>
            <a:endParaRPr lang="es-ES" sz="2000" dirty="0">
              <a:latin typeface="Century Gothic" panose="020B0502020202020204" pitchFamily="34" charset="0"/>
            </a:endParaRPr>
          </a:p>
        </p:txBody>
      </p:sp>
      <p:pic>
        <p:nvPicPr>
          <p:cNvPr id="5" name="Imagen 4">
            <a:extLst>
              <a:ext uri="{FF2B5EF4-FFF2-40B4-BE49-F238E27FC236}">
                <a16:creationId xmlns:a16="http://schemas.microsoft.com/office/drawing/2014/main" id="{8A89AEF4-AACF-411C-A554-F453C33B1B4E}"/>
              </a:ext>
            </a:extLst>
          </p:cNvPr>
          <p:cNvPicPr>
            <a:picLocks noChangeAspect="1"/>
          </p:cNvPicPr>
          <p:nvPr/>
        </p:nvPicPr>
        <p:blipFill>
          <a:blip r:embed="rId2"/>
          <a:stretch>
            <a:fillRect/>
          </a:stretch>
        </p:blipFill>
        <p:spPr>
          <a:xfrm>
            <a:off x="4450456" y="1223873"/>
            <a:ext cx="2732709" cy="2411888"/>
          </a:xfrm>
          <a:prstGeom prst="rect">
            <a:avLst/>
          </a:prstGeom>
          <a:ln>
            <a:solidFill>
              <a:schemeClr val="tx1"/>
            </a:solidFill>
            <a:prstDash val="lgDash"/>
          </a:ln>
        </p:spPr>
      </p:pic>
      <p:sp>
        <p:nvSpPr>
          <p:cNvPr id="8" name="CuadroTexto 7">
            <a:extLst>
              <a:ext uri="{FF2B5EF4-FFF2-40B4-BE49-F238E27FC236}">
                <a16:creationId xmlns:a16="http://schemas.microsoft.com/office/drawing/2014/main" id="{16AE1129-10E5-F051-191E-438051643B08}"/>
              </a:ext>
            </a:extLst>
          </p:cNvPr>
          <p:cNvSpPr txBox="1"/>
          <p:nvPr/>
        </p:nvSpPr>
        <p:spPr>
          <a:xfrm>
            <a:off x="685799" y="1223873"/>
            <a:ext cx="3615715" cy="1077218"/>
          </a:xfrm>
          <a:prstGeom prst="rect">
            <a:avLst/>
          </a:prstGeom>
          <a:noFill/>
          <a:ln>
            <a:solidFill>
              <a:schemeClr val="tx1"/>
            </a:solidFill>
            <a:prstDash val="dash"/>
          </a:ln>
        </p:spPr>
        <p:txBody>
          <a:bodyPr wrap="square">
            <a:spAutoFit/>
          </a:bodyPr>
          <a:lstStyle/>
          <a:p>
            <a:r>
              <a:rPr lang="pt-BR" sz="1600" b="0" dirty="0">
                <a:solidFill>
                  <a:srgbClr val="0000FF"/>
                </a:solidFill>
                <a:effectLst/>
                <a:latin typeface="Consolas" panose="020B0609020204030204" pitchFamily="49" charset="0"/>
              </a:rPr>
              <a:t>for</a:t>
            </a:r>
            <a:r>
              <a:rPr lang="pt-BR" sz="1600" b="0" dirty="0">
                <a:solidFill>
                  <a:srgbClr val="000000"/>
                </a:solidFill>
                <a:effectLst/>
                <a:latin typeface="Consolas" panose="020B0609020204030204" pitchFamily="49" charset="0"/>
              </a:rPr>
              <a:t> (</a:t>
            </a:r>
            <a:r>
              <a:rPr lang="pt-BR" sz="1600" b="0" dirty="0" err="1">
                <a:solidFill>
                  <a:srgbClr val="0000FF"/>
                </a:solidFill>
                <a:effectLst/>
                <a:latin typeface="Consolas" panose="020B0609020204030204" pitchFamily="49" charset="0"/>
              </a:rPr>
              <a:t>int</a:t>
            </a:r>
            <a:r>
              <a:rPr lang="pt-BR" sz="1600" b="0" dirty="0">
                <a:solidFill>
                  <a:srgbClr val="000000"/>
                </a:solidFill>
                <a:effectLst/>
                <a:latin typeface="Consolas" panose="020B0609020204030204" pitchFamily="49" charset="0"/>
              </a:rPr>
              <a:t> num=</a:t>
            </a:r>
            <a:r>
              <a:rPr lang="pt-BR" sz="1600" b="0" dirty="0">
                <a:solidFill>
                  <a:srgbClr val="098658"/>
                </a:solidFill>
                <a:effectLst/>
                <a:latin typeface="Consolas" panose="020B0609020204030204" pitchFamily="49" charset="0"/>
              </a:rPr>
              <a:t>100</a:t>
            </a:r>
            <a:r>
              <a:rPr lang="pt-BR" sz="1600" b="0" dirty="0">
                <a:solidFill>
                  <a:srgbClr val="000000"/>
                </a:solidFill>
                <a:effectLst/>
                <a:latin typeface="Consolas" panose="020B0609020204030204" pitchFamily="49" charset="0"/>
              </a:rPr>
              <a:t>;num&gt;=</a:t>
            </a:r>
            <a:r>
              <a:rPr lang="pt-BR" sz="1600" b="0" dirty="0">
                <a:solidFill>
                  <a:srgbClr val="098658"/>
                </a:solidFill>
                <a:effectLst/>
                <a:latin typeface="Consolas" panose="020B0609020204030204" pitchFamily="49" charset="0"/>
              </a:rPr>
              <a:t>1</a:t>
            </a:r>
            <a:r>
              <a:rPr lang="pt-BR" sz="1600" b="0" dirty="0">
                <a:solidFill>
                  <a:srgbClr val="000000"/>
                </a:solidFill>
                <a:effectLst/>
                <a:latin typeface="Consolas" panose="020B0609020204030204" pitchFamily="49" charset="0"/>
              </a:rPr>
              <a:t>;num--)</a:t>
            </a:r>
          </a:p>
          <a:p>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    </a:t>
            </a:r>
            <a:r>
              <a:rPr lang="pt-BR" sz="1600" b="0" dirty="0" err="1">
                <a:solidFill>
                  <a:srgbClr val="000000"/>
                </a:solidFill>
                <a:effectLst/>
                <a:latin typeface="Consolas" panose="020B0609020204030204" pitchFamily="49" charset="0"/>
              </a:rPr>
              <a:t>printf</a:t>
            </a:r>
            <a:r>
              <a:rPr lang="pt-BR" sz="1600" b="0" dirty="0">
                <a:solidFill>
                  <a:srgbClr val="000000"/>
                </a:solidFill>
                <a:effectLst/>
                <a:latin typeface="Consolas" panose="020B0609020204030204" pitchFamily="49" charset="0"/>
              </a:rPr>
              <a:t>(</a:t>
            </a:r>
            <a:r>
              <a:rPr lang="pt-BR" sz="1600" b="0" dirty="0">
                <a:solidFill>
                  <a:srgbClr val="A31515"/>
                </a:solidFill>
                <a:effectLst/>
                <a:latin typeface="Consolas" panose="020B0609020204030204" pitchFamily="49" charset="0"/>
              </a:rPr>
              <a:t>"%d\</a:t>
            </a:r>
            <a:r>
              <a:rPr lang="pt-BR" sz="1600" b="0" dirty="0" err="1">
                <a:solidFill>
                  <a:srgbClr val="A31515"/>
                </a:solidFill>
                <a:effectLst/>
                <a:latin typeface="Consolas" panose="020B0609020204030204" pitchFamily="49" charset="0"/>
              </a:rPr>
              <a:t>n"</a:t>
            </a:r>
            <a:r>
              <a:rPr lang="pt-BR" sz="1600" b="0" dirty="0" err="1">
                <a:solidFill>
                  <a:srgbClr val="000000"/>
                </a:solidFill>
                <a:effectLst/>
                <a:latin typeface="Consolas" panose="020B0609020204030204" pitchFamily="49" charset="0"/>
              </a:rPr>
              <a:t>,num</a:t>
            </a:r>
            <a:r>
              <a:rPr lang="pt-BR" sz="1600" b="0" dirty="0">
                <a:solidFill>
                  <a:srgbClr val="000000"/>
                </a:solidFill>
                <a:effectLst/>
                <a:latin typeface="Consolas" panose="020B0609020204030204" pitchFamily="49" charset="0"/>
              </a:rPr>
              <a:t>);</a:t>
            </a:r>
          </a:p>
          <a:p>
            <a:r>
              <a:rPr lang="pt-BR"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936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Exemple</a:t>
            </a:r>
            <a:endParaRPr lang="es-ES" dirty="0"/>
          </a:p>
        </p:txBody>
      </p:sp>
      <p:sp>
        <p:nvSpPr>
          <p:cNvPr id="3" name="Marcador de contenido 2">
            <a:extLst>
              <a:ext uri="{FF2B5EF4-FFF2-40B4-BE49-F238E27FC236}">
                <a16:creationId xmlns:a16="http://schemas.microsoft.com/office/drawing/2014/main" id="{6D5C2320-0B7E-4C8C-9D06-ECF2E2D5DFB7}"/>
              </a:ext>
            </a:extLst>
          </p:cNvPr>
          <p:cNvSpPr>
            <a:spLocks noGrp="1"/>
          </p:cNvSpPr>
          <p:nvPr>
            <p:ph idx="1"/>
          </p:nvPr>
        </p:nvSpPr>
        <p:spPr>
          <a:xfrm>
            <a:off x="432971" y="671905"/>
            <a:ext cx="8534401" cy="650868"/>
          </a:xfrm>
        </p:spPr>
        <p:txBody>
          <a:bodyPr/>
          <a:lstStyle/>
          <a:p>
            <a:pPr marL="0" indent="0">
              <a:buNone/>
            </a:pPr>
            <a:r>
              <a:rPr lang="es-ES" dirty="0" err="1"/>
              <a:t>Escriu</a:t>
            </a:r>
            <a:r>
              <a:rPr lang="es-ES" dirty="0"/>
              <a:t> </a:t>
            </a:r>
            <a:r>
              <a:rPr lang="es-ES" dirty="0" err="1"/>
              <a:t>els</a:t>
            </a:r>
            <a:r>
              <a:rPr lang="es-ES" dirty="0"/>
              <a:t> números entre el l’1 i el número </a:t>
            </a:r>
            <a:r>
              <a:rPr lang="ca-ES" dirty="0"/>
              <a:t>introduït</a:t>
            </a:r>
            <a:r>
              <a:rPr lang="es-ES" dirty="0"/>
              <a:t> per </a:t>
            </a:r>
            <a:r>
              <a:rPr lang="es-ES" dirty="0" err="1"/>
              <a:t>l’usuari</a:t>
            </a:r>
            <a:r>
              <a:rPr lang="es-ES" dirty="0"/>
              <a:t>. En cas de </a:t>
            </a:r>
            <a:r>
              <a:rPr lang="es-ES" dirty="0" err="1"/>
              <a:t>negatiu</a:t>
            </a:r>
            <a:r>
              <a:rPr lang="es-ES" dirty="0"/>
              <a:t> ha </a:t>
            </a:r>
            <a:r>
              <a:rPr lang="es-ES" dirty="0" err="1"/>
              <a:t>d’escriure</a:t>
            </a:r>
            <a:r>
              <a:rPr lang="es-ES" dirty="0"/>
              <a:t> des del 1 </a:t>
            </a:r>
            <a:r>
              <a:rPr lang="es-ES" dirty="0" err="1"/>
              <a:t>fins</a:t>
            </a:r>
            <a:r>
              <a:rPr lang="es-ES" dirty="0"/>
              <a:t> al número </a:t>
            </a:r>
            <a:r>
              <a:rPr lang="es-ES" dirty="0" err="1"/>
              <a:t>introduït</a:t>
            </a:r>
            <a:endParaRPr lang="es-ES" dirty="0"/>
          </a:p>
          <a:p>
            <a:pPr marL="0" indent="0">
              <a:buNone/>
            </a:pPr>
            <a:endParaRPr lang="ca-ES" dirty="0"/>
          </a:p>
        </p:txBody>
      </p:sp>
      <p:sp>
        <p:nvSpPr>
          <p:cNvPr id="6" name="CuadroTexto 5">
            <a:extLst>
              <a:ext uri="{FF2B5EF4-FFF2-40B4-BE49-F238E27FC236}">
                <a16:creationId xmlns:a16="http://schemas.microsoft.com/office/drawing/2014/main" id="{92F9B96A-C983-486A-4D55-C2AE2A2DE0FF}"/>
              </a:ext>
            </a:extLst>
          </p:cNvPr>
          <p:cNvSpPr txBox="1"/>
          <p:nvPr/>
        </p:nvSpPr>
        <p:spPr>
          <a:xfrm>
            <a:off x="432971" y="1386983"/>
            <a:ext cx="3133725" cy="923330"/>
          </a:xfrm>
          <a:prstGeom prst="rect">
            <a:avLst/>
          </a:prstGeom>
          <a:noFill/>
        </p:spPr>
        <p:txBody>
          <a:bodyPr wrap="square">
            <a:spAutoFit/>
          </a:bodyPr>
          <a:lstStyle/>
          <a:p>
            <a:r>
              <a:rPr lang="es-ES" dirty="0" err="1"/>
              <a:t>Introdueix</a:t>
            </a:r>
            <a:r>
              <a:rPr lang="es-ES" dirty="0"/>
              <a:t> el numero: 5</a:t>
            </a:r>
          </a:p>
          <a:p>
            <a:r>
              <a:rPr lang="es-ES" dirty="0"/>
              <a:t>1       2       3       4       5</a:t>
            </a:r>
          </a:p>
          <a:p>
            <a:r>
              <a:rPr lang="es-ES" dirty="0" err="1"/>
              <a:t>Prem</a:t>
            </a:r>
            <a:r>
              <a:rPr lang="es-ES" dirty="0"/>
              <a:t> una tecla per </a:t>
            </a:r>
            <a:r>
              <a:rPr lang="es-ES" dirty="0" err="1"/>
              <a:t>finalitzar</a:t>
            </a:r>
            <a:endParaRPr lang="es-ES" dirty="0"/>
          </a:p>
        </p:txBody>
      </p:sp>
      <p:sp>
        <p:nvSpPr>
          <p:cNvPr id="9" name="CuadroTexto 8">
            <a:extLst>
              <a:ext uri="{FF2B5EF4-FFF2-40B4-BE49-F238E27FC236}">
                <a16:creationId xmlns:a16="http://schemas.microsoft.com/office/drawing/2014/main" id="{5C1FA9FB-EB10-0C36-0115-E6B3C4916359}"/>
              </a:ext>
            </a:extLst>
          </p:cNvPr>
          <p:cNvSpPr txBox="1"/>
          <p:nvPr/>
        </p:nvSpPr>
        <p:spPr>
          <a:xfrm>
            <a:off x="432971" y="2374523"/>
            <a:ext cx="4629150" cy="923330"/>
          </a:xfrm>
          <a:prstGeom prst="rect">
            <a:avLst/>
          </a:prstGeom>
          <a:noFill/>
        </p:spPr>
        <p:txBody>
          <a:bodyPr wrap="square">
            <a:spAutoFit/>
          </a:bodyPr>
          <a:lstStyle/>
          <a:p>
            <a:r>
              <a:rPr lang="es-ES" dirty="0" err="1"/>
              <a:t>Introdueix</a:t>
            </a:r>
            <a:r>
              <a:rPr lang="es-ES" dirty="0"/>
              <a:t> el numero: -6</a:t>
            </a:r>
          </a:p>
          <a:p>
            <a:r>
              <a:rPr lang="es-ES" dirty="0"/>
              <a:t>1       0       -1      -2      -3      -4      -5      -6</a:t>
            </a:r>
          </a:p>
          <a:p>
            <a:r>
              <a:rPr lang="es-ES" dirty="0" err="1"/>
              <a:t>Prem</a:t>
            </a:r>
            <a:r>
              <a:rPr lang="es-ES" dirty="0"/>
              <a:t> una tecla per </a:t>
            </a:r>
            <a:r>
              <a:rPr lang="es-ES" dirty="0" err="1"/>
              <a:t>finalitzar</a:t>
            </a:r>
            <a:endParaRPr lang="es-ES" dirty="0"/>
          </a:p>
        </p:txBody>
      </p:sp>
    </p:spTree>
    <p:extLst>
      <p:ext uri="{BB962C8B-B14F-4D97-AF65-F5344CB8AC3E}">
        <p14:creationId xmlns:p14="http://schemas.microsoft.com/office/powerpoint/2010/main" val="25671243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4D6BA-3A9A-4023-B207-E08493F80AAE}"/>
              </a:ext>
            </a:extLst>
          </p:cNvPr>
          <p:cNvSpPr>
            <a:spLocks noGrp="1"/>
          </p:cNvSpPr>
          <p:nvPr>
            <p:ph type="title"/>
          </p:nvPr>
        </p:nvSpPr>
        <p:spPr/>
        <p:txBody>
          <a:bodyPr/>
          <a:lstStyle/>
          <a:p>
            <a:r>
              <a:rPr lang="es-ES" dirty="0" err="1"/>
              <a:t>Exemple</a:t>
            </a:r>
            <a:endParaRPr lang="ca-ES" dirty="0"/>
          </a:p>
        </p:txBody>
      </p:sp>
      <p:sp>
        <p:nvSpPr>
          <p:cNvPr id="3" name="Marcador de contenido 2">
            <a:extLst>
              <a:ext uri="{FF2B5EF4-FFF2-40B4-BE49-F238E27FC236}">
                <a16:creationId xmlns:a16="http://schemas.microsoft.com/office/drawing/2014/main" id="{64AB5FB6-99B6-444F-9FFB-5C6D93B14408}"/>
              </a:ext>
            </a:extLst>
          </p:cNvPr>
          <p:cNvSpPr>
            <a:spLocks noGrp="1"/>
          </p:cNvSpPr>
          <p:nvPr>
            <p:ph idx="1"/>
          </p:nvPr>
        </p:nvSpPr>
        <p:spPr>
          <a:xfrm>
            <a:off x="369331" y="607695"/>
            <a:ext cx="8534401" cy="561044"/>
          </a:xfrm>
        </p:spPr>
        <p:txBody>
          <a:bodyPr>
            <a:normAutofit/>
          </a:bodyPr>
          <a:lstStyle/>
          <a:p>
            <a:pPr marL="0" lvl="0" indent="0">
              <a:lnSpc>
                <a:spcPct val="150000"/>
              </a:lnSpc>
              <a:spcBef>
                <a:spcPts val="0"/>
              </a:spcBef>
              <a:buNone/>
            </a:pPr>
            <a:r>
              <a:rPr lang="es-ES" dirty="0" err="1"/>
              <a:t>Volem</a:t>
            </a:r>
            <a:r>
              <a:rPr lang="es-ES" dirty="0"/>
              <a:t> mostrar per pantalla </a:t>
            </a:r>
            <a:r>
              <a:rPr lang="es-ES" dirty="0" err="1"/>
              <a:t>els</a:t>
            </a:r>
            <a:r>
              <a:rPr lang="es-ES" dirty="0"/>
              <a:t>  </a:t>
            </a:r>
            <a:r>
              <a:rPr lang="es-ES" dirty="0" err="1"/>
              <a:t>valors</a:t>
            </a:r>
            <a:r>
              <a:rPr lang="es-ES" dirty="0"/>
              <a:t> de  1,-2,4,-8,16,-32,64.</a:t>
            </a:r>
          </a:p>
        </p:txBody>
      </p:sp>
    </p:spTree>
    <p:extLst>
      <p:ext uri="{BB962C8B-B14F-4D97-AF65-F5344CB8AC3E}">
        <p14:creationId xmlns:p14="http://schemas.microsoft.com/office/powerpoint/2010/main" val="24890114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1950" y="248815"/>
            <a:ext cx="3667125" cy="1056344"/>
          </a:xfrm>
        </p:spPr>
        <p:txBody>
          <a:bodyPr/>
          <a:lstStyle/>
          <a:p>
            <a:r>
              <a:rPr lang="es-ES" dirty="0" err="1"/>
              <a:t>Exemple</a:t>
            </a:r>
            <a:r>
              <a:rPr lang="es-ES" dirty="0"/>
              <a:t> WHILE, DO WHILE I FOR</a:t>
            </a:r>
          </a:p>
        </p:txBody>
      </p:sp>
      <p:sp>
        <p:nvSpPr>
          <p:cNvPr id="3" name="1"/>
          <p:cNvSpPr>
            <a:spLocks noGrp="1"/>
          </p:cNvSpPr>
          <p:nvPr>
            <p:ph idx="1"/>
          </p:nvPr>
        </p:nvSpPr>
        <p:spPr>
          <a:xfrm>
            <a:off x="361950" y="1305159"/>
            <a:ext cx="2865344" cy="1653194"/>
          </a:xfrm>
        </p:spPr>
        <p:txBody>
          <a:bodyPr>
            <a:noAutofit/>
          </a:bodyPr>
          <a:lstStyle/>
          <a:p>
            <a:pPr>
              <a:lnSpc>
                <a:spcPct val="150000"/>
              </a:lnSpc>
            </a:pPr>
            <a:r>
              <a:rPr lang="ca-ES" dirty="0"/>
              <a:t>Escriu els números 3,6,9,12,15,18 i 21, amb cadascuna de les estructures iteratives</a:t>
            </a:r>
          </a:p>
        </p:txBody>
      </p:sp>
    </p:spTree>
    <p:extLst>
      <p:ext uri="{BB962C8B-B14F-4D97-AF65-F5344CB8AC3E}">
        <p14:creationId xmlns:p14="http://schemas.microsoft.com/office/powerpoint/2010/main" val="272746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highlight>
                  <a:srgbClr val="FFFF00"/>
                </a:highlight>
              </a:rPr>
              <a:t>WHILE I FOR</a:t>
            </a:r>
          </a:p>
        </p:txBody>
      </p:sp>
      <p:sp>
        <p:nvSpPr>
          <p:cNvPr id="3" name="Content Placeholder 2"/>
          <p:cNvSpPr>
            <a:spLocks noGrp="1"/>
          </p:cNvSpPr>
          <p:nvPr>
            <p:ph idx="1"/>
          </p:nvPr>
        </p:nvSpPr>
        <p:spPr>
          <a:xfrm>
            <a:off x="369331" y="939800"/>
            <a:ext cx="8534401" cy="378012"/>
          </a:xfrm>
          <a:ln>
            <a:noFill/>
          </a:ln>
        </p:spPr>
        <p:txBody>
          <a:bodyPr>
            <a:normAutofit/>
          </a:bodyPr>
          <a:lstStyle/>
          <a:p>
            <a:pPr marL="0" indent="0">
              <a:buNone/>
            </a:pPr>
            <a:r>
              <a:rPr lang="es-ES" dirty="0" err="1"/>
              <a:t>Com</a:t>
            </a:r>
            <a:r>
              <a:rPr lang="es-ES" dirty="0"/>
              <a:t> </a:t>
            </a:r>
            <a:r>
              <a:rPr lang="es-ES" dirty="0" err="1"/>
              <a:t>passar</a:t>
            </a:r>
            <a:r>
              <a:rPr lang="es-ES" dirty="0"/>
              <a:t> una estructura FOR a estructura WHILE </a:t>
            </a:r>
          </a:p>
        </p:txBody>
      </p:sp>
      <p:sp>
        <p:nvSpPr>
          <p:cNvPr id="4" name="Content Placeholder 2"/>
          <p:cNvSpPr txBox="1">
            <a:spLocks/>
          </p:cNvSpPr>
          <p:nvPr/>
        </p:nvSpPr>
        <p:spPr>
          <a:xfrm>
            <a:off x="355600" y="3642564"/>
            <a:ext cx="8509000" cy="251798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s-ES" sz="2000" dirty="0">
                <a:solidFill>
                  <a:srgbClr val="FF0000"/>
                </a:solidFill>
              </a:rPr>
              <a:t>WHILE</a:t>
            </a:r>
          </a:p>
          <a:p>
            <a:pPr marL="0" indent="0">
              <a:spcBef>
                <a:spcPts val="600"/>
              </a:spcBef>
              <a:buNone/>
            </a:pPr>
            <a:r>
              <a:rPr lang="es-ES" sz="1600" dirty="0">
                <a:latin typeface="Century Gothic" panose="020B0502020202020204" pitchFamily="34" charset="0"/>
              </a:rPr>
              <a:t>variable=</a:t>
            </a:r>
            <a:r>
              <a:rPr lang="es-ES" sz="1600" dirty="0" err="1">
                <a:latin typeface="Century Gothic" panose="020B0502020202020204" pitchFamily="34" charset="0"/>
              </a:rPr>
              <a:t>valorInicial</a:t>
            </a:r>
            <a:r>
              <a:rPr lang="es-ES" sz="1600" dirty="0">
                <a:latin typeface="Century Gothic" panose="020B0502020202020204" pitchFamily="34" charset="0"/>
              </a:rPr>
              <a:t>;</a:t>
            </a:r>
          </a:p>
          <a:p>
            <a:pPr marL="0" indent="0">
              <a:spcBef>
                <a:spcPts val="600"/>
              </a:spcBef>
              <a:buNone/>
            </a:pPr>
            <a:r>
              <a:rPr lang="es-ES" sz="1600" dirty="0">
                <a:latin typeface="Century Gothic" panose="020B0502020202020204" pitchFamily="34" charset="0"/>
              </a:rPr>
              <a:t>WHILE (</a:t>
            </a:r>
            <a:r>
              <a:rPr lang="es-ES" sz="1600" dirty="0" err="1">
                <a:latin typeface="Century Gothic" panose="020B0502020202020204" pitchFamily="34" charset="0"/>
              </a:rPr>
              <a:t>condicio</a:t>
            </a:r>
            <a:r>
              <a:rPr lang="es-ES" sz="1600" dirty="0">
                <a:latin typeface="Century Gothic" panose="020B0502020202020204" pitchFamily="34" charset="0"/>
              </a:rPr>
              <a:t>==CERTA)</a:t>
            </a:r>
          </a:p>
          <a:p>
            <a:pPr marL="0" indent="0">
              <a:spcBef>
                <a:spcPts val="600"/>
              </a:spcBef>
              <a:buNone/>
            </a:pPr>
            <a:r>
              <a:rPr lang="es-ES" sz="1600" u="sng" dirty="0">
                <a:latin typeface="Century Gothic" panose="020B0502020202020204" pitchFamily="34" charset="0"/>
              </a:rPr>
              <a:t>{</a:t>
            </a:r>
          </a:p>
          <a:p>
            <a:pPr marL="0" indent="0">
              <a:buNone/>
            </a:pPr>
            <a:r>
              <a:rPr lang="es-ES" sz="1600" dirty="0">
                <a:latin typeface="Century Gothic" panose="020B0502020202020204" pitchFamily="34" charset="0"/>
              </a:rPr>
              <a:t>	</a:t>
            </a:r>
            <a:r>
              <a:rPr lang="es-ES" sz="1600" dirty="0" err="1">
                <a:latin typeface="Century Gothic" panose="020B0502020202020204" pitchFamily="34" charset="0"/>
              </a:rPr>
              <a:t>instruccions</a:t>
            </a:r>
            <a:endParaRPr lang="es-ES" sz="1600" dirty="0">
              <a:latin typeface="Century Gothic" panose="020B0502020202020204" pitchFamily="34" charset="0"/>
            </a:endParaRPr>
          </a:p>
          <a:p>
            <a:pPr marL="0" indent="0">
              <a:buNone/>
            </a:pPr>
            <a:r>
              <a:rPr lang="es-ES" sz="1600" dirty="0">
                <a:latin typeface="Century Gothic" panose="020B0502020202020204" pitchFamily="34" charset="0"/>
              </a:rPr>
              <a:t>	variable=</a:t>
            </a:r>
            <a:r>
              <a:rPr lang="es-ES" sz="1600" dirty="0" err="1">
                <a:latin typeface="Century Gothic" panose="020B0502020202020204" pitchFamily="34" charset="0"/>
              </a:rPr>
              <a:t>variable+pas</a:t>
            </a:r>
            <a:endParaRPr lang="es-ES" sz="1600" dirty="0">
              <a:latin typeface="Century Gothic" panose="020B0502020202020204" pitchFamily="34" charset="0"/>
            </a:endParaRPr>
          </a:p>
          <a:p>
            <a:pPr marL="0" indent="0">
              <a:buNone/>
            </a:pPr>
            <a:r>
              <a:rPr lang="es-ES" sz="1600" dirty="0">
                <a:latin typeface="Century Gothic" panose="020B0502020202020204" pitchFamily="34" charset="0"/>
              </a:rPr>
              <a:t>}</a:t>
            </a:r>
            <a:r>
              <a:rPr lang="es-ES" sz="2000" dirty="0">
                <a:latin typeface="Century Gothic" panose="020B0502020202020204" pitchFamily="34" charset="0"/>
              </a:rPr>
              <a:t>	</a:t>
            </a:r>
          </a:p>
        </p:txBody>
      </p:sp>
      <p:sp>
        <p:nvSpPr>
          <p:cNvPr id="6" name="Content Placeholder 2"/>
          <p:cNvSpPr txBox="1">
            <a:spLocks/>
          </p:cNvSpPr>
          <p:nvPr/>
        </p:nvSpPr>
        <p:spPr>
          <a:xfrm>
            <a:off x="394732" y="1424492"/>
            <a:ext cx="8509000" cy="2004508"/>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000" dirty="0">
                <a:solidFill>
                  <a:srgbClr val="FF0000"/>
                </a:solidFill>
              </a:rPr>
              <a:t>FOR</a:t>
            </a:r>
          </a:p>
          <a:p>
            <a:pPr marL="0" indent="0">
              <a:buNone/>
            </a:pPr>
            <a:r>
              <a:rPr lang="es-ES" sz="1600" dirty="0">
                <a:latin typeface="Century Gothic" panose="020B0502020202020204" pitchFamily="34" charset="0"/>
              </a:rPr>
              <a:t>FOR (variable=</a:t>
            </a:r>
            <a:r>
              <a:rPr lang="es-ES" sz="1600" dirty="0" err="1">
                <a:latin typeface="Century Gothic" panose="020B0502020202020204" pitchFamily="34" charset="0"/>
              </a:rPr>
              <a:t>valorInicial</a:t>
            </a:r>
            <a:r>
              <a:rPr lang="es-ES" sz="1600" dirty="0">
                <a:latin typeface="Century Gothic" panose="020B0502020202020204" pitchFamily="34" charset="0"/>
              </a:rPr>
              <a:t>; </a:t>
            </a:r>
            <a:r>
              <a:rPr lang="es-ES" sz="1600" dirty="0" err="1">
                <a:latin typeface="Century Gothic" panose="020B0502020202020204" pitchFamily="34" charset="0"/>
              </a:rPr>
              <a:t>condicio</a:t>
            </a:r>
            <a:r>
              <a:rPr lang="es-ES" sz="1600" dirty="0">
                <a:latin typeface="Century Gothic" panose="020B0502020202020204" pitchFamily="34" charset="0"/>
              </a:rPr>
              <a:t>==CERTA; variable=</a:t>
            </a:r>
            <a:r>
              <a:rPr lang="es-ES" sz="1600" dirty="0" err="1">
                <a:latin typeface="Century Gothic" panose="020B0502020202020204" pitchFamily="34" charset="0"/>
              </a:rPr>
              <a:t>variable+pas</a:t>
            </a:r>
            <a:r>
              <a:rPr lang="es-ES" sz="1600" dirty="0">
                <a:latin typeface="Century Gothic" panose="020B0502020202020204" pitchFamily="34" charset="0"/>
              </a:rPr>
              <a:t>)</a:t>
            </a:r>
          </a:p>
          <a:p>
            <a:pPr marL="0" indent="0">
              <a:buNone/>
            </a:pPr>
            <a:r>
              <a:rPr lang="es-ES" sz="1600" u="sng" dirty="0">
                <a:latin typeface="Century Gothic" panose="020B0502020202020204" pitchFamily="34" charset="0"/>
              </a:rPr>
              <a:t>{</a:t>
            </a:r>
          </a:p>
          <a:p>
            <a:pPr marL="0" indent="0">
              <a:buNone/>
            </a:pPr>
            <a:r>
              <a:rPr lang="es-ES" sz="1600" dirty="0">
                <a:latin typeface="Century Gothic" panose="020B0502020202020204" pitchFamily="34" charset="0"/>
              </a:rPr>
              <a:t>	</a:t>
            </a:r>
            <a:r>
              <a:rPr lang="es-ES" sz="1600" dirty="0" err="1">
                <a:latin typeface="Century Gothic" panose="020B0502020202020204" pitchFamily="34" charset="0"/>
              </a:rPr>
              <a:t>instruccions</a:t>
            </a:r>
            <a:endParaRPr lang="es-ES" sz="1600" dirty="0">
              <a:latin typeface="Century Gothic" panose="020B0502020202020204" pitchFamily="34" charset="0"/>
            </a:endParaRPr>
          </a:p>
          <a:p>
            <a:pPr marL="0" indent="0">
              <a:buNone/>
            </a:pPr>
            <a:r>
              <a:rPr lang="es-ES" sz="1600" dirty="0">
                <a:latin typeface="Century Gothic" panose="020B0502020202020204" pitchFamily="34" charset="0"/>
              </a:rPr>
              <a:t>}</a:t>
            </a:r>
            <a:endParaRPr lang="es-ES" sz="1600" u="sng" dirty="0">
              <a:latin typeface="Century Gothic" panose="020B0502020202020204" pitchFamily="34" charset="0"/>
            </a:endParaRPr>
          </a:p>
        </p:txBody>
      </p:sp>
      <p:cxnSp>
        <p:nvCxnSpPr>
          <p:cNvPr id="7" name="Straight Arrow Connector 6"/>
          <p:cNvCxnSpPr>
            <a:cxnSpLocks/>
          </p:cNvCxnSpPr>
          <p:nvPr/>
        </p:nvCxnSpPr>
        <p:spPr>
          <a:xfrm flipH="1">
            <a:off x="1532965" y="2151529"/>
            <a:ext cx="510988" cy="19184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cxnSpLocks/>
          </p:cNvCxnSpPr>
          <p:nvPr/>
        </p:nvCxnSpPr>
        <p:spPr>
          <a:xfrm flipH="1">
            <a:off x="2160494" y="2151529"/>
            <a:ext cx="1532965" cy="22591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cxnSpLocks/>
          </p:cNvCxnSpPr>
          <p:nvPr/>
        </p:nvCxnSpPr>
        <p:spPr>
          <a:xfrm flipH="1">
            <a:off x="2841812" y="2151529"/>
            <a:ext cx="2904564" cy="32819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3740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D2DDA6-760F-4073-AEEF-752081BFDCED}"/>
              </a:ext>
            </a:extLst>
          </p:cNvPr>
          <p:cNvSpPr>
            <a:spLocks noGrp="1"/>
          </p:cNvSpPr>
          <p:nvPr>
            <p:ph type="title"/>
          </p:nvPr>
        </p:nvSpPr>
        <p:spPr/>
        <p:txBody>
          <a:bodyPr/>
          <a:lstStyle/>
          <a:p>
            <a:r>
              <a:rPr lang="ca-ES" dirty="0"/>
              <a:t>Exercicis</a:t>
            </a:r>
          </a:p>
        </p:txBody>
      </p:sp>
      <p:sp>
        <p:nvSpPr>
          <p:cNvPr id="3" name="Marcador de contenido 2">
            <a:extLst>
              <a:ext uri="{FF2B5EF4-FFF2-40B4-BE49-F238E27FC236}">
                <a16:creationId xmlns:a16="http://schemas.microsoft.com/office/drawing/2014/main" id="{02DEAD1A-0F36-4FD3-AA9E-E8E922979818}"/>
              </a:ext>
            </a:extLst>
          </p:cNvPr>
          <p:cNvSpPr>
            <a:spLocks noGrp="1"/>
          </p:cNvSpPr>
          <p:nvPr>
            <p:ph idx="1"/>
          </p:nvPr>
        </p:nvSpPr>
        <p:spPr/>
        <p:txBody>
          <a:bodyPr/>
          <a:lstStyle/>
          <a:p>
            <a:r>
              <a:rPr lang="ca-ES" dirty="0"/>
              <a:t>ITERACIONS: 1,2,3,4</a:t>
            </a:r>
          </a:p>
        </p:txBody>
      </p:sp>
    </p:spTree>
    <p:extLst>
      <p:ext uri="{BB962C8B-B14F-4D97-AF65-F5344CB8AC3E}">
        <p14:creationId xmlns:p14="http://schemas.microsoft.com/office/powerpoint/2010/main" val="24391454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4800" y="158367"/>
            <a:ext cx="8534400" cy="642130"/>
          </a:xfrm>
        </p:spPr>
        <p:txBody>
          <a:bodyPr>
            <a:normAutofit/>
          </a:bodyPr>
          <a:lstStyle/>
          <a:p>
            <a:r>
              <a:rPr lang="es-ES" sz="3600" dirty="0" err="1"/>
              <a:t>Opcions</a:t>
            </a:r>
            <a:r>
              <a:rPr lang="es-ES" sz="3600" dirty="0"/>
              <a:t> per a </a:t>
            </a:r>
            <a:r>
              <a:rPr lang="es-ES" sz="3600" dirty="0" err="1"/>
              <a:t>fer</a:t>
            </a:r>
            <a:r>
              <a:rPr lang="es-ES" sz="3600" dirty="0"/>
              <a:t> un bucle de num1 a num2</a:t>
            </a:r>
          </a:p>
        </p:txBody>
      </p:sp>
      <p:sp>
        <p:nvSpPr>
          <p:cNvPr id="5" name="TextBox 4"/>
          <p:cNvSpPr txBox="1"/>
          <p:nvPr/>
        </p:nvSpPr>
        <p:spPr>
          <a:xfrm>
            <a:off x="424705" y="3086259"/>
            <a:ext cx="5257800" cy="1477328"/>
          </a:xfrm>
          <a:prstGeom prst="rect">
            <a:avLst/>
          </a:prstGeom>
          <a:noFill/>
          <a:ln>
            <a:solidFill>
              <a:schemeClr val="tx1"/>
            </a:solidFill>
            <a:prstDash val="lgDash"/>
          </a:ln>
        </p:spPr>
        <p:txBody>
          <a:bodyPr wrap="square" rtlCol="0">
            <a:spAutoFit/>
          </a:bodyPr>
          <a:lstStyle/>
          <a:p>
            <a:pPr algn="ctr"/>
            <a:r>
              <a:rPr lang="es-ES" dirty="0"/>
              <a:t>LA DIFERÈNCIA ENTRE ELS DOS BUCLES, ES QUE EN EL PRIMER QUAN ES SURT DEL BUCLE  LES  VARIABLES NUM1 I NUM2 MANTENEN EL SEU VALORINICIAL;</a:t>
            </a:r>
          </a:p>
          <a:p>
            <a:pPr algn="ctr"/>
            <a:r>
              <a:rPr lang="es-ES" dirty="0"/>
              <a:t>MENTRE QUE EN EL SEGON CAS, LA VARIABLE NUM1 EN ACABAR EL BUCLE VAL NUM2+1.  </a:t>
            </a:r>
            <a:endParaRPr lang="ca-ES" dirty="0"/>
          </a:p>
        </p:txBody>
      </p:sp>
      <p:sp>
        <p:nvSpPr>
          <p:cNvPr id="7" name="CuadroTexto 6">
            <a:extLst>
              <a:ext uri="{FF2B5EF4-FFF2-40B4-BE49-F238E27FC236}">
                <a16:creationId xmlns:a16="http://schemas.microsoft.com/office/drawing/2014/main" id="{3FEB1A6E-EB90-BC85-E90A-3EC72A75EDB9}"/>
              </a:ext>
            </a:extLst>
          </p:cNvPr>
          <p:cNvSpPr txBox="1"/>
          <p:nvPr/>
        </p:nvSpPr>
        <p:spPr>
          <a:xfrm>
            <a:off x="424705" y="885309"/>
            <a:ext cx="3325905" cy="2031325"/>
          </a:xfrm>
          <a:prstGeom prst="rect">
            <a:avLst/>
          </a:prstGeom>
          <a:noFill/>
          <a:ln>
            <a:solidFill>
              <a:schemeClr val="tx1"/>
            </a:solidFill>
            <a:prstDash val="dash"/>
          </a:ln>
        </p:spPr>
        <p:txBody>
          <a:bodyPr wrap="square">
            <a:spAutoFit/>
          </a:bodyPr>
          <a:lstStyle/>
          <a:p>
            <a:r>
              <a:rPr lang="pt-BR" sz="1400" b="0" dirty="0">
                <a:solidFill>
                  <a:srgbClr val="0000FF"/>
                </a:solidFill>
                <a:effectLst/>
                <a:latin typeface="Consolas" panose="020B0609020204030204" pitchFamily="49" charset="0"/>
              </a:rPr>
              <a:t>for</a:t>
            </a:r>
            <a:r>
              <a:rPr lang="pt-BR" sz="1400" b="0" dirty="0">
                <a:solidFill>
                  <a:srgbClr val="000000"/>
                </a:solidFill>
                <a:effectLst/>
                <a:latin typeface="Consolas" panose="020B0609020204030204" pitchFamily="49" charset="0"/>
              </a:rPr>
              <a:t>(</a:t>
            </a:r>
            <a:r>
              <a:rPr lang="pt-BR" sz="1400" b="0" dirty="0" err="1">
                <a:solidFill>
                  <a:srgbClr val="0000FF"/>
                </a:solidFill>
                <a:effectLst/>
                <a:latin typeface="Consolas" panose="020B0609020204030204" pitchFamily="49" charset="0"/>
              </a:rPr>
              <a:t>int</a:t>
            </a:r>
            <a:r>
              <a:rPr lang="pt-BR" sz="1400" b="0" dirty="0">
                <a:solidFill>
                  <a:srgbClr val="000000"/>
                </a:solidFill>
                <a:effectLst/>
                <a:latin typeface="Consolas" panose="020B0609020204030204" pitchFamily="49" charset="0"/>
              </a:rPr>
              <a:t> i=num1;i&lt;=num2;i++)</a:t>
            </a:r>
          </a:p>
          <a:p>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    </a:t>
            </a:r>
            <a:r>
              <a:rPr lang="pt-BR" sz="1400" b="0" dirty="0" err="1">
                <a:solidFill>
                  <a:srgbClr val="000000"/>
                </a:solidFill>
                <a:effectLst/>
                <a:latin typeface="Consolas" panose="020B0609020204030204" pitchFamily="49" charset="0"/>
              </a:rPr>
              <a:t>printf</a:t>
            </a:r>
            <a:r>
              <a:rPr lang="pt-BR" sz="1400" b="0" dirty="0">
                <a:solidFill>
                  <a:srgbClr val="000000"/>
                </a:solidFill>
                <a:effectLst/>
                <a:latin typeface="Consolas" panose="020B0609020204030204" pitchFamily="49" charset="0"/>
              </a:rPr>
              <a:t>(</a:t>
            </a:r>
            <a:r>
              <a:rPr lang="pt-BR" sz="1400" b="0" dirty="0">
                <a:solidFill>
                  <a:srgbClr val="A31515"/>
                </a:solidFill>
                <a:effectLst/>
                <a:latin typeface="Consolas" panose="020B0609020204030204" pitchFamily="49" charset="0"/>
              </a:rPr>
              <a:t>"%d\</a:t>
            </a:r>
            <a:r>
              <a:rPr lang="pt-BR" sz="1400" b="0" dirty="0" err="1">
                <a:solidFill>
                  <a:srgbClr val="A31515"/>
                </a:solidFill>
                <a:effectLst/>
                <a:latin typeface="Consolas" panose="020B0609020204030204" pitchFamily="49" charset="0"/>
              </a:rPr>
              <a:t>t"</a:t>
            </a:r>
            <a:r>
              <a:rPr lang="pt-BR" sz="1400" b="0" dirty="0" err="1">
                <a:solidFill>
                  <a:srgbClr val="000000"/>
                </a:solidFill>
                <a:effectLst/>
                <a:latin typeface="Consolas" panose="020B0609020204030204" pitchFamily="49" charset="0"/>
              </a:rPr>
              <a:t>,i</a:t>
            </a:r>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a:t>
            </a:r>
          </a:p>
          <a:p>
            <a:endParaRPr lang="pt-BR" sz="1400" b="0" dirty="0">
              <a:solidFill>
                <a:srgbClr val="000000"/>
              </a:solidFill>
              <a:effectLst/>
              <a:latin typeface="Consolas" panose="020B0609020204030204" pitchFamily="49" charset="0"/>
            </a:endParaRPr>
          </a:p>
          <a:p>
            <a:r>
              <a:rPr lang="pt-BR" sz="1400" b="0" dirty="0">
                <a:solidFill>
                  <a:srgbClr val="0000FF"/>
                </a:solidFill>
                <a:effectLst/>
                <a:latin typeface="Consolas" panose="020B0609020204030204" pitchFamily="49" charset="0"/>
              </a:rPr>
              <a:t>for</a:t>
            </a:r>
            <a:r>
              <a:rPr lang="pt-BR" sz="1400" b="0" dirty="0">
                <a:solidFill>
                  <a:srgbClr val="000000"/>
                </a:solidFill>
                <a:effectLst/>
                <a:latin typeface="Consolas" panose="020B0609020204030204" pitchFamily="49" charset="0"/>
              </a:rPr>
              <a:t>(;num1&lt;=num2;num1++)</a:t>
            </a:r>
          </a:p>
          <a:p>
            <a:r>
              <a:rPr lang="pt-BR" sz="1400" b="0" dirty="0">
                <a:solidFill>
                  <a:srgbClr val="000000"/>
                </a:solidFill>
                <a:effectLst/>
                <a:latin typeface="Consolas" panose="020B0609020204030204" pitchFamily="49" charset="0"/>
              </a:rPr>
              <a:t>{</a:t>
            </a:r>
          </a:p>
          <a:p>
            <a:r>
              <a:rPr lang="pt-BR" sz="1400" b="0" dirty="0">
                <a:solidFill>
                  <a:srgbClr val="000000"/>
                </a:solidFill>
                <a:effectLst/>
                <a:latin typeface="Consolas" panose="020B0609020204030204" pitchFamily="49" charset="0"/>
              </a:rPr>
              <a:t>	</a:t>
            </a:r>
            <a:r>
              <a:rPr lang="pt-BR" sz="1400" b="0" dirty="0" err="1">
                <a:solidFill>
                  <a:srgbClr val="000000"/>
                </a:solidFill>
                <a:effectLst/>
                <a:latin typeface="Consolas" panose="020B0609020204030204" pitchFamily="49" charset="0"/>
              </a:rPr>
              <a:t>printf</a:t>
            </a:r>
            <a:r>
              <a:rPr lang="pt-BR" sz="1400" b="0" dirty="0">
                <a:solidFill>
                  <a:srgbClr val="000000"/>
                </a:solidFill>
                <a:effectLst/>
                <a:latin typeface="Consolas" panose="020B0609020204030204" pitchFamily="49" charset="0"/>
              </a:rPr>
              <a:t>(</a:t>
            </a:r>
            <a:r>
              <a:rPr lang="pt-BR" sz="1400" b="0" dirty="0">
                <a:solidFill>
                  <a:srgbClr val="A31515"/>
                </a:solidFill>
                <a:effectLst/>
                <a:latin typeface="Consolas" panose="020B0609020204030204" pitchFamily="49" charset="0"/>
              </a:rPr>
              <a:t>"%d\t"</a:t>
            </a:r>
            <a:r>
              <a:rPr lang="pt-BR" sz="1400" b="0" dirty="0">
                <a:solidFill>
                  <a:srgbClr val="000000"/>
                </a:solidFill>
                <a:effectLst/>
                <a:latin typeface="Consolas" panose="020B0609020204030204" pitchFamily="49" charset="0"/>
              </a:rPr>
              <a:t>,num1);</a:t>
            </a:r>
          </a:p>
          <a:p>
            <a:r>
              <a:rPr lang="pt-BR"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759379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E235D1-565B-00FB-6483-16E271870C33}"/>
              </a:ext>
            </a:extLst>
          </p:cNvPr>
          <p:cNvSpPr>
            <a:spLocks noGrp="1"/>
          </p:cNvSpPr>
          <p:nvPr>
            <p:ph type="ctrTitle"/>
          </p:nvPr>
        </p:nvSpPr>
        <p:spPr/>
        <p:txBody>
          <a:bodyPr/>
          <a:lstStyle/>
          <a:p>
            <a:r>
              <a:rPr lang="es-ES" dirty="0"/>
              <a:t>COMPTADOR -ACUMULADOR </a:t>
            </a:r>
          </a:p>
        </p:txBody>
      </p:sp>
    </p:spTree>
    <p:extLst>
      <p:ext uri="{BB962C8B-B14F-4D97-AF65-F5344CB8AC3E}">
        <p14:creationId xmlns:p14="http://schemas.microsoft.com/office/powerpoint/2010/main" val="19441066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155" y="441105"/>
            <a:ext cx="2725271" cy="642130"/>
          </a:xfrm>
        </p:spPr>
        <p:txBody>
          <a:bodyPr/>
          <a:lstStyle/>
          <a:p>
            <a:r>
              <a:rPr lang="es-ES" dirty="0" err="1"/>
              <a:t>Teoria</a:t>
            </a:r>
            <a:r>
              <a:rPr lang="es-ES" dirty="0"/>
              <a:t> </a:t>
            </a:r>
            <a:r>
              <a:rPr lang="es-ES" dirty="0" err="1"/>
              <a:t>Comptador</a:t>
            </a:r>
            <a:r>
              <a:rPr lang="es-ES" dirty="0"/>
              <a:t>:</a:t>
            </a:r>
            <a:endParaRPr lang="ca-ES" dirty="0"/>
          </a:p>
        </p:txBody>
      </p:sp>
      <p:sp>
        <p:nvSpPr>
          <p:cNvPr id="3" name="Content Placeholder 2"/>
          <p:cNvSpPr>
            <a:spLocks noGrp="1"/>
          </p:cNvSpPr>
          <p:nvPr>
            <p:ph idx="1"/>
          </p:nvPr>
        </p:nvSpPr>
        <p:spPr>
          <a:xfrm>
            <a:off x="414155" y="1468717"/>
            <a:ext cx="2902786" cy="1270000"/>
          </a:xfrm>
        </p:spPr>
        <p:txBody>
          <a:bodyPr>
            <a:normAutofit/>
          </a:bodyPr>
          <a:lstStyle/>
          <a:p>
            <a:r>
              <a:rPr lang="ca-ES" dirty="0"/>
              <a:t>Volem saber quantes persones de la classe porten ulleres i quantes lents de contacte</a:t>
            </a:r>
          </a:p>
        </p:txBody>
      </p:sp>
      <p:sp>
        <p:nvSpPr>
          <p:cNvPr id="4" name="CuadroTexto 3">
            <a:extLst>
              <a:ext uri="{FF2B5EF4-FFF2-40B4-BE49-F238E27FC236}">
                <a16:creationId xmlns:a16="http://schemas.microsoft.com/office/drawing/2014/main" id="{9748E2AB-E6F5-6206-F9F2-B86C20FE8E2E}"/>
              </a:ext>
            </a:extLst>
          </p:cNvPr>
          <p:cNvSpPr txBox="1"/>
          <p:nvPr/>
        </p:nvSpPr>
        <p:spPr>
          <a:xfrm>
            <a:off x="3610102" y="81930"/>
            <a:ext cx="5119743" cy="6694140"/>
          </a:xfrm>
          <a:prstGeom prst="rect">
            <a:avLst/>
          </a:prstGeom>
          <a:noFill/>
          <a:ln>
            <a:solidFill>
              <a:schemeClr val="tx1"/>
            </a:solidFill>
            <a:prstDash val="dash"/>
          </a:ln>
        </p:spPr>
        <p:txBody>
          <a:bodyPr wrap="square">
            <a:spAutoFit/>
          </a:bodyPr>
          <a:lstStyle/>
          <a:p>
            <a:r>
              <a:rPr lang="es-ES" sz="1300" b="0" dirty="0">
                <a:solidFill>
                  <a:srgbClr val="0000FF"/>
                </a:solidFill>
                <a:effectLst/>
                <a:latin typeface="Consolas" panose="020B0609020204030204" pitchFamily="49" charset="0"/>
              </a:rPr>
              <a:t>#define MAXALUMNE </a:t>
            </a:r>
            <a:r>
              <a:rPr lang="es-ES" sz="1300" b="0" dirty="0">
                <a:solidFill>
                  <a:srgbClr val="098658"/>
                </a:solidFill>
                <a:effectLst/>
                <a:latin typeface="Consolas" panose="020B0609020204030204" pitchFamily="49" charset="0"/>
              </a:rPr>
              <a:t>3</a:t>
            </a:r>
            <a:endParaRPr lang="es-ES" sz="1300" b="0" dirty="0">
              <a:solidFill>
                <a:srgbClr val="000000"/>
              </a:solidFill>
              <a:effectLst/>
              <a:latin typeface="Consolas" panose="020B0609020204030204" pitchFamily="49" charset="0"/>
            </a:endParaRPr>
          </a:p>
          <a:p>
            <a:r>
              <a:rPr lang="es-ES" sz="1300" b="0" dirty="0" err="1">
                <a:solidFill>
                  <a:srgbClr val="0000FF"/>
                </a:solidFill>
                <a:effectLst/>
                <a:latin typeface="Consolas" panose="020B0609020204030204" pitchFamily="49" charset="0"/>
              </a:rPr>
              <a:t>int</a:t>
            </a: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main</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int</a:t>
            </a: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contUlleres</a:t>
            </a:r>
            <a:r>
              <a:rPr lang="es-ES" sz="1300" b="0" dirty="0">
                <a:solidFill>
                  <a:srgbClr val="000000"/>
                </a:solidFill>
                <a:effectLst/>
                <a:latin typeface="Consolas" panose="020B0609020204030204" pitchFamily="49" charset="0"/>
              </a:rPr>
              <a:t> = </a:t>
            </a:r>
            <a:r>
              <a:rPr lang="es-ES" sz="1300" b="0" dirty="0">
                <a:solidFill>
                  <a:srgbClr val="098658"/>
                </a:solidFill>
                <a:effectLst/>
                <a:latin typeface="Consolas" panose="020B0609020204030204" pitchFamily="49" charset="0"/>
              </a:rPr>
              <a:t>0</a:t>
            </a: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contLens</a:t>
            </a:r>
            <a:r>
              <a:rPr lang="es-ES" sz="1300" b="0" dirty="0">
                <a:solidFill>
                  <a:srgbClr val="000000"/>
                </a:solidFill>
                <a:effectLst/>
                <a:latin typeface="Consolas" panose="020B0609020204030204" pitchFamily="49" charset="0"/>
              </a:rPr>
              <a:t> = </a:t>
            </a:r>
            <a:r>
              <a:rPr lang="es-ES" sz="1300" b="0" dirty="0">
                <a:solidFill>
                  <a:srgbClr val="098658"/>
                </a:solidFill>
                <a:effectLst/>
                <a:latin typeface="Consolas" panose="020B0609020204030204" pitchFamily="49" charset="0"/>
              </a:rPr>
              <a:t>0</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char</a:t>
            </a: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resposta</a:t>
            </a:r>
            <a:r>
              <a:rPr lang="es-ES" sz="1300" b="0" dirty="0">
                <a:solidFill>
                  <a:srgbClr val="000000"/>
                </a:solidFill>
                <a:effectLst/>
                <a:latin typeface="Consolas" panose="020B0609020204030204" pitchFamily="49" charset="0"/>
              </a:rPr>
              <a:t>;</a:t>
            </a:r>
            <a:br>
              <a:rPr lang="es-ES" sz="1300" b="0" dirty="0">
                <a:solidFill>
                  <a:srgbClr val="000000"/>
                </a:solidFill>
                <a:effectLst/>
                <a:latin typeface="Consolas" panose="020B0609020204030204" pitchFamily="49" charset="0"/>
              </a:rPr>
            </a:br>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for</a:t>
            </a:r>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int</a:t>
            </a:r>
            <a:r>
              <a:rPr lang="es-ES" sz="1300" b="0" dirty="0">
                <a:solidFill>
                  <a:srgbClr val="000000"/>
                </a:solidFill>
                <a:effectLst/>
                <a:latin typeface="Consolas" panose="020B0609020204030204" pitchFamily="49" charset="0"/>
              </a:rPr>
              <a:t> i = </a:t>
            </a:r>
            <a:r>
              <a:rPr lang="es-ES" sz="1300" b="0" dirty="0">
                <a:solidFill>
                  <a:srgbClr val="098658"/>
                </a:solidFill>
                <a:effectLst/>
                <a:latin typeface="Consolas" panose="020B0609020204030204" pitchFamily="49" charset="0"/>
              </a:rPr>
              <a:t>1</a:t>
            </a:r>
            <a:r>
              <a:rPr lang="es-ES" sz="1300" b="0" dirty="0">
                <a:solidFill>
                  <a:srgbClr val="000000"/>
                </a:solidFill>
                <a:effectLst/>
                <a:latin typeface="Consolas" panose="020B0609020204030204" pitchFamily="49" charset="0"/>
              </a:rPr>
              <a:t>; i &lt;= </a:t>
            </a:r>
            <a:r>
              <a:rPr lang="es-ES" sz="1300" b="0" dirty="0">
                <a:solidFill>
                  <a:srgbClr val="0000FF"/>
                </a:solidFill>
                <a:effectLst/>
                <a:latin typeface="Consolas" panose="020B0609020204030204" pitchFamily="49" charset="0"/>
              </a:rPr>
              <a:t>MAXALUMNE</a:t>
            </a:r>
            <a:r>
              <a:rPr lang="es-ES" sz="1300" b="0" dirty="0">
                <a:solidFill>
                  <a:srgbClr val="000000"/>
                </a:solidFill>
                <a:effectLst/>
                <a:latin typeface="Consolas" panose="020B0609020204030204" pitchFamily="49" charset="0"/>
              </a:rPr>
              <a:t>; i++)</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a:t>
            </a:r>
            <a:r>
              <a:rPr lang="es-ES" sz="1300" b="0" dirty="0" err="1">
                <a:solidFill>
                  <a:srgbClr val="A31515"/>
                </a:solidFill>
                <a:effectLst/>
                <a:latin typeface="Consolas" panose="020B0609020204030204" pitchFamily="49" charset="0"/>
              </a:rPr>
              <a:t>ALumne</a:t>
            </a:r>
            <a:r>
              <a:rPr lang="es-ES" sz="1300" b="0" dirty="0">
                <a:solidFill>
                  <a:srgbClr val="A31515"/>
                </a:solidFill>
                <a:effectLst/>
                <a:latin typeface="Consolas" panose="020B0609020204030204" pitchFamily="49" charset="0"/>
              </a:rPr>
              <a:t> %d portes </a:t>
            </a:r>
            <a:r>
              <a:rPr lang="es-ES" sz="1300" b="0" dirty="0" err="1">
                <a:solidFill>
                  <a:srgbClr val="A31515"/>
                </a:solidFill>
                <a:effectLst/>
                <a:latin typeface="Consolas" panose="020B0609020204030204" pitchFamily="49" charset="0"/>
              </a:rPr>
              <a:t>ulleres</a:t>
            </a:r>
            <a:r>
              <a:rPr lang="es-ES" sz="1300" b="0" dirty="0">
                <a:solidFill>
                  <a:srgbClr val="A31515"/>
                </a:solidFill>
                <a:effectLst/>
                <a:latin typeface="Consolas" panose="020B0609020204030204" pitchFamily="49" charset="0"/>
              </a:rPr>
              <a:t>? "</a:t>
            </a:r>
            <a:r>
              <a:rPr lang="es-ES" sz="1300" b="0" dirty="0">
                <a:solidFill>
                  <a:srgbClr val="000000"/>
                </a:solidFill>
                <a:effectLst/>
                <a:latin typeface="Consolas" panose="020B0609020204030204" pitchFamily="49" charset="0"/>
              </a:rPr>
              <a:t>,i);</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fflush</a:t>
            </a:r>
            <a:r>
              <a:rPr lang="es-ES" sz="1300" b="0" dirty="0">
                <a:solidFill>
                  <a:srgbClr val="000000"/>
                </a:solidFill>
                <a:effectLst/>
                <a:latin typeface="Consolas" panose="020B0609020204030204" pitchFamily="49" charset="0"/>
              </a:rPr>
              <a:t>(</a:t>
            </a:r>
            <a:r>
              <a:rPr lang="es-ES" sz="1300" b="0" dirty="0" err="1">
                <a:solidFill>
                  <a:srgbClr val="0000FF"/>
                </a:solidFill>
                <a:effectLst/>
                <a:latin typeface="Consolas" panose="020B0609020204030204" pitchFamily="49" charset="0"/>
              </a:rPr>
              <a:t>stdin</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scanf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"%c"</a:t>
            </a:r>
            <a:r>
              <a:rPr lang="es-ES" sz="1300" b="0" dirty="0">
                <a:solidFill>
                  <a:srgbClr val="000000"/>
                </a:solidFill>
                <a:effectLst/>
                <a:latin typeface="Consolas" panose="020B0609020204030204" pitchFamily="49" charset="0"/>
              </a:rPr>
              <a:t>, &amp;</a:t>
            </a:r>
            <a:r>
              <a:rPr lang="es-ES" sz="1300" b="0" dirty="0" err="1">
                <a:solidFill>
                  <a:srgbClr val="000000"/>
                </a:solidFill>
                <a:effectLst/>
                <a:latin typeface="Consolas" panose="020B0609020204030204" pitchFamily="49" charset="0"/>
              </a:rPr>
              <a:t>resposta</a:t>
            </a:r>
            <a:r>
              <a:rPr lang="es-ES" sz="1300" b="0" dirty="0">
                <a:solidFill>
                  <a:srgbClr val="000000"/>
                </a:solidFill>
                <a:effectLst/>
                <a:latin typeface="Consolas" panose="020B0609020204030204" pitchFamily="49" charset="0"/>
              </a:rPr>
              <a:t>);</a:t>
            </a:r>
          </a:p>
          <a:p>
            <a:br>
              <a:rPr lang="es-ES" sz="1300" b="0" dirty="0">
                <a:solidFill>
                  <a:srgbClr val="000000"/>
                </a:solidFill>
                <a:effectLst/>
                <a:latin typeface="Consolas" panose="020B0609020204030204" pitchFamily="49" charset="0"/>
              </a:rPr>
            </a:b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resposta</a:t>
            </a:r>
            <a:r>
              <a:rPr lang="es-ES" sz="1300" b="0" dirty="0">
                <a:solidFill>
                  <a:srgbClr val="000000"/>
                </a:solidFill>
                <a:effectLst/>
                <a:latin typeface="Consolas" panose="020B0609020204030204" pitchFamily="49" charset="0"/>
              </a:rPr>
              <a:t> = </a:t>
            </a:r>
            <a:r>
              <a:rPr lang="es-ES" sz="1300" b="0" dirty="0" err="1">
                <a:solidFill>
                  <a:srgbClr val="000000"/>
                </a:solidFill>
                <a:effectLst/>
                <a:latin typeface="Consolas" panose="020B0609020204030204" pitchFamily="49" charset="0"/>
              </a:rPr>
              <a:t>toupper</a:t>
            </a:r>
            <a:r>
              <a:rPr lang="es-ES" sz="1300" b="0" dirty="0">
                <a:solidFill>
                  <a:srgbClr val="000000"/>
                </a:solidFill>
                <a:effectLst/>
                <a:latin typeface="Consolas" panose="020B0609020204030204" pitchFamily="49" charset="0"/>
              </a:rPr>
              <a:t>(</a:t>
            </a:r>
            <a:r>
              <a:rPr lang="es-ES" sz="1300" b="0" dirty="0" err="1">
                <a:solidFill>
                  <a:srgbClr val="000000"/>
                </a:solidFill>
                <a:effectLst/>
                <a:latin typeface="Consolas" panose="020B0609020204030204" pitchFamily="49" charset="0"/>
              </a:rPr>
              <a:t>resposta</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if</a:t>
            </a: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resposta</a:t>
            </a:r>
            <a:r>
              <a:rPr lang="es-ES" sz="1300" b="0" dirty="0">
                <a:solidFill>
                  <a:srgbClr val="000000"/>
                </a:solidFill>
                <a:effectLst/>
                <a:latin typeface="Consolas" panose="020B0609020204030204" pitchFamily="49" charset="0"/>
              </a:rPr>
              <a:t> == </a:t>
            </a:r>
            <a:r>
              <a:rPr lang="es-ES" sz="1300" b="0" dirty="0">
                <a:solidFill>
                  <a:srgbClr val="A31515"/>
                </a:solidFill>
                <a:effectLst/>
                <a:latin typeface="Consolas" panose="020B0609020204030204" pitchFamily="49" charset="0"/>
              </a:rPr>
              <a:t>'S'</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contUlleres</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else</a:t>
            </a:r>
            <a:endParaRPr lang="es-ES" sz="1300" b="0" dirty="0">
              <a:solidFill>
                <a:srgbClr val="000000"/>
              </a:solidFill>
              <a:effectLst/>
              <a:latin typeface="Consolas" panose="020B0609020204030204" pitchFamily="49" charset="0"/>
            </a:endParaRP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a:t>
            </a:r>
            <a:r>
              <a:rPr lang="es-ES" sz="1300" b="0" dirty="0" err="1">
                <a:solidFill>
                  <a:srgbClr val="A31515"/>
                </a:solidFill>
                <a:effectLst/>
                <a:latin typeface="Consolas" panose="020B0609020204030204" pitchFamily="49" charset="0"/>
              </a:rPr>
              <a:t>ALumne</a:t>
            </a:r>
            <a:r>
              <a:rPr lang="es-ES" sz="1300" b="0" dirty="0">
                <a:solidFill>
                  <a:srgbClr val="A31515"/>
                </a:solidFill>
                <a:effectLst/>
                <a:latin typeface="Consolas" panose="020B0609020204030204" pitchFamily="49" charset="0"/>
              </a:rPr>
              <a:t> %d portes </a:t>
            </a:r>
            <a:r>
              <a:rPr lang="es-ES" sz="1300" b="0" dirty="0" err="1">
                <a:solidFill>
                  <a:srgbClr val="A31515"/>
                </a:solidFill>
                <a:effectLst/>
                <a:latin typeface="Consolas" panose="020B0609020204030204" pitchFamily="49" charset="0"/>
              </a:rPr>
              <a:t>lents</a:t>
            </a:r>
            <a:r>
              <a:rPr lang="es-ES" sz="1300" b="0" dirty="0">
                <a:solidFill>
                  <a:srgbClr val="A31515"/>
                </a:solidFill>
                <a:effectLst/>
                <a:latin typeface="Consolas" panose="020B0609020204030204" pitchFamily="49" charset="0"/>
              </a:rPr>
              <a:t>? "</a:t>
            </a:r>
            <a:r>
              <a:rPr lang="es-ES" sz="1300" b="0" dirty="0">
                <a:solidFill>
                  <a:srgbClr val="000000"/>
                </a:solidFill>
                <a:effectLst/>
                <a:latin typeface="Consolas" panose="020B0609020204030204" pitchFamily="49" charset="0"/>
              </a:rPr>
              <a:t>,i);</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fflush</a:t>
            </a:r>
            <a:r>
              <a:rPr lang="es-ES" sz="1300" b="0" dirty="0">
                <a:solidFill>
                  <a:srgbClr val="000000"/>
                </a:solidFill>
                <a:effectLst/>
                <a:latin typeface="Consolas" panose="020B0609020204030204" pitchFamily="49" charset="0"/>
              </a:rPr>
              <a:t>(</a:t>
            </a:r>
            <a:r>
              <a:rPr lang="es-ES" sz="1300" b="0" dirty="0" err="1">
                <a:solidFill>
                  <a:srgbClr val="0000FF"/>
                </a:solidFill>
                <a:effectLst/>
                <a:latin typeface="Consolas" panose="020B0609020204030204" pitchFamily="49" charset="0"/>
              </a:rPr>
              <a:t>stdin</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scanf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"%c"</a:t>
            </a:r>
            <a:r>
              <a:rPr lang="es-ES" sz="1300" b="0" dirty="0">
                <a:solidFill>
                  <a:srgbClr val="000000"/>
                </a:solidFill>
                <a:effectLst/>
                <a:latin typeface="Consolas" panose="020B0609020204030204" pitchFamily="49" charset="0"/>
              </a:rPr>
              <a:t>, &amp;</a:t>
            </a:r>
            <a:r>
              <a:rPr lang="es-ES" sz="1300" b="0" dirty="0" err="1">
                <a:solidFill>
                  <a:srgbClr val="000000"/>
                </a:solidFill>
                <a:effectLst/>
                <a:latin typeface="Consolas" panose="020B0609020204030204" pitchFamily="49" charset="0"/>
              </a:rPr>
              <a:t>resposta</a:t>
            </a:r>
            <a:r>
              <a:rPr lang="es-ES" sz="1300" b="0" dirty="0">
                <a:solidFill>
                  <a:srgbClr val="000000"/>
                </a:solidFill>
                <a:effectLst/>
                <a:latin typeface="Consolas" panose="020B0609020204030204" pitchFamily="49" charset="0"/>
              </a:rPr>
              <a:t>);</a:t>
            </a:r>
          </a:p>
          <a:p>
            <a:br>
              <a:rPr lang="es-ES" sz="1300" b="0" dirty="0">
                <a:solidFill>
                  <a:srgbClr val="000000"/>
                </a:solidFill>
                <a:effectLst/>
                <a:latin typeface="Consolas" panose="020B0609020204030204" pitchFamily="49" charset="0"/>
              </a:rPr>
            </a:br>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if</a:t>
            </a:r>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resposta</a:t>
            </a:r>
            <a:r>
              <a:rPr lang="es-ES" sz="1300" b="0" dirty="0">
                <a:solidFill>
                  <a:srgbClr val="000000"/>
                </a:solidFill>
                <a:effectLst/>
                <a:latin typeface="Consolas" panose="020B0609020204030204" pitchFamily="49" charset="0"/>
              </a:rPr>
              <a:t> == </a:t>
            </a:r>
            <a:r>
              <a:rPr lang="es-ES" sz="1300" b="0" dirty="0">
                <a:solidFill>
                  <a:srgbClr val="A31515"/>
                </a:solidFill>
                <a:effectLst/>
                <a:latin typeface="Consolas" panose="020B0609020204030204" pitchFamily="49" charset="0"/>
              </a:rPr>
              <a:t>'S'</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contLens</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"Hi ha %d alumne </a:t>
            </a:r>
            <a:r>
              <a:rPr lang="es-ES" sz="1300" b="0" dirty="0" err="1">
                <a:solidFill>
                  <a:srgbClr val="A31515"/>
                </a:solidFill>
                <a:effectLst/>
                <a:latin typeface="Consolas" panose="020B0609020204030204" pitchFamily="49" charset="0"/>
              </a:rPr>
              <a:t>amb</a:t>
            </a:r>
            <a:r>
              <a:rPr lang="es-ES" sz="1300" b="0" dirty="0">
                <a:solidFill>
                  <a:srgbClr val="A31515"/>
                </a:solidFill>
                <a:effectLst/>
                <a:latin typeface="Consolas" panose="020B0609020204030204" pitchFamily="49" charset="0"/>
              </a:rPr>
              <a:t> </a:t>
            </a:r>
            <a:r>
              <a:rPr lang="es-ES" sz="1300" b="0" dirty="0" err="1">
                <a:solidFill>
                  <a:srgbClr val="A31515"/>
                </a:solidFill>
                <a:effectLst/>
                <a:latin typeface="Consolas" panose="020B0609020204030204" pitchFamily="49" charset="0"/>
              </a:rPr>
              <a:t>ulleres</a:t>
            </a:r>
            <a:r>
              <a:rPr lang="es-ES" sz="1300" b="0" dirty="0">
                <a:solidFill>
                  <a:srgbClr val="A31515"/>
                </a:solidFill>
                <a:effectLst/>
                <a:latin typeface="Consolas" panose="020B0609020204030204" pitchFamily="49" charset="0"/>
              </a:rPr>
              <a:t>"</a:t>
            </a:r>
            <a:r>
              <a:rPr lang="es-ES" sz="1300" b="0" dirty="0">
                <a:solidFill>
                  <a:srgbClr val="000000"/>
                </a:solidFill>
                <a:effectLst/>
                <a:latin typeface="Consolas" panose="020B0609020204030204" pitchFamily="49" charset="0"/>
              </a:rPr>
              <a:t>,</a:t>
            </a:r>
            <a:r>
              <a:rPr lang="es-ES" sz="1300" b="0" dirty="0" err="1">
                <a:solidFill>
                  <a:srgbClr val="000000"/>
                </a:solidFill>
                <a:effectLst/>
                <a:latin typeface="Consolas" panose="020B0609020204030204" pitchFamily="49" charset="0"/>
              </a:rPr>
              <a:t>contUlleres</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printf</a:t>
            </a:r>
            <a:r>
              <a:rPr lang="es-ES" sz="1300" b="0" dirty="0">
                <a:solidFill>
                  <a:srgbClr val="000000"/>
                </a:solidFill>
                <a:effectLst/>
                <a:latin typeface="Consolas" panose="020B0609020204030204" pitchFamily="49" charset="0"/>
              </a:rPr>
              <a:t>(</a:t>
            </a:r>
            <a:r>
              <a:rPr lang="es-ES" sz="1300" b="0" dirty="0">
                <a:solidFill>
                  <a:srgbClr val="A31515"/>
                </a:solidFill>
                <a:effectLst/>
                <a:latin typeface="Consolas" panose="020B0609020204030204" pitchFamily="49" charset="0"/>
              </a:rPr>
              <a:t>"\</a:t>
            </a:r>
            <a:r>
              <a:rPr lang="es-ES" sz="1300" b="0" dirty="0" err="1">
                <a:solidFill>
                  <a:srgbClr val="A31515"/>
                </a:solidFill>
                <a:effectLst/>
                <a:latin typeface="Consolas" panose="020B0609020204030204" pitchFamily="49" charset="0"/>
              </a:rPr>
              <a:t>nHi</a:t>
            </a:r>
            <a:r>
              <a:rPr lang="es-ES" sz="1300" b="0" dirty="0">
                <a:solidFill>
                  <a:srgbClr val="A31515"/>
                </a:solidFill>
                <a:effectLst/>
                <a:latin typeface="Consolas" panose="020B0609020204030204" pitchFamily="49" charset="0"/>
              </a:rPr>
              <a:t> ha %d alumne </a:t>
            </a:r>
            <a:r>
              <a:rPr lang="es-ES" sz="1300" b="0" dirty="0" err="1">
                <a:solidFill>
                  <a:srgbClr val="A31515"/>
                </a:solidFill>
                <a:effectLst/>
                <a:latin typeface="Consolas" panose="020B0609020204030204" pitchFamily="49" charset="0"/>
              </a:rPr>
              <a:t>amb</a:t>
            </a:r>
            <a:r>
              <a:rPr lang="es-ES" sz="1300" b="0" dirty="0">
                <a:solidFill>
                  <a:srgbClr val="A31515"/>
                </a:solidFill>
                <a:effectLst/>
                <a:latin typeface="Consolas" panose="020B0609020204030204" pitchFamily="49" charset="0"/>
              </a:rPr>
              <a:t> </a:t>
            </a:r>
            <a:r>
              <a:rPr lang="es-ES" sz="1300" b="0" dirty="0" err="1">
                <a:solidFill>
                  <a:srgbClr val="A31515"/>
                </a:solidFill>
                <a:effectLst/>
                <a:latin typeface="Consolas" panose="020B0609020204030204" pitchFamily="49" charset="0"/>
              </a:rPr>
              <a:t>lents</a:t>
            </a:r>
            <a:r>
              <a:rPr lang="es-ES" sz="1300" b="0" dirty="0">
                <a:solidFill>
                  <a:srgbClr val="A31515"/>
                </a:solidFill>
                <a:effectLst/>
                <a:latin typeface="Consolas" panose="020B0609020204030204" pitchFamily="49" charset="0"/>
              </a:rPr>
              <a:t>"</a:t>
            </a:r>
            <a:r>
              <a:rPr lang="es-ES" sz="1300" b="0" dirty="0">
                <a:solidFill>
                  <a:srgbClr val="000000"/>
                </a:solidFill>
                <a:effectLst/>
                <a:latin typeface="Consolas" panose="020B0609020204030204" pitchFamily="49" charset="0"/>
              </a:rPr>
              <a:t>,</a:t>
            </a:r>
            <a:r>
              <a:rPr lang="es-ES" sz="1300" b="0" dirty="0" err="1">
                <a:solidFill>
                  <a:srgbClr val="000000"/>
                </a:solidFill>
                <a:effectLst/>
                <a:latin typeface="Consolas" panose="020B0609020204030204" pitchFamily="49" charset="0"/>
              </a:rPr>
              <a:t>contLens</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00"/>
                </a:solidFill>
                <a:effectLst/>
                <a:latin typeface="Consolas" panose="020B0609020204030204" pitchFamily="49" charset="0"/>
              </a:rPr>
              <a:t>acabament</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    </a:t>
            </a:r>
            <a:r>
              <a:rPr lang="es-ES" sz="1300" b="0" dirty="0" err="1">
                <a:solidFill>
                  <a:srgbClr val="0000FF"/>
                </a:solidFill>
                <a:effectLst/>
                <a:latin typeface="Consolas" panose="020B0609020204030204" pitchFamily="49" charset="0"/>
              </a:rPr>
              <a:t>return</a:t>
            </a:r>
            <a:r>
              <a:rPr lang="es-ES" sz="1300" b="0" dirty="0">
                <a:solidFill>
                  <a:srgbClr val="000000"/>
                </a:solidFill>
                <a:effectLst/>
                <a:latin typeface="Consolas" panose="020B0609020204030204" pitchFamily="49" charset="0"/>
              </a:rPr>
              <a:t> </a:t>
            </a:r>
            <a:r>
              <a:rPr lang="es-ES" sz="1300" b="0" dirty="0">
                <a:solidFill>
                  <a:srgbClr val="098658"/>
                </a:solidFill>
                <a:effectLst/>
                <a:latin typeface="Consolas" panose="020B0609020204030204" pitchFamily="49" charset="0"/>
              </a:rPr>
              <a:t>0</a:t>
            </a:r>
            <a:r>
              <a:rPr lang="es-ES" sz="1300" b="0" dirty="0">
                <a:solidFill>
                  <a:srgbClr val="000000"/>
                </a:solidFill>
                <a:effectLst/>
                <a:latin typeface="Consolas" panose="020B0609020204030204" pitchFamily="49" charset="0"/>
              </a:rPr>
              <a:t>;</a:t>
            </a:r>
          </a:p>
          <a:p>
            <a:r>
              <a:rPr lang="es-ES" sz="13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1634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Exercici</a:t>
            </a:r>
            <a:r>
              <a:rPr lang="es-ES" dirty="0"/>
              <a:t>: </a:t>
            </a:r>
            <a:r>
              <a:rPr lang="es-ES" dirty="0" err="1"/>
              <a:t>Comptador</a:t>
            </a:r>
            <a:endParaRPr lang="es-ES" dirty="0"/>
          </a:p>
        </p:txBody>
      </p:sp>
      <p:sp>
        <p:nvSpPr>
          <p:cNvPr id="3" name="Content Placeholder 2"/>
          <p:cNvSpPr>
            <a:spLocks noGrp="1"/>
          </p:cNvSpPr>
          <p:nvPr>
            <p:ph idx="1"/>
          </p:nvPr>
        </p:nvSpPr>
        <p:spPr/>
        <p:txBody>
          <a:bodyPr>
            <a:noAutofit/>
          </a:bodyPr>
          <a:lstStyle/>
          <a:p>
            <a:pPr marL="0" indent="0" algn="just">
              <a:lnSpc>
                <a:spcPct val="130000"/>
              </a:lnSpc>
              <a:spcBef>
                <a:spcPts val="0"/>
              </a:spcBef>
              <a:buNone/>
            </a:pPr>
            <a:r>
              <a:rPr lang="ca-ES" sz="1800" dirty="0"/>
              <a:t>Fer un programa que ens mostri i ens compti quants números parells hi ha entre dos nombres introduïts per l’usuari</a:t>
            </a:r>
          </a:p>
          <a:p>
            <a:pPr marL="0" indent="0" algn="just">
              <a:lnSpc>
                <a:spcPct val="130000"/>
              </a:lnSpc>
              <a:spcBef>
                <a:spcPts val="0"/>
              </a:spcBef>
              <a:buNone/>
            </a:pPr>
            <a:r>
              <a:rPr lang="es-ES" sz="1800" dirty="0">
                <a:latin typeface="Century Gothic" panose="020B0502020202020204" pitchFamily="34" charset="0"/>
              </a:rPr>
              <a:t>	Per </a:t>
            </a:r>
            <a:r>
              <a:rPr lang="es-ES" sz="1800" dirty="0" err="1">
                <a:latin typeface="Century Gothic" panose="020B0502020202020204" pitchFamily="34" charset="0"/>
              </a:rPr>
              <a:t>exemple</a:t>
            </a:r>
            <a:r>
              <a:rPr lang="es-ES" sz="1800" dirty="0">
                <a:latin typeface="Century Gothic" panose="020B0502020202020204" pitchFamily="34" charset="0"/>
              </a:rPr>
              <a:t>: a=</a:t>
            </a:r>
            <a:r>
              <a:rPr lang="es-ES" dirty="0">
                <a:latin typeface="Century Gothic" panose="020B0502020202020204" pitchFamily="34" charset="0"/>
              </a:rPr>
              <a:t>2</a:t>
            </a:r>
            <a:r>
              <a:rPr lang="es-ES" sz="1800" dirty="0">
                <a:latin typeface="Century Gothic" panose="020B0502020202020204" pitchFamily="34" charset="0"/>
              </a:rPr>
              <a:t> i b=</a:t>
            </a:r>
            <a:r>
              <a:rPr lang="es-ES" dirty="0">
                <a:latin typeface="Century Gothic" panose="020B0502020202020204" pitchFamily="34" charset="0"/>
              </a:rPr>
              <a:t>7</a:t>
            </a:r>
            <a:r>
              <a:rPr lang="es-ES" sz="1800" dirty="0">
                <a:latin typeface="Century Gothic" panose="020B0502020202020204" pitchFamily="34" charset="0"/>
                <a:sym typeface="Wingdings" panose="05000000000000000000" pitchFamily="2" charset="2"/>
              </a:rPr>
              <a:t>  2,4,6. Hi ha 3 números </a:t>
            </a:r>
            <a:r>
              <a:rPr lang="es-ES" sz="1800" dirty="0" err="1">
                <a:latin typeface="Century Gothic" panose="020B0502020202020204" pitchFamily="34" charset="0"/>
                <a:sym typeface="Wingdings" panose="05000000000000000000" pitchFamily="2" charset="2"/>
              </a:rPr>
              <a:t>parells</a:t>
            </a:r>
            <a:endParaRPr lang="es-ES" sz="1800" dirty="0">
              <a:latin typeface="Century Gothic" panose="020B0502020202020204" pitchFamily="34" charset="0"/>
              <a:sym typeface="Wingdings" panose="05000000000000000000" pitchFamily="2" charset="2"/>
            </a:endParaRPr>
          </a:p>
          <a:p>
            <a:pPr marL="0" indent="0" algn="just">
              <a:lnSpc>
                <a:spcPct val="130000"/>
              </a:lnSpc>
              <a:spcBef>
                <a:spcPts val="0"/>
              </a:spcBef>
              <a:buNone/>
            </a:pPr>
            <a:r>
              <a:rPr lang="es-ES" sz="1800" dirty="0">
                <a:latin typeface="Century Gothic" panose="020B0502020202020204" pitchFamily="34" charset="0"/>
                <a:sym typeface="Wingdings" panose="05000000000000000000" pitchFamily="2" charset="2"/>
              </a:rPr>
              <a:t>	</a:t>
            </a:r>
            <a:r>
              <a:rPr lang="es-ES" sz="1800" dirty="0">
                <a:latin typeface="Century Gothic" panose="020B0502020202020204" pitchFamily="34" charset="0"/>
              </a:rPr>
              <a:t>Per </a:t>
            </a:r>
            <a:r>
              <a:rPr lang="es-ES" sz="1800" dirty="0" err="1">
                <a:latin typeface="Century Gothic" panose="020B0502020202020204" pitchFamily="34" charset="0"/>
              </a:rPr>
              <a:t>exemple</a:t>
            </a:r>
            <a:r>
              <a:rPr lang="es-ES" sz="1800" dirty="0">
                <a:latin typeface="Century Gothic" panose="020B0502020202020204" pitchFamily="34" charset="0"/>
              </a:rPr>
              <a:t>: a=15  i b=20</a:t>
            </a:r>
            <a:r>
              <a:rPr lang="es-ES" sz="1800" dirty="0">
                <a:latin typeface="Century Gothic" panose="020B0502020202020204" pitchFamily="34" charset="0"/>
                <a:sym typeface="Wingdings" panose="05000000000000000000" pitchFamily="2" charset="2"/>
              </a:rPr>
              <a:t>  16,18, 20. Hi ha 3 números </a:t>
            </a:r>
            <a:r>
              <a:rPr lang="es-ES" sz="1800" dirty="0" err="1">
                <a:latin typeface="Century Gothic" panose="020B0502020202020204" pitchFamily="34" charset="0"/>
                <a:sym typeface="Wingdings" panose="05000000000000000000" pitchFamily="2" charset="2"/>
              </a:rPr>
              <a:t>parells</a:t>
            </a:r>
            <a:r>
              <a:rPr lang="es-ES" sz="1800" dirty="0">
                <a:latin typeface="Century Gothic" panose="020B0502020202020204" pitchFamily="34" charset="0"/>
                <a:sym typeface="Wingdings" panose="05000000000000000000" pitchFamily="2" charset="2"/>
              </a:rPr>
              <a:t> </a:t>
            </a:r>
          </a:p>
        </p:txBody>
      </p:sp>
      <p:pic>
        <p:nvPicPr>
          <p:cNvPr id="5" name="Imagen 4">
            <a:extLst>
              <a:ext uri="{FF2B5EF4-FFF2-40B4-BE49-F238E27FC236}">
                <a16:creationId xmlns:a16="http://schemas.microsoft.com/office/drawing/2014/main" id="{725345D9-3A6A-4CB5-AE36-4F2A1DA78F54}"/>
              </a:ext>
            </a:extLst>
          </p:cNvPr>
          <p:cNvPicPr>
            <a:picLocks noChangeAspect="1"/>
          </p:cNvPicPr>
          <p:nvPr/>
        </p:nvPicPr>
        <p:blipFill>
          <a:blip r:embed="rId2"/>
          <a:stretch>
            <a:fillRect/>
          </a:stretch>
        </p:blipFill>
        <p:spPr>
          <a:xfrm>
            <a:off x="605249" y="2526425"/>
            <a:ext cx="1923023" cy="1685714"/>
          </a:xfrm>
          <a:prstGeom prst="rect">
            <a:avLst/>
          </a:prstGeom>
          <a:ln>
            <a:solidFill>
              <a:schemeClr val="tx1"/>
            </a:solidFill>
          </a:ln>
        </p:spPr>
      </p:pic>
      <p:pic>
        <p:nvPicPr>
          <p:cNvPr id="7" name="Imagen 6">
            <a:extLst>
              <a:ext uri="{FF2B5EF4-FFF2-40B4-BE49-F238E27FC236}">
                <a16:creationId xmlns:a16="http://schemas.microsoft.com/office/drawing/2014/main" id="{2EAD82FC-C62C-4B4F-A9E8-2F2011733E9E}"/>
              </a:ext>
            </a:extLst>
          </p:cNvPr>
          <p:cNvPicPr>
            <a:picLocks noChangeAspect="1"/>
          </p:cNvPicPr>
          <p:nvPr/>
        </p:nvPicPr>
        <p:blipFill>
          <a:blip r:embed="rId3"/>
          <a:stretch>
            <a:fillRect/>
          </a:stretch>
        </p:blipFill>
        <p:spPr>
          <a:xfrm>
            <a:off x="2858859" y="2526425"/>
            <a:ext cx="1904762" cy="1685714"/>
          </a:xfrm>
          <a:prstGeom prst="rect">
            <a:avLst/>
          </a:prstGeom>
          <a:ln>
            <a:solidFill>
              <a:schemeClr val="tx1"/>
            </a:solidFill>
          </a:ln>
        </p:spPr>
      </p:pic>
    </p:spTree>
    <p:extLst>
      <p:ext uri="{BB962C8B-B14F-4D97-AF65-F5344CB8AC3E}">
        <p14:creationId xmlns:p14="http://schemas.microsoft.com/office/powerpoint/2010/main" val="16430354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err="1"/>
              <a:t>Exercici</a:t>
            </a:r>
            <a:r>
              <a:rPr lang="es-ES" dirty="0"/>
              <a:t>: COMPTADOR</a:t>
            </a:r>
          </a:p>
        </p:txBody>
      </p:sp>
      <p:sp>
        <p:nvSpPr>
          <p:cNvPr id="3" name="1"/>
          <p:cNvSpPr>
            <a:spLocks noGrp="1"/>
          </p:cNvSpPr>
          <p:nvPr>
            <p:ph idx="1"/>
          </p:nvPr>
        </p:nvSpPr>
        <p:spPr>
          <a:xfrm>
            <a:off x="361950" y="787400"/>
            <a:ext cx="8534401" cy="5772930"/>
          </a:xfrm>
        </p:spPr>
        <p:txBody>
          <a:bodyPr>
            <a:noAutofit/>
          </a:bodyPr>
          <a:lstStyle/>
          <a:p>
            <a:pPr marL="0" indent="0" algn="just">
              <a:lnSpc>
                <a:spcPct val="130000"/>
              </a:lnSpc>
              <a:spcBef>
                <a:spcPts val="0"/>
              </a:spcBef>
              <a:buNone/>
            </a:pPr>
            <a:r>
              <a:rPr lang="ca-ES" sz="1600" dirty="0"/>
              <a:t>Demana números a l’usuari. Acabarem de demanar números quan l’usuari ens introdueixi un número superior a 100.</a:t>
            </a:r>
            <a:r>
              <a:rPr lang="ca-ES" sz="1600" dirty="0">
                <a:sym typeface="Wingdings" panose="05000000000000000000" pitchFamily="2" charset="2"/>
              </a:rPr>
              <a:t> En finalitzar el programa ens ha d’indicar quants números no correctes ha introduït. El número superior a 100 no s’han de comptabilitzar.</a:t>
            </a:r>
          </a:p>
          <a:p>
            <a:pPr marL="361950" indent="0" algn="just">
              <a:spcBef>
                <a:spcPts val="600"/>
              </a:spcBef>
              <a:buNone/>
            </a:pPr>
            <a:r>
              <a:rPr lang="es-ES" sz="1500" dirty="0" err="1">
                <a:latin typeface="Century Gothic" panose="020B0502020202020204" pitchFamily="34" charset="0"/>
                <a:sym typeface="Wingdings" panose="05000000000000000000" pitchFamily="2" charset="2"/>
              </a:rPr>
              <a:t>Exemple</a:t>
            </a:r>
            <a:r>
              <a:rPr lang="es-ES" sz="1500" dirty="0">
                <a:latin typeface="Century Gothic" panose="020B0502020202020204" pitchFamily="34" charset="0"/>
                <a:sym typeface="Wingdings" panose="05000000000000000000" pitchFamily="2" charset="2"/>
              </a:rPr>
              <a:t>: 1,2,3,103 : Resultat:3</a:t>
            </a:r>
          </a:p>
          <a:p>
            <a:pPr marL="361950" indent="0" algn="just">
              <a:spcBef>
                <a:spcPts val="600"/>
              </a:spcBef>
              <a:buNone/>
            </a:pPr>
            <a:r>
              <a:rPr lang="es-ES" sz="1500" dirty="0" err="1">
                <a:latin typeface="Century Gothic" panose="020B0502020202020204" pitchFamily="34" charset="0"/>
                <a:sym typeface="Wingdings" panose="05000000000000000000" pitchFamily="2" charset="2"/>
              </a:rPr>
              <a:t>Exemple</a:t>
            </a:r>
            <a:r>
              <a:rPr lang="es-ES" sz="1500" dirty="0">
                <a:latin typeface="Century Gothic" panose="020B0502020202020204" pitchFamily="34" charset="0"/>
                <a:sym typeface="Wingdings" panose="05000000000000000000" pitchFamily="2" charset="2"/>
              </a:rPr>
              <a:t>: 103  Resultat:0</a:t>
            </a:r>
            <a:endParaRPr lang="es-ES" sz="1500" dirty="0">
              <a:latin typeface="Century Gothic" panose="020B0502020202020204" pitchFamily="34" charset="0"/>
            </a:endParaRPr>
          </a:p>
        </p:txBody>
      </p:sp>
    </p:spTree>
    <p:extLst>
      <p:ext uri="{BB962C8B-B14F-4D97-AF65-F5344CB8AC3E}">
        <p14:creationId xmlns:p14="http://schemas.microsoft.com/office/powerpoint/2010/main" val="31676578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Teoria</a:t>
            </a:r>
            <a:r>
              <a:rPr lang="es-ES" dirty="0"/>
              <a:t>: Acumulador</a:t>
            </a:r>
            <a:endParaRPr lang="ca-ES" dirty="0"/>
          </a:p>
        </p:txBody>
      </p:sp>
      <p:sp>
        <p:nvSpPr>
          <p:cNvPr id="6" name="Marcador de contenido 5"/>
          <p:cNvSpPr>
            <a:spLocks noGrp="1"/>
          </p:cNvSpPr>
          <p:nvPr>
            <p:ph idx="1"/>
          </p:nvPr>
        </p:nvSpPr>
        <p:spPr/>
        <p:txBody>
          <a:bodyPr>
            <a:normAutofit/>
          </a:bodyPr>
          <a:lstStyle/>
          <a:p>
            <a:r>
              <a:rPr lang="ca-ES" dirty="0"/>
              <a:t>Un acumulador és una variable on el seu valor actual, depèn del seu valor anterior, incrementat o </a:t>
            </a:r>
            <a:r>
              <a:rPr lang="ca-ES" dirty="0" err="1"/>
              <a:t>decrementat</a:t>
            </a:r>
            <a:r>
              <a:rPr lang="ca-ES" dirty="0"/>
              <a:t> per un valor, que no ha de per que ser constant</a:t>
            </a:r>
            <a:r>
              <a:rPr lang="ca-ES" sz="2000" dirty="0"/>
              <a:t>.</a:t>
            </a:r>
          </a:p>
          <a:p>
            <a:pPr lvl="1"/>
            <a:r>
              <a:rPr lang="ca-ES" dirty="0"/>
              <a:t>Per exemple una guardiola (on li posem o li traurem diners) --&gt; el seu valor actual serà el seu valor anterior +/. els diners que li haguem posat o tret</a:t>
            </a:r>
          </a:p>
          <a:p>
            <a:pPr lvl="1"/>
            <a:r>
              <a:rPr lang="ca-ES" dirty="0"/>
              <a:t>Per exemple: una bateria d’un cotxe, dependent de si el carreguem o bé circulem, s’anirà increment o bé </a:t>
            </a:r>
            <a:r>
              <a:rPr lang="ca-ES" dirty="0" err="1"/>
              <a:t>decrementant</a:t>
            </a:r>
            <a:r>
              <a:rPr lang="ca-ES" dirty="0"/>
              <a:t>; sempre respecte el valor anterior</a:t>
            </a:r>
            <a:endParaRPr lang="ca-ES" sz="1200" dirty="0"/>
          </a:p>
        </p:txBody>
      </p:sp>
      <p:pic>
        <p:nvPicPr>
          <p:cNvPr id="1026" name="Picture 2" descr="Resultat d'imatges de huch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8557" y="3189154"/>
            <a:ext cx="2468913" cy="16125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atersa.shop/app/uploads/2020/01/ucg100-12-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0233" b="9027"/>
          <a:stretch/>
        </p:blipFill>
        <p:spPr bwMode="auto">
          <a:xfrm>
            <a:off x="4572000" y="3189154"/>
            <a:ext cx="2060575" cy="166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04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Exercici</a:t>
            </a:r>
            <a:r>
              <a:rPr lang="es-ES" dirty="0"/>
              <a:t>: Guardiola</a:t>
            </a:r>
            <a:endParaRPr lang="ca-ES" dirty="0"/>
          </a:p>
        </p:txBody>
      </p:sp>
      <p:sp>
        <p:nvSpPr>
          <p:cNvPr id="5" name="Content Placeholder 2"/>
          <p:cNvSpPr>
            <a:spLocks noGrp="1"/>
          </p:cNvSpPr>
          <p:nvPr>
            <p:ph idx="1"/>
          </p:nvPr>
        </p:nvSpPr>
        <p:spPr>
          <a:xfrm>
            <a:off x="369331" y="696256"/>
            <a:ext cx="8534401" cy="845673"/>
          </a:xfrm>
        </p:spPr>
        <p:txBody>
          <a:bodyPr>
            <a:normAutofit/>
          </a:bodyPr>
          <a:lstStyle/>
          <a:p>
            <a:pPr marL="0" indent="0">
              <a:buNone/>
            </a:pPr>
            <a:r>
              <a:rPr lang="ca-ES" dirty="0"/>
              <a:t>El nostre desig és fer una Guardiola a classe. Per a dur a terme aquesta Guardiola es demanarà a cadascun dels alumnes quants diners hi vol afegir. Al final del programa hem d’indicar quants diners hem recaptat</a:t>
            </a:r>
          </a:p>
        </p:txBody>
      </p:sp>
      <p:pic>
        <p:nvPicPr>
          <p:cNvPr id="6" name="Picture 2" descr="Resultat d'imatges de huch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66072" y="3536576"/>
            <a:ext cx="2468913" cy="1612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60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Exercici</a:t>
            </a:r>
            <a:r>
              <a:rPr lang="es-ES" dirty="0"/>
              <a:t> Guardiola(2)</a:t>
            </a:r>
          </a:p>
        </p:txBody>
      </p:sp>
      <p:sp>
        <p:nvSpPr>
          <p:cNvPr id="3" name="Marcador de contenido 2"/>
          <p:cNvSpPr>
            <a:spLocks noGrp="1"/>
          </p:cNvSpPr>
          <p:nvPr>
            <p:ph idx="1"/>
          </p:nvPr>
        </p:nvSpPr>
        <p:spPr/>
        <p:txBody>
          <a:bodyPr>
            <a:normAutofit/>
          </a:bodyPr>
          <a:lstStyle/>
          <a:p>
            <a:r>
              <a:rPr lang="ca-ES" sz="1800" dirty="0"/>
              <a:t>Es demana fer una Guardiola com a l’exercici anterior; però en aquest cas a cada alumne li demanarem si vol posar o treure. Posar ho introduirem amb un ‘+’; i l’opció de treure amb un signe ‘-’. En el cas que un alumne ens demani més diners dels que tenim a la Guardiola; li donarem tots el que tenim. </a:t>
            </a:r>
          </a:p>
          <a:p>
            <a:r>
              <a:rPr lang="ca-ES" sz="1800" dirty="0"/>
              <a:t>En el cas que un alumne demani diners; caldrà indicar quin és l’import que li podem donar.</a:t>
            </a:r>
          </a:p>
        </p:txBody>
      </p:sp>
    </p:spTree>
    <p:extLst>
      <p:ext uri="{BB962C8B-B14F-4D97-AF65-F5344CB8AC3E}">
        <p14:creationId xmlns:p14="http://schemas.microsoft.com/office/powerpoint/2010/main" val="28709229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Exercici</a:t>
            </a:r>
            <a:r>
              <a:rPr lang="es-ES" dirty="0"/>
              <a:t>: Acumulador</a:t>
            </a:r>
          </a:p>
        </p:txBody>
      </p:sp>
      <p:sp>
        <p:nvSpPr>
          <p:cNvPr id="9" name="1"/>
          <p:cNvSpPr>
            <a:spLocks noGrp="1"/>
          </p:cNvSpPr>
          <p:nvPr>
            <p:ph idx="1"/>
          </p:nvPr>
        </p:nvSpPr>
        <p:spPr>
          <a:xfrm>
            <a:off x="425456" y="645682"/>
            <a:ext cx="8534401" cy="417656"/>
          </a:xfrm>
          <a:ln>
            <a:noFill/>
          </a:ln>
        </p:spPr>
        <p:txBody>
          <a:bodyPr>
            <a:normAutofit/>
          </a:bodyPr>
          <a:lstStyle/>
          <a:p>
            <a:pPr marL="0" indent="0">
              <a:buNone/>
            </a:pPr>
            <a:r>
              <a:rPr lang="es-ES" dirty="0"/>
              <a:t>Sumar </a:t>
            </a:r>
            <a:r>
              <a:rPr lang="es-ES" dirty="0" err="1"/>
              <a:t>els</a:t>
            </a:r>
            <a:r>
              <a:rPr lang="es-ES" dirty="0"/>
              <a:t> números que van des de l’1 </a:t>
            </a:r>
            <a:r>
              <a:rPr lang="es-ES" dirty="0" err="1"/>
              <a:t>fins</a:t>
            </a:r>
            <a:r>
              <a:rPr lang="es-ES" dirty="0"/>
              <a:t> al 5</a:t>
            </a:r>
          </a:p>
        </p:txBody>
      </p:sp>
      <p:graphicFrame>
        <p:nvGraphicFramePr>
          <p:cNvPr id="8" name="Table 7"/>
          <p:cNvGraphicFramePr>
            <a:graphicFrameLocks noGrp="1"/>
          </p:cNvGraphicFramePr>
          <p:nvPr>
            <p:extLst>
              <p:ext uri="{D42A27DB-BD31-4B8C-83A1-F6EECF244321}">
                <p14:modId xmlns:p14="http://schemas.microsoft.com/office/powerpoint/2010/main" val="3989684679"/>
              </p:ext>
            </p:extLst>
          </p:nvPr>
        </p:nvGraphicFramePr>
        <p:xfrm>
          <a:off x="5246774" y="1111602"/>
          <a:ext cx="3006090" cy="4389120"/>
        </p:xfrm>
        <a:graphic>
          <a:graphicData uri="http://schemas.openxmlformats.org/drawingml/2006/table">
            <a:tbl>
              <a:tblPr firstRow="1" bandRow="1">
                <a:tableStyleId>{7DF18680-E054-41AD-8BC1-D1AEF772440D}</a:tableStyleId>
              </a:tblPr>
              <a:tblGrid>
                <a:gridCol w="532508">
                  <a:extLst>
                    <a:ext uri="{9D8B030D-6E8A-4147-A177-3AD203B41FA5}">
                      <a16:colId xmlns:a16="http://schemas.microsoft.com/office/drawing/2014/main" val="956677041"/>
                    </a:ext>
                  </a:extLst>
                </a:gridCol>
                <a:gridCol w="1236791">
                  <a:extLst>
                    <a:ext uri="{9D8B030D-6E8A-4147-A177-3AD203B41FA5}">
                      <a16:colId xmlns:a16="http://schemas.microsoft.com/office/drawing/2014/main" val="2427359913"/>
                    </a:ext>
                  </a:extLst>
                </a:gridCol>
                <a:gridCol w="1236791">
                  <a:extLst>
                    <a:ext uri="{9D8B030D-6E8A-4147-A177-3AD203B41FA5}">
                      <a16:colId xmlns:a16="http://schemas.microsoft.com/office/drawing/2014/main" val="615639417"/>
                    </a:ext>
                  </a:extLst>
                </a:gridCol>
              </a:tblGrid>
              <a:tr h="316322">
                <a:tc>
                  <a:txBody>
                    <a:bodyPr/>
                    <a:lstStyle/>
                    <a:p>
                      <a:r>
                        <a:rPr lang="es-ES" sz="1800" dirty="0">
                          <a:latin typeface="Verdana" panose="020B0604030504040204" pitchFamily="34" charset="0"/>
                          <a:ea typeface="Verdana" panose="020B0604030504040204" pitchFamily="34" charset="0"/>
                          <a:cs typeface="Verdana" panose="020B0604030504040204" pitchFamily="34" charset="0"/>
                        </a:rPr>
                        <a:t>i</a:t>
                      </a:r>
                    </a:p>
                  </a:txBody>
                  <a:tcPr/>
                </a:tc>
                <a:tc>
                  <a:txBody>
                    <a:bodyPr/>
                    <a:lstStyle/>
                    <a:p>
                      <a:r>
                        <a:rPr lang="es-ES" sz="1800" dirty="0" err="1">
                          <a:latin typeface="Verdana" panose="020B0604030504040204" pitchFamily="34" charset="0"/>
                          <a:ea typeface="Verdana" panose="020B0604030504040204" pitchFamily="34" charset="0"/>
                          <a:cs typeface="Verdana" panose="020B0604030504040204" pitchFamily="34" charset="0"/>
                        </a:rPr>
                        <a:t>càlcul</a:t>
                      </a:r>
                      <a:endParaRPr lang="es-ES" sz="18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1800" dirty="0">
                          <a:latin typeface="Verdana" panose="020B0604030504040204" pitchFamily="34" charset="0"/>
                          <a:ea typeface="Verdana" panose="020B0604030504040204" pitchFamily="34" charset="0"/>
                          <a:cs typeface="Verdana" panose="020B0604030504040204" pitchFamily="34" charset="0"/>
                        </a:rPr>
                        <a:t>suma</a:t>
                      </a:r>
                    </a:p>
                  </a:txBody>
                  <a:tcPr/>
                </a:tc>
                <a:extLst>
                  <a:ext uri="{0D108BD9-81ED-4DB2-BD59-A6C34878D82A}">
                    <a16:rowId xmlns:a16="http://schemas.microsoft.com/office/drawing/2014/main" val="4009520387"/>
                  </a:ext>
                </a:extLst>
              </a:tr>
              <a:tr h="312690">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0</a:t>
                      </a:r>
                    </a:p>
                  </a:txBody>
                  <a:tcPr/>
                </a:tc>
                <a:extLst>
                  <a:ext uri="{0D108BD9-81ED-4DB2-BD59-A6C34878D82A}">
                    <a16:rowId xmlns:a16="http://schemas.microsoft.com/office/drawing/2014/main" val="2365124241"/>
                  </a:ext>
                </a:extLst>
              </a:tr>
              <a:tr h="312690">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1</a:t>
                      </a: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902461318"/>
                  </a:ext>
                </a:extLst>
              </a:tr>
              <a:tr h="312690">
                <a:tc>
                  <a:txBody>
                    <a:bodyPr/>
                    <a:lstStyle/>
                    <a:p>
                      <a:endParaRPr lang="es-ES" sz="160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0+1</a:t>
                      </a: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1</a:t>
                      </a:r>
                    </a:p>
                  </a:txBody>
                  <a:tcPr/>
                </a:tc>
                <a:extLst>
                  <a:ext uri="{0D108BD9-81ED-4DB2-BD59-A6C34878D82A}">
                    <a16:rowId xmlns:a16="http://schemas.microsoft.com/office/drawing/2014/main" val="3554005019"/>
                  </a:ext>
                </a:extLst>
              </a:tr>
              <a:tr h="312690">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2</a:t>
                      </a: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3951006244"/>
                  </a:ext>
                </a:extLst>
              </a:tr>
              <a:tr h="312690">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1+2</a:t>
                      </a: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3</a:t>
                      </a:r>
                    </a:p>
                  </a:txBody>
                  <a:tcPr/>
                </a:tc>
                <a:extLst>
                  <a:ext uri="{0D108BD9-81ED-4DB2-BD59-A6C34878D82A}">
                    <a16:rowId xmlns:a16="http://schemas.microsoft.com/office/drawing/2014/main" val="869723674"/>
                  </a:ext>
                </a:extLst>
              </a:tr>
              <a:tr h="312690">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3</a:t>
                      </a: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698977510"/>
                  </a:ext>
                </a:extLst>
              </a:tr>
              <a:tr h="312690">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3+3</a:t>
                      </a: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6</a:t>
                      </a:r>
                    </a:p>
                  </a:txBody>
                  <a:tcPr/>
                </a:tc>
                <a:extLst>
                  <a:ext uri="{0D108BD9-81ED-4DB2-BD59-A6C34878D82A}">
                    <a16:rowId xmlns:a16="http://schemas.microsoft.com/office/drawing/2014/main" val="3221099996"/>
                  </a:ext>
                </a:extLst>
              </a:tr>
              <a:tr h="312690">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4</a:t>
                      </a: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302458838"/>
                  </a:ext>
                </a:extLst>
              </a:tr>
              <a:tr h="312690">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6+4</a:t>
                      </a: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10</a:t>
                      </a:r>
                    </a:p>
                  </a:txBody>
                  <a:tcPr/>
                </a:tc>
                <a:extLst>
                  <a:ext uri="{0D108BD9-81ED-4DB2-BD59-A6C34878D82A}">
                    <a16:rowId xmlns:a16="http://schemas.microsoft.com/office/drawing/2014/main" val="898188605"/>
                  </a:ext>
                </a:extLst>
              </a:tr>
              <a:tr h="312690">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5</a:t>
                      </a: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3157160381"/>
                  </a:ext>
                </a:extLst>
              </a:tr>
              <a:tr h="312690">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10+5</a:t>
                      </a:r>
                    </a:p>
                  </a:txBody>
                  <a:tcPr/>
                </a:tc>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15</a:t>
                      </a:r>
                    </a:p>
                  </a:txBody>
                  <a:tcPr/>
                </a:tc>
                <a:extLst>
                  <a:ext uri="{0D108BD9-81ED-4DB2-BD59-A6C34878D82A}">
                    <a16:rowId xmlns:a16="http://schemas.microsoft.com/office/drawing/2014/main" val="3236845540"/>
                  </a:ext>
                </a:extLst>
              </a:tr>
              <a:tr h="312690">
                <a:tc>
                  <a:txBody>
                    <a:bodyPr/>
                    <a:lstStyle/>
                    <a:p>
                      <a:r>
                        <a:rPr lang="es-ES" sz="1600" dirty="0">
                          <a:latin typeface="Verdana" panose="020B0604030504040204" pitchFamily="34" charset="0"/>
                          <a:ea typeface="Verdana" panose="020B0604030504040204" pitchFamily="34" charset="0"/>
                          <a:cs typeface="Verdana" panose="020B0604030504040204" pitchFamily="34" charset="0"/>
                        </a:rPr>
                        <a:t>6</a:t>
                      </a: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endParaRPr lang="es-ES" sz="16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3001086007"/>
                  </a:ext>
                </a:extLst>
              </a:tr>
            </a:tbl>
          </a:graphicData>
        </a:graphic>
      </p:graphicFrame>
      <p:cxnSp>
        <p:nvCxnSpPr>
          <p:cNvPr id="25" name="Straight Arrow Connector 24"/>
          <p:cNvCxnSpPr/>
          <p:nvPr/>
        </p:nvCxnSpPr>
        <p:spPr>
          <a:xfrm>
            <a:off x="5227724" y="1111601"/>
            <a:ext cx="19050" cy="4876318"/>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246774" y="5618587"/>
            <a:ext cx="1371600" cy="369332"/>
          </a:xfrm>
          <a:prstGeom prst="rect">
            <a:avLst/>
          </a:prstGeom>
          <a:noFill/>
        </p:spPr>
        <p:txBody>
          <a:bodyPr wrap="square" rtlCol="0">
            <a:spAutoFit/>
          </a:bodyPr>
          <a:lstStyle/>
          <a:p>
            <a:r>
              <a:rPr lang="es-ES" dirty="0" err="1"/>
              <a:t>temps</a:t>
            </a:r>
            <a:endParaRPr lang="es-ES" dirty="0"/>
          </a:p>
        </p:txBody>
      </p:sp>
      <p:cxnSp>
        <p:nvCxnSpPr>
          <p:cNvPr id="11" name="Straight Arrow Connector 10"/>
          <p:cNvCxnSpPr/>
          <p:nvPr/>
        </p:nvCxnSpPr>
        <p:spPr>
          <a:xfrm flipH="1">
            <a:off x="6130694" y="1745795"/>
            <a:ext cx="1051560"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6050685" y="2415872"/>
            <a:ext cx="1051560"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6050685" y="3046546"/>
            <a:ext cx="1051560"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6050685" y="3756026"/>
            <a:ext cx="1051560"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6071641" y="4404692"/>
            <a:ext cx="1051560"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37E733E1-4B86-562D-2F35-F4AE5582D826}"/>
              </a:ext>
            </a:extLst>
          </p:cNvPr>
          <p:cNvSpPr txBox="1"/>
          <p:nvPr/>
        </p:nvSpPr>
        <p:spPr>
          <a:xfrm>
            <a:off x="522854" y="1111601"/>
            <a:ext cx="4211075" cy="2677656"/>
          </a:xfrm>
          <a:prstGeom prst="rect">
            <a:avLst/>
          </a:prstGeom>
          <a:noFill/>
          <a:ln>
            <a:solidFill>
              <a:schemeClr val="tx1"/>
            </a:solidFill>
            <a:prstDash val="dash"/>
          </a:ln>
        </p:spPr>
        <p:txBody>
          <a:bodyPr wrap="square">
            <a:spAutoFit/>
          </a:bodyPr>
          <a:lstStyle/>
          <a:p>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main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suma=</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for</a:t>
            </a:r>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i=</a:t>
            </a:r>
            <a:r>
              <a:rPr lang="es-ES" sz="1400" b="0" dirty="0">
                <a:solidFill>
                  <a:srgbClr val="098658"/>
                </a:solidFill>
                <a:effectLst/>
                <a:latin typeface="Consolas" panose="020B0609020204030204" pitchFamily="49" charset="0"/>
              </a:rPr>
              <a:t>1</a:t>
            </a:r>
            <a:r>
              <a:rPr lang="es-ES" sz="1400" b="0" dirty="0">
                <a:solidFill>
                  <a:srgbClr val="000000"/>
                </a:solidFill>
                <a:effectLst/>
                <a:latin typeface="Consolas" panose="020B0609020204030204" pitchFamily="49" charset="0"/>
              </a:rPr>
              <a:t>;i&lt;=</a:t>
            </a:r>
            <a:r>
              <a:rPr lang="es-ES" sz="1400" b="0" dirty="0">
                <a:solidFill>
                  <a:srgbClr val="098658"/>
                </a:solidFill>
                <a:effectLst/>
                <a:latin typeface="Consolas" panose="020B0609020204030204" pitchFamily="49" charset="0"/>
              </a:rPr>
              <a:t>5</a:t>
            </a:r>
            <a:r>
              <a:rPr lang="es-ES" sz="1400" b="0" dirty="0">
                <a:solidFill>
                  <a:srgbClr val="000000"/>
                </a:solidFill>
                <a:effectLst/>
                <a:latin typeface="Consolas" panose="020B0609020204030204" pitchFamily="49" charset="0"/>
              </a:rPr>
              <a:t>;i++)</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suma=</a:t>
            </a:r>
            <a:r>
              <a:rPr lang="es-ES" sz="1400" b="0" dirty="0" err="1">
                <a:solidFill>
                  <a:srgbClr val="000000"/>
                </a:solidFill>
                <a:effectLst/>
                <a:latin typeface="Consolas" panose="020B0609020204030204" pitchFamily="49" charset="0"/>
              </a:rPr>
              <a:t>suma+</a:t>
            </a:r>
            <a:r>
              <a:rPr lang="es-ES" sz="1400" dirty="0" err="1">
                <a:solidFill>
                  <a:srgbClr val="098658"/>
                </a:solidFill>
                <a:latin typeface="Consolas" panose="020B0609020204030204" pitchFamily="49" charset="0"/>
              </a:rPr>
              <a:t>i</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nLa</a:t>
            </a:r>
            <a:r>
              <a:rPr lang="es-ES" sz="1400" b="0" dirty="0">
                <a:solidFill>
                  <a:srgbClr val="A31515"/>
                </a:solidFill>
                <a:effectLst/>
                <a:latin typeface="Consolas" panose="020B0609020204030204" pitchFamily="49" charset="0"/>
              </a:rPr>
              <a:t> suma es %</a:t>
            </a:r>
            <a:r>
              <a:rPr lang="es-ES" sz="1400" b="0" dirty="0" err="1">
                <a:solidFill>
                  <a:srgbClr val="A31515"/>
                </a:solidFill>
                <a:effectLst/>
                <a:latin typeface="Consolas" panose="020B0609020204030204" pitchFamily="49" charset="0"/>
              </a:rPr>
              <a:t>d"</a:t>
            </a:r>
            <a:r>
              <a:rPr lang="es-ES" sz="1400" b="0" dirty="0" err="1">
                <a:solidFill>
                  <a:srgbClr val="000000"/>
                </a:solidFill>
                <a:effectLst/>
                <a:latin typeface="Consolas" panose="020B0609020204030204" pitchFamily="49" charset="0"/>
              </a:rPr>
              <a:t>,suma</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acabament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return</a:t>
            </a:r>
            <a:r>
              <a:rPr lang="es-ES" sz="1400" b="0" dirty="0">
                <a:solidFill>
                  <a:srgbClr val="000000"/>
                </a:solidFill>
                <a:effectLst/>
                <a:latin typeface="Consolas" panose="020B0609020204030204" pitchFamily="49" charset="0"/>
              </a:rPr>
              <a:t> </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36558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Exercicis</a:t>
            </a:r>
            <a:r>
              <a:rPr lang="es-ES" dirty="0"/>
              <a:t> del dossier</a:t>
            </a:r>
          </a:p>
        </p:txBody>
      </p:sp>
      <p:sp>
        <p:nvSpPr>
          <p:cNvPr id="3" name="Content Placeholder 2"/>
          <p:cNvSpPr>
            <a:spLocks noGrp="1"/>
          </p:cNvSpPr>
          <p:nvPr>
            <p:ph idx="1"/>
          </p:nvPr>
        </p:nvSpPr>
        <p:spPr/>
        <p:txBody>
          <a:bodyPr/>
          <a:lstStyle/>
          <a:p>
            <a:r>
              <a:rPr lang="es-ES" dirty="0" err="1"/>
              <a:t>Apartat</a:t>
            </a:r>
            <a:r>
              <a:rPr lang="es-ES" dirty="0"/>
              <a:t> </a:t>
            </a:r>
            <a:r>
              <a:rPr lang="ca-ES" sz="1800" b="1"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COMPTADORS I ACUMULADORS</a:t>
            </a:r>
            <a:endParaRPr lang="es-ES" sz="1800" b="1"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8472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139B55-15E9-C644-810D-A7931B967847}"/>
              </a:ext>
            </a:extLst>
          </p:cNvPr>
          <p:cNvSpPr>
            <a:spLocks noGrp="1"/>
          </p:cNvSpPr>
          <p:nvPr>
            <p:ph type="ctrTitle"/>
          </p:nvPr>
        </p:nvSpPr>
        <p:spPr/>
        <p:txBody>
          <a:bodyPr/>
          <a:lstStyle/>
          <a:p>
            <a:r>
              <a:rPr lang="es-ES" dirty="0"/>
              <a:t>DESAR VALORS ANTERIORS</a:t>
            </a:r>
          </a:p>
        </p:txBody>
      </p:sp>
    </p:spTree>
    <p:extLst>
      <p:ext uri="{BB962C8B-B14F-4D97-AF65-F5344CB8AC3E}">
        <p14:creationId xmlns:p14="http://schemas.microsoft.com/office/powerpoint/2010/main" val="23839970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Concepte</a:t>
            </a:r>
            <a:r>
              <a:rPr lang="es-ES" dirty="0"/>
              <a:t> </a:t>
            </a:r>
            <a:r>
              <a:rPr lang="es-ES" dirty="0" err="1"/>
              <a:t>Desar</a:t>
            </a:r>
            <a:r>
              <a:rPr lang="es-ES" dirty="0"/>
              <a:t> </a:t>
            </a:r>
            <a:r>
              <a:rPr lang="es-ES" dirty="0" err="1"/>
              <a:t>Valors</a:t>
            </a:r>
            <a:r>
              <a:rPr lang="es-ES" dirty="0"/>
              <a:t> </a:t>
            </a:r>
            <a:r>
              <a:rPr lang="es-ES" dirty="0" err="1"/>
              <a:t>Anteriors</a:t>
            </a:r>
            <a:endParaRPr lang="es-ES" dirty="0"/>
          </a:p>
        </p:txBody>
      </p:sp>
      <p:sp>
        <p:nvSpPr>
          <p:cNvPr id="3" name="Marcador de contenido 2"/>
          <p:cNvSpPr>
            <a:spLocks noGrp="1"/>
          </p:cNvSpPr>
          <p:nvPr>
            <p:ph idx="1"/>
          </p:nvPr>
        </p:nvSpPr>
        <p:spPr>
          <a:xfrm>
            <a:off x="361950" y="787400"/>
            <a:ext cx="8534401" cy="642130"/>
          </a:xfrm>
        </p:spPr>
        <p:txBody>
          <a:bodyPr>
            <a:normAutofit/>
          </a:bodyPr>
          <a:lstStyle/>
          <a:p>
            <a:r>
              <a:rPr lang="es-ES" dirty="0" err="1"/>
              <a:t>Demanar</a:t>
            </a:r>
            <a:r>
              <a:rPr lang="es-ES" dirty="0"/>
              <a:t> números a </a:t>
            </a:r>
            <a:r>
              <a:rPr lang="es-ES" dirty="0" err="1"/>
              <a:t>l’usuari</a:t>
            </a:r>
            <a:r>
              <a:rPr lang="es-ES" dirty="0"/>
              <a:t> </a:t>
            </a:r>
            <a:r>
              <a:rPr lang="es-ES" dirty="0" err="1"/>
              <a:t>fins</a:t>
            </a:r>
            <a:r>
              <a:rPr lang="es-ES" dirty="0"/>
              <a:t> que </a:t>
            </a:r>
            <a:r>
              <a:rPr lang="es-ES" dirty="0" err="1"/>
              <a:t>introdueixi</a:t>
            </a:r>
            <a:r>
              <a:rPr lang="es-ES" dirty="0"/>
              <a:t> dos números </a:t>
            </a:r>
            <a:r>
              <a:rPr lang="es-ES" dirty="0" err="1"/>
              <a:t>seguits</a:t>
            </a:r>
            <a:r>
              <a:rPr lang="es-ES" dirty="0"/>
              <a:t> </a:t>
            </a:r>
            <a:r>
              <a:rPr lang="es-ES" dirty="0" err="1"/>
              <a:t>més</a:t>
            </a:r>
            <a:r>
              <a:rPr lang="es-ES" dirty="0"/>
              <a:t> </a:t>
            </a:r>
            <a:r>
              <a:rPr lang="es-ES" dirty="0" err="1"/>
              <a:t>grans</a:t>
            </a:r>
            <a:r>
              <a:rPr lang="es-ES" dirty="0"/>
              <a:t> de 100. </a:t>
            </a:r>
          </a:p>
          <a:p>
            <a:pPr marL="0" indent="0">
              <a:buNone/>
            </a:pPr>
            <a:endParaRPr lang="es-ES" dirty="0"/>
          </a:p>
        </p:txBody>
      </p:sp>
      <p:sp>
        <p:nvSpPr>
          <p:cNvPr id="6" name="CuadroTexto 5">
            <a:extLst>
              <a:ext uri="{FF2B5EF4-FFF2-40B4-BE49-F238E27FC236}">
                <a16:creationId xmlns:a16="http://schemas.microsoft.com/office/drawing/2014/main" id="{074E3E2F-5163-552B-1E91-A1D3166FB113}"/>
              </a:ext>
            </a:extLst>
          </p:cNvPr>
          <p:cNvSpPr txBox="1"/>
          <p:nvPr/>
        </p:nvSpPr>
        <p:spPr>
          <a:xfrm>
            <a:off x="663389" y="1429530"/>
            <a:ext cx="4903694" cy="4185761"/>
          </a:xfrm>
          <a:prstGeom prst="rect">
            <a:avLst/>
          </a:prstGeom>
          <a:noFill/>
          <a:ln>
            <a:solidFill>
              <a:schemeClr val="tx1"/>
            </a:solidFill>
            <a:prstDash val="dash"/>
          </a:ln>
        </p:spPr>
        <p:txBody>
          <a:bodyPr wrap="square">
            <a:spAutoFit/>
          </a:bodyPr>
          <a:lstStyle/>
          <a:p>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main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numAnt</a:t>
            </a:r>
            <a:r>
              <a:rPr lang="es-ES" sz="1400" b="0" dirty="0">
                <a:solidFill>
                  <a:srgbClr val="000000"/>
                </a:solidFill>
                <a:effectLst/>
                <a:latin typeface="Consolas" panose="020B0609020204030204" pitchFamily="49" charset="0"/>
              </a:rPr>
              <a:t>;</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Introdueix</a:t>
            </a:r>
            <a:r>
              <a:rPr lang="es-ES" sz="1400" b="0" dirty="0">
                <a:solidFill>
                  <a:srgbClr val="A31515"/>
                </a:solidFill>
                <a:effectLst/>
                <a:latin typeface="Consolas" panose="020B0609020204030204" pitchFamily="49" charset="0"/>
              </a:rPr>
              <a:t> un numero: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numAnt</a:t>
            </a:r>
            <a:r>
              <a:rPr lang="es-ES" sz="1400" b="0" dirty="0">
                <a:solidFill>
                  <a:srgbClr val="000000"/>
                </a:solidFill>
                <a:effectLst/>
                <a:latin typeface="Consolas" panose="020B0609020204030204" pitchFamily="49" charset="0"/>
              </a:rPr>
              <a:t> = </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Introdueix</a:t>
            </a:r>
            <a:r>
              <a:rPr lang="es-ES" sz="1400" b="0" dirty="0">
                <a:solidFill>
                  <a:srgbClr val="A31515"/>
                </a:solidFill>
                <a:effectLst/>
                <a:latin typeface="Consolas" panose="020B0609020204030204" pitchFamily="49" charset="0"/>
              </a:rPr>
              <a:t> un numero: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while</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numAnt</a:t>
            </a:r>
            <a:r>
              <a:rPr lang="es-ES" sz="1400" b="0" dirty="0">
                <a:solidFill>
                  <a:srgbClr val="000000"/>
                </a:solidFill>
                <a:effectLst/>
                <a:latin typeface="Consolas" panose="020B0609020204030204" pitchFamily="49" charset="0"/>
              </a:rPr>
              <a:t> &lt;= </a:t>
            </a:r>
            <a:r>
              <a:rPr lang="es-ES" sz="1400" b="0" dirty="0">
                <a:solidFill>
                  <a:srgbClr val="098658"/>
                </a:solidFill>
                <a:effectLst/>
                <a:latin typeface="Consolas" panose="020B0609020204030204" pitchFamily="49" charset="0"/>
              </a:rPr>
              <a:t>100</a:t>
            </a:r>
            <a:r>
              <a:rPr lang="es-ES" sz="1400" b="0" dirty="0">
                <a:solidFill>
                  <a:srgbClr val="000000"/>
                </a:solidFill>
                <a:effectLst/>
                <a:latin typeface="Consolas" panose="020B0609020204030204" pitchFamily="49" charset="0"/>
              </a:rPr>
              <a:t> || </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 &lt;= </a:t>
            </a:r>
            <a:r>
              <a:rPr lang="es-ES" sz="1400" b="0" dirty="0">
                <a:solidFill>
                  <a:srgbClr val="098658"/>
                </a:solidFill>
                <a:effectLst/>
                <a:latin typeface="Consolas" panose="020B0609020204030204" pitchFamily="49" charset="0"/>
              </a:rPr>
              <a:t>100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numAnt</a:t>
            </a:r>
            <a:r>
              <a:rPr lang="es-ES" sz="1400" b="0" dirty="0">
                <a:solidFill>
                  <a:srgbClr val="000000"/>
                </a:solidFill>
                <a:effectLst/>
                <a:latin typeface="Consolas" panose="020B0609020204030204" pitchFamily="49" charset="0"/>
              </a:rPr>
              <a:t> = </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Introdueix</a:t>
            </a:r>
            <a:r>
              <a:rPr lang="es-ES" sz="1400" b="0" dirty="0">
                <a:solidFill>
                  <a:srgbClr val="A31515"/>
                </a:solidFill>
                <a:effectLst/>
                <a:latin typeface="Consolas" panose="020B0609020204030204" pitchFamily="49" charset="0"/>
              </a:rPr>
              <a:t> un numero: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acabament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return</a:t>
            </a:r>
            <a:r>
              <a:rPr lang="es-ES" sz="1400" b="0" dirty="0">
                <a:solidFill>
                  <a:srgbClr val="000000"/>
                </a:solidFill>
                <a:effectLst/>
                <a:latin typeface="Consolas" panose="020B0609020204030204" pitchFamily="49" charset="0"/>
              </a:rPr>
              <a:t> </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656641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Concepte</a:t>
            </a:r>
            <a:r>
              <a:rPr lang="es-ES" dirty="0"/>
              <a:t> </a:t>
            </a:r>
            <a:r>
              <a:rPr lang="es-ES" dirty="0" err="1"/>
              <a:t>Desar</a:t>
            </a:r>
            <a:r>
              <a:rPr lang="es-ES" dirty="0"/>
              <a:t> </a:t>
            </a:r>
            <a:r>
              <a:rPr lang="es-ES" dirty="0" err="1"/>
              <a:t>Valors</a:t>
            </a:r>
            <a:r>
              <a:rPr lang="es-ES" dirty="0"/>
              <a:t> </a:t>
            </a:r>
            <a:r>
              <a:rPr lang="es-ES" dirty="0" err="1"/>
              <a:t>Anteriors</a:t>
            </a:r>
            <a:endParaRPr lang="es-ES" dirty="0"/>
          </a:p>
        </p:txBody>
      </p:sp>
      <p:sp>
        <p:nvSpPr>
          <p:cNvPr id="3" name="Marcador de contenido 2"/>
          <p:cNvSpPr>
            <a:spLocks noGrp="1"/>
          </p:cNvSpPr>
          <p:nvPr>
            <p:ph idx="1"/>
          </p:nvPr>
        </p:nvSpPr>
        <p:spPr>
          <a:xfrm>
            <a:off x="361950" y="787400"/>
            <a:ext cx="8534401" cy="642130"/>
          </a:xfrm>
        </p:spPr>
        <p:txBody>
          <a:bodyPr>
            <a:normAutofit/>
          </a:bodyPr>
          <a:lstStyle/>
          <a:p>
            <a:r>
              <a:rPr lang="es-ES" dirty="0" err="1"/>
              <a:t>Demanar</a:t>
            </a:r>
            <a:r>
              <a:rPr lang="es-ES" dirty="0"/>
              <a:t> números a </a:t>
            </a:r>
            <a:r>
              <a:rPr lang="es-ES" dirty="0" err="1"/>
              <a:t>l’usuari</a:t>
            </a:r>
            <a:r>
              <a:rPr lang="es-ES" dirty="0"/>
              <a:t> </a:t>
            </a:r>
            <a:r>
              <a:rPr lang="es-ES" dirty="0" err="1"/>
              <a:t>fins</a:t>
            </a:r>
            <a:r>
              <a:rPr lang="es-ES" dirty="0"/>
              <a:t> que </a:t>
            </a:r>
            <a:r>
              <a:rPr lang="es-ES" dirty="0" err="1"/>
              <a:t>introdueixi</a:t>
            </a:r>
            <a:r>
              <a:rPr lang="es-ES" dirty="0"/>
              <a:t> dos números </a:t>
            </a:r>
            <a:r>
              <a:rPr lang="es-ES" dirty="0" err="1"/>
              <a:t>seguits</a:t>
            </a:r>
            <a:r>
              <a:rPr lang="es-ES" dirty="0"/>
              <a:t> </a:t>
            </a:r>
            <a:r>
              <a:rPr lang="es-ES" dirty="0" err="1"/>
              <a:t>més</a:t>
            </a:r>
            <a:r>
              <a:rPr lang="es-ES" dirty="0"/>
              <a:t> </a:t>
            </a:r>
            <a:r>
              <a:rPr lang="es-ES" dirty="0" err="1"/>
              <a:t>grans</a:t>
            </a:r>
            <a:r>
              <a:rPr lang="es-ES" dirty="0"/>
              <a:t> de 100. </a:t>
            </a:r>
          </a:p>
          <a:p>
            <a:pPr marL="0" indent="0">
              <a:buNone/>
            </a:pPr>
            <a:endParaRPr lang="es-ES" dirty="0"/>
          </a:p>
        </p:txBody>
      </p:sp>
      <p:sp>
        <p:nvSpPr>
          <p:cNvPr id="7" name="CuadroTexto 6">
            <a:extLst>
              <a:ext uri="{FF2B5EF4-FFF2-40B4-BE49-F238E27FC236}">
                <a16:creationId xmlns:a16="http://schemas.microsoft.com/office/drawing/2014/main" id="{EA759412-2F72-EF48-4524-72BFF8A899B8}"/>
              </a:ext>
            </a:extLst>
          </p:cNvPr>
          <p:cNvSpPr txBox="1"/>
          <p:nvPr/>
        </p:nvSpPr>
        <p:spPr>
          <a:xfrm>
            <a:off x="663388" y="1415742"/>
            <a:ext cx="4625788" cy="4401205"/>
          </a:xfrm>
          <a:prstGeom prst="rect">
            <a:avLst/>
          </a:prstGeom>
          <a:noFill/>
          <a:ln>
            <a:solidFill>
              <a:schemeClr val="tx1"/>
            </a:solidFill>
            <a:prstDash val="dash"/>
          </a:ln>
        </p:spPr>
        <p:txBody>
          <a:bodyPr wrap="square">
            <a:spAutoFit/>
          </a:bodyPr>
          <a:lstStyle/>
          <a:p>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main</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int</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 contSuperiors100=</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br>
              <a:rPr lang="es-ES" sz="1400" b="0" dirty="0">
                <a:solidFill>
                  <a:srgbClr val="000000"/>
                </a:solidFill>
                <a:effectLst/>
                <a:latin typeface="Consolas" panose="020B0609020204030204" pitchFamily="49" charset="0"/>
              </a:rPr>
            </a:br>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while</a:t>
            </a:r>
            <a:r>
              <a:rPr lang="es-ES" sz="1400" b="0" dirty="0">
                <a:solidFill>
                  <a:srgbClr val="000000"/>
                </a:solidFill>
                <a:effectLst/>
                <a:latin typeface="Consolas" panose="020B0609020204030204" pitchFamily="49" charset="0"/>
              </a:rPr>
              <a:t> (contSuperiors100&lt;</a:t>
            </a:r>
            <a:r>
              <a:rPr lang="es-ES" sz="1400" b="0" dirty="0">
                <a:solidFill>
                  <a:srgbClr val="098658"/>
                </a:solidFill>
                <a:effectLst/>
                <a:latin typeface="Consolas" panose="020B0609020204030204" pitchFamily="49" charset="0"/>
              </a:rPr>
              <a:t>2</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printf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a:t>
            </a:r>
            <a:r>
              <a:rPr lang="es-ES" sz="1400" b="0" dirty="0" err="1">
                <a:solidFill>
                  <a:srgbClr val="A31515"/>
                </a:solidFill>
                <a:effectLst/>
                <a:latin typeface="Consolas" panose="020B0609020204030204" pitchFamily="49" charset="0"/>
              </a:rPr>
              <a:t>Introdueix</a:t>
            </a:r>
            <a:r>
              <a:rPr lang="es-ES" sz="1400" b="0" dirty="0">
                <a:solidFill>
                  <a:srgbClr val="A31515"/>
                </a:solidFill>
                <a:effectLst/>
                <a:latin typeface="Consolas" panose="020B0609020204030204" pitchFamily="49" charset="0"/>
              </a:rPr>
              <a:t> un numero: "</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scanf</a:t>
            </a:r>
            <a:r>
              <a:rPr lang="es-ES" sz="1400" b="0" dirty="0">
                <a:solidFill>
                  <a:srgbClr val="000000"/>
                </a:solidFill>
                <a:effectLst/>
                <a:latin typeface="Consolas" panose="020B0609020204030204" pitchFamily="49" charset="0"/>
              </a:rPr>
              <a:t>(</a:t>
            </a:r>
            <a:r>
              <a:rPr lang="es-ES" sz="1400" b="0" dirty="0">
                <a:solidFill>
                  <a:srgbClr val="A31515"/>
                </a:solidFill>
                <a:effectLst/>
                <a:latin typeface="Consolas" panose="020B0609020204030204" pitchFamily="49" charset="0"/>
              </a:rPr>
              <a:t>"%d"</a:t>
            </a:r>
            <a:r>
              <a:rPr lang="es-ES" sz="1400" b="0" dirty="0">
                <a:solidFill>
                  <a:srgbClr val="000000"/>
                </a:solidFill>
                <a:effectLst/>
                <a:latin typeface="Consolas" panose="020B0609020204030204" pitchFamily="49" charset="0"/>
              </a:rPr>
              <a:t>, &amp;</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if</a:t>
            </a:r>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num</a:t>
            </a:r>
            <a:r>
              <a:rPr lang="es-ES" sz="1400" b="0" dirty="0">
                <a:solidFill>
                  <a:srgbClr val="000000"/>
                </a:solidFill>
                <a:effectLst/>
                <a:latin typeface="Consolas" panose="020B0609020204030204" pitchFamily="49" charset="0"/>
              </a:rPr>
              <a:t>&gt;</a:t>
            </a:r>
            <a:r>
              <a:rPr lang="es-ES" sz="1400" b="0" dirty="0">
                <a:solidFill>
                  <a:srgbClr val="098658"/>
                </a:solidFill>
                <a:effectLst/>
                <a:latin typeface="Consolas" panose="020B0609020204030204" pitchFamily="49" charset="0"/>
              </a:rPr>
              <a:t>100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contSuperiors100++;</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else</a:t>
            </a:r>
            <a:endParaRPr lang="es-ES" sz="1400" b="0" dirty="0">
              <a:solidFill>
                <a:srgbClr val="000000"/>
              </a:solidFill>
              <a:effectLst/>
              <a:latin typeface="Consolas" panose="020B0609020204030204" pitchFamily="49" charset="0"/>
            </a:endParaRP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contSuperiors100=</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p>
          <a:p>
            <a:r>
              <a:rPr lang="es-ES" sz="1400" b="0" dirty="0">
                <a:solidFill>
                  <a:srgbClr val="000000"/>
                </a:solidFill>
                <a:effectLst/>
                <a:latin typeface="Consolas" panose="020B0609020204030204" pitchFamily="49" charset="0"/>
              </a:rPr>
              <a:t>    </a:t>
            </a:r>
            <a:r>
              <a:rPr lang="es-ES" sz="1400" b="0" dirty="0" err="1">
                <a:solidFill>
                  <a:srgbClr val="000000"/>
                </a:solidFill>
                <a:effectLst/>
                <a:latin typeface="Consolas" panose="020B0609020204030204" pitchFamily="49" charset="0"/>
              </a:rPr>
              <a:t>acabament</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    </a:t>
            </a:r>
            <a:r>
              <a:rPr lang="es-ES" sz="1400" b="0" dirty="0" err="1">
                <a:solidFill>
                  <a:srgbClr val="0000FF"/>
                </a:solidFill>
                <a:effectLst/>
                <a:latin typeface="Consolas" panose="020B0609020204030204" pitchFamily="49" charset="0"/>
              </a:rPr>
              <a:t>return</a:t>
            </a:r>
            <a:r>
              <a:rPr lang="es-ES" sz="1400" b="0" dirty="0">
                <a:solidFill>
                  <a:srgbClr val="000000"/>
                </a:solidFill>
                <a:effectLst/>
                <a:latin typeface="Consolas" panose="020B0609020204030204" pitchFamily="49" charset="0"/>
              </a:rPr>
              <a:t> </a:t>
            </a:r>
            <a:r>
              <a:rPr lang="es-ES" sz="1400" b="0" dirty="0">
                <a:solidFill>
                  <a:srgbClr val="098658"/>
                </a:solidFill>
                <a:effectLst/>
                <a:latin typeface="Consolas" panose="020B0609020204030204" pitchFamily="49" charset="0"/>
              </a:rPr>
              <a:t>0</a:t>
            </a:r>
            <a:r>
              <a:rPr lang="es-ES" sz="1400" b="0" dirty="0">
                <a:solidFill>
                  <a:srgbClr val="000000"/>
                </a:solidFill>
                <a:effectLst/>
                <a:latin typeface="Consolas" panose="020B0609020204030204" pitchFamily="49" charset="0"/>
              </a:rPr>
              <a:t>;</a:t>
            </a:r>
          </a:p>
          <a:p>
            <a:r>
              <a:rPr lang="es-E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09086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Exercicis</a:t>
            </a:r>
            <a:r>
              <a:rPr lang="es-ES" dirty="0"/>
              <a:t> del dossier</a:t>
            </a:r>
          </a:p>
        </p:txBody>
      </p:sp>
      <p:sp>
        <p:nvSpPr>
          <p:cNvPr id="3" name="Content Placeholder 2"/>
          <p:cNvSpPr>
            <a:spLocks noGrp="1"/>
          </p:cNvSpPr>
          <p:nvPr>
            <p:ph idx="1"/>
          </p:nvPr>
        </p:nvSpPr>
        <p:spPr>
          <a:xfrm>
            <a:off x="445531" y="734356"/>
            <a:ext cx="8534401" cy="5872184"/>
          </a:xfrm>
        </p:spPr>
        <p:txBody>
          <a:bodyPr/>
          <a:lstStyle/>
          <a:p>
            <a:pPr marL="0" indent="0">
              <a:buNone/>
            </a:pPr>
            <a:r>
              <a:rPr lang="ca-ES" sz="1800" b="1"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DESAR NÚMEROS ANTERIORS</a:t>
            </a:r>
            <a:endParaRPr lang="es-ES" sz="1800" b="1"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67208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E0F39-EFAE-B349-B79A-EAAEA5EDC724}"/>
              </a:ext>
            </a:extLst>
          </p:cNvPr>
          <p:cNvSpPr>
            <a:spLocks noGrp="1"/>
          </p:cNvSpPr>
          <p:nvPr>
            <p:ph type="ctrTitle"/>
          </p:nvPr>
        </p:nvSpPr>
        <p:spPr/>
        <p:txBody>
          <a:bodyPr/>
          <a:lstStyle/>
          <a:p>
            <a:r>
              <a:rPr lang="es-ES" dirty="0"/>
              <a:t>ESQUEMA CERCA - RECORREGUT</a:t>
            </a:r>
          </a:p>
        </p:txBody>
      </p:sp>
    </p:spTree>
    <p:extLst>
      <p:ext uri="{BB962C8B-B14F-4D97-AF65-F5344CB8AC3E}">
        <p14:creationId xmlns:p14="http://schemas.microsoft.com/office/powerpoint/2010/main" val="15415295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Esquemes</a:t>
            </a:r>
            <a:r>
              <a:rPr lang="es-ES" dirty="0"/>
              <a:t> </a:t>
            </a:r>
            <a:r>
              <a:rPr lang="es-ES" dirty="0" err="1"/>
              <a:t>Algorítmics</a:t>
            </a:r>
            <a:r>
              <a:rPr lang="es-ES" dirty="0"/>
              <a:t> </a:t>
            </a:r>
            <a:r>
              <a:rPr lang="es-ES" dirty="0" err="1"/>
              <a:t>Bàsics</a:t>
            </a:r>
            <a:endParaRPr lang="es-ES" dirty="0"/>
          </a:p>
        </p:txBody>
      </p:sp>
      <p:sp>
        <p:nvSpPr>
          <p:cNvPr id="3" name="Content Placeholder 2"/>
          <p:cNvSpPr>
            <a:spLocks noGrp="1"/>
          </p:cNvSpPr>
          <p:nvPr>
            <p:ph idx="1"/>
          </p:nvPr>
        </p:nvSpPr>
        <p:spPr/>
        <p:txBody>
          <a:bodyPr>
            <a:normAutofit/>
          </a:bodyPr>
          <a:lstStyle/>
          <a:p>
            <a:pPr>
              <a:lnSpc>
                <a:spcPct val="110000"/>
              </a:lnSpc>
              <a:spcBef>
                <a:spcPts val="1200"/>
              </a:spcBef>
            </a:pPr>
            <a:r>
              <a:rPr lang="ca-ES" dirty="0"/>
              <a:t>Els esquemes algorítmics són unes construccions lògiques que es </a:t>
            </a:r>
            <a:r>
              <a:rPr lang="ca-ES" dirty="0" err="1"/>
              <a:t>repetiexen</a:t>
            </a:r>
            <a:r>
              <a:rPr lang="ca-ES" dirty="0"/>
              <a:t> molt sovint en molts dels programes que es desenvolupen</a:t>
            </a:r>
          </a:p>
          <a:p>
            <a:pPr>
              <a:lnSpc>
                <a:spcPct val="110000"/>
              </a:lnSpc>
              <a:spcBef>
                <a:spcPts val="1200"/>
              </a:spcBef>
            </a:pPr>
            <a:r>
              <a:rPr lang="ca-ES" dirty="0"/>
              <a:t>Estan formades per indicacions (no llenguatge), de què cal fer en cada moment per resoldre el problema. Hi ha dos esquemes</a:t>
            </a:r>
          </a:p>
          <a:p>
            <a:pPr marL="914400" lvl="1" indent="-457200">
              <a:lnSpc>
                <a:spcPct val="150000"/>
              </a:lnSpc>
              <a:buFont typeface="+mj-lt"/>
              <a:buAutoNum type="arabicPeriod"/>
            </a:pPr>
            <a:r>
              <a:rPr lang="ca-ES" dirty="0"/>
              <a:t>Esquema </a:t>
            </a:r>
            <a:r>
              <a:rPr lang="ca-ES" dirty="0" err="1"/>
              <a:t>algorímic</a:t>
            </a:r>
            <a:r>
              <a:rPr lang="ca-ES" dirty="0"/>
              <a:t> de RECORREGUT</a:t>
            </a:r>
          </a:p>
          <a:p>
            <a:pPr marL="914400" lvl="1" indent="-457200">
              <a:lnSpc>
                <a:spcPct val="150000"/>
              </a:lnSpc>
              <a:buFont typeface="+mj-lt"/>
              <a:buAutoNum type="arabicPeriod"/>
            </a:pPr>
            <a:r>
              <a:rPr lang="ca-ES" dirty="0"/>
              <a:t>Esquema </a:t>
            </a:r>
            <a:r>
              <a:rPr lang="ca-ES" dirty="0" err="1"/>
              <a:t>algorímic</a:t>
            </a:r>
            <a:r>
              <a:rPr lang="ca-ES" dirty="0"/>
              <a:t> de CERCA</a:t>
            </a:r>
          </a:p>
          <a:p>
            <a:pPr marL="514350" indent="-514350">
              <a:buFont typeface="+mj-lt"/>
              <a:buAutoNum type="arabicPeriod"/>
            </a:pPr>
            <a:endParaRPr lang="es-ES" b="1" dirty="0">
              <a:solidFill>
                <a:srgbClr val="FF0000"/>
              </a:solidFill>
            </a:endParaRPr>
          </a:p>
          <a:p>
            <a:pPr marL="514350" indent="-514350">
              <a:buFont typeface="+mj-lt"/>
              <a:buAutoNum type="arabicPeriod"/>
            </a:pPr>
            <a:endParaRPr lang="es-ES" b="1" dirty="0">
              <a:solidFill>
                <a:srgbClr val="FF0000"/>
              </a:solidFill>
            </a:endParaRPr>
          </a:p>
          <a:p>
            <a:pPr marL="514350" indent="-514350">
              <a:buFont typeface="+mj-lt"/>
              <a:buAutoNum type="arabicPeriod"/>
            </a:pPr>
            <a:endParaRPr lang="es-ES" b="1" dirty="0">
              <a:solidFill>
                <a:srgbClr val="FF0000"/>
              </a:solidFill>
            </a:endParaRPr>
          </a:p>
          <a:p>
            <a:pPr marL="514350" indent="-514350">
              <a:buFont typeface="+mj-lt"/>
              <a:buAutoNum type="arabicPeriod"/>
            </a:pPr>
            <a:endParaRPr lang="es-ES" b="1" dirty="0">
              <a:solidFill>
                <a:srgbClr val="FF0000"/>
              </a:solidFill>
            </a:endParaRPr>
          </a:p>
        </p:txBody>
      </p:sp>
    </p:spTree>
    <p:extLst>
      <p:ext uri="{BB962C8B-B14F-4D97-AF65-F5344CB8AC3E}">
        <p14:creationId xmlns:p14="http://schemas.microsoft.com/office/powerpoint/2010/main" val="4657037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a:t>Esquema </a:t>
            </a:r>
            <a:r>
              <a:rPr lang="es-ES" dirty="0" err="1"/>
              <a:t>Algorítmic</a:t>
            </a:r>
            <a:r>
              <a:rPr lang="es-ES" dirty="0"/>
              <a:t> de </a:t>
            </a:r>
            <a:r>
              <a:rPr lang="es-ES" dirty="0" err="1"/>
              <a:t>Recorregut</a:t>
            </a:r>
            <a:endParaRPr lang="es-ES" dirty="0"/>
          </a:p>
        </p:txBody>
      </p:sp>
      <p:sp>
        <p:nvSpPr>
          <p:cNvPr id="3" name="Content Placeholder 2"/>
          <p:cNvSpPr>
            <a:spLocks noGrp="1"/>
          </p:cNvSpPr>
          <p:nvPr>
            <p:ph idx="1"/>
          </p:nvPr>
        </p:nvSpPr>
        <p:spPr/>
        <p:txBody>
          <a:bodyPr>
            <a:normAutofit/>
          </a:bodyPr>
          <a:lstStyle/>
          <a:p>
            <a:r>
              <a:rPr lang="es-ES" dirty="0" err="1"/>
              <a:t>Aquest</a:t>
            </a:r>
            <a:r>
              <a:rPr lang="es-ES" dirty="0"/>
              <a:t> esquema </a:t>
            </a:r>
            <a:r>
              <a:rPr lang="es-ES" dirty="0" err="1"/>
              <a:t>algorítmic</a:t>
            </a:r>
            <a:r>
              <a:rPr lang="es-ES" dirty="0"/>
              <a:t> es fa servir </a:t>
            </a:r>
            <a:r>
              <a:rPr lang="es-ES" dirty="0" err="1"/>
              <a:t>quan</a:t>
            </a:r>
            <a:r>
              <a:rPr lang="es-ES" dirty="0"/>
              <a:t> cal realizar una </a:t>
            </a:r>
            <a:r>
              <a:rPr lang="es-ES" dirty="0" err="1"/>
              <a:t>certa</a:t>
            </a:r>
            <a:r>
              <a:rPr lang="es-ES" dirty="0"/>
              <a:t> tasca sobre el </a:t>
            </a:r>
            <a:r>
              <a:rPr lang="es-ES" dirty="0" err="1"/>
              <a:t>conjunt</a:t>
            </a:r>
            <a:r>
              <a:rPr lang="es-ES" dirty="0"/>
              <a:t> de totes les </a:t>
            </a:r>
            <a:r>
              <a:rPr lang="es-ES" dirty="0" err="1"/>
              <a:t>dades</a:t>
            </a:r>
            <a:endParaRPr lang="es-ES" dirty="0"/>
          </a:p>
          <a:p>
            <a:r>
              <a:rPr lang="es-ES" dirty="0" err="1"/>
              <a:t>Exemples</a:t>
            </a:r>
            <a:endParaRPr lang="es-ES" dirty="0"/>
          </a:p>
          <a:p>
            <a:pPr lvl="1"/>
            <a:r>
              <a:rPr lang="es-ES" sz="1600" dirty="0" err="1"/>
              <a:t>Compte</a:t>
            </a:r>
            <a:r>
              <a:rPr lang="es-ES" sz="1600" dirty="0"/>
              <a:t> </a:t>
            </a:r>
            <a:r>
              <a:rPr lang="es-ES" sz="1600" dirty="0" err="1"/>
              <a:t>quants</a:t>
            </a:r>
            <a:r>
              <a:rPr lang="es-ES" sz="1600" dirty="0"/>
              <a:t> </a:t>
            </a:r>
            <a:r>
              <a:rPr lang="es-ES" sz="1600" dirty="0" err="1"/>
              <a:t>dels</a:t>
            </a:r>
            <a:r>
              <a:rPr lang="es-ES" sz="1600" dirty="0"/>
              <a:t> </a:t>
            </a:r>
            <a:r>
              <a:rPr lang="es-ES" sz="1600" dirty="0" err="1"/>
              <a:t>teus</a:t>
            </a:r>
            <a:r>
              <a:rPr lang="es-ES" sz="1600" dirty="0"/>
              <a:t> </a:t>
            </a:r>
            <a:r>
              <a:rPr lang="es-ES" sz="1600" dirty="0" err="1"/>
              <a:t>amics</a:t>
            </a:r>
            <a:r>
              <a:rPr lang="es-ES" sz="1600" dirty="0"/>
              <a:t> </a:t>
            </a:r>
            <a:r>
              <a:rPr lang="es-ES" sz="1600" dirty="0" err="1"/>
              <a:t>aniran</a:t>
            </a:r>
            <a:r>
              <a:rPr lang="es-ES" sz="1600" dirty="0"/>
              <a:t> a la </a:t>
            </a:r>
            <a:r>
              <a:rPr lang="es-ES" sz="1600" dirty="0" err="1"/>
              <a:t>festa</a:t>
            </a:r>
            <a:endParaRPr lang="es-ES" sz="1600" dirty="0"/>
          </a:p>
          <a:p>
            <a:pPr lvl="1"/>
            <a:r>
              <a:rPr lang="es-ES" sz="1600" dirty="0" err="1"/>
              <a:t>Compte</a:t>
            </a:r>
            <a:r>
              <a:rPr lang="es-ES" sz="1600" dirty="0"/>
              <a:t> </a:t>
            </a:r>
            <a:r>
              <a:rPr lang="es-ES" sz="1600" dirty="0" err="1"/>
              <a:t>quants</a:t>
            </a:r>
            <a:r>
              <a:rPr lang="es-ES" sz="1600" dirty="0"/>
              <a:t> alumnes mesuren </a:t>
            </a:r>
            <a:r>
              <a:rPr lang="es-ES" sz="1600" dirty="0" err="1"/>
              <a:t>més</a:t>
            </a:r>
            <a:r>
              <a:rPr lang="es-ES" sz="1600" dirty="0"/>
              <a:t> de 1,80</a:t>
            </a:r>
          </a:p>
          <a:p>
            <a:pPr lvl="1"/>
            <a:r>
              <a:rPr lang="es-ES" sz="1600" dirty="0"/>
              <a:t>Per a cada un </a:t>
            </a:r>
            <a:r>
              <a:rPr lang="es-ES" sz="1600" dirty="0" err="1"/>
              <a:t>dels</a:t>
            </a:r>
            <a:r>
              <a:rPr lang="es-ES" sz="1600" dirty="0"/>
              <a:t> </a:t>
            </a:r>
            <a:r>
              <a:rPr lang="es-ES" sz="1600" dirty="0" err="1"/>
              <a:t>teus</a:t>
            </a:r>
            <a:r>
              <a:rPr lang="es-ES" sz="1600" dirty="0"/>
              <a:t> </a:t>
            </a:r>
            <a:r>
              <a:rPr lang="es-ES" sz="1600" dirty="0" err="1"/>
              <a:t>clients</a:t>
            </a:r>
            <a:r>
              <a:rPr lang="es-ES" sz="1600" dirty="0"/>
              <a:t> enviar un email</a:t>
            </a:r>
          </a:p>
          <a:p>
            <a:r>
              <a:rPr lang="es-ES" dirty="0"/>
              <a:t>Esquema</a:t>
            </a:r>
          </a:p>
          <a:p>
            <a:pPr marL="457200" lvl="1" indent="0">
              <a:buNone/>
            </a:pPr>
            <a:r>
              <a:rPr lang="es-ES" sz="1800" dirty="0" err="1">
                <a:latin typeface="Century Gothic" panose="020B0502020202020204" pitchFamily="34" charset="0"/>
              </a:rPr>
              <a:t>Obtenir</a:t>
            </a:r>
            <a:r>
              <a:rPr lang="es-ES" sz="1800" dirty="0">
                <a:latin typeface="Century Gothic" panose="020B0502020202020204" pitchFamily="34" charset="0"/>
              </a:rPr>
              <a:t> primer </a:t>
            </a:r>
            <a:r>
              <a:rPr lang="es-ES" sz="1800" dirty="0" err="1">
                <a:latin typeface="Century Gothic" panose="020B0502020202020204" pitchFamily="34" charset="0"/>
              </a:rPr>
              <a:t>element</a:t>
            </a:r>
            <a:endParaRPr lang="es-ES" sz="1800" dirty="0">
              <a:latin typeface="Century Gothic" panose="020B0502020202020204" pitchFamily="34" charset="0"/>
            </a:endParaRPr>
          </a:p>
          <a:p>
            <a:pPr marL="457200" lvl="1" indent="0">
              <a:buNone/>
            </a:pPr>
            <a:r>
              <a:rPr lang="es-ES" sz="1800" u="sng" dirty="0">
                <a:latin typeface="Century Gothic" panose="020B0502020202020204" pitchFamily="34" charset="0"/>
              </a:rPr>
              <a:t>MENTRE</a:t>
            </a:r>
            <a:r>
              <a:rPr lang="es-ES" sz="1800" dirty="0">
                <a:latin typeface="Century Gothic" panose="020B0502020202020204" pitchFamily="34" charset="0"/>
              </a:rPr>
              <a:t> </a:t>
            </a:r>
            <a:r>
              <a:rPr lang="es-ES" sz="1800" u="sng" dirty="0">
                <a:latin typeface="Century Gothic" panose="020B0502020202020204" pitchFamily="34" charset="0"/>
              </a:rPr>
              <a:t>NO</a:t>
            </a:r>
            <a:r>
              <a:rPr lang="es-ES" sz="1800" dirty="0">
                <a:latin typeface="Century Gothic" panose="020B0502020202020204" pitchFamily="34" charset="0"/>
              </a:rPr>
              <a:t> final </a:t>
            </a:r>
            <a:r>
              <a:rPr lang="es-ES" sz="1800" u="sng" dirty="0">
                <a:latin typeface="Century Gothic" panose="020B0502020202020204" pitchFamily="34" charset="0"/>
              </a:rPr>
              <a:t>FER</a:t>
            </a:r>
          </a:p>
          <a:p>
            <a:pPr marL="914400" lvl="2" indent="0">
              <a:buNone/>
            </a:pPr>
            <a:r>
              <a:rPr lang="es-ES" sz="1800" dirty="0" err="1">
                <a:latin typeface="Century Gothic" panose="020B0502020202020204" pitchFamily="34" charset="0"/>
              </a:rPr>
              <a:t>Tractar</a:t>
            </a:r>
            <a:r>
              <a:rPr lang="es-ES" sz="1800" dirty="0">
                <a:latin typeface="Century Gothic" panose="020B0502020202020204" pitchFamily="34" charset="0"/>
              </a:rPr>
              <a:t> </a:t>
            </a:r>
            <a:r>
              <a:rPr lang="es-ES" sz="1800" dirty="0" err="1">
                <a:latin typeface="Century Gothic" panose="020B0502020202020204" pitchFamily="34" charset="0"/>
              </a:rPr>
              <a:t>l’element</a:t>
            </a:r>
            <a:endParaRPr lang="es-ES" sz="1800" dirty="0">
              <a:latin typeface="Century Gothic" panose="020B0502020202020204" pitchFamily="34" charset="0"/>
            </a:endParaRPr>
          </a:p>
          <a:p>
            <a:pPr marL="914400" lvl="2" indent="0">
              <a:buNone/>
            </a:pPr>
            <a:r>
              <a:rPr lang="es-ES" sz="1800" dirty="0" err="1">
                <a:latin typeface="Century Gothic" panose="020B0502020202020204" pitchFamily="34" charset="0"/>
              </a:rPr>
              <a:t>Obtenir</a:t>
            </a:r>
            <a:r>
              <a:rPr lang="es-ES" sz="1800" dirty="0">
                <a:latin typeface="Century Gothic" panose="020B0502020202020204" pitchFamily="34" charset="0"/>
              </a:rPr>
              <a:t> </a:t>
            </a:r>
            <a:r>
              <a:rPr lang="es-ES" sz="1800" dirty="0" err="1">
                <a:latin typeface="Century Gothic" panose="020B0502020202020204" pitchFamily="34" charset="0"/>
              </a:rPr>
              <a:t>següent</a:t>
            </a:r>
            <a:r>
              <a:rPr lang="es-ES" sz="1800" dirty="0">
                <a:latin typeface="Century Gothic" panose="020B0502020202020204" pitchFamily="34" charset="0"/>
              </a:rPr>
              <a:t> </a:t>
            </a:r>
            <a:r>
              <a:rPr lang="es-ES" sz="1800" dirty="0" err="1">
                <a:latin typeface="Century Gothic" panose="020B0502020202020204" pitchFamily="34" charset="0"/>
              </a:rPr>
              <a:t>element</a:t>
            </a:r>
            <a:endParaRPr lang="es-ES" sz="1800" dirty="0">
              <a:latin typeface="Century Gothic" panose="020B0502020202020204" pitchFamily="34" charset="0"/>
            </a:endParaRPr>
          </a:p>
          <a:p>
            <a:pPr marL="457200" lvl="1" indent="0">
              <a:buNone/>
            </a:pPr>
            <a:r>
              <a:rPr lang="es-ES" sz="1800" u="sng" dirty="0">
                <a:latin typeface="Century Gothic" panose="020B0502020202020204" pitchFamily="34" charset="0"/>
              </a:rPr>
              <a:t>FIMENTRE</a:t>
            </a:r>
          </a:p>
          <a:p>
            <a:pPr marL="457200" lvl="1" indent="0">
              <a:buNone/>
            </a:pPr>
            <a:r>
              <a:rPr lang="es-ES" sz="1800" dirty="0" err="1">
                <a:latin typeface="Century Gothic" panose="020B0502020202020204" pitchFamily="34" charset="0"/>
              </a:rPr>
              <a:t>Tractament</a:t>
            </a:r>
            <a:r>
              <a:rPr lang="es-ES" sz="1800" dirty="0">
                <a:latin typeface="Century Gothic" panose="020B0502020202020204" pitchFamily="34" charset="0"/>
              </a:rPr>
              <a:t> final</a:t>
            </a:r>
          </a:p>
        </p:txBody>
      </p:sp>
    </p:spTree>
    <p:extLst>
      <p:ext uri="{BB962C8B-B14F-4D97-AF65-F5344CB8AC3E}">
        <p14:creationId xmlns:p14="http://schemas.microsoft.com/office/powerpoint/2010/main" val="40507290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BB38BA-174A-4D51-9D77-A7748ADAAF3E}"/>
              </a:ext>
            </a:extLst>
          </p:cNvPr>
          <p:cNvSpPr>
            <a:spLocks noGrp="1"/>
          </p:cNvSpPr>
          <p:nvPr>
            <p:ph type="title"/>
          </p:nvPr>
        </p:nvSpPr>
        <p:spPr/>
        <p:txBody>
          <a:bodyPr/>
          <a:lstStyle/>
          <a:p>
            <a:r>
              <a:rPr lang="es-ES" dirty="0"/>
              <a:t>Esquema </a:t>
            </a:r>
            <a:r>
              <a:rPr lang="es-ES" dirty="0" err="1"/>
              <a:t>Algorítmic</a:t>
            </a:r>
            <a:r>
              <a:rPr lang="es-ES" dirty="0"/>
              <a:t> de </a:t>
            </a:r>
            <a:r>
              <a:rPr lang="es-ES" dirty="0" err="1"/>
              <a:t>Recorregut</a:t>
            </a:r>
            <a:endParaRPr lang="ca-ES" dirty="0"/>
          </a:p>
        </p:txBody>
      </p:sp>
      <p:sp>
        <p:nvSpPr>
          <p:cNvPr id="3" name="Marcador de contenido 2">
            <a:extLst>
              <a:ext uri="{FF2B5EF4-FFF2-40B4-BE49-F238E27FC236}">
                <a16:creationId xmlns:a16="http://schemas.microsoft.com/office/drawing/2014/main" id="{E17685B6-2BF1-46DA-95F2-3A2580C3CA46}"/>
              </a:ext>
            </a:extLst>
          </p:cNvPr>
          <p:cNvSpPr>
            <a:spLocks noGrp="1"/>
          </p:cNvSpPr>
          <p:nvPr>
            <p:ph idx="1"/>
          </p:nvPr>
        </p:nvSpPr>
        <p:spPr>
          <a:xfrm>
            <a:off x="369331" y="696256"/>
            <a:ext cx="8534401" cy="1089001"/>
          </a:xfrm>
        </p:spPr>
        <p:txBody>
          <a:bodyPr/>
          <a:lstStyle/>
          <a:p>
            <a:pPr marL="0" indent="0">
              <a:buNone/>
            </a:pPr>
            <a:r>
              <a:rPr lang="ca-ES" dirty="0"/>
              <a:t>Fer un algoritme que donat una sèrie de caràcters introduïts per l’usuari, calculi el nombre de lletres ‘a’ introduïdes. El caràcter amb el que acabarem d’introduir caràcters és ‘.’.</a:t>
            </a:r>
          </a:p>
        </p:txBody>
      </p:sp>
      <p:sp>
        <p:nvSpPr>
          <p:cNvPr id="6" name="CuadroTexto 5">
            <a:extLst>
              <a:ext uri="{FF2B5EF4-FFF2-40B4-BE49-F238E27FC236}">
                <a16:creationId xmlns:a16="http://schemas.microsoft.com/office/drawing/2014/main" id="{ACA32235-1494-F4FA-39AC-FB241D5A7718}"/>
              </a:ext>
            </a:extLst>
          </p:cNvPr>
          <p:cNvSpPr txBox="1"/>
          <p:nvPr/>
        </p:nvSpPr>
        <p:spPr>
          <a:xfrm>
            <a:off x="448235" y="1656230"/>
            <a:ext cx="4930588" cy="3970318"/>
          </a:xfrm>
          <a:prstGeom prst="rect">
            <a:avLst/>
          </a:prstGeom>
          <a:noFill/>
          <a:ln>
            <a:solidFill>
              <a:schemeClr val="tx1"/>
            </a:solidFill>
            <a:prstDash val="dash"/>
          </a:ln>
        </p:spPr>
        <p:txBody>
          <a:bodyPr wrap="square">
            <a:spAutoFit/>
          </a:bodyPr>
          <a:lstStyle/>
          <a:p>
            <a:r>
              <a:rPr lang="es-ES" sz="1200" b="0" dirty="0">
                <a:solidFill>
                  <a:srgbClr val="0000FF"/>
                </a:solidFill>
                <a:effectLst/>
                <a:latin typeface="Consolas" panose="020B0609020204030204" pitchFamily="49" charset="0"/>
              </a:rPr>
              <a:t>#define MARCA </a:t>
            </a:r>
            <a:r>
              <a:rPr lang="es-ES" sz="1200" b="0" dirty="0">
                <a:solidFill>
                  <a:srgbClr val="A31515"/>
                </a:solidFill>
                <a:effectLst/>
                <a:latin typeface="Consolas" panose="020B0609020204030204" pitchFamily="49" charset="0"/>
              </a:rPr>
              <a:t>‘.'</a:t>
            </a:r>
            <a:endParaRPr lang="es-ES" sz="1200" b="0" dirty="0">
              <a:solidFill>
                <a:srgbClr val="000000"/>
              </a:solidFill>
              <a:effectLst/>
              <a:latin typeface="Consolas" panose="020B0609020204030204" pitchFamily="49" charset="0"/>
            </a:endParaRPr>
          </a:p>
          <a:p>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main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char</a:t>
            </a:r>
            <a:r>
              <a:rPr lang="es-ES" sz="1200" b="0" dirty="0">
                <a:solidFill>
                  <a:srgbClr val="000000"/>
                </a:solidFill>
                <a:effectLst/>
                <a:latin typeface="Consolas" panose="020B0609020204030204" pitchFamily="49" charset="0"/>
              </a:rPr>
              <a:t> car;</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Introdueix</a:t>
            </a:r>
            <a:r>
              <a:rPr lang="es-ES" sz="1200" b="0" dirty="0">
                <a:solidFill>
                  <a:srgbClr val="A31515"/>
                </a:solidFill>
                <a:effectLst/>
                <a:latin typeface="Consolas" panose="020B0609020204030204" pitchFamily="49" charset="0"/>
              </a:rPr>
              <a:t> el </a:t>
            </a:r>
            <a:r>
              <a:rPr lang="es-ES" sz="1200" b="0" dirty="0" err="1">
                <a:solidFill>
                  <a:srgbClr val="A31515"/>
                </a:solidFill>
                <a:effectLst/>
                <a:latin typeface="Consolas" panose="020B0609020204030204" pitchFamily="49" charset="0"/>
              </a:rPr>
              <a:t>caràcter</a:t>
            </a:r>
            <a:r>
              <a:rPr lang="es-ES" sz="1200" b="0" dirty="0">
                <a:solidFill>
                  <a:srgbClr val="A31515"/>
                </a:solidFill>
                <a:effectLst/>
                <a:latin typeface="Consolas" panose="020B0609020204030204" pitchFamily="49" charset="0"/>
              </a:rPr>
              <a:t>: "</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fflush</a:t>
            </a:r>
            <a:r>
              <a:rPr lang="es-ES" sz="1200" b="0" dirty="0">
                <a:solidFill>
                  <a:srgbClr val="000000"/>
                </a:solidFill>
                <a:effectLst/>
                <a:latin typeface="Consolas" panose="020B0609020204030204" pitchFamily="49" charset="0"/>
              </a:rPr>
              <a:t>(</a:t>
            </a:r>
            <a:r>
              <a:rPr lang="es-ES" sz="1200" b="0" dirty="0" err="1">
                <a:solidFill>
                  <a:srgbClr val="0000FF"/>
                </a:solidFill>
                <a:effectLst/>
                <a:latin typeface="Consolas" panose="020B0609020204030204" pitchFamily="49" charset="0"/>
              </a:rPr>
              <a:t>stdin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scanf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"%c"</a:t>
            </a:r>
            <a:r>
              <a:rPr lang="es-ES" sz="1200" b="0" dirty="0">
                <a:solidFill>
                  <a:srgbClr val="000000"/>
                </a:solidFill>
                <a:effectLst/>
                <a:latin typeface="Consolas" panose="020B0609020204030204" pitchFamily="49" charset="0"/>
              </a:rPr>
              <a:t>, &amp;car);</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while</a:t>
            </a:r>
            <a:r>
              <a:rPr lang="es-ES" sz="1200" b="0" dirty="0">
                <a:solidFill>
                  <a:srgbClr val="000000"/>
                </a:solidFill>
                <a:effectLst/>
                <a:latin typeface="Consolas" panose="020B0609020204030204" pitchFamily="49" charset="0"/>
              </a:rPr>
              <a:t> (car!= </a:t>
            </a:r>
            <a:r>
              <a:rPr lang="es-ES" sz="1200" b="0" dirty="0">
                <a:solidFill>
                  <a:srgbClr val="0000FF"/>
                </a:solidFill>
                <a:effectLst/>
                <a:latin typeface="Consolas" panose="020B0609020204030204" pitchFamily="49" charset="0"/>
              </a:rPr>
              <a:t>MARCA</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toupper</a:t>
            </a:r>
            <a:r>
              <a:rPr lang="es-ES" sz="1200" b="0" dirty="0">
                <a:solidFill>
                  <a:srgbClr val="000000"/>
                </a:solidFill>
                <a:effectLst/>
                <a:latin typeface="Consolas" panose="020B0609020204030204" pitchFamily="49" charset="0"/>
              </a:rPr>
              <a:t>(car) == </a:t>
            </a:r>
            <a:r>
              <a:rPr lang="es-ES" sz="1200" b="0" dirty="0">
                <a:solidFill>
                  <a:srgbClr val="A31515"/>
                </a:solidFill>
                <a:effectLst/>
                <a:latin typeface="Consolas" panose="020B0609020204030204" pitchFamily="49" charset="0"/>
              </a:rPr>
              <a:t>'A’</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Introdueix</a:t>
            </a:r>
            <a:r>
              <a:rPr lang="es-ES" sz="1200" b="0" dirty="0">
                <a:solidFill>
                  <a:srgbClr val="A31515"/>
                </a:solidFill>
                <a:effectLst/>
                <a:latin typeface="Consolas" panose="020B0609020204030204" pitchFamily="49" charset="0"/>
              </a:rPr>
              <a:t> el </a:t>
            </a:r>
            <a:r>
              <a:rPr lang="es-ES" sz="1200" b="0" dirty="0" err="1">
                <a:solidFill>
                  <a:srgbClr val="A31515"/>
                </a:solidFill>
                <a:effectLst/>
                <a:latin typeface="Consolas" panose="020B0609020204030204" pitchFamily="49" charset="0"/>
              </a:rPr>
              <a:t>caràcter</a:t>
            </a:r>
            <a:r>
              <a:rPr lang="es-ES" sz="1200" b="0" dirty="0">
                <a:solidFill>
                  <a:srgbClr val="A31515"/>
                </a:solidFill>
                <a:effectLst/>
                <a:latin typeface="Consolas" panose="020B0609020204030204" pitchFamily="49" charset="0"/>
              </a:rPr>
              <a:t>: "</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fflush</a:t>
            </a:r>
            <a:r>
              <a:rPr lang="es-ES" sz="1200" b="0" dirty="0">
                <a:solidFill>
                  <a:srgbClr val="000000"/>
                </a:solidFill>
                <a:effectLst/>
                <a:latin typeface="Consolas" panose="020B0609020204030204" pitchFamily="49" charset="0"/>
              </a:rPr>
              <a:t>(</a:t>
            </a:r>
            <a:r>
              <a:rPr lang="es-ES" sz="1200" b="0" dirty="0" err="1">
                <a:solidFill>
                  <a:srgbClr val="0000FF"/>
                </a:solidFill>
                <a:effectLst/>
                <a:latin typeface="Consolas" panose="020B0609020204030204" pitchFamily="49" charset="0"/>
              </a:rPr>
              <a:t>stdin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scanf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"%c"</a:t>
            </a:r>
            <a:r>
              <a:rPr lang="es-ES" sz="1200" b="0" dirty="0">
                <a:solidFill>
                  <a:srgbClr val="000000"/>
                </a:solidFill>
                <a:effectLst/>
                <a:latin typeface="Consolas" panose="020B0609020204030204" pitchFamily="49" charset="0"/>
              </a:rPr>
              <a:t>, &amp;car);</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S'han</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introduit</a:t>
            </a:r>
            <a:r>
              <a:rPr lang="es-ES" sz="1200" b="0" dirty="0">
                <a:solidFill>
                  <a:srgbClr val="A31515"/>
                </a:solidFill>
                <a:effectLst/>
                <a:latin typeface="Consolas" panose="020B0609020204030204" pitchFamily="49" charset="0"/>
              </a:rPr>
              <a:t> %d caracteres a "</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acabament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endParaRPr lang="es-ES" sz="1200" dirty="0"/>
          </a:p>
        </p:txBody>
      </p:sp>
    </p:spTree>
    <p:extLst>
      <p:ext uri="{BB962C8B-B14F-4D97-AF65-F5344CB8AC3E}">
        <p14:creationId xmlns:p14="http://schemas.microsoft.com/office/powerpoint/2010/main" val="9157599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a:t>Esquema Algorítmica de Cerca</a:t>
            </a:r>
          </a:p>
        </p:txBody>
      </p:sp>
      <p:sp>
        <p:nvSpPr>
          <p:cNvPr id="3" name="Content Placeholder 2"/>
          <p:cNvSpPr>
            <a:spLocks noGrp="1"/>
          </p:cNvSpPr>
          <p:nvPr>
            <p:ph idx="1"/>
          </p:nvPr>
        </p:nvSpPr>
        <p:spPr/>
        <p:txBody>
          <a:bodyPr>
            <a:normAutofit/>
          </a:bodyPr>
          <a:lstStyle/>
          <a:p>
            <a:pPr>
              <a:lnSpc>
                <a:spcPct val="120000"/>
              </a:lnSpc>
            </a:pPr>
            <a:r>
              <a:rPr lang="ca-ES" dirty="0"/>
              <a:t>Aquest esquema s'aplica quan, per obtenir el resultat, només volem </a:t>
            </a:r>
            <a:r>
              <a:rPr lang="ca-ES" dirty="0">
                <a:highlight>
                  <a:srgbClr val="FFFF00"/>
                </a:highlight>
              </a:rPr>
              <a:t>obtenir</a:t>
            </a:r>
            <a:r>
              <a:rPr lang="ca-ES" dirty="0"/>
              <a:t> el primer element d’una seqüència que verifica una determinada propietat.</a:t>
            </a:r>
          </a:p>
          <a:p>
            <a:pPr>
              <a:lnSpc>
                <a:spcPct val="120000"/>
              </a:lnSpc>
            </a:pPr>
            <a:r>
              <a:rPr lang="ca-ES" dirty="0">
                <a:highlight>
                  <a:srgbClr val="FFFF00"/>
                </a:highlight>
              </a:rPr>
              <a:t>Per tant, si el trobem aviat, no cal que continuem tractant la resta de la seqüència</a:t>
            </a:r>
            <a:r>
              <a:rPr lang="ca-ES" dirty="0"/>
              <a:t>. </a:t>
            </a:r>
          </a:p>
          <a:p>
            <a:pPr>
              <a:lnSpc>
                <a:spcPct val="120000"/>
              </a:lnSpc>
            </a:pPr>
            <a:r>
              <a:rPr lang="ca-ES" dirty="0"/>
              <a:t>Exemple: </a:t>
            </a:r>
          </a:p>
          <a:p>
            <a:pPr marL="457200" lvl="1" indent="0">
              <a:lnSpc>
                <a:spcPct val="120000"/>
              </a:lnSpc>
              <a:buNone/>
            </a:pPr>
            <a:r>
              <a:rPr lang="ca-ES" dirty="0"/>
              <a:t>Trobar el primer nom capicua d'una llista. Com a màxim tindrem 5 noms</a:t>
            </a:r>
          </a:p>
          <a:p>
            <a:pPr lvl="2">
              <a:lnSpc>
                <a:spcPct val="120000"/>
              </a:lnSpc>
            </a:pPr>
            <a:r>
              <a:rPr lang="ca-ES" dirty="0"/>
              <a:t>Lluïsa, Pep, Maria, Anna, Pere</a:t>
            </a:r>
          </a:p>
          <a:p>
            <a:pPr lvl="2">
              <a:lnSpc>
                <a:spcPct val="120000"/>
              </a:lnSpc>
            </a:pPr>
            <a:r>
              <a:rPr lang="ca-ES" dirty="0"/>
              <a:t>Lluïsa, Mariona, Joan, Bernat</a:t>
            </a:r>
          </a:p>
          <a:p>
            <a:pPr marL="457200" lvl="1" indent="0">
              <a:lnSpc>
                <a:spcPct val="120000"/>
              </a:lnSpc>
              <a:buNone/>
            </a:pPr>
            <a:r>
              <a:rPr lang="ca-ES" dirty="0"/>
              <a:t>Trobar la primera persona que sigui home. Com a màxim demanarem 5 noms</a:t>
            </a:r>
          </a:p>
          <a:p>
            <a:pPr lvl="2">
              <a:lnSpc>
                <a:spcPct val="120000"/>
              </a:lnSpc>
            </a:pPr>
            <a:r>
              <a:rPr lang="ca-ES" dirty="0"/>
              <a:t>Lluïsa, Pep, Maria, Anna, Pere</a:t>
            </a:r>
          </a:p>
          <a:p>
            <a:pPr lvl="2">
              <a:lnSpc>
                <a:spcPct val="120000"/>
              </a:lnSpc>
            </a:pPr>
            <a:r>
              <a:rPr lang="ca-ES" dirty="0"/>
              <a:t>Lluïsa, Maria, Ona, Jesica, Paula</a:t>
            </a:r>
          </a:p>
          <a:p>
            <a:pPr marL="457200" lvl="1" indent="0">
              <a:lnSpc>
                <a:spcPct val="120000"/>
              </a:lnSpc>
              <a:buNone/>
            </a:pPr>
            <a:r>
              <a:rPr lang="ca-ES" dirty="0"/>
              <a:t>Trobar dos números consecutius iguals. Com a màxim demanarem 5 números</a:t>
            </a:r>
          </a:p>
          <a:p>
            <a:pPr lvl="2">
              <a:lnSpc>
                <a:spcPct val="120000"/>
              </a:lnSpc>
            </a:pPr>
            <a:r>
              <a:rPr lang="ca-ES" dirty="0"/>
              <a:t>10, 20, 10, 15, 15</a:t>
            </a:r>
          </a:p>
          <a:p>
            <a:pPr lvl="2">
              <a:lnSpc>
                <a:spcPct val="120000"/>
              </a:lnSpc>
            </a:pPr>
            <a:r>
              <a:rPr lang="ca-ES" dirty="0"/>
              <a:t>10, 11, 13, 15, 16</a:t>
            </a:r>
          </a:p>
          <a:p>
            <a:pPr marL="457200" lvl="1" indent="0">
              <a:buNone/>
            </a:pPr>
            <a:endParaRPr lang="es-ES" dirty="0"/>
          </a:p>
        </p:txBody>
      </p:sp>
    </p:spTree>
    <p:extLst>
      <p:ext uri="{BB962C8B-B14F-4D97-AF65-F5344CB8AC3E}">
        <p14:creationId xmlns:p14="http://schemas.microsoft.com/office/powerpoint/2010/main" val="32994263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a:t>Esquema </a:t>
            </a:r>
            <a:r>
              <a:rPr lang="es-ES" dirty="0" err="1"/>
              <a:t>Algorísmic</a:t>
            </a:r>
            <a:r>
              <a:rPr lang="es-ES" dirty="0"/>
              <a:t> de Cerca</a:t>
            </a:r>
          </a:p>
        </p:txBody>
      </p:sp>
      <p:sp>
        <p:nvSpPr>
          <p:cNvPr id="3" name="Content Placeholder 2"/>
          <p:cNvSpPr>
            <a:spLocks noGrp="1"/>
          </p:cNvSpPr>
          <p:nvPr>
            <p:ph idx="1"/>
          </p:nvPr>
        </p:nvSpPr>
        <p:spPr>
          <a:xfrm>
            <a:off x="521731" y="787400"/>
            <a:ext cx="7581595" cy="4137001"/>
          </a:xfrm>
          <a:ln>
            <a:solidFill>
              <a:schemeClr val="tx1"/>
            </a:solidFill>
            <a:prstDash val="lgDash"/>
          </a:ln>
        </p:spPr>
        <p:txBody>
          <a:bodyPr>
            <a:normAutofit fontScale="92500" lnSpcReduction="20000"/>
          </a:bodyPr>
          <a:lstStyle/>
          <a:p>
            <a:pPr marL="0" lvl="2" indent="0">
              <a:buNone/>
            </a:pPr>
            <a:endParaRPr lang="es-ES" sz="1800" dirty="0">
              <a:latin typeface="Century Gothic" panose="020B0502020202020204" pitchFamily="34" charset="0"/>
            </a:endParaRPr>
          </a:p>
          <a:p>
            <a:pPr marL="0" lvl="2" indent="0">
              <a:buNone/>
            </a:pPr>
            <a:r>
              <a:rPr lang="es-ES" sz="1800" dirty="0" err="1">
                <a:latin typeface="Century Gothic" panose="020B0502020202020204" pitchFamily="34" charset="0"/>
              </a:rPr>
              <a:t>Obtenir</a:t>
            </a:r>
            <a:r>
              <a:rPr lang="es-ES" sz="1800" dirty="0">
                <a:latin typeface="Century Gothic" panose="020B0502020202020204" pitchFamily="34" charset="0"/>
              </a:rPr>
              <a:t> primer </a:t>
            </a:r>
            <a:r>
              <a:rPr lang="es-ES" sz="1800" dirty="0" err="1">
                <a:latin typeface="Century Gothic" panose="020B0502020202020204" pitchFamily="34" charset="0"/>
              </a:rPr>
              <a:t>element</a:t>
            </a:r>
            <a:endParaRPr lang="es-ES" sz="1800" dirty="0">
              <a:latin typeface="Century Gothic" panose="020B0502020202020204" pitchFamily="34" charset="0"/>
            </a:endParaRPr>
          </a:p>
          <a:p>
            <a:pPr marL="0" lvl="2" indent="0">
              <a:buNone/>
            </a:pPr>
            <a:endParaRPr lang="es-ES" sz="1800" dirty="0">
              <a:latin typeface="Century Gothic" panose="020B0502020202020204" pitchFamily="34" charset="0"/>
            </a:endParaRPr>
          </a:p>
          <a:p>
            <a:pPr marL="0" lvl="2" indent="0">
              <a:buNone/>
            </a:pPr>
            <a:r>
              <a:rPr lang="es-ES" sz="1800" b="1" u="sng" dirty="0">
                <a:latin typeface="Century Gothic" panose="020B0502020202020204" pitchFamily="34" charset="0"/>
              </a:rPr>
              <a:t>MENTRE</a:t>
            </a:r>
            <a:r>
              <a:rPr lang="es-ES" sz="1800" b="1" dirty="0">
                <a:latin typeface="Century Gothic" panose="020B0502020202020204" pitchFamily="34" charset="0"/>
              </a:rPr>
              <a:t> (</a:t>
            </a:r>
            <a:r>
              <a:rPr lang="es-ES" sz="1800" b="1" u="sng" dirty="0">
                <a:latin typeface="Century Gothic" panose="020B0502020202020204" pitchFamily="34" charset="0"/>
              </a:rPr>
              <a:t>NO</a:t>
            </a:r>
            <a:r>
              <a:rPr lang="es-ES" sz="1800" b="1" dirty="0">
                <a:latin typeface="Century Gothic" panose="020B0502020202020204" pitchFamily="34" charset="0"/>
              </a:rPr>
              <a:t> final </a:t>
            </a:r>
            <a:r>
              <a:rPr lang="es-ES" sz="1800" b="1" u="sng" dirty="0">
                <a:solidFill>
                  <a:srgbClr val="FF0000"/>
                </a:solidFill>
                <a:latin typeface="Century Gothic" panose="020B0502020202020204" pitchFamily="34" charset="0"/>
              </a:rPr>
              <a:t>I</a:t>
            </a:r>
            <a:r>
              <a:rPr lang="es-ES" sz="1800" b="1" dirty="0">
                <a:latin typeface="Century Gothic" panose="020B0502020202020204" pitchFamily="34" charset="0"/>
              </a:rPr>
              <a:t> </a:t>
            </a:r>
            <a:r>
              <a:rPr lang="es-ES" sz="1800" b="1" u="sng" dirty="0">
                <a:latin typeface="Century Gothic" panose="020B0502020202020204" pitchFamily="34" charset="0"/>
              </a:rPr>
              <a:t>NO</a:t>
            </a:r>
            <a:r>
              <a:rPr lang="es-ES" sz="1800" b="1" dirty="0">
                <a:latin typeface="Century Gothic" panose="020B0502020202020204" pitchFamily="34" charset="0"/>
              </a:rPr>
              <a:t> </a:t>
            </a:r>
            <a:r>
              <a:rPr lang="es-ES" sz="1800" b="1" dirty="0" err="1">
                <a:latin typeface="Century Gothic" panose="020B0502020202020204" pitchFamily="34" charset="0"/>
              </a:rPr>
              <a:t>trobat</a:t>
            </a:r>
            <a:r>
              <a:rPr lang="es-ES" sz="1800" b="1" dirty="0">
                <a:latin typeface="Century Gothic" panose="020B0502020202020204" pitchFamily="34" charset="0"/>
              </a:rPr>
              <a:t>) </a:t>
            </a:r>
            <a:r>
              <a:rPr lang="es-ES" sz="1800" b="1" u="sng" dirty="0">
                <a:latin typeface="Century Gothic" panose="020B0502020202020204" pitchFamily="34" charset="0"/>
              </a:rPr>
              <a:t>FER</a:t>
            </a:r>
          </a:p>
          <a:p>
            <a:pPr marL="0" lvl="2" indent="0">
              <a:buNone/>
            </a:pPr>
            <a:r>
              <a:rPr lang="es-ES" sz="1800" u="sng" dirty="0">
                <a:latin typeface="Century Gothic" panose="020B0502020202020204" pitchFamily="34" charset="0"/>
              </a:rPr>
              <a:t>MENTRE</a:t>
            </a:r>
            <a:r>
              <a:rPr lang="es-ES" sz="1800" dirty="0">
                <a:latin typeface="Century Gothic" panose="020B0502020202020204" pitchFamily="34" charset="0"/>
              </a:rPr>
              <a:t> (</a:t>
            </a:r>
            <a:r>
              <a:rPr lang="es-ES" sz="1800" u="sng" dirty="0">
                <a:latin typeface="Century Gothic" panose="020B0502020202020204" pitchFamily="34" charset="0"/>
              </a:rPr>
              <a:t>NO</a:t>
            </a:r>
            <a:r>
              <a:rPr lang="es-ES" sz="1800" dirty="0">
                <a:latin typeface="Century Gothic" panose="020B0502020202020204" pitchFamily="34" charset="0"/>
              </a:rPr>
              <a:t> </a:t>
            </a:r>
            <a:r>
              <a:rPr lang="es-ES" sz="1800" dirty="0" err="1">
                <a:latin typeface="Century Gothic" panose="020B0502020202020204" pitchFamily="34" charset="0"/>
              </a:rPr>
              <a:t>arribem</a:t>
            </a:r>
            <a:r>
              <a:rPr lang="es-ES" sz="1800" dirty="0">
                <a:latin typeface="Century Gothic" panose="020B0502020202020204" pitchFamily="34" charset="0"/>
              </a:rPr>
              <a:t> al final </a:t>
            </a:r>
            <a:r>
              <a:rPr lang="es-ES" sz="1800" u="sng" dirty="0">
                <a:solidFill>
                  <a:srgbClr val="FF0000"/>
                </a:solidFill>
                <a:latin typeface="Century Gothic" panose="020B0502020202020204" pitchFamily="34" charset="0"/>
              </a:rPr>
              <a:t>I</a:t>
            </a:r>
            <a:r>
              <a:rPr lang="es-ES" sz="1800" dirty="0">
                <a:latin typeface="Century Gothic" panose="020B0502020202020204" pitchFamily="34" charset="0"/>
              </a:rPr>
              <a:t> </a:t>
            </a:r>
            <a:r>
              <a:rPr lang="es-ES" sz="1800" u="sng" dirty="0">
                <a:latin typeface="Century Gothic" panose="020B0502020202020204" pitchFamily="34" charset="0"/>
              </a:rPr>
              <a:t>NO</a:t>
            </a:r>
            <a:r>
              <a:rPr lang="es-ES" sz="1800" dirty="0">
                <a:latin typeface="Century Gothic" panose="020B0502020202020204" pitchFamily="34" charset="0"/>
              </a:rPr>
              <a:t> </a:t>
            </a:r>
            <a:r>
              <a:rPr lang="es-ES" sz="1800" dirty="0" err="1">
                <a:latin typeface="Century Gothic" panose="020B0502020202020204" pitchFamily="34" charset="0"/>
              </a:rPr>
              <a:t>trobem</a:t>
            </a:r>
            <a:r>
              <a:rPr lang="es-ES" sz="1800" dirty="0">
                <a:latin typeface="Century Gothic" panose="020B0502020202020204" pitchFamily="34" charset="0"/>
              </a:rPr>
              <a:t> el </a:t>
            </a:r>
            <a:r>
              <a:rPr lang="es-ES" sz="1800" dirty="0" err="1">
                <a:latin typeface="Century Gothic" panose="020B0502020202020204" pitchFamily="34" charset="0"/>
              </a:rPr>
              <a:t>què</a:t>
            </a:r>
            <a:r>
              <a:rPr lang="es-ES" sz="1800" dirty="0">
                <a:latin typeface="Century Gothic" panose="020B0502020202020204" pitchFamily="34" charset="0"/>
              </a:rPr>
              <a:t> </a:t>
            </a:r>
            <a:r>
              <a:rPr lang="es-ES" sz="1800" dirty="0" err="1">
                <a:latin typeface="Century Gothic" panose="020B0502020202020204" pitchFamily="34" charset="0"/>
              </a:rPr>
              <a:t>busquem</a:t>
            </a:r>
            <a:r>
              <a:rPr lang="es-ES" sz="1800" dirty="0">
                <a:latin typeface="Century Gothic" panose="020B0502020202020204" pitchFamily="34" charset="0"/>
              </a:rPr>
              <a:t>) </a:t>
            </a:r>
            <a:r>
              <a:rPr lang="es-ES" sz="1800" u="sng" dirty="0">
                <a:latin typeface="Century Gothic" panose="020B0502020202020204" pitchFamily="34" charset="0"/>
              </a:rPr>
              <a:t>FER</a:t>
            </a:r>
          </a:p>
          <a:p>
            <a:pPr marL="0" lvl="2" indent="0">
              <a:buNone/>
            </a:pPr>
            <a:r>
              <a:rPr lang="es-ES" sz="1800" u="sng" dirty="0">
                <a:latin typeface="Century Gothic" panose="020B0502020202020204" pitchFamily="34" charset="0"/>
              </a:rPr>
              <a:t>MENTRE</a:t>
            </a:r>
            <a:r>
              <a:rPr lang="es-ES" sz="1800" dirty="0">
                <a:latin typeface="Century Gothic" panose="020B0502020202020204" pitchFamily="34" charset="0"/>
              </a:rPr>
              <a:t> (TINGUEM ELEMENTS </a:t>
            </a:r>
            <a:r>
              <a:rPr lang="es-ES" sz="1800" u="sng" dirty="0">
                <a:solidFill>
                  <a:srgbClr val="FF0000"/>
                </a:solidFill>
                <a:latin typeface="Century Gothic" panose="020B0502020202020204" pitchFamily="34" charset="0"/>
              </a:rPr>
              <a:t>I</a:t>
            </a:r>
            <a:r>
              <a:rPr lang="es-ES" sz="1800" dirty="0">
                <a:latin typeface="Century Gothic" panose="020B0502020202020204" pitchFamily="34" charset="0"/>
              </a:rPr>
              <a:t> </a:t>
            </a:r>
            <a:r>
              <a:rPr lang="es-ES" sz="1800" u="sng" dirty="0">
                <a:latin typeface="Century Gothic" panose="020B0502020202020204" pitchFamily="34" charset="0"/>
              </a:rPr>
              <a:t>NO</a:t>
            </a:r>
            <a:r>
              <a:rPr lang="es-ES" sz="1800" dirty="0">
                <a:latin typeface="Century Gothic" panose="020B0502020202020204" pitchFamily="34" charset="0"/>
              </a:rPr>
              <a:t> HO TROBEM) </a:t>
            </a:r>
            <a:r>
              <a:rPr lang="es-ES" sz="1800" u="sng" dirty="0">
                <a:latin typeface="Century Gothic" panose="020B0502020202020204" pitchFamily="34" charset="0"/>
              </a:rPr>
              <a:t>FER</a:t>
            </a:r>
          </a:p>
          <a:p>
            <a:pPr marL="0" lvl="2" indent="0">
              <a:buNone/>
            </a:pPr>
            <a:r>
              <a:rPr lang="es-ES" sz="1800" dirty="0">
                <a:latin typeface="Century Gothic" panose="020B0502020202020204" pitchFamily="34" charset="0"/>
              </a:rPr>
              <a:t>	</a:t>
            </a:r>
            <a:r>
              <a:rPr lang="es-ES" sz="1800" dirty="0" err="1">
                <a:latin typeface="Century Gothic" panose="020B0502020202020204" pitchFamily="34" charset="0"/>
              </a:rPr>
              <a:t>Tractament</a:t>
            </a:r>
            <a:r>
              <a:rPr lang="es-ES" sz="1800" dirty="0">
                <a:latin typeface="Century Gothic" panose="020B0502020202020204" pitchFamily="34" charset="0"/>
              </a:rPr>
              <a:t> </a:t>
            </a:r>
            <a:r>
              <a:rPr lang="es-ES" sz="1800" dirty="0" err="1">
                <a:latin typeface="Century Gothic" panose="020B0502020202020204" pitchFamily="34" charset="0"/>
              </a:rPr>
              <a:t>element</a:t>
            </a:r>
            <a:endParaRPr lang="es-ES" sz="1800" dirty="0">
              <a:latin typeface="Century Gothic" panose="020B0502020202020204" pitchFamily="34" charset="0"/>
            </a:endParaRPr>
          </a:p>
          <a:p>
            <a:pPr marL="0" lvl="3" indent="0">
              <a:buNone/>
            </a:pPr>
            <a:r>
              <a:rPr lang="es-ES" sz="1800" dirty="0">
                <a:latin typeface="Century Gothic" panose="020B0502020202020204" pitchFamily="34" charset="0"/>
              </a:rPr>
              <a:t>	</a:t>
            </a:r>
            <a:r>
              <a:rPr lang="es-ES" sz="1800" dirty="0" err="1">
                <a:latin typeface="Century Gothic" panose="020B0502020202020204" pitchFamily="34" charset="0"/>
              </a:rPr>
              <a:t>Obtenir</a:t>
            </a:r>
            <a:r>
              <a:rPr lang="es-ES" sz="1800" dirty="0">
                <a:latin typeface="Century Gothic" panose="020B0502020202020204" pitchFamily="34" charset="0"/>
              </a:rPr>
              <a:t> </a:t>
            </a:r>
            <a:r>
              <a:rPr lang="es-ES" sz="1800" dirty="0" err="1">
                <a:latin typeface="Century Gothic" panose="020B0502020202020204" pitchFamily="34" charset="0"/>
              </a:rPr>
              <a:t>següent</a:t>
            </a:r>
            <a:r>
              <a:rPr lang="es-ES" sz="1800" dirty="0">
                <a:latin typeface="Century Gothic" panose="020B0502020202020204" pitchFamily="34" charset="0"/>
              </a:rPr>
              <a:t> </a:t>
            </a:r>
            <a:r>
              <a:rPr lang="es-ES" sz="1800" dirty="0" err="1">
                <a:latin typeface="Century Gothic" panose="020B0502020202020204" pitchFamily="34" charset="0"/>
              </a:rPr>
              <a:t>element</a:t>
            </a:r>
            <a:endParaRPr lang="es-ES" sz="1800" dirty="0">
              <a:latin typeface="Century Gothic" panose="020B0502020202020204" pitchFamily="34" charset="0"/>
            </a:endParaRPr>
          </a:p>
          <a:p>
            <a:pPr marL="0" lvl="2" indent="0">
              <a:buNone/>
            </a:pPr>
            <a:r>
              <a:rPr lang="es-ES" sz="1800" u="sng" dirty="0">
                <a:latin typeface="Century Gothic" panose="020B0502020202020204" pitchFamily="34" charset="0"/>
              </a:rPr>
              <a:t>FIMENTRE</a:t>
            </a:r>
          </a:p>
          <a:p>
            <a:pPr marL="0" lvl="2" indent="0">
              <a:buNone/>
            </a:pPr>
            <a:endParaRPr lang="es-ES" sz="1800" u="sng" dirty="0">
              <a:latin typeface="Century Gothic" panose="020B0502020202020204" pitchFamily="34" charset="0"/>
            </a:endParaRPr>
          </a:p>
          <a:p>
            <a:pPr marL="0" lvl="2" indent="0">
              <a:buNone/>
            </a:pPr>
            <a:r>
              <a:rPr lang="es-ES" sz="1800" u="sng" dirty="0">
                <a:latin typeface="Century Gothic" panose="020B0502020202020204" pitchFamily="34" charset="0"/>
              </a:rPr>
              <a:t>SI</a:t>
            </a:r>
            <a:r>
              <a:rPr lang="es-ES" sz="1800" dirty="0">
                <a:latin typeface="Century Gothic" panose="020B0502020202020204" pitchFamily="34" charset="0"/>
              </a:rPr>
              <a:t> </a:t>
            </a:r>
            <a:r>
              <a:rPr lang="es-ES" sz="1800" dirty="0" err="1">
                <a:latin typeface="Century Gothic" panose="020B0502020202020204" pitchFamily="34" charset="0"/>
              </a:rPr>
              <a:t>trobat</a:t>
            </a:r>
            <a:r>
              <a:rPr lang="es-ES" sz="1800" dirty="0">
                <a:latin typeface="Century Gothic" panose="020B0502020202020204" pitchFamily="34" charset="0"/>
              </a:rPr>
              <a:t> </a:t>
            </a:r>
            <a:r>
              <a:rPr lang="es-ES" sz="1800" u="sng" dirty="0">
                <a:latin typeface="Century Gothic" panose="020B0502020202020204" pitchFamily="34" charset="0"/>
              </a:rPr>
              <a:t>LLAVORS</a:t>
            </a:r>
          </a:p>
          <a:p>
            <a:pPr marL="0" lvl="2" indent="0">
              <a:buNone/>
            </a:pPr>
            <a:r>
              <a:rPr lang="es-ES" sz="1800" dirty="0">
                <a:latin typeface="Century Gothic" panose="020B0502020202020204" pitchFamily="34" charset="0"/>
              </a:rPr>
              <a:t>	</a:t>
            </a:r>
            <a:r>
              <a:rPr lang="es-ES" sz="1800" dirty="0" err="1">
                <a:latin typeface="Century Gothic" panose="020B0502020202020204" pitchFamily="34" charset="0"/>
              </a:rPr>
              <a:t>tractament</a:t>
            </a:r>
            <a:r>
              <a:rPr lang="es-ES" sz="1800" dirty="0">
                <a:latin typeface="Century Gothic" panose="020B0502020202020204" pitchFamily="34" charset="0"/>
              </a:rPr>
              <a:t> </a:t>
            </a:r>
            <a:r>
              <a:rPr lang="es-ES" sz="1800" dirty="0" err="1">
                <a:latin typeface="Century Gothic" panose="020B0502020202020204" pitchFamily="34" charset="0"/>
              </a:rPr>
              <a:t>trobat</a:t>
            </a:r>
            <a:endParaRPr lang="es-ES" sz="1800" dirty="0">
              <a:latin typeface="Century Gothic" panose="020B0502020202020204" pitchFamily="34" charset="0"/>
            </a:endParaRPr>
          </a:p>
          <a:p>
            <a:pPr marL="0" lvl="2" indent="0">
              <a:buNone/>
            </a:pPr>
            <a:r>
              <a:rPr lang="es-ES" sz="1800" dirty="0">
                <a:latin typeface="Century Gothic" panose="020B0502020202020204" pitchFamily="34" charset="0"/>
              </a:rPr>
              <a:t>SINO</a:t>
            </a:r>
          </a:p>
          <a:p>
            <a:pPr marL="0" lvl="2" indent="0">
              <a:buNone/>
            </a:pPr>
            <a:r>
              <a:rPr lang="es-ES" sz="1800" dirty="0">
                <a:latin typeface="Century Gothic" panose="020B0502020202020204" pitchFamily="34" charset="0"/>
              </a:rPr>
              <a:t>	</a:t>
            </a:r>
            <a:r>
              <a:rPr lang="es-ES" sz="1800" dirty="0" err="1">
                <a:latin typeface="Century Gothic" panose="020B0502020202020204" pitchFamily="34" charset="0"/>
              </a:rPr>
              <a:t>tractament</a:t>
            </a:r>
            <a:r>
              <a:rPr lang="es-ES" sz="1800" dirty="0">
                <a:latin typeface="Century Gothic" panose="020B0502020202020204" pitchFamily="34" charset="0"/>
              </a:rPr>
              <a:t> no </a:t>
            </a:r>
            <a:r>
              <a:rPr lang="es-ES" sz="1800" dirty="0" err="1">
                <a:latin typeface="Century Gothic" panose="020B0502020202020204" pitchFamily="34" charset="0"/>
              </a:rPr>
              <a:t>trobat</a:t>
            </a:r>
            <a:endParaRPr lang="es-ES" sz="1800" dirty="0">
              <a:latin typeface="Century Gothic" panose="020B0502020202020204" pitchFamily="34" charset="0"/>
            </a:endParaRPr>
          </a:p>
          <a:p>
            <a:pPr marL="0" lvl="2" indent="0">
              <a:buNone/>
            </a:pPr>
            <a:r>
              <a:rPr lang="es-ES" sz="1800" dirty="0">
                <a:latin typeface="Century Gothic" panose="020B0502020202020204" pitchFamily="34" charset="0"/>
              </a:rPr>
              <a:t>FISI</a:t>
            </a:r>
          </a:p>
        </p:txBody>
      </p:sp>
    </p:spTree>
    <p:extLst>
      <p:ext uri="{BB962C8B-B14F-4D97-AF65-F5344CB8AC3E}">
        <p14:creationId xmlns:p14="http://schemas.microsoft.com/office/powerpoint/2010/main" val="7622909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err="1"/>
              <a:t>Exemple</a:t>
            </a:r>
            <a:r>
              <a:rPr lang="es-ES" dirty="0"/>
              <a:t>: </a:t>
            </a:r>
            <a:r>
              <a:rPr lang="es-ES" dirty="0" err="1"/>
              <a:t>Troba</a:t>
            </a:r>
            <a:r>
              <a:rPr lang="es-ES" dirty="0"/>
              <a:t> 2’a’</a:t>
            </a:r>
          </a:p>
        </p:txBody>
      </p:sp>
      <p:sp>
        <p:nvSpPr>
          <p:cNvPr id="4" name="1"/>
          <p:cNvSpPr>
            <a:spLocks noGrp="1"/>
          </p:cNvSpPr>
          <p:nvPr>
            <p:ph idx="1"/>
          </p:nvPr>
        </p:nvSpPr>
        <p:spPr>
          <a:xfrm>
            <a:off x="369331" y="696255"/>
            <a:ext cx="8534401" cy="1245755"/>
          </a:xfrm>
        </p:spPr>
        <p:txBody>
          <a:bodyPr>
            <a:normAutofit/>
          </a:bodyPr>
          <a:lstStyle/>
          <a:p>
            <a:pPr marL="0" lvl="1" indent="0">
              <a:lnSpc>
                <a:spcPct val="120000"/>
              </a:lnSpc>
              <a:buNone/>
            </a:pPr>
            <a:r>
              <a:rPr lang="ca-ES" dirty="0"/>
              <a:t>Demanar caràcters i trobar dos vocals ‘a’. Finalitzarem d’introduir caràcters quan l’usuari ens introdueixi un ‘.’ o bé quan tinguem les dues ‘</a:t>
            </a:r>
            <a:r>
              <a:rPr lang="ca-ES" dirty="0" err="1"/>
              <a:t>a’s</a:t>
            </a:r>
            <a:r>
              <a:rPr lang="ca-ES" dirty="0"/>
              <a:t>. No cal que siguin consecutives</a:t>
            </a:r>
          </a:p>
        </p:txBody>
      </p:sp>
      <p:sp>
        <p:nvSpPr>
          <p:cNvPr id="6" name="CuadroTexto 5">
            <a:extLst>
              <a:ext uri="{FF2B5EF4-FFF2-40B4-BE49-F238E27FC236}">
                <a16:creationId xmlns:a16="http://schemas.microsoft.com/office/drawing/2014/main" id="{F35206CF-C691-BE09-C99C-05B47FC588C2}"/>
              </a:ext>
            </a:extLst>
          </p:cNvPr>
          <p:cNvSpPr txBox="1"/>
          <p:nvPr/>
        </p:nvSpPr>
        <p:spPr>
          <a:xfrm>
            <a:off x="484094" y="1319132"/>
            <a:ext cx="5620871" cy="5262979"/>
          </a:xfrm>
          <a:prstGeom prst="rect">
            <a:avLst/>
          </a:prstGeom>
          <a:noFill/>
          <a:ln>
            <a:solidFill>
              <a:schemeClr val="tx1"/>
            </a:solidFill>
            <a:prstDash val="dash"/>
          </a:ln>
        </p:spPr>
        <p:txBody>
          <a:bodyPr wrap="square">
            <a:spAutoFit/>
          </a:bodyPr>
          <a:lstStyle/>
          <a:p>
            <a:r>
              <a:rPr lang="es-ES" sz="1200" b="0" dirty="0">
                <a:solidFill>
                  <a:srgbClr val="0000FF"/>
                </a:solidFill>
                <a:effectLst/>
                <a:latin typeface="Consolas" panose="020B0609020204030204" pitchFamily="49" charset="0"/>
              </a:rPr>
              <a:t>#define MARCA </a:t>
            </a:r>
            <a:r>
              <a:rPr lang="es-ES" sz="1200" b="0" dirty="0">
                <a:solidFill>
                  <a:srgbClr val="A31515"/>
                </a:solidFill>
                <a:effectLst/>
                <a:latin typeface="Consolas" panose="020B0609020204030204" pitchFamily="49" charset="0"/>
              </a:rPr>
              <a:t>'.'</a:t>
            </a:r>
            <a:endParaRPr lang="es-ES" sz="1200" b="0" dirty="0">
              <a:solidFill>
                <a:srgbClr val="000000"/>
              </a:solidFill>
              <a:effectLst/>
              <a:latin typeface="Consolas" panose="020B0609020204030204" pitchFamily="49" charset="0"/>
            </a:endParaRPr>
          </a:p>
          <a:p>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main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char</a:t>
            </a:r>
            <a:r>
              <a:rPr lang="es-ES" sz="1200" b="0" dirty="0">
                <a:solidFill>
                  <a:srgbClr val="000000"/>
                </a:solidFill>
                <a:effectLst/>
                <a:latin typeface="Consolas" panose="020B0609020204030204" pitchFamily="49" charset="0"/>
              </a:rPr>
              <a:t> car;</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Introdueix</a:t>
            </a:r>
            <a:r>
              <a:rPr lang="es-ES" sz="1200" b="0" dirty="0">
                <a:solidFill>
                  <a:srgbClr val="A31515"/>
                </a:solidFill>
                <a:effectLst/>
                <a:latin typeface="Consolas" panose="020B0609020204030204" pitchFamily="49" charset="0"/>
              </a:rPr>
              <a:t> un </a:t>
            </a:r>
            <a:r>
              <a:rPr lang="es-ES" sz="1200" b="0" dirty="0" err="1">
                <a:solidFill>
                  <a:srgbClr val="A31515"/>
                </a:solidFill>
                <a:effectLst/>
                <a:latin typeface="Consolas" panose="020B0609020204030204" pitchFamily="49" charset="0"/>
              </a:rPr>
              <a:t>caracter</a:t>
            </a:r>
            <a:r>
              <a:rPr lang="es-ES" sz="1200" b="0" dirty="0">
                <a:solidFill>
                  <a:srgbClr val="A31515"/>
                </a:solidFill>
                <a:effectLst/>
                <a:latin typeface="Consolas" panose="020B0609020204030204" pitchFamily="49" charset="0"/>
              </a:rPr>
              <a:t>: "</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fflush</a:t>
            </a:r>
            <a:r>
              <a:rPr lang="es-ES" sz="1200" b="0" dirty="0">
                <a:solidFill>
                  <a:srgbClr val="000000"/>
                </a:solidFill>
                <a:effectLst/>
                <a:latin typeface="Consolas" panose="020B0609020204030204" pitchFamily="49" charset="0"/>
              </a:rPr>
              <a:t>(</a:t>
            </a:r>
            <a:r>
              <a:rPr lang="es-ES" sz="1200" b="0" dirty="0" err="1">
                <a:solidFill>
                  <a:srgbClr val="0000FF"/>
                </a:solidFill>
                <a:effectLst/>
                <a:latin typeface="Consolas" panose="020B0609020204030204" pitchFamily="49" charset="0"/>
              </a:rPr>
              <a:t>stdin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scanf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"%c"</a:t>
            </a:r>
            <a:r>
              <a:rPr lang="es-ES" sz="1200" b="0" dirty="0">
                <a:solidFill>
                  <a:srgbClr val="000000"/>
                </a:solidFill>
                <a:effectLst/>
                <a:latin typeface="Consolas" panose="020B0609020204030204" pitchFamily="49" charset="0"/>
              </a:rPr>
              <a:t>, &amp;car);</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while</a:t>
            </a:r>
            <a:r>
              <a:rPr lang="es-ES" sz="1200" b="0" dirty="0">
                <a:solidFill>
                  <a:srgbClr val="000000"/>
                </a:solidFill>
                <a:effectLst/>
                <a:latin typeface="Consolas" panose="020B0609020204030204" pitchFamily="49" charset="0"/>
              </a:rPr>
              <a:t> (car != </a:t>
            </a:r>
            <a:r>
              <a:rPr lang="es-ES" sz="1200" b="0" dirty="0">
                <a:solidFill>
                  <a:srgbClr val="0000FF"/>
                </a:solidFill>
                <a:effectLst/>
                <a:latin typeface="Consolas" panose="020B0609020204030204" pitchFamily="49" charset="0"/>
              </a:rPr>
              <a:t>MARCA</a:t>
            </a:r>
            <a:r>
              <a:rPr lang="es-ES" sz="1200" b="0" dirty="0">
                <a:solidFill>
                  <a:srgbClr val="000000"/>
                </a:solidFill>
                <a:effectLst/>
                <a:latin typeface="Consolas" panose="020B0609020204030204" pitchFamily="49" charset="0"/>
              </a:rPr>
              <a:t> &amp;&amp; </a:t>
            </a:r>
            <a:r>
              <a:rPr lang="es-ES" sz="1200" b="0" dirty="0" err="1">
                <a:solidFill>
                  <a:srgbClr val="000000"/>
                </a:solidFill>
                <a:effectLst/>
                <a:latin typeface="Consolas" panose="020B0609020204030204" pitchFamily="49" charset="0"/>
              </a:rPr>
              <a:t>contA</a:t>
            </a:r>
            <a:r>
              <a:rPr lang="es-ES" sz="1200" b="0" dirty="0">
                <a:solidFill>
                  <a:srgbClr val="000000"/>
                </a:solidFill>
                <a:effectLst/>
                <a:latin typeface="Consolas" panose="020B0609020204030204" pitchFamily="49" charset="0"/>
              </a:rPr>
              <a:t> &lt; </a:t>
            </a:r>
            <a:r>
              <a:rPr lang="es-ES" sz="1200" b="0" dirty="0">
                <a:solidFill>
                  <a:srgbClr val="098658"/>
                </a:solidFill>
                <a:effectLst/>
                <a:latin typeface="Consolas" panose="020B0609020204030204" pitchFamily="49" charset="0"/>
              </a:rPr>
              <a:t>2</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toupper</a:t>
            </a:r>
            <a:r>
              <a:rPr lang="es-ES" sz="1200" b="0" dirty="0">
                <a:solidFill>
                  <a:srgbClr val="000000"/>
                </a:solidFill>
                <a:effectLst/>
                <a:latin typeface="Consolas" panose="020B0609020204030204" pitchFamily="49" charset="0"/>
              </a:rPr>
              <a:t>(car) == </a:t>
            </a:r>
            <a:r>
              <a:rPr lang="es-ES" sz="1200" b="0" dirty="0">
                <a:solidFill>
                  <a:srgbClr val="A31515"/>
                </a:solidFill>
                <a:effectLst/>
                <a:latin typeface="Consolas" panose="020B0609020204030204" pitchFamily="49" charset="0"/>
              </a:rPr>
              <a:t>'A'</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a:t>
            </a:r>
            <a:r>
              <a:rPr lang="es-ES" sz="1200" b="0" dirty="0">
                <a:solidFill>
                  <a:srgbClr val="000000"/>
                </a:solidFill>
                <a:effectLst/>
                <a:latin typeface="Consolas" panose="020B0609020204030204" pitchFamily="49" charset="0"/>
              </a:rPr>
              <a:t>++;</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a:t>
            </a:r>
            <a:r>
              <a:rPr lang="es-ES" sz="1200" b="0" dirty="0">
                <a:solidFill>
                  <a:srgbClr val="000000"/>
                </a:solidFill>
                <a:effectLst/>
                <a:latin typeface="Consolas" panose="020B0609020204030204" pitchFamily="49" charset="0"/>
              </a:rPr>
              <a:t> &lt; </a:t>
            </a:r>
            <a:r>
              <a:rPr lang="es-ES" sz="1200" b="0" dirty="0">
                <a:solidFill>
                  <a:srgbClr val="098658"/>
                </a:solidFill>
                <a:effectLst/>
                <a:latin typeface="Consolas" panose="020B0609020204030204" pitchFamily="49" charset="0"/>
              </a:rPr>
              <a:t>2</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Introdueix</a:t>
            </a:r>
            <a:r>
              <a:rPr lang="es-ES" sz="1200" b="0" dirty="0">
                <a:solidFill>
                  <a:srgbClr val="A31515"/>
                </a:solidFill>
                <a:effectLst/>
                <a:latin typeface="Consolas" panose="020B0609020204030204" pitchFamily="49" charset="0"/>
              </a:rPr>
              <a:t> un </a:t>
            </a:r>
            <a:r>
              <a:rPr lang="es-ES" sz="1200" b="0" dirty="0" err="1">
                <a:solidFill>
                  <a:srgbClr val="A31515"/>
                </a:solidFill>
                <a:effectLst/>
                <a:latin typeface="Consolas" panose="020B0609020204030204" pitchFamily="49" charset="0"/>
              </a:rPr>
              <a:t>caracter</a:t>
            </a:r>
            <a:r>
              <a:rPr lang="es-ES" sz="1200" b="0" dirty="0">
                <a:solidFill>
                  <a:srgbClr val="A31515"/>
                </a:solidFill>
                <a:effectLst/>
                <a:latin typeface="Consolas" panose="020B0609020204030204" pitchFamily="49" charset="0"/>
              </a:rPr>
              <a:t>: "</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fflush</a:t>
            </a:r>
            <a:r>
              <a:rPr lang="es-ES" sz="1200" b="0" dirty="0">
                <a:solidFill>
                  <a:srgbClr val="000000"/>
                </a:solidFill>
                <a:effectLst/>
                <a:latin typeface="Consolas" panose="020B0609020204030204" pitchFamily="49" charset="0"/>
              </a:rPr>
              <a:t>(</a:t>
            </a:r>
            <a:r>
              <a:rPr lang="es-ES" sz="1200" b="0" dirty="0" err="1">
                <a:solidFill>
                  <a:srgbClr val="0000FF"/>
                </a:solidFill>
                <a:effectLst/>
                <a:latin typeface="Consolas" panose="020B0609020204030204" pitchFamily="49" charset="0"/>
              </a:rPr>
              <a:t>stdin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scanf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"%c"</a:t>
            </a:r>
            <a:r>
              <a:rPr lang="es-ES" sz="1200" b="0" dirty="0">
                <a:solidFill>
                  <a:srgbClr val="000000"/>
                </a:solidFill>
                <a:effectLst/>
                <a:latin typeface="Consolas" panose="020B0609020204030204" pitchFamily="49" charset="0"/>
              </a:rPr>
              <a:t>, &amp;car);</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p>
          <a:p>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a:t>
            </a:r>
            <a:r>
              <a:rPr lang="es-ES" sz="1200" b="0" dirty="0">
                <a:solidFill>
                  <a:srgbClr val="000000"/>
                </a:solidFill>
                <a:effectLst/>
                <a:latin typeface="Consolas" panose="020B0609020204030204" pitchFamily="49" charset="0"/>
              </a:rPr>
              <a:t> == </a:t>
            </a:r>
            <a:r>
              <a:rPr lang="es-ES" sz="1200" b="0" dirty="0">
                <a:solidFill>
                  <a:srgbClr val="098658"/>
                </a:solidFill>
                <a:effectLst/>
                <a:latin typeface="Consolas" panose="020B0609020204030204" pitchFamily="49" charset="0"/>
              </a:rPr>
              <a:t>2</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S'han</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trobat</a:t>
            </a:r>
            <a:r>
              <a:rPr lang="es-ES" sz="1200" b="0" dirty="0">
                <a:solidFill>
                  <a:srgbClr val="A31515"/>
                </a:solidFill>
                <a:effectLst/>
                <a:latin typeface="Consolas" panose="020B0609020204030204" pitchFamily="49" charset="0"/>
              </a:rPr>
              <a:t> les </a:t>
            </a:r>
            <a:r>
              <a:rPr lang="es-ES" sz="1200" b="0" dirty="0" err="1">
                <a:solidFill>
                  <a:srgbClr val="A31515"/>
                </a:solidFill>
                <a:effectLst/>
                <a:latin typeface="Consolas" panose="020B0609020204030204" pitchFamily="49" charset="0"/>
              </a:rPr>
              <a:t>dues</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vocals</a:t>
            </a:r>
            <a:r>
              <a:rPr lang="es-ES" sz="1200" b="0" dirty="0">
                <a:solidFill>
                  <a:srgbClr val="A31515"/>
                </a:solidFill>
                <a:effectLst/>
                <a:latin typeface="Consolas" panose="020B0609020204030204" pitchFamily="49" charset="0"/>
              </a:rPr>
              <a:t> A"</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else</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"No han </a:t>
            </a:r>
            <a:r>
              <a:rPr lang="es-ES" sz="1200" b="0" dirty="0" err="1">
                <a:solidFill>
                  <a:srgbClr val="A31515"/>
                </a:solidFill>
                <a:effectLst/>
                <a:latin typeface="Consolas" panose="020B0609020204030204" pitchFamily="49" charset="0"/>
              </a:rPr>
              <a:t>aparegut</a:t>
            </a:r>
            <a:r>
              <a:rPr lang="es-ES" sz="1200" b="0" dirty="0">
                <a:solidFill>
                  <a:srgbClr val="A31515"/>
                </a:solidFill>
                <a:effectLst/>
                <a:latin typeface="Consolas" panose="020B0609020204030204" pitchFamily="49" charset="0"/>
              </a:rPr>
              <a:t> les </a:t>
            </a:r>
            <a:r>
              <a:rPr lang="es-ES" sz="1200" b="0" dirty="0" err="1">
                <a:solidFill>
                  <a:srgbClr val="A31515"/>
                </a:solidFill>
                <a:effectLst/>
                <a:latin typeface="Consolas" panose="020B0609020204030204" pitchFamily="49" charset="0"/>
              </a:rPr>
              <a:t>dues</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vocals</a:t>
            </a:r>
            <a:r>
              <a:rPr lang="es-ES" sz="1200" b="0" dirty="0">
                <a:solidFill>
                  <a:srgbClr val="A31515"/>
                </a:solidFill>
                <a:effectLst/>
                <a:latin typeface="Consolas" panose="020B0609020204030204" pitchFamily="49" charset="0"/>
              </a:rPr>
              <a:t> A"</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acabament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5085159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D2436-04E6-4676-B407-DFFCD0780B2A}"/>
              </a:ext>
            </a:extLst>
          </p:cNvPr>
          <p:cNvSpPr>
            <a:spLocks noGrp="1"/>
          </p:cNvSpPr>
          <p:nvPr>
            <p:ph type="title"/>
          </p:nvPr>
        </p:nvSpPr>
        <p:spPr/>
        <p:txBody>
          <a:bodyPr/>
          <a:lstStyle/>
          <a:p>
            <a:r>
              <a:rPr lang="es-ES" dirty="0" err="1"/>
              <a:t>Exemple</a:t>
            </a:r>
            <a:r>
              <a:rPr lang="es-ES" dirty="0"/>
              <a:t>: Troba 2’a’</a:t>
            </a:r>
            <a:endParaRPr lang="ca-ES" dirty="0"/>
          </a:p>
        </p:txBody>
      </p:sp>
      <p:sp>
        <p:nvSpPr>
          <p:cNvPr id="7" name="CuadroTexto 6">
            <a:extLst>
              <a:ext uri="{FF2B5EF4-FFF2-40B4-BE49-F238E27FC236}">
                <a16:creationId xmlns:a16="http://schemas.microsoft.com/office/drawing/2014/main" id="{B1978930-979C-0158-82E8-4B86812541B5}"/>
              </a:ext>
            </a:extLst>
          </p:cNvPr>
          <p:cNvSpPr txBox="1"/>
          <p:nvPr/>
        </p:nvSpPr>
        <p:spPr>
          <a:xfrm>
            <a:off x="493059" y="689788"/>
            <a:ext cx="6006353" cy="5047536"/>
          </a:xfrm>
          <a:prstGeom prst="rect">
            <a:avLst/>
          </a:prstGeom>
          <a:noFill/>
          <a:ln>
            <a:solidFill>
              <a:schemeClr val="tx1"/>
            </a:solidFill>
            <a:prstDash val="dash"/>
          </a:ln>
        </p:spPr>
        <p:txBody>
          <a:bodyPr wrap="square">
            <a:spAutoFit/>
          </a:bodyPr>
          <a:lstStyle/>
          <a:p>
            <a:r>
              <a:rPr lang="en-US" sz="1400" b="0" dirty="0">
                <a:solidFill>
                  <a:srgbClr val="0000FF"/>
                </a:solidFill>
                <a:effectLst/>
                <a:latin typeface="Consolas" panose="020B0609020204030204" pitchFamily="49" charset="0"/>
              </a:rPr>
              <a:t>#define MARCA </a:t>
            </a:r>
            <a:r>
              <a:rPr lang="en-US" sz="1400" b="0" dirty="0">
                <a:solidFill>
                  <a:srgbClr val="A31515"/>
                </a:solidFill>
                <a:effectLst/>
                <a:latin typeface="Consolas" panose="020B0609020204030204" pitchFamily="49" charset="0"/>
              </a:rPr>
              <a:t>'.'</a:t>
            </a:r>
            <a:endParaRPr lang="en-US" sz="1400" b="0" dirty="0">
              <a:solidFill>
                <a:srgbClr val="000000"/>
              </a:solidFill>
              <a:effectLst/>
              <a:latin typeface="Consolas" panose="020B0609020204030204" pitchFamily="49" charset="0"/>
            </a:endParaRPr>
          </a:p>
          <a:p>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main()</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char</a:t>
            </a:r>
            <a:r>
              <a:rPr lang="en-US" sz="1400" b="0" dirty="0">
                <a:solidFill>
                  <a:srgbClr val="000000"/>
                </a:solidFill>
                <a:effectLst/>
                <a:latin typeface="Consolas" panose="020B0609020204030204" pitchFamily="49" charset="0"/>
              </a:rPr>
              <a:t> car=</a:t>
            </a:r>
            <a:r>
              <a:rPr lang="en-US" sz="1400" b="0" dirty="0">
                <a:solidFill>
                  <a:srgbClr val="A31515"/>
                </a:solidFill>
                <a:effectLst/>
                <a:latin typeface="Consolas" panose="020B0609020204030204" pitchFamily="49" charset="0"/>
              </a:rPr>
              <a:t>'p'</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contA</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while</a:t>
            </a:r>
            <a:r>
              <a:rPr lang="en-US" sz="1400" b="0" dirty="0">
                <a:solidFill>
                  <a:srgbClr val="000000"/>
                </a:solidFill>
                <a:effectLst/>
                <a:latin typeface="Consolas" panose="020B0609020204030204" pitchFamily="49" charset="0"/>
              </a:rPr>
              <a:t> (car != </a:t>
            </a:r>
            <a:r>
              <a:rPr lang="en-US" sz="1400" b="0" dirty="0">
                <a:solidFill>
                  <a:srgbClr val="0000FF"/>
                </a:solidFill>
                <a:effectLst/>
                <a:latin typeface="Consolas" panose="020B0609020204030204" pitchFamily="49" charset="0"/>
              </a:rPr>
              <a:t>MARCA</a:t>
            </a:r>
            <a:r>
              <a:rPr lang="en-US" sz="1400" b="0" dirty="0">
                <a:solidFill>
                  <a:srgbClr val="000000"/>
                </a:solidFill>
                <a:effectLst/>
                <a:latin typeface="Consolas" panose="020B0609020204030204" pitchFamily="49" charset="0"/>
              </a:rPr>
              <a:t> &amp;&amp; </a:t>
            </a:r>
            <a:r>
              <a:rPr lang="en-US" sz="1400" b="0" dirty="0" err="1">
                <a:solidFill>
                  <a:srgbClr val="000000"/>
                </a:solidFill>
                <a:effectLst/>
                <a:latin typeface="Consolas" panose="020B0609020204030204" pitchFamily="49" charset="0"/>
              </a:rPr>
              <a:t>contA</a:t>
            </a:r>
            <a:r>
              <a:rPr lang="en-US" sz="1400" b="0" dirty="0">
                <a:solidFill>
                  <a:srgbClr val="000000"/>
                </a:solidFill>
                <a:effectLst/>
                <a:latin typeface="Consolas" panose="020B0609020204030204" pitchFamily="49" charset="0"/>
              </a:rPr>
              <a:t> &lt; </a:t>
            </a:r>
            <a:r>
              <a:rPr lang="en-US" sz="1400" b="0" dirty="0">
                <a:solidFill>
                  <a:srgbClr val="098658"/>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Introdueix</a:t>
            </a:r>
            <a:r>
              <a:rPr lang="en-US" sz="1400" b="0" dirty="0">
                <a:solidFill>
                  <a:srgbClr val="A31515"/>
                </a:solidFill>
                <a:effectLst/>
                <a:latin typeface="Consolas" panose="020B0609020204030204" pitchFamily="49" charset="0"/>
              </a:rPr>
              <a:t> un </a:t>
            </a:r>
            <a:r>
              <a:rPr lang="en-US" sz="1400" b="0" dirty="0" err="1">
                <a:solidFill>
                  <a:srgbClr val="A31515"/>
                </a:solidFill>
                <a:effectLst/>
                <a:latin typeface="Consolas" panose="020B0609020204030204" pitchFamily="49" charset="0"/>
              </a:rPr>
              <a:t>caracter</a:t>
            </a:r>
            <a:r>
              <a:rPr lang="en-US" sz="1400" b="0" dirty="0">
                <a:solidFill>
                  <a:srgbClr val="A31515"/>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fflush</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stdin</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scanf</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"%c"</a:t>
            </a:r>
            <a:r>
              <a:rPr lang="en-US" sz="1400" b="0" dirty="0">
                <a:solidFill>
                  <a:srgbClr val="000000"/>
                </a:solidFill>
                <a:effectLst/>
                <a:latin typeface="Consolas" panose="020B0609020204030204" pitchFamily="49" charset="0"/>
              </a:rPr>
              <a:t>, &amp;car);</a:t>
            </a:r>
          </a:p>
          <a:p>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toupper</a:t>
            </a:r>
            <a:r>
              <a:rPr lang="en-US" sz="1400" b="0" dirty="0">
                <a:solidFill>
                  <a:srgbClr val="000000"/>
                </a:solidFill>
                <a:effectLst/>
                <a:latin typeface="Consolas" panose="020B0609020204030204" pitchFamily="49" charset="0"/>
              </a:rPr>
              <a:t>(car) == </a:t>
            </a:r>
            <a:r>
              <a:rPr lang="en-US" sz="1400" b="0" dirty="0">
                <a:solidFill>
                  <a:srgbClr val="A31515"/>
                </a:solidFill>
                <a:effectLst/>
                <a:latin typeface="Consolas" panose="020B0609020204030204" pitchFamily="49" charset="0"/>
              </a:rPr>
              <a:t>'A'</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contA</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p>
          <a:p>
            <a:br>
              <a:rPr lang="en-US"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if</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contA</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2</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S'han</a:t>
            </a:r>
            <a:r>
              <a:rPr lang="en-US" sz="1400" b="0" dirty="0">
                <a:solidFill>
                  <a:srgbClr val="A31515"/>
                </a:solidFill>
                <a:effectLst/>
                <a:latin typeface="Consolas" panose="020B0609020204030204" pitchFamily="49" charset="0"/>
              </a:rPr>
              <a:t> </a:t>
            </a:r>
            <a:r>
              <a:rPr lang="en-US" sz="1400" b="0" dirty="0" err="1">
                <a:solidFill>
                  <a:srgbClr val="A31515"/>
                </a:solidFill>
                <a:effectLst/>
                <a:latin typeface="Consolas" panose="020B0609020204030204" pitchFamily="49" charset="0"/>
              </a:rPr>
              <a:t>trobat</a:t>
            </a:r>
            <a:r>
              <a:rPr lang="en-US" sz="1400" b="0" dirty="0">
                <a:solidFill>
                  <a:srgbClr val="A31515"/>
                </a:solidFill>
                <a:effectLst/>
                <a:latin typeface="Consolas" panose="020B0609020204030204" pitchFamily="49" charset="0"/>
              </a:rPr>
              <a:t> les dues vocals A"</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else</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printf</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"No </a:t>
            </a:r>
            <a:r>
              <a:rPr lang="en-US" sz="1400" b="0" dirty="0" err="1">
                <a:solidFill>
                  <a:srgbClr val="A31515"/>
                </a:solidFill>
                <a:effectLst/>
                <a:latin typeface="Consolas" panose="020B0609020204030204" pitchFamily="49" charset="0"/>
              </a:rPr>
              <a:t>han</a:t>
            </a:r>
            <a:r>
              <a:rPr lang="en-US" sz="1400" b="0" dirty="0">
                <a:solidFill>
                  <a:srgbClr val="A31515"/>
                </a:solidFill>
                <a:effectLst/>
                <a:latin typeface="Consolas" panose="020B0609020204030204" pitchFamily="49" charset="0"/>
              </a:rPr>
              <a:t> </a:t>
            </a:r>
            <a:r>
              <a:rPr lang="en-US" sz="1400" b="0" dirty="0" err="1">
                <a:solidFill>
                  <a:srgbClr val="A31515"/>
                </a:solidFill>
                <a:effectLst/>
                <a:latin typeface="Consolas" panose="020B0609020204030204" pitchFamily="49" charset="0"/>
              </a:rPr>
              <a:t>aparegut</a:t>
            </a:r>
            <a:r>
              <a:rPr lang="en-US" sz="1400" b="0" dirty="0">
                <a:solidFill>
                  <a:srgbClr val="A31515"/>
                </a:solidFill>
                <a:effectLst/>
                <a:latin typeface="Consolas" panose="020B0609020204030204" pitchFamily="49" charset="0"/>
              </a:rPr>
              <a:t> les dues vocals A"</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acabament</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3049432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E717C-B081-A59D-9CA4-211B39C9FFFD}"/>
              </a:ext>
            </a:extLst>
          </p:cNvPr>
          <p:cNvSpPr>
            <a:spLocks noGrp="1"/>
          </p:cNvSpPr>
          <p:nvPr>
            <p:ph type="title"/>
          </p:nvPr>
        </p:nvSpPr>
        <p:spPr/>
        <p:txBody>
          <a:bodyPr/>
          <a:lstStyle/>
          <a:p>
            <a:r>
              <a:rPr lang="es-ES" dirty="0" err="1"/>
              <a:t>Exercicis</a:t>
            </a:r>
            <a:endParaRPr lang="es-ES" dirty="0"/>
          </a:p>
        </p:txBody>
      </p:sp>
      <p:sp>
        <p:nvSpPr>
          <p:cNvPr id="4" name="Marcador de contenido 3">
            <a:extLst>
              <a:ext uri="{FF2B5EF4-FFF2-40B4-BE49-F238E27FC236}">
                <a16:creationId xmlns:a16="http://schemas.microsoft.com/office/drawing/2014/main" id="{0C70B596-7543-48DB-15F4-DEA2020483AB}"/>
              </a:ext>
            </a:extLst>
          </p:cNvPr>
          <p:cNvSpPr>
            <a:spLocks noGrp="1"/>
          </p:cNvSpPr>
          <p:nvPr>
            <p:ph idx="1"/>
          </p:nvPr>
        </p:nvSpPr>
        <p:spPr/>
        <p:txBody>
          <a:bodyPr/>
          <a:lstStyle/>
          <a:p>
            <a:r>
              <a:rPr lang="es-ES" sz="1800" dirty="0" err="1">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Esquemes</a:t>
            </a:r>
            <a:r>
              <a:rPr lang="es-ES" sz="1800"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s-ES" sz="1800" dirty="0" err="1">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Algorítmics</a:t>
            </a:r>
            <a:r>
              <a:rPr lang="es-ES" sz="1800"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 de Cerca  o </a:t>
            </a:r>
            <a:r>
              <a:rPr lang="es-ES" sz="1800" dirty="0" err="1">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Recorregut</a:t>
            </a:r>
            <a:endParaRPr lang="es-ES" sz="1800"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endParaRPr>
          </a:p>
          <a:p>
            <a:pPr marL="0" indent="0">
              <a:buNone/>
            </a:pPr>
            <a:endParaRPr lang="es-ES" sz="1800" b="1"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endParaRPr>
          </a:p>
          <a:p>
            <a:pPr marL="0" indent="0">
              <a:buNone/>
            </a:pPr>
            <a:endParaRPr lang="es-ES" dirty="0"/>
          </a:p>
        </p:txBody>
      </p:sp>
    </p:spTree>
    <p:extLst>
      <p:ext uri="{BB962C8B-B14F-4D97-AF65-F5344CB8AC3E}">
        <p14:creationId xmlns:p14="http://schemas.microsoft.com/office/powerpoint/2010/main" val="32940850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08126D-F117-49A7-BD78-A772302CEC55}"/>
              </a:ext>
            </a:extLst>
          </p:cNvPr>
          <p:cNvSpPr>
            <a:spLocks noGrp="1"/>
          </p:cNvSpPr>
          <p:nvPr>
            <p:ph type="title"/>
          </p:nvPr>
        </p:nvSpPr>
        <p:spPr>
          <a:xfrm>
            <a:off x="460561" y="145270"/>
            <a:ext cx="8534400" cy="642130"/>
          </a:xfrm>
        </p:spPr>
        <p:txBody>
          <a:bodyPr/>
          <a:lstStyle/>
          <a:p>
            <a:r>
              <a:rPr lang="ca-ES" dirty="0"/>
              <a:t>Concepte TROBAT</a:t>
            </a:r>
          </a:p>
        </p:txBody>
      </p:sp>
      <p:sp>
        <p:nvSpPr>
          <p:cNvPr id="3" name="Marcador de contenido 2">
            <a:extLst>
              <a:ext uri="{FF2B5EF4-FFF2-40B4-BE49-F238E27FC236}">
                <a16:creationId xmlns:a16="http://schemas.microsoft.com/office/drawing/2014/main" id="{817365EA-E2DB-43E1-B90B-4FB54EAE61AD}"/>
              </a:ext>
            </a:extLst>
          </p:cNvPr>
          <p:cNvSpPr>
            <a:spLocks noGrp="1"/>
          </p:cNvSpPr>
          <p:nvPr>
            <p:ph idx="1"/>
          </p:nvPr>
        </p:nvSpPr>
        <p:spPr>
          <a:xfrm>
            <a:off x="378296" y="787400"/>
            <a:ext cx="8534401" cy="5772930"/>
          </a:xfrm>
        </p:spPr>
        <p:txBody>
          <a:bodyPr/>
          <a:lstStyle/>
          <a:p>
            <a:r>
              <a:rPr lang="ca-ES" dirty="0"/>
              <a:t>Quan una condició es fa molt llarga; es treballa amb un BOOL que inicialment val FALSE i que passarà a TRUE quan es compleixi la condició</a:t>
            </a:r>
          </a:p>
          <a:p>
            <a:endParaRPr lang="ca-ES" dirty="0"/>
          </a:p>
        </p:txBody>
      </p:sp>
      <p:sp>
        <p:nvSpPr>
          <p:cNvPr id="5" name="CuadroTexto 4">
            <a:extLst>
              <a:ext uri="{FF2B5EF4-FFF2-40B4-BE49-F238E27FC236}">
                <a16:creationId xmlns:a16="http://schemas.microsoft.com/office/drawing/2014/main" id="{07615F4D-8FEA-5D7A-C9AC-17A42ED7E256}"/>
              </a:ext>
            </a:extLst>
          </p:cNvPr>
          <p:cNvSpPr txBox="1"/>
          <p:nvPr/>
        </p:nvSpPr>
        <p:spPr>
          <a:xfrm>
            <a:off x="546846" y="1429530"/>
            <a:ext cx="7270377" cy="5262979"/>
          </a:xfrm>
          <a:prstGeom prst="rect">
            <a:avLst/>
          </a:prstGeom>
          <a:noFill/>
          <a:ln>
            <a:solidFill>
              <a:schemeClr val="tx1"/>
            </a:solidFill>
            <a:prstDash val="lgDash"/>
          </a:ln>
        </p:spPr>
        <p:txBody>
          <a:bodyPr wrap="square">
            <a:spAutoFit/>
          </a:bodyPr>
          <a:lstStyle/>
          <a:p>
            <a:r>
              <a:rPr lang="es-ES" sz="1200" b="0" dirty="0">
                <a:solidFill>
                  <a:srgbClr val="0000FF"/>
                </a:solidFill>
                <a:effectLst/>
                <a:latin typeface="Consolas" panose="020B0609020204030204" pitchFamily="49" charset="0"/>
              </a:rPr>
              <a:t>#define MARCA </a:t>
            </a:r>
            <a:r>
              <a:rPr lang="es-ES" sz="1200" b="0" dirty="0">
                <a:solidFill>
                  <a:srgbClr val="A31515"/>
                </a:solidFill>
                <a:effectLst/>
                <a:latin typeface="Consolas" panose="020B0609020204030204" pitchFamily="49" charset="0"/>
              </a:rPr>
              <a:t>'.'</a:t>
            </a:r>
            <a:endParaRPr lang="es-ES" sz="1200" b="0" dirty="0">
              <a:solidFill>
                <a:srgbClr val="000000"/>
              </a:solidFill>
              <a:effectLst/>
              <a:latin typeface="Consolas" panose="020B0609020204030204" pitchFamily="49" charset="0"/>
            </a:endParaRPr>
          </a:p>
          <a:p>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main</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int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,contE=</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,contI=</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,contO=</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,contU=</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char</a:t>
            </a:r>
            <a:r>
              <a:rPr lang="es-ES" sz="1200" b="0" dirty="0">
                <a:solidFill>
                  <a:srgbClr val="000000"/>
                </a:solidFill>
                <a:effectLst/>
                <a:latin typeface="Consolas" panose="020B0609020204030204" pitchFamily="49" charset="0"/>
              </a:rPr>
              <a:t> car=</a:t>
            </a:r>
            <a:r>
              <a:rPr lang="es-ES" sz="1200" b="0" dirty="0">
                <a:solidFill>
                  <a:srgbClr val="A31515"/>
                </a:solidFill>
                <a:effectLst/>
                <a:latin typeface="Consolas" panose="020B0609020204030204" pitchFamily="49" charset="0"/>
              </a:rPr>
              <a:t>'o'</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bool</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trobat</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false</a:t>
            </a:r>
            <a:r>
              <a:rPr lang="es-ES" sz="1200" b="0" dirty="0">
                <a:solidFill>
                  <a:srgbClr val="000000"/>
                </a:solidFill>
                <a:effectLst/>
                <a:latin typeface="Consolas" panose="020B0609020204030204" pitchFamily="49" charset="0"/>
              </a:rPr>
              <a:t>;</a:t>
            </a:r>
            <a:br>
              <a:rPr lang="es-ES" sz="1200" b="0" dirty="0">
                <a:solidFill>
                  <a:srgbClr val="000000"/>
                </a:solidFill>
                <a:effectLst/>
                <a:latin typeface="Consolas" panose="020B0609020204030204" pitchFamily="49" charset="0"/>
              </a:rPr>
            </a:br>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while</a:t>
            </a:r>
            <a:r>
              <a:rPr lang="es-ES" sz="1200" b="0" dirty="0">
                <a:solidFill>
                  <a:srgbClr val="000000"/>
                </a:solidFill>
                <a:effectLst/>
                <a:latin typeface="Consolas" panose="020B0609020204030204" pitchFamily="49" charset="0"/>
              </a:rPr>
              <a:t> (car!=</a:t>
            </a:r>
            <a:r>
              <a:rPr lang="es-ES" sz="1200" b="0" dirty="0">
                <a:solidFill>
                  <a:srgbClr val="0000FF"/>
                </a:solidFill>
                <a:effectLst/>
                <a:latin typeface="Consolas" panose="020B0609020204030204" pitchFamily="49" charset="0"/>
              </a:rPr>
              <a:t>MARCA</a:t>
            </a:r>
            <a:r>
              <a:rPr lang="es-ES" sz="1200" b="0" dirty="0">
                <a:solidFill>
                  <a:srgbClr val="000000"/>
                </a:solidFill>
                <a:effectLst/>
                <a:latin typeface="Consolas" panose="020B0609020204030204" pitchFamily="49" charset="0"/>
              </a:rPr>
              <a:t> &amp;&amp; </a:t>
            </a:r>
            <a:r>
              <a:rPr lang="es-ES" sz="1200" b="0" dirty="0" err="1">
                <a:solidFill>
                  <a:srgbClr val="000000"/>
                </a:solidFill>
                <a:effectLst/>
                <a:latin typeface="Consolas" panose="020B0609020204030204" pitchFamily="49" charset="0"/>
              </a:rPr>
              <a:t>trobat</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false</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Introdueix</a:t>
            </a:r>
            <a:r>
              <a:rPr lang="es-ES" sz="1200" b="0" dirty="0">
                <a:solidFill>
                  <a:srgbClr val="A31515"/>
                </a:solidFill>
                <a:effectLst/>
                <a:latin typeface="Consolas" panose="020B0609020204030204" pitchFamily="49" charset="0"/>
              </a:rPr>
              <a:t> un </a:t>
            </a:r>
            <a:r>
              <a:rPr lang="es-ES" sz="1200" b="0" dirty="0" err="1">
                <a:solidFill>
                  <a:srgbClr val="A31515"/>
                </a:solidFill>
                <a:effectLst/>
                <a:latin typeface="Consolas" panose="020B0609020204030204" pitchFamily="49" charset="0"/>
              </a:rPr>
              <a:t>caracter</a:t>
            </a:r>
            <a:r>
              <a:rPr lang="es-ES" sz="1200" b="0" dirty="0">
                <a:solidFill>
                  <a:srgbClr val="A31515"/>
                </a:solidFill>
                <a:effectLst/>
                <a:latin typeface="Consolas" panose="020B0609020204030204" pitchFamily="49" charset="0"/>
              </a:rPr>
              <a:t>: "</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fflush</a:t>
            </a:r>
            <a:r>
              <a:rPr lang="es-ES" sz="1200" b="0" dirty="0">
                <a:solidFill>
                  <a:srgbClr val="000000"/>
                </a:solidFill>
                <a:effectLst/>
                <a:latin typeface="Consolas" panose="020B0609020204030204" pitchFamily="49" charset="0"/>
              </a:rPr>
              <a:t>(</a:t>
            </a:r>
            <a:r>
              <a:rPr lang="es-ES" sz="1200" b="0" dirty="0" err="1">
                <a:solidFill>
                  <a:srgbClr val="0000FF"/>
                </a:solidFill>
                <a:effectLst/>
                <a:latin typeface="Consolas" panose="020B0609020204030204" pitchFamily="49" charset="0"/>
              </a:rPr>
              <a:t>stdin</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scanf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c"</a:t>
            </a:r>
            <a:r>
              <a:rPr lang="es-ES" sz="1200" b="0" dirty="0" err="1">
                <a:solidFill>
                  <a:srgbClr val="000000"/>
                </a:solidFill>
                <a:effectLst/>
                <a:latin typeface="Consolas" panose="020B0609020204030204" pitchFamily="49" charset="0"/>
              </a:rPr>
              <a:t>,&amp;car</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car=</a:t>
            </a:r>
            <a:r>
              <a:rPr lang="es-ES" sz="1200" b="0" dirty="0" err="1">
                <a:solidFill>
                  <a:srgbClr val="000000"/>
                </a:solidFill>
                <a:effectLst/>
                <a:latin typeface="Consolas" panose="020B0609020204030204" pitchFamily="49" charset="0"/>
              </a:rPr>
              <a:t>toupper</a:t>
            </a:r>
            <a:r>
              <a:rPr lang="es-ES" sz="1200" b="0" dirty="0">
                <a:solidFill>
                  <a:srgbClr val="000000"/>
                </a:solidFill>
                <a:effectLst/>
                <a:latin typeface="Consolas" panose="020B0609020204030204" pitchFamily="49" charset="0"/>
              </a:rPr>
              <a:t>(car);</a:t>
            </a:r>
          </a:p>
          <a:p>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switch</a:t>
            </a:r>
            <a:r>
              <a:rPr lang="es-ES" sz="1200" b="0" dirty="0">
                <a:solidFill>
                  <a:srgbClr val="000000"/>
                </a:solidFill>
                <a:effectLst/>
                <a:latin typeface="Consolas" panose="020B0609020204030204" pitchFamily="49" charset="0"/>
              </a:rPr>
              <a:t>(car)</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case</a:t>
            </a:r>
            <a:r>
              <a:rPr lang="es-ES" sz="1200" b="0" dirty="0">
                <a:solidFill>
                  <a:srgbClr val="000000"/>
                </a:solidFill>
                <a:effectLst/>
                <a:latin typeface="Consolas" panose="020B0609020204030204" pitchFamily="49" charset="0"/>
              </a:rPr>
              <a:t> </a:t>
            </a:r>
            <a:r>
              <a:rPr lang="es-ES" sz="1200" b="0" dirty="0">
                <a:solidFill>
                  <a:srgbClr val="A31515"/>
                </a:solidFill>
                <a:effectLst/>
                <a:latin typeface="Consolas" panose="020B0609020204030204" pitchFamily="49" charset="0"/>
              </a:rPr>
              <a:t>'A'</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break</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case</a:t>
            </a:r>
            <a:r>
              <a:rPr lang="es-ES" sz="1200" b="0" dirty="0">
                <a:solidFill>
                  <a:srgbClr val="000000"/>
                </a:solidFill>
                <a:effectLst/>
                <a:latin typeface="Consolas" panose="020B0609020204030204" pitchFamily="49" charset="0"/>
              </a:rPr>
              <a:t> </a:t>
            </a:r>
            <a:r>
              <a:rPr lang="es-ES" sz="1200" b="0" dirty="0">
                <a:solidFill>
                  <a:srgbClr val="A31515"/>
                </a:solidFill>
                <a:effectLst/>
                <a:latin typeface="Consolas" panose="020B0609020204030204" pitchFamily="49" charset="0"/>
              </a:rPr>
              <a:t>'E'</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contE</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break</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case</a:t>
            </a:r>
            <a:r>
              <a:rPr lang="es-ES" sz="1200" b="0" dirty="0">
                <a:solidFill>
                  <a:srgbClr val="000000"/>
                </a:solidFill>
                <a:effectLst/>
                <a:latin typeface="Consolas" panose="020B0609020204030204" pitchFamily="49" charset="0"/>
              </a:rPr>
              <a:t> </a:t>
            </a:r>
            <a:r>
              <a:rPr lang="es-ES" sz="1200" b="0" dirty="0">
                <a:solidFill>
                  <a:srgbClr val="A31515"/>
                </a:solidFill>
                <a:effectLst/>
                <a:latin typeface="Consolas" panose="020B0609020204030204" pitchFamily="49" charset="0"/>
              </a:rPr>
              <a:t>'I'</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contI</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break</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case</a:t>
            </a:r>
            <a:r>
              <a:rPr lang="es-ES" sz="1200" b="0" dirty="0">
                <a:solidFill>
                  <a:srgbClr val="000000"/>
                </a:solidFill>
                <a:effectLst/>
                <a:latin typeface="Consolas" panose="020B0609020204030204" pitchFamily="49" charset="0"/>
              </a:rPr>
              <a:t> </a:t>
            </a:r>
            <a:r>
              <a:rPr lang="es-ES" sz="1200" b="0" dirty="0">
                <a:solidFill>
                  <a:srgbClr val="A31515"/>
                </a:solidFill>
                <a:effectLst/>
                <a:latin typeface="Consolas" panose="020B0609020204030204" pitchFamily="49" charset="0"/>
              </a:rPr>
              <a:t>'O'</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contO</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break</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a:solidFill>
                  <a:srgbClr val="0000FF"/>
                </a:solidFill>
                <a:effectLst/>
                <a:latin typeface="Consolas" panose="020B0609020204030204" pitchFamily="49" charset="0"/>
              </a:rPr>
              <a:t>case</a:t>
            </a:r>
            <a:r>
              <a:rPr lang="es-ES" sz="1200" b="0" dirty="0">
                <a:solidFill>
                  <a:srgbClr val="000000"/>
                </a:solidFill>
                <a:effectLst/>
                <a:latin typeface="Consolas" panose="020B0609020204030204" pitchFamily="49" charset="0"/>
              </a:rPr>
              <a:t> </a:t>
            </a:r>
            <a:r>
              <a:rPr lang="es-ES" sz="1200" b="0" dirty="0">
                <a:solidFill>
                  <a:srgbClr val="A31515"/>
                </a:solidFill>
                <a:effectLst/>
                <a:latin typeface="Consolas" panose="020B0609020204030204" pitchFamily="49" charset="0"/>
              </a:rPr>
              <a:t>'U'</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contU</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1</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break</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contA+contE+contI+contO+contU</a:t>
            </a:r>
            <a:r>
              <a:rPr lang="es-ES" sz="1200" b="0" dirty="0">
                <a:solidFill>
                  <a:srgbClr val="000000"/>
                </a:solidFill>
                <a:effectLst/>
                <a:latin typeface="Consolas" panose="020B0609020204030204" pitchFamily="49" charset="0"/>
              </a:rPr>
              <a:t>==</a:t>
            </a:r>
            <a:r>
              <a:rPr lang="es-ES" sz="1200" b="0" dirty="0">
                <a:solidFill>
                  <a:srgbClr val="098658"/>
                </a:solidFill>
                <a:effectLst/>
                <a:latin typeface="Consolas" panose="020B0609020204030204" pitchFamily="49" charset="0"/>
              </a:rPr>
              <a:t>5</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trobat</a:t>
            </a:r>
            <a:r>
              <a:rPr lang="es-ES" sz="1200" b="0" dirty="0">
                <a:solidFill>
                  <a:srgbClr val="000000"/>
                </a:solidFill>
                <a:effectLst/>
                <a:latin typeface="Consolas" panose="020B0609020204030204" pitchFamily="49" charset="0"/>
              </a:rPr>
              <a:t>=</a:t>
            </a:r>
            <a:r>
              <a:rPr lang="es-ES" sz="1200" b="0" dirty="0">
                <a:solidFill>
                  <a:srgbClr val="0000FF"/>
                </a:solidFill>
                <a:effectLst/>
                <a:latin typeface="Consolas" panose="020B0609020204030204" pitchFamily="49" charset="0"/>
              </a:rPr>
              <a:t>true</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if</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trobat</a:t>
            </a:r>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nS'ha</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trobat</a:t>
            </a:r>
            <a:r>
              <a:rPr lang="es-ES" sz="1200" b="0" dirty="0">
                <a:solidFill>
                  <a:srgbClr val="A31515"/>
                </a:solidFill>
                <a:effectLst/>
                <a:latin typeface="Consolas" panose="020B0609020204030204" pitchFamily="49" charset="0"/>
              </a:rPr>
              <a:t> les 5 </a:t>
            </a:r>
            <a:r>
              <a:rPr lang="es-ES" sz="1200" b="0" dirty="0" err="1">
                <a:solidFill>
                  <a:srgbClr val="A31515"/>
                </a:solidFill>
                <a:effectLst/>
                <a:latin typeface="Consolas" panose="020B0609020204030204" pitchFamily="49" charset="0"/>
              </a:rPr>
              <a:t>vocals</a:t>
            </a:r>
            <a:r>
              <a:rPr lang="es-ES" sz="1200" b="0" dirty="0">
                <a:solidFill>
                  <a:srgbClr val="A31515"/>
                </a:solidFill>
                <a:effectLst/>
                <a:latin typeface="Consolas" panose="020B0609020204030204" pitchFamily="49" charset="0"/>
              </a:rPr>
              <a: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else</a:t>
            </a:r>
            <a:r>
              <a:rPr lang="es-ES" sz="1200" dirty="0">
                <a:solidFill>
                  <a:srgbClr val="000000"/>
                </a:solidFill>
                <a:latin typeface="Consolas" panose="020B0609020204030204" pitchFamily="49" charset="0"/>
              </a:rPr>
              <a:t> </a:t>
            </a:r>
            <a:r>
              <a:rPr lang="es-ES" sz="1200" b="0" dirty="0" err="1">
                <a:solidFill>
                  <a:srgbClr val="000000"/>
                </a:solidFill>
                <a:effectLst/>
                <a:latin typeface="Consolas" panose="020B0609020204030204" pitchFamily="49" charset="0"/>
              </a:rPr>
              <a:t>printf</a:t>
            </a:r>
            <a:r>
              <a:rPr lang="es-ES" sz="1200" b="0" dirty="0">
                <a:solidFill>
                  <a:srgbClr val="000000"/>
                </a:solidFill>
                <a:effectLst/>
                <a:latin typeface="Consolas" panose="020B0609020204030204" pitchFamily="49" charset="0"/>
              </a:rPr>
              <a:t>(</a:t>
            </a:r>
            <a:r>
              <a:rPr lang="es-ES" sz="1200" b="0" dirty="0">
                <a:solidFill>
                  <a:srgbClr val="A31515"/>
                </a:solidFill>
                <a:effectLst/>
                <a:latin typeface="Consolas" panose="020B0609020204030204" pitchFamily="49" charset="0"/>
              </a:rPr>
              <a:t>"\</a:t>
            </a:r>
            <a:r>
              <a:rPr lang="es-ES" sz="1200" b="0" dirty="0" err="1">
                <a:solidFill>
                  <a:srgbClr val="A31515"/>
                </a:solidFill>
                <a:effectLst/>
                <a:latin typeface="Consolas" panose="020B0609020204030204" pitchFamily="49" charset="0"/>
              </a:rPr>
              <a:t>nNo</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s'ha</a:t>
            </a:r>
            <a:r>
              <a:rPr lang="es-ES" sz="1200" b="0" dirty="0">
                <a:solidFill>
                  <a:srgbClr val="A31515"/>
                </a:solidFill>
                <a:effectLst/>
                <a:latin typeface="Consolas" panose="020B0609020204030204" pitchFamily="49" charset="0"/>
              </a:rPr>
              <a:t> </a:t>
            </a:r>
            <a:r>
              <a:rPr lang="es-ES" sz="1200" b="0" dirty="0" err="1">
                <a:solidFill>
                  <a:srgbClr val="A31515"/>
                </a:solidFill>
                <a:effectLst/>
                <a:latin typeface="Consolas" panose="020B0609020204030204" pitchFamily="49" charset="0"/>
              </a:rPr>
              <a:t>trobat</a:t>
            </a:r>
            <a:r>
              <a:rPr lang="es-ES" sz="1200" b="0" dirty="0">
                <a:solidFill>
                  <a:srgbClr val="A31515"/>
                </a:solidFill>
                <a:effectLst/>
                <a:latin typeface="Consolas" panose="020B0609020204030204" pitchFamily="49" charset="0"/>
              </a:rPr>
              <a:t> les 5 </a:t>
            </a:r>
            <a:r>
              <a:rPr lang="es-ES" sz="1200" b="0" dirty="0" err="1">
                <a:solidFill>
                  <a:srgbClr val="A31515"/>
                </a:solidFill>
                <a:effectLst/>
                <a:latin typeface="Consolas" panose="020B0609020204030204" pitchFamily="49" charset="0"/>
              </a:rPr>
              <a:t>vocals</a:t>
            </a:r>
            <a:r>
              <a:rPr lang="es-ES" sz="1200" b="0" dirty="0">
                <a:solidFill>
                  <a:srgbClr val="A31515"/>
                </a:solidFill>
                <a:effectLst/>
                <a:latin typeface="Consolas" panose="020B0609020204030204" pitchFamily="49" charset="0"/>
              </a:rPr>
              <a: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00"/>
                </a:solidFill>
                <a:effectLst/>
                <a:latin typeface="Consolas" panose="020B0609020204030204" pitchFamily="49" charset="0"/>
              </a:rPr>
              <a:t>acabament</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    </a:t>
            </a:r>
            <a:r>
              <a:rPr lang="es-ES" sz="1200" b="0" dirty="0" err="1">
                <a:solidFill>
                  <a:srgbClr val="0000FF"/>
                </a:solidFill>
                <a:effectLst/>
                <a:latin typeface="Consolas" panose="020B0609020204030204" pitchFamily="49" charset="0"/>
              </a:rPr>
              <a:t>return</a:t>
            </a:r>
            <a:r>
              <a:rPr lang="es-ES" sz="1200" b="0" dirty="0">
                <a:solidFill>
                  <a:srgbClr val="000000"/>
                </a:solidFill>
                <a:effectLst/>
                <a:latin typeface="Consolas" panose="020B0609020204030204" pitchFamily="49" charset="0"/>
              </a:rPr>
              <a:t> </a:t>
            </a:r>
            <a:r>
              <a:rPr lang="es-ES" sz="1200" b="0" dirty="0">
                <a:solidFill>
                  <a:srgbClr val="098658"/>
                </a:solidFill>
                <a:effectLst/>
                <a:latin typeface="Consolas" panose="020B0609020204030204" pitchFamily="49" charset="0"/>
              </a:rPr>
              <a:t>0</a:t>
            </a:r>
            <a:r>
              <a:rPr lang="es-ES" sz="1200" b="0" dirty="0">
                <a:solidFill>
                  <a:srgbClr val="000000"/>
                </a:solidFill>
                <a:effectLst/>
                <a:latin typeface="Consolas" panose="020B0609020204030204" pitchFamily="49" charset="0"/>
              </a:rPr>
              <a:t>;</a:t>
            </a:r>
          </a:p>
          <a:p>
            <a:r>
              <a:rPr lang="es-ES" sz="1200" b="0" dirty="0">
                <a:solidFill>
                  <a:srgbClr val="000000"/>
                </a:solidFill>
                <a:effectLst/>
                <a:latin typeface="Consolas" panose="020B0609020204030204" pitchFamily="49" charset="0"/>
              </a:rPr>
              <a:t>}</a:t>
            </a:r>
            <a:endParaRPr lang="es-ES"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207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C20C8A-DD3B-160C-7122-8713612B8513}"/>
              </a:ext>
            </a:extLst>
          </p:cNvPr>
          <p:cNvSpPr>
            <a:spLocks noGrp="1"/>
          </p:cNvSpPr>
          <p:nvPr>
            <p:ph type="ctrTitle"/>
          </p:nvPr>
        </p:nvSpPr>
        <p:spPr/>
        <p:txBody>
          <a:bodyPr/>
          <a:lstStyle/>
          <a:p>
            <a:r>
              <a:rPr lang="es-ES" dirty="0"/>
              <a:t>EXERCICIS GENERALS</a:t>
            </a:r>
          </a:p>
        </p:txBody>
      </p:sp>
    </p:spTree>
    <p:extLst>
      <p:ext uri="{BB962C8B-B14F-4D97-AF65-F5344CB8AC3E}">
        <p14:creationId xmlns:p14="http://schemas.microsoft.com/office/powerpoint/2010/main" val="31458507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9C6B9C-7B6A-4F27-BF3F-4E3AF6FD396C}"/>
              </a:ext>
            </a:extLst>
          </p:cNvPr>
          <p:cNvSpPr>
            <a:spLocks noGrp="1"/>
          </p:cNvSpPr>
          <p:nvPr>
            <p:ph type="title"/>
          </p:nvPr>
        </p:nvSpPr>
        <p:spPr/>
        <p:txBody>
          <a:bodyPr/>
          <a:lstStyle/>
          <a:p>
            <a:r>
              <a:rPr lang="ca-ES" dirty="0"/>
              <a:t>Exercicis</a:t>
            </a:r>
          </a:p>
        </p:txBody>
      </p:sp>
      <p:sp>
        <p:nvSpPr>
          <p:cNvPr id="4" name="Marcador de contenido 3">
            <a:extLst>
              <a:ext uri="{FF2B5EF4-FFF2-40B4-BE49-F238E27FC236}">
                <a16:creationId xmlns:a16="http://schemas.microsoft.com/office/drawing/2014/main" id="{B7A82331-986A-1CF9-4A46-8A9A642F036D}"/>
              </a:ext>
            </a:extLst>
          </p:cNvPr>
          <p:cNvSpPr>
            <a:spLocks noGrp="1"/>
          </p:cNvSpPr>
          <p:nvPr>
            <p:ph idx="1"/>
          </p:nvPr>
        </p:nvSpPr>
        <p:spPr/>
        <p:txBody>
          <a:bodyPr/>
          <a:lstStyle/>
          <a:p>
            <a:r>
              <a:rPr lang="ca-ES" sz="1800"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GENERALS</a:t>
            </a:r>
            <a:endParaRPr lang="es-ES" sz="1800"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8239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84C1E0-B916-0808-AF09-34321AF97DE2}"/>
              </a:ext>
            </a:extLst>
          </p:cNvPr>
          <p:cNvSpPr>
            <a:spLocks noGrp="1"/>
          </p:cNvSpPr>
          <p:nvPr>
            <p:ph type="ctrTitle"/>
          </p:nvPr>
        </p:nvSpPr>
        <p:spPr/>
        <p:txBody>
          <a:bodyPr>
            <a:normAutofit/>
          </a:bodyPr>
          <a:lstStyle/>
          <a:p>
            <a:r>
              <a:rPr lang="es-ES" dirty="0"/>
              <a:t>LLENGUATGE C – RLUTIL.H - GOTOXY</a:t>
            </a:r>
          </a:p>
        </p:txBody>
      </p:sp>
    </p:spTree>
    <p:extLst>
      <p:ext uri="{BB962C8B-B14F-4D97-AF65-F5344CB8AC3E}">
        <p14:creationId xmlns:p14="http://schemas.microsoft.com/office/powerpoint/2010/main" val="11377572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Generar Números </a:t>
            </a:r>
            <a:r>
              <a:rPr lang="es-ES" dirty="0" err="1"/>
              <a:t>Aleatoris</a:t>
            </a:r>
            <a:endParaRPr lang="es-ES" dirty="0"/>
          </a:p>
        </p:txBody>
      </p:sp>
      <p:sp>
        <p:nvSpPr>
          <p:cNvPr id="7" name="CuadroTexto 6">
            <a:extLst>
              <a:ext uri="{FF2B5EF4-FFF2-40B4-BE49-F238E27FC236}">
                <a16:creationId xmlns:a16="http://schemas.microsoft.com/office/drawing/2014/main" id="{3832AC79-A96D-4465-898D-36F1E8D062EB}"/>
              </a:ext>
            </a:extLst>
          </p:cNvPr>
          <p:cNvSpPr txBox="1"/>
          <p:nvPr/>
        </p:nvSpPr>
        <p:spPr>
          <a:xfrm>
            <a:off x="533399" y="787400"/>
            <a:ext cx="5800725" cy="3785652"/>
          </a:xfrm>
          <a:prstGeom prst="rect">
            <a:avLst/>
          </a:prstGeom>
          <a:noFill/>
          <a:ln>
            <a:solidFill>
              <a:schemeClr val="tx1"/>
            </a:solidFill>
            <a:prstDash val="lgDash"/>
          </a:ln>
        </p:spPr>
        <p:txBody>
          <a:bodyPr wrap="square">
            <a:spAutoFit/>
          </a:bodyPr>
          <a:lstStyle/>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&lt;</a:t>
            </a:r>
            <a:r>
              <a:rPr lang="es-ES" sz="1600" b="0" dirty="0" err="1">
                <a:solidFill>
                  <a:srgbClr val="448C27"/>
                </a:solidFill>
                <a:effectLst/>
                <a:latin typeface="Consolas" panose="020B0609020204030204" pitchFamily="49" charset="0"/>
              </a:rPr>
              <a:t>stdio.h</a:t>
            </a:r>
            <a:r>
              <a:rPr lang="es-ES" sz="1600" b="0" dirty="0">
                <a:solidFill>
                  <a:srgbClr val="777777"/>
                </a:solidFill>
                <a:effectLst/>
                <a:latin typeface="Consolas" panose="020B0609020204030204" pitchFamily="49" charset="0"/>
              </a:rPr>
              <a:t>&gt;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&lt;</a:t>
            </a:r>
            <a:r>
              <a:rPr lang="es-ES" sz="1600" b="0" dirty="0" err="1">
                <a:solidFill>
                  <a:srgbClr val="448C27"/>
                </a:solidFill>
                <a:effectLst/>
                <a:latin typeface="Consolas" panose="020B0609020204030204" pitchFamily="49" charset="0"/>
              </a:rPr>
              <a:t>stdlib.h</a:t>
            </a:r>
            <a:r>
              <a:rPr lang="es-ES" sz="1600" b="0" dirty="0">
                <a:solidFill>
                  <a:srgbClr val="777777"/>
                </a:solidFill>
                <a:effectLst/>
                <a:latin typeface="Consolas" panose="020B0609020204030204" pitchFamily="49" charset="0"/>
              </a:rPr>
              <a:t>&gt;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&lt;</a:t>
            </a:r>
            <a:r>
              <a:rPr lang="es-ES" sz="1600" b="0" dirty="0" err="1">
                <a:solidFill>
                  <a:srgbClr val="448C27"/>
                </a:solidFill>
                <a:effectLst/>
                <a:latin typeface="Consolas" panose="020B0609020204030204" pitchFamily="49" charset="0"/>
              </a:rPr>
              <a:t>time.h</a:t>
            </a:r>
            <a:r>
              <a:rPr lang="es-ES" sz="1600" b="0" dirty="0">
                <a:solidFill>
                  <a:srgbClr val="777777"/>
                </a:solidFill>
                <a:effectLst/>
                <a:latin typeface="Consolas" panose="020B0609020204030204" pitchFamily="49" charset="0"/>
              </a:rPr>
              <a:t>&gt;</a:t>
            </a:r>
            <a:endParaRPr lang="es-ES" sz="1600" b="0" dirty="0">
              <a:solidFill>
                <a:srgbClr val="333333"/>
              </a:solidFill>
              <a:effectLst/>
              <a:latin typeface="Consolas" panose="020B0609020204030204" pitchFamily="49" charset="0"/>
            </a:endParaRPr>
          </a:p>
          <a:p>
            <a:r>
              <a:rPr lang="es-ES" sz="1600" b="0" dirty="0" err="1">
                <a:solidFill>
                  <a:srgbClr val="7A3E9D"/>
                </a:solidFill>
                <a:effectLst/>
                <a:latin typeface="Consolas" panose="020B0609020204030204" pitchFamily="49" charset="0"/>
              </a:rPr>
              <a:t>int</a:t>
            </a:r>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main</a:t>
            </a:r>
            <a:r>
              <a:rPr lang="es-ES" sz="1600" b="0" dirty="0">
                <a:solidFill>
                  <a:srgbClr val="777777"/>
                </a:solidFill>
                <a:effectLst/>
                <a:latin typeface="Consolas" panose="020B0609020204030204" pitchFamily="49" charset="0"/>
              </a:rPr>
              <a:t>(</a:t>
            </a:r>
            <a:r>
              <a:rPr lang="es-ES" sz="1600" b="0" dirty="0" err="1">
                <a:solidFill>
                  <a:srgbClr val="7A3E9D"/>
                </a:solidFill>
                <a:effectLst/>
                <a:latin typeface="Consolas" panose="020B0609020204030204" pitchFamily="49" charset="0"/>
              </a:rPr>
              <a:t>void</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    </a:t>
            </a:r>
            <a:r>
              <a:rPr lang="es-ES" sz="1600" b="0" i="1" dirty="0">
                <a:solidFill>
                  <a:srgbClr val="AAAAAA"/>
                </a:solidFill>
                <a:effectLst/>
                <a:latin typeface="Consolas" panose="020B0609020204030204" pitchFamily="49" charset="0"/>
              </a:rPr>
              <a:t>//primera </a:t>
            </a:r>
            <a:r>
              <a:rPr lang="es-ES" sz="1600" b="0" i="1" dirty="0" err="1">
                <a:solidFill>
                  <a:srgbClr val="AAAAAA"/>
                </a:solidFill>
                <a:effectLst/>
                <a:latin typeface="Consolas" panose="020B0609020204030204" pitchFamily="49" charset="0"/>
              </a:rPr>
              <a:t>instrucció</a:t>
            </a:r>
            <a:r>
              <a:rPr lang="es-ES" sz="1600" b="0" i="1" dirty="0">
                <a:solidFill>
                  <a:srgbClr val="AAAAAA"/>
                </a:solidFill>
                <a:effectLst/>
                <a:latin typeface="Consolas" panose="020B0609020204030204" pitchFamily="49" charset="0"/>
              </a:rPr>
              <a:t> del </a:t>
            </a:r>
            <a:r>
              <a:rPr lang="es-ES" sz="1600" b="0" i="1" dirty="0" err="1">
                <a:solidFill>
                  <a:srgbClr val="AAAAAA"/>
                </a:solidFill>
                <a:effectLst/>
                <a:latin typeface="Consolas" panose="020B0609020204030204" pitchFamily="49" charset="0"/>
              </a:rPr>
              <a:t>main</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srand</a:t>
            </a:r>
            <a:r>
              <a:rPr lang="es-ES" sz="1600" b="0" dirty="0">
                <a:solidFill>
                  <a:srgbClr val="777777"/>
                </a:solidFill>
                <a:effectLst/>
                <a:latin typeface="Consolas" panose="020B0609020204030204" pitchFamily="49" charset="0"/>
              </a:rPr>
              <a:t>(</a:t>
            </a:r>
            <a:r>
              <a:rPr lang="es-ES" sz="1600" b="1" dirty="0">
                <a:solidFill>
                  <a:srgbClr val="AA3731"/>
                </a:solidFill>
                <a:effectLst/>
                <a:latin typeface="Consolas" panose="020B0609020204030204" pitchFamily="49" charset="0"/>
              </a:rPr>
              <a:t>time</a:t>
            </a:r>
            <a:r>
              <a:rPr lang="es-ES" sz="1600" b="0" dirty="0">
                <a:solidFill>
                  <a:srgbClr val="777777"/>
                </a:solidFill>
                <a:effectLst/>
                <a:latin typeface="Consolas" panose="020B0609020204030204" pitchFamily="49" charset="0"/>
              </a:rPr>
              <a:t>(</a:t>
            </a:r>
            <a:r>
              <a:rPr lang="es-ES" sz="1600" b="1" dirty="0">
                <a:solidFill>
                  <a:srgbClr val="AA3731"/>
                </a:solidFill>
                <a:effectLst/>
                <a:latin typeface="Consolas" panose="020B0609020204030204" pitchFamily="49" charset="0"/>
              </a:rPr>
              <a:t>NULL</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err="1">
                <a:solidFill>
                  <a:srgbClr val="7A3E9D"/>
                </a:solidFill>
                <a:effectLst/>
                <a:latin typeface="Consolas" panose="020B0609020204030204" pitchFamily="49" charset="0"/>
              </a:rPr>
              <a:t>int</a:t>
            </a:r>
            <a:r>
              <a:rPr lang="es-ES" sz="1600" b="0" dirty="0">
                <a:solidFill>
                  <a:srgbClr val="333333"/>
                </a:solidFill>
                <a:effectLst/>
                <a:latin typeface="Consolas" panose="020B0609020204030204" pitchFamily="49" charset="0"/>
              </a:rPr>
              <a:t> </a:t>
            </a:r>
            <a:r>
              <a:rPr lang="es-ES" sz="1600" b="0" dirty="0" err="1">
                <a:solidFill>
                  <a:srgbClr val="7A3E9D"/>
                </a:solidFill>
                <a:effectLst/>
                <a:latin typeface="Consolas" panose="020B0609020204030204" pitchFamily="49" charset="0"/>
              </a:rPr>
              <a:t>numAleatori</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br>
              <a:rPr lang="es-ES" sz="1600" b="0" dirty="0">
                <a:solidFill>
                  <a:srgbClr val="333333"/>
                </a:solidFill>
                <a:effectLst/>
                <a:latin typeface="Consolas" panose="020B0609020204030204" pitchFamily="49" charset="0"/>
              </a:rPr>
            </a:br>
            <a:r>
              <a:rPr lang="es-ES" sz="1600" b="0" dirty="0">
                <a:solidFill>
                  <a:srgbClr val="333333"/>
                </a:solidFill>
                <a:effectLst/>
                <a:latin typeface="Consolas" panose="020B0609020204030204" pitchFamily="49" charset="0"/>
              </a:rPr>
              <a:t>    </a:t>
            </a:r>
            <a:r>
              <a:rPr lang="es-ES" sz="1600" b="0" dirty="0" err="1">
                <a:solidFill>
                  <a:srgbClr val="4B69C6"/>
                </a:solidFill>
                <a:effectLst/>
                <a:latin typeface="Consolas" panose="020B0609020204030204" pitchFamily="49" charset="0"/>
              </a:rPr>
              <a:t>for</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r>
              <a:rPr lang="es-ES" sz="1600" b="0" dirty="0" err="1">
                <a:solidFill>
                  <a:srgbClr val="7A3E9D"/>
                </a:solidFill>
                <a:effectLst/>
                <a:latin typeface="Consolas" panose="020B0609020204030204" pitchFamily="49" charset="0"/>
              </a:rPr>
              <a:t>int</a:t>
            </a:r>
            <a:r>
              <a:rPr lang="es-ES" sz="1600" b="0" dirty="0">
                <a:solidFill>
                  <a:srgbClr val="333333"/>
                </a:solidFill>
                <a:effectLst/>
                <a:latin typeface="Consolas" panose="020B0609020204030204" pitchFamily="49" charset="0"/>
              </a:rPr>
              <a:t> </a:t>
            </a:r>
            <a:r>
              <a:rPr lang="es-ES" sz="1600" b="0" dirty="0">
                <a:solidFill>
                  <a:srgbClr val="7A3E9D"/>
                </a:solidFill>
                <a:effectLst/>
                <a:latin typeface="Consolas" panose="020B0609020204030204" pitchFamily="49" charset="0"/>
              </a:rPr>
              <a:t>i</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1</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i</a:t>
            </a:r>
            <a:r>
              <a:rPr lang="es-ES" sz="1600" b="0" dirty="0">
                <a:solidFill>
                  <a:srgbClr val="777777"/>
                </a:solidFill>
                <a:effectLst/>
                <a:latin typeface="Consolas" panose="020B0609020204030204" pitchFamily="49" charset="0"/>
              </a:rPr>
              <a:t>&lt;</a:t>
            </a:r>
            <a:r>
              <a:rPr lang="es-ES" sz="1600" b="0" dirty="0">
                <a:solidFill>
                  <a:srgbClr val="9C5D27"/>
                </a:solidFill>
                <a:effectLst/>
                <a:latin typeface="Consolas" panose="020B0609020204030204" pitchFamily="49" charset="0"/>
              </a:rPr>
              <a:t>10</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i</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err="1">
                <a:solidFill>
                  <a:srgbClr val="7A3E9D"/>
                </a:solidFill>
                <a:effectLst/>
                <a:latin typeface="Consolas" panose="020B0609020204030204" pitchFamily="49" charset="0"/>
              </a:rPr>
              <a:t>numAleatori</a:t>
            </a:r>
            <a:r>
              <a:rPr lang="es-ES" sz="1600" b="0" dirty="0">
                <a:solidFill>
                  <a:srgbClr val="777777"/>
                </a:solidFill>
                <a:effectLst/>
                <a:latin typeface="Consolas" panose="020B0609020204030204" pitchFamily="49" charset="0"/>
              </a:rPr>
              <a:t>=</a:t>
            </a:r>
            <a:r>
              <a:rPr lang="es-ES" sz="1600" b="1" dirty="0">
                <a:solidFill>
                  <a:srgbClr val="AA3731"/>
                </a:solidFill>
                <a:effectLst/>
                <a:latin typeface="Consolas" panose="020B0609020204030204" pitchFamily="49" charset="0"/>
              </a:rPr>
              <a:t>rand</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printf</a:t>
            </a:r>
            <a:r>
              <a:rPr lang="es-ES" sz="1600" b="0" dirty="0">
                <a:solidFill>
                  <a:srgbClr val="777777"/>
                </a:solidFill>
                <a:effectLst/>
                <a:latin typeface="Consolas" panose="020B0609020204030204" pitchFamily="49" charset="0"/>
              </a:rPr>
              <a:t>("\</a:t>
            </a:r>
            <a:r>
              <a:rPr lang="es-ES" sz="1600" b="0" dirty="0" err="1">
                <a:solidFill>
                  <a:srgbClr val="777777"/>
                </a:solidFill>
                <a:effectLst/>
                <a:latin typeface="Consolas" panose="020B0609020204030204" pitchFamily="49" charset="0"/>
              </a:rPr>
              <a:t>n</a:t>
            </a:r>
            <a:r>
              <a:rPr lang="es-ES" sz="1600" b="0" dirty="0" err="1">
                <a:solidFill>
                  <a:srgbClr val="448C27"/>
                </a:solidFill>
                <a:effectLst/>
                <a:latin typeface="Consolas" panose="020B0609020204030204" pitchFamily="49" charset="0"/>
              </a:rPr>
              <a:t>El</a:t>
            </a:r>
            <a:r>
              <a:rPr lang="es-ES" sz="1600" b="0" dirty="0">
                <a:solidFill>
                  <a:srgbClr val="448C27"/>
                </a:solidFill>
                <a:effectLst/>
                <a:latin typeface="Consolas" panose="020B0609020204030204" pitchFamily="49" charset="0"/>
              </a:rPr>
              <a:t> numero es </a:t>
            </a:r>
            <a:r>
              <a:rPr lang="es-ES" sz="1600" b="0" dirty="0">
                <a:solidFill>
                  <a:srgbClr val="9C5D27"/>
                </a:solidFill>
                <a:effectLst/>
                <a:latin typeface="Consolas" panose="020B0609020204030204" pitchFamily="49" charset="0"/>
              </a:rPr>
              <a:t>%d</a:t>
            </a:r>
            <a:r>
              <a:rPr lang="es-ES" sz="1600" b="0" dirty="0">
                <a:solidFill>
                  <a:srgbClr val="777777"/>
                </a:solidFill>
                <a:effectLst/>
                <a:latin typeface="Consolas" panose="020B0609020204030204" pitchFamily="49" charset="0"/>
              </a:rPr>
              <a:t>",</a:t>
            </a:r>
            <a:r>
              <a:rPr lang="es-ES" sz="1600" b="0" dirty="0" err="1">
                <a:solidFill>
                  <a:srgbClr val="7A3E9D"/>
                </a:solidFill>
                <a:effectLst/>
                <a:latin typeface="Consolas" panose="020B0609020204030204" pitchFamily="49" charset="0"/>
              </a:rPr>
              <a:t>numAleatori</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300047594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Llibreria</a:t>
            </a:r>
            <a:r>
              <a:rPr lang="es-ES" dirty="0"/>
              <a:t> “</a:t>
            </a:r>
            <a:r>
              <a:rPr lang="es-ES" dirty="0" err="1"/>
              <a:t>rlutil.h</a:t>
            </a:r>
            <a:r>
              <a:rPr lang="es-ES" dirty="0"/>
              <a:t>”</a:t>
            </a:r>
          </a:p>
        </p:txBody>
      </p:sp>
      <p:sp>
        <p:nvSpPr>
          <p:cNvPr id="3" name="1"/>
          <p:cNvSpPr>
            <a:spLocks noGrp="1"/>
          </p:cNvSpPr>
          <p:nvPr>
            <p:ph idx="1"/>
          </p:nvPr>
        </p:nvSpPr>
        <p:spPr>
          <a:xfrm>
            <a:off x="495300" y="787400"/>
            <a:ext cx="8534401" cy="5772930"/>
          </a:xfrm>
        </p:spPr>
        <p:txBody>
          <a:bodyPr>
            <a:noAutofit/>
          </a:bodyPr>
          <a:lstStyle/>
          <a:p>
            <a:pPr marL="0" indent="0">
              <a:lnSpc>
                <a:spcPct val="130000"/>
              </a:lnSpc>
              <a:spcBef>
                <a:spcPts val="0"/>
              </a:spcBef>
              <a:buNone/>
            </a:pPr>
            <a:r>
              <a:rPr lang="es-ES" sz="1400" dirty="0" err="1"/>
              <a:t>Llibreria</a:t>
            </a:r>
            <a:r>
              <a:rPr lang="es-ES" sz="1400" dirty="0"/>
              <a:t> que </a:t>
            </a:r>
            <a:r>
              <a:rPr lang="es-ES" sz="1400" dirty="0" err="1"/>
              <a:t>permet</a:t>
            </a:r>
            <a:r>
              <a:rPr lang="es-ES" sz="1400" dirty="0"/>
              <a:t>:</a:t>
            </a:r>
          </a:p>
          <a:p>
            <a:pPr marL="447675" indent="-447675">
              <a:lnSpc>
                <a:spcPct val="130000"/>
              </a:lnSpc>
              <a:spcBef>
                <a:spcPts val="0"/>
              </a:spcBef>
              <a:buFont typeface="+mj-lt"/>
              <a:buAutoNum type="arabicPeriod"/>
            </a:pPr>
            <a:r>
              <a:rPr lang="es-ES" sz="1400" dirty="0" err="1"/>
              <a:t>Treballar</a:t>
            </a:r>
            <a:r>
              <a:rPr lang="es-ES" sz="1400" dirty="0"/>
              <a:t> </a:t>
            </a:r>
            <a:r>
              <a:rPr lang="es-ES" sz="1400" dirty="0" err="1"/>
              <a:t>amb</a:t>
            </a:r>
            <a:r>
              <a:rPr lang="es-ES" sz="1400" dirty="0"/>
              <a:t> color</a:t>
            </a:r>
          </a:p>
          <a:p>
            <a:pPr marL="447675" indent="-447675">
              <a:lnSpc>
                <a:spcPct val="130000"/>
              </a:lnSpc>
              <a:spcBef>
                <a:spcPts val="0"/>
              </a:spcBef>
              <a:buFont typeface="+mj-lt"/>
              <a:buAutoNum type="arabicPeriod"/>
            </a:pPr>
            <a:r>
              <a:rPr lang="es-ES" sz="1400" dirty="0" err="1"/>
              <a:t>Sleep</a:t>
            </a:r>
            <a:endParaRPr lang="es-ES" sz="1400" dirty="0"/>
          </a:p>
          <a:p>
            <a:pPr marL="447675" indent="-447675">
              <a:lnSpc>
                <a:spcPct val="130000"/>
              </a:lnSpc>
              <a:spcBef>
                <a:spcPts val="0"/>
              </a:spcBef>
              <a:buFont typeface="+mj-lt"/>
              <a:buAutoNum type="arabicPeriod"/>
            </a:pPr>
            <a:r>
              <a:rPr lang="es-ES" sz="1400" dirty="0"/>
              <a:t>Borrar la pantalla: </a:t>
            </a:r>
            <a:r>
              <a:rPr lang="es-ES" sz="1400" dirty="0" err="1"/>
              <a:t>cls</a:t>
            </a:r>
            <a:r>
              <a:rPr lang="es-ES" sz="1400" dirty="0"/>
              <a:t>();</a:t>
            </a:r>
          </a:p>
          <a:p>
            <a:pPr marL="447675" indent="-447675">
              <a:lnSpc>
                <a:spcPct val="130000"/>
              </a:lnSpc>
              <a:spcBef>
                <a:spcPts val="0"/>
              </a:spcBef>
              <a:buFont typeface="+mj-lt"/>
              <a:buAutoNum type="arabicPeriod"/>
            </a:pPr>
            <a:r>
              <a:rPr lang="es-ES" sz="1400" dirty="0"/>
              <a:t>Variables </a:t>
            </a:r>
            <a:r>
              <a:rPr lang="es-ES" sz="1400" dirty="0" err="1"/>
              <a:t>booleanes</a:t>
            </a:r>
            <a:endParaRPr lang="es-ES" sz="1400" dirty="0"/>
          </a:p>
          <a:p>
            <a:pPr marL="447675" indent="-447675">
              <a:lnSpc>
                <a:spcPct val="130000"/>
              </a:lnSpc>
              <a:spcBef>
                <a:spcPts val="0"/>
              </a:spcBef>
              <a:buFont typeface="+mj-lt"/>
              <a:buAutoNum type="arabicPeriod"/>
            </a:pPr>
            <a:r>
              <a:rPr lang="es-ES" sz="1400" dirty="0" err="1"/>
              <a:t>Posicionament</a:t>
            </a:r>
            <a:r>
              <a:rPr lang="es-ES" sz="1400" dirty="0"/>
              <a:t> en la pantalla</a:t>
            </a:r>
          </a:p>
          <a:p>
            <a:pPr marL="0" indent="0">
              <a:lnSpc>
                <a:spcPct val="130000"/>
              </a:lnSpc>
              <a:spcBef>
                <a:spcPts val="0"/>
              </a:spcBef>
              <a:buNone/>
            </a:pPr>
            <a:endParaRPr lang="es-ES" sz="1600" b="1" dirty="0"/>
          </a:p>
          <a:p>
            <a:pPr marL="342900" indent="-342900">
              <a:lnSpc>
                <a:spcPct val="130000"/>
              </a:lnSpc>
              <a:spcBef>
                <a:spcPts val="0"/>
              </a:spcBef>
              <a:buFont typeface="+mj-lt"/>
              <a:buAutoNum type="arabicPeriod"/>
            </a:pPr>
            <a:endParaRPr lang="es-ES" sz="1600" dirty="0"/>
          </a:p>
          <a:p>
            <a:pPr marL="0" indent="0">
              <a:buNone/>
            </a:pPr>
            <a:endParaRPr lang="es-ES" sz="900" dirty="0"/>
          </a:p>
        </p:txBody>
      </p:sp>
      <p:sp>
        <p:nvSpPr>
          <p:cNvPr id="6" name="CuadroTexto 5">
            <a:extLst>
              <a:ext uri="{FF2B5EF4-FFF2-40B4-BE49-F238E27FC236}">
                <a16:creationId xmlns:a16="http://schemas.microsoft.com/office/drawing/2014/main" id="{6CE96B5A-49C7-4958-A042-80F924576974}"/>
              </a:ext>
            </a:extLst>
          </p:cNvPr>
          <p:cNvSpPr txBox="1"/>
          <p:nvPr/>
        </p:nvSpPr>
        <p:spPr>
          <a:xfrm>
            <a:off x="495300" y="2746613"/>
            <a:ext cx="4533900" cy="3323987"/>
          </a:xfrm>
          <a:prstGeom prst="rect">
            <a:avLst/>
          </a:prstGeom>
          <a:noFill/>
          <a:ln>
            <a:solidFill>
              <a:schemeClr val="tx1"/>
            </a:solidFill>
            <a:prstDash val="lgDash"/>
          </a:ln>
        </p:spPr>
        <p:txBody>
          <a:bodyPr wrap="square">
            <a:spAutoFit/>
          </a:bodyPr>
          <a:lstStyle/>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&lt;</a:t>
            </a:r>
            <a:r>
              <a:rPr lang="es-ES" sz="1600" b="0" dirty="0" err="1">
                <a:solidFill>
                  <a:srgbClr val="448C27"/>
                </a:solidFill>
                <a:effectLst/>
                <a:latin typeface="Consolas" panose="020B0609020204030204" pitchFamily="49" charset="0"/>
              </a:rPr>
              <a:t>stdio.h</a:t>
            </a:r>
            <a:r>
              <a:rPr lang="es-ES" sz="1600" b="0" dirty="0">
                <a:solidFill>
                  <a:srgbClr val="777777"/>
                </a:solidFill>
                <a:effectLst/>
                <a:latin typeface="Consolas" panose="020B0609020204030204" pitchFamily="49" charset="0"/>
              </a:rPr>
              <a:t>&gt;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&lt;</a:t>
            </a:r>
            <a:r>
              <a:rPr lang="es-ES" sz="1600" b="0" dirty="0" err="1">
                <a:solidFill>
                  <a:srgbClr val="448C27"/>
                </a:solidFill>
                <a:effectLst/>
                <a:latin typeface="Consolas" panose="020B0609020204030204" pitchFamily="49" charset="0"/>
              </a:rPr>
              <a:t>stdlib.h</a:t>
            </a:r>
            <a:r>
              <a:rPr lang="es-ES" sz="1600" b="0" dirty="0">
                <a:solidFill>
                  <a:srgbClr val="777777"/>
                </a:solidFill>
                <a:effectLst/>
                <a:latin typeface="Consolas" panose="020B0609020204030204" pitchFamily="49" charset="0"/>
              </a:rPr>
              <a:t>&gt;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r>
              <a:rPr lang="es-ES" sz="1600" b="0" dirty="0" err="1">
                <a:solidFill>
                  <a:srgbClr val="448C27"/>
                </a:solidFill>
                <a:effectLst/>
                <a:latin typeface="Consolas" panose="020B0609020204030204" pitchFamily="49" charset="0"/>
              </a:rPr>
              <a:t>rlutil.h</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br>
              <a:rPr lang="es-ES" sz="1600" b="0" dirty="0">
                <a:solidFill>
                  <a:srgbClr val="333333"/>
                </a:solidFill>
                <a:effectLst/>
                <a:latin typeface="Consolas" panose="020B0609020204030204" pitchFamily="49" charset="0"/>
              </a:rPr>
            </a:br>
            <a:r>
              <a:rPr lang="es-ES" sz="1600" b="0" dirty="0" err="1">
                <a:solidFill>
                  <a:srgbClr val="7A3E9D"/>
                </a:solidFill>
                <a:effectLst/>
                <a:latin typeface="Consolas" panose="020B0609020204030204" pitchFamily="49" charset="0"/>
              </a:rPr>
              <a:t>int</a:t>
            </a:r>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main</a:t>
            </a:r>
            <a:r>
              <a:rPr lang="es-ES" sz="1600" b="0" dirty="0">
                <a:solidFill>
                  <a:srgbClr val="777777"/>
                </a:solidFill>
                <a:effectLst/>
                <a:latin typeface="Consolas" panose="020B0609020204030204" pitchFamily="49" charset="0"/>
              </a:rPr>
              <a:t>(</a:t>
            </a:r>
            <a:r>
              <a:rPr lang="es-ES" sz="1600" b="0" dirty="0" err="1">
                <a:solidFill>
                  <a:srgbClr val="7A3E9D"/>
                </a:solidFill>
                <a:effectLst/>
                <a:latin typeface="Consolas" panose="020B0609020204030204" pitchFamily="49" charset="0"/>
              </a:rPr>
              <a:t>void</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err="1">
                <a:solidFill>
                  <a:srgbClr val="4B69C6"/>
                </a:solidFill>
                <a:effectLst/>
                <a:latin typeface="Consolas" panose="020B0609020204030204" pitchFamily="49" charset="0"/>
              </a:rPr>
              <a:t>for</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r>
              <a:rPr lang="es-ES" sz="1600" b="0" dirty="0" err="1">
                <a:solidFill>
                  <a:srgbClr val="7A3E9D"/>
                </a:solidFill>
                <a:effectLst/>
                <a:latin typeface="Consolas" panose="020B0609020204030204" pitchFamily="49" charset="0"/>
              </a:rPr>
              <a:t>int</a:t>
            </a:r>
            <a:r>
              <a:rPr lang="es-ES" sz="1600" b="0" dirty="0">
                <a:solidFill>
                  <a:srgbClr val="333333"/>
                </a:solidFill>
                <a:effectLst/>
                <a:latin typeface="Consolas" panose="020B0609020204030204" pitchFamily="49" charset="0"/>
              </a:rPr>
              <a:t> </a:t>
            </a:r>
            <a:r>
              <a:rPr lang="es-ES" sz="1600" b="0" dirty="0">
                <a:solidFill>
                  <a:srgbClr val="7A3E9D"/>
                </a:solidFill>
                <a:effectLst/>
                <a:latin typeface="Consolas" panose="020B0609020204030204" pitchFamily="49" charset="0"/>
              </a:rPr>
              <a:t>color</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0</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color</a:t>
            </a:r>
            <a:r>
              <a:rPr lang="es-ES" sz="1600" b="0" dirty="0">
                <a:solidFill>
                  <a:srgbClr val="777777"/>
                </a:solidFill>
                <a:effectLst/>
                <a:latin typeface="Consolas" panose="020B0609020204030204" pitchFamily="49" charset="0"/>
              </a:rPr>
              <a:t>&lt;=</a:t>
            </a:r>
            <a:r>
              <a:rPr lang="es-ES" sz="1600" b="0" dirty="0">
                <a:solidFill>
                  <a:srgbClr val="9C5D27"/>
                </a:solidFill>
                <a:effectLst/>
                <a:latin typeface="Consolas" panose="020B0609020204030204" pitchFamily="49" charset="0"/>
              </a:rPr>
              <a:t>15</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color</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setColor</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color</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printf</a:t>
            </a:r>
            <a:r>
              <a:rPr lang="es-ES" sz="1600" b="0" dirty="0">
                <a:solidFill>
                  <a:srgbClr val="777777"/>
                </a:solidFill>
                <a:effectLst/>
                <a:latin typeface="Consolas" panose="020B0609020204030204" pitchFamily="49" charset="0"/>
              </a:rPr>
              <a:t>("</a:t>
            </a:r>
            <a:r>
              <a:rPr lang="es-ES" sz="1600" b="0" dirty="0">
                <a:solidFill>
                  <a:srgbClr val="448C27"/>
                </a:solidFill>
                <a:effectLst/>
                <a:latin typeface="Consolas" panose="020B0609020204030204" pitchFamily="49" charset="0"/>
              </a:rPr>
              <a:t>color</a:t>
            </a:r>
            <a:r>
              <a:rPr lang="es-ES" sz="1600" b="0" dirty="0">
                <a:solidFill>
                  <a:srgbClr val="777777"/>
                </a:solidFill>
                <a:effectLst/>
                <a:latin typeface="Consolas" panose="020B0609020204030204" pitchFamily="49" charset="0"/>
              </a:rPr>
              <a:t>\n");</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Sleep</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500</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p:txBody>
      </p:sp>
      <p:pic>
        <p:nvPicPr>
          <p:cNvPr id="8" name="Imagen 7">
            <a:extLst>
              <a:ext uri="{FF2B5EF4-FFF2-40B4-BE49-F238E27FC236}">
                <a16:creationId xmlns:a16="http://schemas.microsoft.com/office/drawing/2014/main" id="{F86F266E-4E8B-4C79-8E9E-B0B09AAC5EBD}"/>
              </a:ext>
            </a:extLst>
          </p:cNvPr>
          <p:cNvPicPr>
            <a:picLocks noChangeAspect="1"/>
          </p:cNvPicPr>
          <p:nvPr/>
        </p:nvPicPr>
        <p:blipFill>
          <a:blip r:embed="rId2"/>
          <a:stretch>
            <a:fillRect/>
          </a:stretch>
        </p:blipFill>
        <p:spPr>
          <a:xfrm>
            <a:off x="5117306" y="2088029"/>
            <a:ext cx="695324" cy="4321919"/>
          </a:xfrm>
          <a:prstGeom prst="rect">
            <a:avLst/>
          </a:prstGeom>
        </p:spPr>
      </p:pic>
      <p:sp>
        <p:nvSpPr>
          <p:cNvPr id="10" name="CuadroTexto 9">
            <a:extLst>
              <a:ext uri="{FF2B5EF4-FFF2-40B4-BE49-F238E27FC236}">
                <a16:creationId xmlns:a16="http://schemas.microsoft.com/office/drawing/2014/main" id="{335B586C-9BDB-4AFB-B40B-30A26EF4BAA4}"/>
              </a:ext>
            </a:extLst>
          </p:cNvPr>
          <p:cNvSpPr txBox="1"/>
          <p:nvPr/>
        </p:nvSpPr>
        <p:spPr>
          <a:xfrm>
            <a:off x="5900736" y="2847384"/>
            <a:ext cx="3086102" cy="2970044"/>
          </a:xfrm>
          <a:prstGeom prst="rect">
            <a:avLst/>
          </a:prstGeom>
          <a:noFill/>
          <a:ln>
            <a:solidFill>
              <a:schemeClr val="tx1"/>
            </a:solidFill>
            <a:prstDash val="lgDash"/>
          </a:ln>
        </p:spPr>
        <p:txBody>
          <a:bodyPr wrap="square">
            <a:spAutoFit/>
          </a:bodyPr>
          <a:lstStyle/>
          <a:p>
            <a:r>
              <a:rPr lang="es-ES" sz="1100" b="0" i="1" dirty="0">
                <a:solidFill>
                  <a:srgbClr val="448C27"/>
                </a:solidFill>
                <a:effectLst/>
                <a:latin typeface="Consolas" panose="020B0609020204030204" pitchFamily="49" charset="0"/>
              </a:rPr>
              <a:t> * BLACK - Black</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BLUE - Blue</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GREEN - Green</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CYAN - </a:t>
            </a:r>
            <a:r>
              <a:rPr lang="es-ES" sz="1100" b="0" i="1" dirty="0" err="1">
                <a:solidFill>
                  <a:srgbClr val="448C27"/>
                </a:solidFill>
                <a:effectLst/>
                <a:latin typeface="Consolas" panose="020B0609020204030204" pitchFamily="49" charset="0"/>
              </a:rPr>
              <a:t>Cyan</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RED - Red</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MAGENTA - Magenta / </a:t>
            </a:r>
            <a:r>
              <a:rPr lang="es-ES" sz="1100" b="0" i="1" dirty="0" err="1">
                <a:solidFill>
                  <a:srgbClr val="448C27"/>
                </a:solidFill>
                <a:effectLst/>
                <a:latin typeface="Consolas" panose="020B0609020204030204" pitchFamily="49" charset="0"/>
              </a:rPr>
              <a:t>purple</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BROWN - Brown / </a:t>
            </a:r>
            <a:r>
              <a:rPr lang="es-ES" sz="1100" b="0" i="1" dirty="0" err="1">
                <a:solidFill>
                  <a:srgbClr val="448C27"/>
                </a:solidFill>
                <a:effectLst/>
                <a:latin typeface="Consolas" panose="020B0609020204030204" pitchFamily="49" charset="0"/>
              </a:rPr>
              <a:t>dark</a:t>
            </a:r>
            <a:r>
              <a:rPr lang="es-ES" sz="1100" b="0" i="1" dirty="0">
                <a:solidFill>
                  <a:srgbClr val="448C27"/>
                </a:solidFill>
                <a:effectLst/>
                <a:latin typeface="Consolas" panose="020B0609020204030204" pitchFamily="49" charset="0"/>
              </a:rPr>
              <a:t> </a:t>
            </a:r>
            <a:r>
              <a:rPr lang="es-ES" sz="1100" b="0" i="1" dirty="0" err="1">
                <a:solidFill>
                  <a:srgbClr val="448C27"/>
                </a:solidFill>
                <a:effectLst/>
                <a:latin typeface="Consolas" panose="020B0609020204030204" pitchFamily="49" charset="0"/>
              </a:rPr>
              <a:t>yellow</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GREY - Grey / </a:t>
            </a:r>
            <a:r>
              <a:rPr lang="es-ES" sz="1100" b="0" i="1" dirty="0" err="1">
                <a:solidFill>
                  <a:srgbClr val="448C27"/>
                </a:solidFill>
                <a:effectLst/>
                <a:latin typeface="Consolas" panose="020B0609020204030204" pitchFamily="49" charset="0"/>
              </a:rPr>
              <a:t>dark</a:t>
            </a:r>
            <a:r>
              <a:rPr lang="es-ES" sz="1100" b="0" i="1" dirty="0">
                <a:solidFill>
                  <a:srgbClr val="448C27"/>
                </a:solidFill>
                <a:effectLst/>
                <a:latin typeface="Consolas" panose="020B0609020204030204" pitchFamily="49" charset="0"/>
              </a:rPr>
              <a:t> </a:t>
            </a:r>
            <a:r>
              <a:rPr lang="es-ES" sz="1100" b="0" i="1" dirty="0" err="1">
                <a:solidFill>
                  <a:srgbClr val="448C27"/>
                </a:solidFill>
                <a:effectLst/>
                <a:latin typeface="Consolas" panose="020B0609020204030204" pitchFamily="49" charset="0"/>
              </a:rPr>
              <a:t>white</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DARKGREY - </a:t>
            </a:r>
            <a:r>
              <a:rPr lang="es-ES" sz="1100" b="0" i="1" dirty="0" err="1">
                <a:solidFill>
                  <a:srgbClr val="448C27"/>
                </a:solidFill>
                <a:effectLst/>
                <a:latin typeface="Consolas" panose="020B0609020204030204" pitchFamily="49" charset="0"/>
              </a:rPr>
              <a:t>Dark</a:t>
            </a:r>
            <a:r>
              <a:rPr lang="es-ES" sz="1100" b="0" i="1" dirty="0">
                <a:solidFill>
                  <a:srgbClr val="448C27"/>
                </a:solidFill>
                <a:effectLst/>
                <a:latin typeface="Consolas" panose="020B0609020204030204" pitchFamily="49" charset="0"/>
              </a:rPr>
              <a:t> grey / light </a:t>
            </a:r>
            <a:r>
              <a:rPr lang="es-ES" sz="1100" b="0" i="1" dirty="0" err="1">
                <a:solidFill>
                  <a:srgbClr val="448C27"/>
                </a:solidFill>
                <a:effectLst/>
                <a:latin typeface="Consolas" panose="020B0609020204030204" pitchFamily="49" charset="0"/>
              </a:rPr>
              <a:t>black</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LIGHTBLUE - Light blue</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LIGHTGREEN - Light </a:t>
            </a:r>
            <a:r>
              <a:rPr lang="es-ES" sz="1100" b="0" i="1" dirty="0" err="1">
                <a:solidFill>
                  <a:srgbClr val="448C27"/>
                </a:solidFill>
                <a:effectLst/>
                <a:latin typeface="Consolas" panose="020B0609020204030204" pitchFamily="49" charset="0"/>
              </a:rPr>
              <a:t>green</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LIGHTCYAN - Light </a:t>
            </a:r>
            <a:r>
              <a:rPr lang="es-ES" sz="1100" b="0" i="1" dirty="0" err="1">
                <a:solidFill>
                  <a:srgbClr val="448C27"/>
                </a:solidFill>
                <a:effectLst/>
                <a:latin typeface="Consolas" panose="020B0609020204030204" pitchFamily="49" charset="0"/>
              </a:rPr>
              <a:t>cyan</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LIGHTRED - Light red</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LIGHTMAGENTA - Light magenta / light </a:t>
            </a:r>
            <a:r>
              <a:rPr lang="es-ES" sz="1100" b="0" i="1" dirty="0" err="1">
                <a:solidFill>
                  <a:srgbClr val="448C27"/>
                </a:solidFill>
                <a:effectLst/>
                <a:latin typeface="Consolas" panose="020B0609020204030204" pitchFamily="49" charset="0"/>
              </a:rPr>
              <a:t>purple</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YELLOW - </a:t>
            </a:r>
            <a:r>
              <a:rPr lang="es-ES" sz="1100" b="0" i="1" dirty="0" err="1">
                <a:solidFill>
                  <a:srgbClr val="448C27"/>
                </a:solidFill>
                <a:effectLst/>
                <a:latin typeface="Consolas" panose="020B0609020204030204" pitchFamily="49" charset="0"/>
              </a:rPr>
              <a:t>Yellow</a:t>
            </a:r>
            <a:r>
              <a:rPr lang="es-ES" sz="1100" b="0" i="1" dirty="0">
                <a:solidFill>
                  <a:srgbClr val="448C27"/>
                </a:solidFill>
                <a:effectLst/>
                <a:latin typeface="Consolas" panose="020B0609020204030204" pitchFamily="49" charset="0"/>
              </a:rPr>
              <a:t> (</a:t>
            </a:r>
            <a:r>
              <a:rPr lang="es-ES" sz="1100" b="0" i="1" dirty="0" err="1">
                <a:solidFill>
                  <a:srgbClr val="448C27"/>
                </a:solidFill>
                <a:effectLst/>
                <a:latin typeface="Consolas" panose="020B0609020204030204" pitchFamily="49" charset="0"/>
              </a:rPr>
              <a:t>bright</a:t>
            </a:r>
            <a:r>
              <a:rPr lang="es-ES" sz="1100" b="0" i="1" dirty="0">
                <a:solidFill>
                  <a:srgbClr val="448C27"/>
                </a:solidFill>
                <a:effectLst/>
                <a:latin typeface="Consolas" panose="020B0609020204030204" pitchFamily="49" charset="0"/>
              </a:rPr>
              <a:t>)</a:t>
            </a:r>
            <a:endParaRPr lang="es-ES" sz="1100" b="0" dirty="0">
              <a:solidFill>
                <a:srgbClr val="333333"/>
              </a:solidFill>
              <a:effectLst/>
              <a:latin typeface="Consolas" panose="020B0609020204030204" pitchFamily="49" charset="0"/>
            </a:endParaRPr>
          </a:p>
          <a:p>
            <a:r>
              <a:rPr lang="es-ES" sz="1100" b="0" i="1" dirty="0">
                <a:solidFill>
                  <a:srgbClr val="448C27"/>
                </a:solidFill>
                <a:effectLst/>
                <a:latin typeface="Consolas" panose="020B0609020204030204" pitchFamily="49" charset="0"/>
              </a:rPr>
              <a:t> * WHITE - White (</a:t>
            </a:r>
            <a:r>
              <a:rPr lang="es-ES" sz="1100" b="0" i="1" dirty="0" err="1">
                <a:solidFill>
                  <a:srgbClr val="448C27"/>
                </a:solidFill>
                <a:effectLst/>
                <a:latin typeface="Consolas" panose="020B0609020204030204" pitchFamily="49" charset="0"/>
              </a:rPr>
              <a:t>bright</a:t>
            </a:r>
            <a:r>
              <a:rPr lang="es-ES" sz="1100" b="0" i="1" dirty="0">
                <a:solidFill>
                  <a:srgbClr val="448C27"/>
                </a:solidFill>
                <a:effectLst/>
                <a:latin typeface="Consolas" panose="020B0609020204030204" pitchFamily="49" charset="0"/>
              </a:rPr>
              <a:t>)</a:t>
            </a:r>
            <a:endParaRPr lang="es-ES" sz="1100" b="0" dirty="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272537989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err="1"/>
              <a:t>Llibreria</a:t>
            </a:r>
            <a:r>
              <a:rPr lang="es-ES" dirty="0"/>
              <a:t> “</a:t>
            </a:r>
            <a:r>
              <a:rPr lang="es-ES" dirty="0" err="1"/>
              <a:t>rlutil.h</a:t>
            </a:r>
            <a:r>
              <a:rPr lang="es-ES" dirty="0"/>
              <a:t>”</a:t>
            </a:r>
          </a:p>
        </p:txBody>
      </p:sp>
      <p:sp>
        <p:nvSpPr>
          <p:cNvPr id="3" name="1"/>
          <p:cNvSpPr>
            <a:spLocks noGrp="1"/>
          </p:cNvSpPr>
          <p:nvPr>
            <p:ph idx="1"/>
          </p:nvPr>
        </p:nvSpPr>
        <p:spPr>
          <a:xfrm>
            <a:off x="495300" y="787400"/>
            <a:ext cx="8534401" cy="5772930"/>
          </a:xfrm>
        </p:spPr>
        <p:txBody>
          <a:bodyPr>
            <a:noAutofit/>
          </a:bodyPr>
          <a:lstStyle/>
          <a:p>
            <a:pPr marL="0" indent="0">
              <a:lnSpc>
                <a:spcPct val="130000"/>
              </a:lnSpc>
              <a:spcBef>
                <a:spcPts val="0"/>
              </a:spcBef>
              <a:buNone/>
            </a:pPr>
            <a:r>
              <a:rPr lang="es-ES" sz="1400" dirty="0" err="1"/>
              <a:t>Llibreria</a:t>
            </a:r>
            <a:r>
              <a:rPr lang="es-ES" sz="1400" dirty="0"/>
              <a:t> que </a:t>
            </a:r>
            <a:r>
              <a:rPr lang="es-ES" sz="1400" dirty="0" err="1"/>
              <a:t>permet</a:t>
            </a:r>
            <a:r>
              <a:rPr lang="es-ES" sz="1400" dirty="0"/>
              <a:t>:</a:t>
            </a:r>
          </a:p>
          <a:p>
            <a:pPr marL="447675" indent="-447675">
              <a:lnSpc>
                <a:spcPct val="130000"/>
              </a:lnSpc>
              <a:spcBef>
                <a:spcPts val="0"/>
              </a:spcBef>
              <a:buFont typeface="+mj-lt"/>
              <a:buAutoNum type="arabicPeriod"/>
            </a:pPr>
            <a:r>
              <a:rPr lang="es-ES" sz="1400" dirty="0" err="1"/>
              <a:t>Treballar</a:t>
            </a:r>
            <a:r>
              <a:rPr lang="es-ES" sz="1400" dirty="0"/>
              <a:t> </a:t>
            </a:r>
            <a:r>
              <a:rPr lang="es-ES" sz="1400" dirty="0" err="1"/>
              <a:t>amb</a:t>
            </a:r>
            <a:r>
              <a:rPr lang="es-ES" sz="1400" dirty="0"/>
              <a:t> color</a:t>
            </a:r>
          </a:p>
          <a:p>
            <a:pPr marL="447675" indent="-447675">
              <a:lnSpc>
                <a:spcPct val="130000"/>
              </a:lnSpc>
              <a:spcBef>
                <a:spcPts val="0"/>
              </a:spcBef>
              <a:buFont typeface="+mj-lt"/>
              <a:buAutoNum type="arabicPeriod"/>
            </a:pPr>
            <a:r>
              <a:rPr lang="es-ES" sz="1400" dirty="0" err="1"/>
              <a:t>Sleep</a:t>
            </a:r>
            <a:endParaRPr lang="es-ES" sz="1400" dirty="0"/>
          </a:p>
          <a:p>
            <a:pPr marL="447675" indent="-447675">
              <a:lnSpc>
                <a:spcPct val="130000"/>
              </a:lnSpc>
              <a:spcBef>
                <a:spcPts val="0"/>
              </a:spcBef>
              <a:buFont typeface="+mj-lt"/>
              <a:buAutoNum type="arabicPeriod"/>
            </a:pPr>
            <a:r>
              <a:rPr lang="es-ES" sz="1400" dirty="0"/>
              <a:t>Borrar la pantalla: </a:t>
            </a:r>
            <a:r>
              <a:rPr lang="es-ES" sz="1400" dirty="0" err="1"/>
              <a:t>cls</a:t>
            </a:r>
            <a:r>
              <a:rPr lang="es-ES" sz="1400" dirty="0"/>
              <a:t>();</a:t>
            </a:r>
          </a:p>
          <a:p>
            <a:pPr marL="447675" indent="-447675">
              <a:lnSpc>
                <a:spcPct val="130000"/>
              </a:lnSpc>
              <a:spcBef>
                <a:spcPts val="0"/>
              </a:spcBef>
              <a:buFont typeface="+mj-lt"/>
              <a:buAutoNum type="arabicPeriod"/>
            </a:pPr>
            <a:r>
              <a:rPr lang="es-ES" sz="1400" dirty="0"/>
              <a:t>Variables </a:t>
            </a:r>
            <a:r>
              <a:rPr lang="es-ES" sz="1400" dirty="0" err="1"/>
              <a:t>booleanes</a:t>
            </a:r>
            <a:endParaRPr lang="es-ES" sz="1400" dirty="0"/>
          </a:p>
          <a:p>
            <a:pPr marL="447675" indent="-447675">
              <a:lnSpc>
                <a:spcPct val="130000"/>
              </a:lnSpc>
              <a:spcBef>
                <a:spcPts val="0"/>
              </a:spcBef>
              <a:buFont typeface="+mj-lt"/>
              <a:buAutoNum type="arabicPeriod"/>
            </a:pPr>
            <a:r>
              <a:rPr lang="es-ES" sz="1400" dirty="0" err="1"/>
              <a:t>Posicionament</a:t>
            </a:r>
            <a:r>
              <a:rPr lang="es-ES" sz="1400" dirty="0"/>
              <a:t> en la pantalla</a:t>
            </a:r>
          </a:p>
          <a:p>
            <a:pPr marL="0" indent="0">
              <a:lnSpc>
                <a:spcPct val="130000"/>
              </a:lnSpc>
              <a:spcBef>
                <a:spcPts val="0"/>
              </a:spcBef>
              <a:buNone/>
            </a:pPr>
            <a:endParaRPr lang="es-ES" sz="1600" b="1" dirty="0"/>
          </a:p>
          <a:p>
            <a:pPr marL="342900" indent="-342900">
              <a:lnSpc>
                <a:spcPct val="130000"/>
              </a:lnSpc>
              <a:spcBef>
                <a:spcPts val="0"/>
              </a:spcBef>
              <a:buFont typeface="+mj-lt"/>
              <a:buAutoNum type="arabicPeriod"/>
            </a:pPr>
            <a:endParaRPr lang="es-ES" sz="1600" dirty="0"/>
          </a:p>
          <a:p>
            <a:pPr marL="0" indent="0">
              <a:buNone/>
            </a:pPr>
            <a:endParaRPr lang="es-ES" sz="900" dirty="0"/>
          </a:p>
        </p:txBody>
      </p:sp>
      <p:sp>
        <p:nvSpPr>
          <p:cNvPr id="6" name="CuadroTexto 5">
            <a:extLst>
              <a:ext uri="{FF2B5EF4-FFF2-40B4-BE49-F238E27FC236}">
                <a16:creationId xmlns:a16="http://schemas.microsoft.com/office/drawing/2014/main" id="{6CE96B5A-49C7-4958-A042-80F924576974}"/>
              </a:ext>
            </a:extLst>
          </p:cNvPr>
          <p:cNvSpPr txBox="1"/>
          <p:nvPr/>
        </p:nvSpPr>
        <p:spPr>
          <a:xfrm>
            <a:off x="495300" y="2746613"/>
            <a:ext cx="4629150" cy="3785652"/>
          </a:xfrm>
          <a:prstGeom prst="rect">
            <a:avLst/>
          </a:prstGeom>
          <a:noFill/>
          <a:ln>
            <a:solidFill>
              <a:schemeClr val="tx1"/>
            </a:solidFill>
            <a:prstDash val="lgDash"/>
          </a:ln>
        </p:spPr>
        <p:txBody>
          <a:bodyPr wrap="square">
            <a:spAutoFit/>
          </a:bodyPr>
          <a:lstStyle/>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&lt;</a:t>
            </a:r>
            <a:r>
              <a:rPr lang="es-ES" sz="1600" b="0" dirty="0" err="1">
                <a:solidFill>
                  <a:srgbClr val="448C27"/>
                </a:solidFill>
                <a:effectLst/>
                <a:latin typeface="Consolas" panose="020B0609020204030204" pitchFamily="49" charset="0"/>
              </a:rPr>
              <a:t>stdio.h</a:t>
            </a:r>
            <a:r>
              <a:rPr lang="es-ES" sz="1600" b="0" dirty="0">
                <a:solidFill>
                  <a:srgbClr val="777777"/>
                </a:solidFill>
                <a:effectLst/>
                <a:latin typeface="Consolas" panose="020B0609020204030204" pitchFamily="49" charset="0"/>
              </a:rPr>
              <a:t>&gt;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&lt;</a:t>
            </a:r>
            <a:r>
              <a:rPr lang="es-ES" sz="1600" b="0" dirty="0" err="1">
                <a:solidFill>
                  <a:srgbClr val="448C27"/>
                </a:solidFill>
                <a:effectLst/>
                <a:latin typeface="Consolas" panose="020B0609020204030204" pitchFamily="49" charset="0"/>
              </a:rPr>
              <a:t>stdlib.h</a:t>
            </a:r>
            <a:r>
              <a:rPr lang="es-ES" sz="1600" b="0" dirty="0">
                <a:solidFill>
                  <a:srgbClr val="777777"/>
                </a:solidFill>
                <a:effectLst/>
                <a:latin typeface="Consolas" panose="020B0609020204030204" pitchFamily="49" charset="0"/>
              </a:rPr>
              <a:t>&gt;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r>
              <a:rPr lang="es-ES" sz="1600" b="0" dirty="0">
                <a:solidFill>
                  <a:srgbClr val="4B69C6"/>
                </a:solidFill>
                <a:effectLst/>
                <a:latin typeface="Consolas" panose="020B0609020204030204" pitchFamily="49" charset="0"/>
              </a:rPr>
              <a:t>include</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r>
              <a:rPr lang="es-ES" sz="1600" b="0" dirty="0" err="1">
                <a:solidFill>
                  <a:srgbClr val="448C27"/>
                </a:solidFill>
                <a:effectLst/>
                <a:latin typeface="Consolas" panose="020B0609020204030204" pitchFamily="49" charset="0"/>
              </a:rPr>
              <a:t>rlutil.h</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br>
              <a:rPr lang="es-ES" sz="1600" b="0" dirty="0">
                <a:solidFill>
                  <a:srgbClr val="333333"/>
                </a:solidFill>
                <a:effectLst/>
                <a:latin typeface="Consolas" panose="020B0609020204030204" pitchFamily="49" charset="0"/>
              </a:rPr>
            </a:br>
            <a:r>
              <a:rPr lang="es-ES" sz="1600" b="0" dirty="0" err="1">
                <a:solidFill>
                  <a:srgbClr val="7A3E9D"/>
                </a:solidFill>
                <a:effectLst/>
                <a:latin typeface="Consolas" panose="020B0609020204030204" pitchFamily="49" charset="0"/>
              </a:rPr>
              <a:t>int</a:t>
            </a:r>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main</a:t>
            </a:r>
            <a:r>
              <a:rPr lang="es-ES" sz="1600" b="0" dirty="0">
                <a:solidFill>
                  <a:srgbClr val="777777"/>
                </a:solidFill>
                <a:effectLst/>
                <a:latin typeface="Consolas" panose="020B0609020204030204" pitchFamily="49" charset="0"/>
              </a:rPr>
              <a:t>(</a:t>
            </a:r>
            <a:r>
              <a:rPr lang="es-ES" sz="1600" b="0" dirty="0" err="1">
                <a:solidFill>
                  <a:srgbClr val="7A3E9D"/>
                </a:solidFill>
                <a:effectLst/>
                <a:latin typeface="Consolas" panose="020B0609020204030204" pitchFamily="49" charset="0"/>
              </a:rPr>
              <a:t>void</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cls</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err="1">
                <a:solidFill>
                  <a:srgbClr val="4B69C6"/>
                </a:solidFill>
                <a:effectLst/>
                <a:latin typeface="Consolas" panose="020B0609020204030204" pitchFamily="49" charset="0"/>
              </a:rPr>
              <a:t>for</a:t>
            </a:r>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r>
              <a:rPr lang="es-ES" sz="1600" b="0" dirty="0" err="1">
                <a:solidFill>
                  <a:srgbClr val="7A3E9D"/>
                </a:solidFill>
                <a:effectLst/>
                <a:latin typeface="Consolas" panose="020B0609020204030204" pitchFamily="49" charset="0"/>
              </a:rPr>
              <a:t>int</a:t>
            </a:r>
            <a:r>
              <a:rPr lang="es-ES" sz="1600" b="0" dirty="0">
                <a:solidFill>
                  <a:srgbClr val="333333"/>
                </a:solidFill>
                <a:effectLst/>
                <a:latin typeface="Consolas" panose="020B0609020204030204" pitchFamily="49" charset="0"/>
              </a:rPr>
              <a:t> </a:t>
            </a:r>
            <a:r>
              <a:rPr lang="es-ES" sz="1600" b="0" dirty="0">
                <a:solidFill>
                  <a:srgbClr val="7A3E9D"/>
                </a:solidFill>
                <a:effectLst/>
                <a:latin typeface="Consolas" panose="020B0609020204030204" pitchFamily="49" charset="0"/>
              </a:rPr>
              <a:t>x</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1</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x</a:t>
            </a:r>
            <a:r>
              <a:rPr lang="es-ES" sz="1600" b="0" dirty="0">
                <a:solidFill>
                  <a:srgbClr val="777777"/>
                </a:solidFill>
                <a:effectLst/>
                <a:latin typeface="Consolas" panose="020B0609020204030204" pitchFamily="49" charset="0"/>
              </a:rPr>
              <a:t>&lt;=</a:t>
            </a:r>
            <a:r>
              <a:rPr lang="es-ES" sz="1600" b="0" dirty="0">
                <a:solidFill>
                  <a:srgbClr val="9C5D27"/>
                </a:solidFill>
                <a:effectLst/>
                <a:latin typeface="Consolas" panose="020B0609020204030204" pitchFamily="49" charset="0"/>
              </a:rPr>
              <a:t>15</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x</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gotoxy</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x</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3</a:t>
            </a:r>
            <a:r>
              <a:rPr lang="es-ES" sz="1600" b="0" dirty="0">
                <a:solidFill>
                  <a:srgbClr val="777777"/>
                </a:solidFill>
                <a:effectLst/>
                <a:latin typeface="Consolas" panose="020B0609020204030204" pitchFamily="49" charset="0"/>
              </a:rPr>
              <a:t>);</a:t>
            </a:r>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printf</a:t>
            </a:r>
            <a:r>
              <a:rPr lang="es-ES" sz="1600" b="0" dirty="0">
                <a:solidFill>
                  <a:srgbClr val="777777"/>
                </a:solidFill>
                <a:effectLst/>
                <a:latin typeface="Consolas" panose="020B0609020204030204" pitchFamily="49" charset="0"/>
              </a:rPr>
              <a:t>("</a:t>
            </a:r>
            <a:r>
              <a:rPr lang="es-ES" sz="1600" b="0" dirty="0">
                <a:solidFill>
                  <a:srgbClr val="448C27"/>
                </a:solidFill>
                <a:effectLst/>
                <a:latin typeface="Consolas" panose="020B0609020204030204" pitchFamily="49" charset="0"/>
              </a:rPr>
              <a:t>X</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Sleep</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100</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gotoxy</a:t>
            </a:r>
            <a:r>
              <a:rPr lang="es-ES" sz="1600" b="0" dirty="0">
                <a:solidFill>
                  <a:srgbClr val="777777"/>
                </a:solidFill>
                <a:effectLst/>
                <a:latin typeface="Consolas" panose="020B0609020204030204" pitchFamily="49" charset="0"/>
              </a:rPr>
              <a:t>(</a:t>
            </a:r>
            <a:r>
              <a:rPr lang="es-ES" sz="1600" b="0" dirty="0">
                <a:solidFill>
                  <a:srgbClr val="7A3E9D"/>
                </a:solidFill>
                <a:effectLst/>
                <a:latin typeface="Consolas" panose="020B0609020204030204" pitchFamily="49" charset="0"/>
              </a:rPr>
              <a:t>x</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10</a:t>
            </a:r>
            <a:r>
              <a:rPr lang="es-ES" sz="1600" b="0" dirty="0">
                <a:solidFill>
                  <a:srgbClr val="777777"/>
                </a:solidFill>
                <a:effectLst/>
                <a:latin typeface="Consolas" panose="020B0609020204030204" pitchFamily="49" charset="0"/>
              </a:rPr>
              <a:t>);</a:t>
            </a:r>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printf</a:t>
            </a:r>
            <a:r>
              <a:rPr lang="es-ES" sz="1600" b="0" dirty="0">
                <a:solidFill>
                  <a:srgbClr val="777777"/>
                </a:solidFill>
                <a:effectLst/>
                <a:latin typeface="Consolas" panose="020B0609020204030204" pitchFamily="49" charset="0"/>
              </a:rPr>
              <a:t>("</a:t>
            </a:r>
            <a:r>
              <a:rPr lang="es-ES" sz="1600" b="0" dirty="0">
                <a:solidFill>
                  <a:srgbClr val="448C27"/>
                </a:solidFill>
                <a:effectLst/>
                <a:latin typeface="Consolas" panose="020B0609020204030204" pitchFamily="49" charset="0"/>
              </a:rPr>
              <a:t>X</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1" dirty="0" err="1">
                <a:solidFill>
                  <a:srgbClr val="AA3731"/>
                </a:solidFill>
                <a:effectLst/>
                <a:latin typeface="Consolas" panose="020B0609020204030204" pitchFamily="49" charset="0"/>
              </a:rPr>
              <a:t>Sleep</a:t>
            </a:r>
            <a:r>
              <a:rPr lang="es-ES" sz="1600" b="0" dirty="0">
                <a:solidFill>
                  <a:srgbClr val="777777"/>
                </a:solidFill>
                <a:effectLst/>
                <a:latin typeface="Consolas" panose="020B0609020204030204" pitchFamily="49" charset="0"/>
              </a:rPr>
              <a:t>(</a:t>
            </a:r>
            <a:r>
              <a:rPr lang="es-ES" sz="1600" b="0" dirty="0">
                <a:solidFill>
                  <a:srgbClr val="9C5D27"/>
                </a:solidFill>
                <a:effectLst/>
                <a:latin typeface="Consolas" panose="020B0609020204030204" pitchFamily="49" charset="0"/>
              </a:rPr>
              <a:t>100</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333333"/>
                </a:solidFill>
                <a:effectLst/>
                <a:latin typeface="Consolas" panose="020B0609020204030204" pitchFamily="49" charset="0"/>
              </a:rPr>
              <a:t>    </a:t>
            </a:r>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a:p>
            <a:r>
              <a:rPr lang="es-ES" sz="1600" b="0" dirty="0">
                <a:solidFill>
                  <a:srgbClr val="777777"/>
                </a:solidFill>
                <a:effectLst/>
                <a:latin typeface="Consolas" panose="020B0609020204030204" pitchFamily="49" charset="0"/>
              </a:rPr>
              <a:t>}</a:t>
            </a:r>
            <a:endParaRPr lang="es-ES" sz="1600" b="0" dirty="0">
              <a:solidFill>
                <a:srgbClr val="333333"/>
              </a:solidFill>
              <a:effectLst/>
              <a:latin typeface="Consolas" panose="020B0609020204030204" pitchFamily="49" charset="0"/>
            </a:endParaRPr>
          </a:p>
        </p:txBody>
      </p:sp>
      <p:pic>
        <p:nvPicPr>
          <p:cNvPr id="5" name="Imagen 4">
            <a:extLst>
              <a:ext uri="{FF2B5EF4-FFF2-40B4-BE49-F238E27FC236}">
                <a16:creationId xmlns:a16="http://schemas.microsoft.com/office/drawing/2014/main" id="{0678EF9B-05AC-41BE-83DC-9F077F6E823C}"/>
              </a:ext>
            </a:extLst>
          </p:cNvPr>
          <p:cNvPicPr>
            <a:picLocks noChangeAspect="1"/>
          </p:cNvPicPr>
          <p:nvPr/>
        </p:nvPicPr>
        <p:blipFill>
          <a:blip r:embed="rId2"/>
          <a:stretch>
            <a:fillRect/>
          </a:stretch>
        </p:blipFill>
        <p:spPr>
          <a:xfrm>
            <a:off x="5400805" y="3429000"/>
            <a:ext cx="2076190" cy="2352381"/>
          </a:xfrm>
          <a:prstGeom prst="rect">
            <a:avLst/>
          </a:prstGeom>
        </p:spPr>
      </p:pic>
    </p:spTree>
    <p:extLst>
      <p:ext uri="{BB962C8B-B14F-4D97-AF65-F5344CB8AC3E}">
        <p14:creationId xmlns:p14="http://schemas.microsoft.com/office/powerpoint/2010/main" val="33966456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352EC-20F4-42CD-8491-DDFA1D1A7BF6}"/>
              </a:ext>
            </a:extLst>
          </p:cNvPr>
          <p:cNvSpPr>
            <a:spLocks noGrp="1"/>
          </p:cNvSpPr>
          <p:nvPr>
            <p:ph type="title"/>
          </p:nvPr>
        </p:nvSpPr>
        <p:spPr/>
        <p:txBody>
          <a:bodyPr/>
          <a:lstStyle/>
          <a:p>
            <a:r>
              <a:rPr lang="ca-ES" dirty="0" err="1"/>
              <a:t>Kbhit</a:t>
            </a:r>
            <a:r>
              <a:rPr lang="ca-ES" dirty="0"/>
              <a:t>()</a:t>
            </a:r>
          </a:p>
        </p:txBody>
      </p:sp>
      <p:sp>
        <p:nvSpPr>
          <p:cNvPr id="3" name="Marcador de contenido 2">
            <a:extLst>
              <a:ext uri="{FF2B5EF4-FFF2-40B4-BE49-F238E27FC236}">
                <a16:creationId xmlns:a16="http://schemas.microsoft.com/office/drawing/2014/main" id="{03473032-C108-4194-A781-BA7889A3D342}"/>
              </a:ext>
            </a:extLst>
          </p:cNvPr>
          <p:cNvSpPr>
            <a:spLocks noGrp="1"/>
          </p:cNvSpPr>
          <p:nvPr>
            <p:ph idx="1"/>
          </p:nvPr>
        </p:nvSpPr>
        <p:spPr>
          <a:xfrm>
            <a:off x="369332" y="878840"/>
            <a:ext cx="8534401" cy="3501571"/>
          </a:xfrm>
        </p:spPr>
        <p:txBody>
          <a:bodyPr>
            <a:normAutofit/>
          </a:bodyPr>
          <a:lstStyle/>
          <a:p>
            <a:pPr marL="0" indent="0">
              <a:buNone/>
            </a:pPr>
            <a:r>
              <a:rPr lang="ca-ES" dirty="0" err="1"/>
              <a:t>kbhit</a:t>
            </a:r>
            <a:r>
              <a:rPr lang="ca-ES" dirty="0"/>
              <a:t> és una funció que està definida en el </a:t>
            </a:r>
            <a:r>
              <a:rPr lang="ca-ES" dirty="0" err="1"/>
              <a:t>header</a:t>
            </a:r>
            <a:r>
              <a:rPr lang="ca-ES" dirty="0"/>
              <a:t> de ‘</a:t>
            </a:r>
            <a:r>
              <a:rPr lang="ca-ES" dirty="0" err="1"/>
              <a:t>conio.h</a:t>
            </a:r>
            <a:r>
              <a:rPr lang="ca-ES" dirty="0"/>
              <a:t>’ i també en ‘</a:t>
            </a:r>
            <a:r>
              <a:rPr lang="ca-ES" dirty="0" err="1"/>
              <a:t>rlutil.h</a:t>
            </a:r>
            <a:r>
              <a:rPr lang="ca-ES" dirty="0"/>
              <a:t>’.</a:t>
            </a:r>
          </a:p>
          <a:p>
            <a:pPr marL="0" indent="0">
              <a:buNone/>
            </a:pPr>
            <a:r>
              <a:rPr lang="ca-ES" dirty="0"/>
              <a:t>Permet testejar si s’ha premut una tecla. En el cas que s’hagi premut una tecla, la funció retorna un valor diferent de zero; si no retorna zero.</a:t>
            </a:r>
          </a:p>
          <a:p>
            <a:pPr marL="0" indent="0">
              <a:buNone/>
            </a:pPr>
            <a:r>
              <a:rPr lang="ca-ES" dirty="0"/>
              <a:t>Fer un programa que començant en la casella (1,5) i en increments d’1 en 1, recorri la pantalla des de x=1 fins a la x=80. Quan arribi a x=80 ha de retornar fins a x=1; i torna a anar cap a la dreta. Aquest procés es repetirà mentre que no es premi una tecla.</a:t>
            </a:r>
          </a:p>
          <a:p>
            <a:pPr marL="0" indent="0">
              <a:buNone/>
            </a:pPr>
            <a:r>
              <a:rPr lang="ca-ES" dirty="0"/>
              <a:t>En cada una dels </a:t>
            </a:r>
            <a:r>
              <a:rPr lang="ca-ES" dirty="0" err="1"/>
              <a:t>printf</a:t>
            </a:r>
            <a:r>
              <a:rPr lang="ca-ES" dirty="0"/>
              <a:t> ha de canviar el color del símbol que imprimeix. Deixarem un </a:t>
            </a:r>
            <a:r>
              <a:rPr lang="ca-ES" dirty="0" err="1"/>
              <a:t>Sleep</a:t>
            </a:r>
            <a:r>
              <a:rPr lang="ca-ES" dirty="0"/>
              <a:t> de 50</a:t>
            </a:r>
          </a:p>
          <a:p>
            <a:pPr marL="0" indent="0">
              <a:buNone/>
            </a:pPr>
            <a:r>
              <a:rPr lang="ca-ES" dirty="0"/>
              <a:t>Per comprovar el funcionament del </a:t>
            </a:r>
            <a:r>
              <a:rPr lang="ca-ES" dirty="0" err="1"/>
              <a:t>kbhit</a:t>
            </a:r>
            <a:r>
              <a:rPr lang="ca-ES" dirty="0"/>
              <a:t> () s’ha d’executar el .\main.exe</a:t>
            </a:r>
          </a:p>
          <a:p>
            <a:pPr marL="0" indent="0">
              <a:buNone/>
            </a:pPr>
            <a:endParaRPr lang="ca-ES" dirty="0"/>
          </a:p>
        </p:txBody>
      </p:sp>
      <p:pic>
        <p:nvPicPr>
          <p:cNvPr id="5" name="Imagen 4">
            <a:extLst>
              <a:ext uri="{FF2B5EF4-FFF2-40B4-BE49-F238E27FC236}">
                <a16:creationId xmlns:a16="http://schemas.microsoft.com/office/drawing/2014/main" id="{13A382F3-B78B-468D-B507-7BADEA3863BF}"/>
              </a:ext>
            </a:extLst>
          </p:cNvPr>
          <p:cNvPicPr>
            <a:picLocks noChangeAspect="1"/>
          </p:cNvPicPr>
          <p:nvPr/>
        </p:nvPicPr>
        <p:blipFill>
          <a:blip r:embed="rId2"/>
          <a:stretch>
            <a:fillRect/>
          </a:stretch>
        </p:blipFill>
        <p:spPr>
          <a:xfrm>
            <a:off x="305874" y="4553647"/>
            <a:ext cx="8590476" cy="276190"/>
          </a:xfrm>
          <a:prstGeom prst="rect">
            <a:avLst/>
          </a:prstGeom>
        </p:spPr>
      </p:pic>
    </p:spTree>
    <p:extLst>
      <p:ext uri="{BB962C8B-B14F-4D97-AF65-F5344CB8AC3E}">
        <p14:creationId xmlns:p14="http://schemas.microsoft.com/office/powerpoint/2010/main" val="156421971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F9CAB8-ABAC-41BC-9B40-D444B33D7710}"/>
              </a:ext>
            </a:extLst>
          </p:cNvPr>
          <p:cNvSpPr>
            <a:spLocks noGrp="1"/>
          </p:cNvSpPr>
          <p:nvPr>
            <p:ph type="title"/>
          </p:nvPr>
        </p:nvSpPr>
        <p:spPr/>
        <p:txBody>
          <a:bodyPr/>
          <a:lstStyle/>
          <a:p>
            <a:r>
              <a:rPr lang="ca-ES" dirty="0" err="1"/>
              <a:t>Kbhit</a:t>
            </a:r>
            <a:r>
              <a:rPr lang="ca-ES" dirty="0"/>
              <a:t>()</a:t>
            </a:r>
          </a:p>
        </p:txBody>
      </p:sp>
      <p:sp>
        <p:nvSpPr>
          <p:cNvPr id="7" name="CuadroTexto 6">
            <a:extLst>
              <a:ext uri="{FF2B5EF4-FFF2-40B4-BE49-F238E27FC236}">
                <a16:creationId xmlns:a16="http://schemas.microsoft.com/office/drawing/2014/main" id="{939C4EEA-B0B5-46A6-A694-3E4ED48129A8}"/>
              </a:ext>
            </a:extLst>
          </p:cNvPr>
          <p:cNvSpPr txBox="1"/>
          <p:nvPr/>
        </p:nvSpPr>
        <p:spPr>
          <a:xfrm>
            <a:off x="581298" y="689788"/>
            <a:ext cx="3860074" cy="5478423"/>
          </a:xfrm>
          <a:prstGeom prst="rect">
            <a:avLst/>
          </a:prstGeom>
          <a:noFill/>
          <a:ln>
            <a:solidFill>
              <a:schemeClr val="tx1"/>
            </a:solidFill>
            <a:prstDash val="lgDash"/>
          </a:ln>
        </p:spPr>
        <p:txBody>
          <a:bodyPr wrap="square">
            <a:spAutoFit/>
          </a:bodyPr>
          <a:lstStyle/>
          <a:p>
            <a:r>
              <a:rPr lang="es-ES" sz="1400" b="0" dirty="0">
                <a:solidFill>
                  <a:srgbClr val="777777"/>
                </a:solidFill>
                <a:effectLst/>
                <a:latin typeface="Consolas" panose="020B0609020204030204" pitchFamily="49" charset="0"/>
              </a:rPr>
              <a:t>#</a:t>
            </a:r>
            <a:r>
              <a:rPr lang="es-ES" sz="1400" b="0" dirty="0">
                <a:solidFill>
                  <a:srgbClr val="4B69C6"/>
                </a:solidFill>
                <a:effectLst/>
                <a:latin typeface="Consolas" panose="020B0609020204030204" pitchFamily="49" charset="0"/>
              </a:rPr>
              <a:t>include</a:t>
            </a:r>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&lt;</a:t>
            </a:r>
            <a:r>
              <a:rPr lang="es-ES" sz="1400" b="0" dirty="0" err="1">
                <a:solidFill>
                  <a:srgbClr val="448C27"/>
                </a:solidFill>
                <a:effectLst/>
                <a:latin typeface="Consolas" panose="020B0609020204030204" pitchFamily="49" charset="0"/>
              </a:rPr>
              <a:t>stdio.h</a:t>
            </a:r>
            <a:r>
              <a:rPr lang="es-ES" sz="1400" b="0" dirty="0">
                <a:solidFill>
                  <a:srgbClr val="777777"/>
                </a:solidFill>
                <a:effectLst/>
                <a:latin typeface="Consolas" panose="020B0609020204030204" pitchFamily="49" charset="0"/>
              </a:rPr>
              <a:t>&gt;</a:t>
            </a:r>
            <a:endParaRPr lang="es-ES" sz="1400" b="0" dirty="0">
              <a:solidFill>
                <a:srgbClr val="333333"/>
              </a:solidFill>
              <a:effectLst/>
              <a:latin typeface="Consolas" panose="020B0609020204030204" pitchFamily="49" charset="0"/>
            </a:endParaRPr>
          </a:p>
          <a:p>
            <a:r>
              <a:rPr lang="es-ES" sz="1400" b="0" dirty="0">
                <a:solidFill>
                  <a:srgbClr val="777777"/>
                </a:solidFill>
                <a:effectLst/>
                <a:latin typeface="Consolas" panose="020B0609020204030204" pitchFamily="49" charset="0"/>
              </a:rPr>
              <a:t>#</a:t>
            </a:r>
            <a:r>
              <a:rPr lang="es-ES" sz="1400" b="0" dirty="0">
                <a:solidFill>
                  <a:srgbClr val="4B69C6"/>
                </a:solidFill>
                <a:effectLst/>
                <a:latin typeface="Consolas" panose="020B0609020204030204" pitchFamily="49" charset="0"/>
              </a:rPr>
              <a:t>include</a:t>
            </a:r>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&lt;</a:t>
            </a:r>
            <a:r>
              <a:rPr lang="es-ES" sz="1400" b="0" dirty="0" err="1">
                <a:solidFill>
                  <a:srgbClr val="448C27"/>
                </a:solidFill>
                <a:effectLst/>
                <a:latin typeface="Consolas" panose="020B0609020204030204" pitchFamily="49" charset="0"/>
              </a:rPr>
              <a:t>stdlib.h</a:t>
            </a:r>
            <a:r>
              <a:rPr lang="es-ES" sz="1400" b="0" dirty="0">
                <a:solidFill>
                  <a:srgbClr val="777777"/>
                </a:solidFill>
                <a:effectLst/>
                <a:latin typeface="Consolas" panose="020B0609020204030204" pitchFamily="49" charset="0"/>
              </a:rPr>
              <a:t>&gt;</a:t>
            </a:r>
            <a:endParaRPr lang="es-ES" sz="1400" b="0" dirty="0">
              <a:solidFill>
                <a:srgbClr val="333333"/>
              </a:solidFill>
              <a:effectLst/>
              <a:latin typeface="Consolas" panose="020B0609020204030204" pitchFamily="49" charset="0"/>
            </a:endParaRPr>
          </a:p>
          <a:p>
            <a:r>
              <a:rPr lang="es-ES" sz="1400" b="0" dirty="0">
                <a:solidFill>
                  <a:srgbClr val="777777"/>
                </a:solidFill>
                <a:effectLst/>
                <a:latin typeface="Consolas" panose="020B0609020204030204" pitchFamily="49" charset="0"/>
              </a:rPr>
              <a:t>#</a:t>
            </a:r>
            <a:r>
              <a:rPr lang="es-ES" sz="1400" b="0" dirty="0">
                <a:solidFill>
                  <a:srgbClr val="4B69C6"/>
                </a:solidFill>
                <a:effectLst/>
                <a:latin typeface="Consolas" panose="020B0609020204030204" pitchFamily="49" charset="0"/>
              </a:rPr>
              <a:t>include</a:t>
            </a:r>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a:t>
            </a:r>
            <a:r>
              <a:rPr lang="es-ES" sz="1400" b="0" dirty="0" err="1">
                <a:solidFill>
                  <a:srgbClr val="448C27"/>
                </a:solidFill>
                <a:effectLst/>
                <a:latin typeface="Consolas" panose="020B0609020204030204" pitchFamily="49" charset="0"/>
              </a:rPr>
              <a:t>rlutil.h</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777777"/>
                </a:solidFill>
                <a:effectLst/>
                <a:latin typeface="Consolas" panose="020B0609020204030204" pitchFamily="49" charset="0"/>
              </a:rPr>
              <a:t>#</a:t>
            </a:r>
            <a:r>
              <a:rPr lang="es-ES" sz="1400" b="0" dirty="0">
                <a:solidFill>
                  <a:srgbClr val="4B69C6"/>
                </a:solidFill>
                <a:effectLst/>
                <a:latin typeface="Consolas" panose="020B0609020204030204" pitchFamily="49" charset="0"/>
              </a:rPr>
              <a:t>include</a:t>
            </a:r>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&lt;</a:t>
            </a:r>
            <a:r>
              <a:rPr lang="es-ES" sz="1400" b="0" dirty="0" err="1">
                <a:solidFill>
                  <a:srgbClr val="448C27"/>
                </a:solidFill>
                <a:effectLst/>
                <a:latin typeface="Consolas" panose="020B0609020204030204" pitchFamily="49" charset="0"/>
              </a:rPr>
              <a:t>time.h</a:t>
            </a:r>
            <a:r>
              <a:rPr lang="es-ES" sz="1400" b="0" dirty="0">
                <a:solidFill>
                  <a:srgbClr val="777777"/>
                </a:solidFill>
                <a:effectLst/>
                <a:latin typeface="Consolas" panose="020B0609020204030204" pitchFamily="49" charset="0"/>
              </a:rPr>
              <a:t>&gt;</a:t>
            </a:r>
            <a:endParaRPr lang="es-ES" sz="1400" b="0" dirty="0">
              <a:solidFill>
                <a:srgbClr val="333333"/>
              </a:solidFill>
              <a:effectLst/>
              <a:latin typeface="Consolas" panose="020B0609020204030204" pitchFamily="49" charset="0"/>
            </a:endParaRPr>
          </a:p>
          <a:p>
            <a:br>
              <a:rPr lang="es-ES" sz="1400" b="0" dirty="0">
                <a:solidFill>
                  <a:srgbClr val="333333"/>
                </a:solidFill>
                <a:effectLst/>
                <a:latin typeface="Consolas" panose="020B0609020204030204" pitchFamily="49" charset="0"/>
              </a:rPr>
            </a:br>
            <a:r>
              <a:rPr lang="es-ES" sz="1400" b="0" dirty="0">
                <a:solidFill>
                  <a:srgbClr val="777777"/>
                </a:solidFill>
                <a:effectLst/>
                <a:latin typeface="Consolas" panose="020B0609020204030204" pitchFamily="49" charset="0"/>
              </a:rPr>
              <a:t>#</a:t>
            </a:r>
            <a:r>
              <a:rPr lang="es-ES" sz="1400" b="0" dirty="0">
                <a:solidFill>
                  <a:srgbClr val="4B69C6"/>
                </a:solidFill>
                <a:effectLst/>
                <a:latin typeface="Consolas" panose="020B0609020204030204" pitchFamily="49" charset="0"/>
              </a:rPr>
              <a:t>define</a:t>
            </a:r>
            <a:r>
              <a:rPr lang="es-ES" sz="1400" b="0" dirty="0">
                <a:solidFill>
                  <a:srgbClr val="333333"/>
                </a:solidFill>
                <a:effectLst/>
                <a:latin typeface="Consolas" panose="020B0609020204030204" pitchFamily="49" charset="0"/>
              </a:rPr>
              <a:t> </a:t>
            </a:r>
            <a:r>
              <a:rPr lang="es-ES" sz="1400" b="1" dirty="0">
                <a:solidFill>
                  <a:srgbClr val="AA3731"/>
                </a:solidFill>
                <a:effectLst/>
                <a:latin typeface="Consolas" panose="020B0609020204030204" pitchFamily="49" charset="0"/>
              </a:rPr>
              <a:t>TEMPS</a:t>
            </a:r>
            <a:r>
              <a:rPr lang="es-ES" sz="1400" b="0" dirty="0">
                <a:solidFill>
                  <a:srgbClr val="333333"/>
                </a:solidFill>
                <a:effectLst/>
                <a:latin typeface="Consolas" panose="020B0609020204030204" pitchFamily="49" charset="0"/>
              </a:rPr>
              <a:t> </a:t>
            </a:r>
            <a:r>
              <a:rPr lang="es-ES" sz="1400" b="0" dirty="0">
                <a:solidFill>
                  <a:srgbClr val="9C5D27"/>
                </a:solidFill>
                <a:effectLst/>
                <a:latin typeface="Consolas" panose="020B0609020204030204" pitchFamily="49" charset="0"/>
              </a:rPr>
              <a:t>300</a:t>
            </a:r>
            <a:endParaRPr lang="es-ES" sz="1400" b="0" dirty="0">
              <a:solidFill>
                <a:srgbClr val="333333"/>
              </a:solidFill>
              <a:effectLst/>
              <a:latin typeface="Consolas" panose="020B0609020204030204" pitchFamily="49" charset="0"/>
            </a:endParaRPr>
          </a:p>
          <a:p>
            <a:r>
              <a:rPr lang="es-ES" sz="1400" b="0" dirty="0" err="1">
                <a:solidFill>
                  <a:srgbClr val="7A3E9D"/>
                </a:solidFill>
                <a:effectLst/>
                <a:latin typeface="Consolas" panose="020B0609020204030204" pitchFamily="49" charset="0"/>
              </a:rPr>
              <a:t>int</a:t>
            </a:r>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main</a:t>
            </a:r>
            <a:r>
              <a:rPr lang="es-ES" sz="1400" b="0" dirty="0">
                <a:solidFill>
                  <a:srgbClr val="777777"/>
                </a:solidFill>
                <a:effectLst/>
                <a:latin typeface="Consolas" panose="020B0609020204030204" pitchFamily="49" charset="0"/>
              </a:rPr>
              <a:t>(</a:t>
            </a:r>
            <a:r>
              <a:rPr lang="es-ES" sz="1400" b="0" dirty="0" err="1">
                <a:solidFill>
                  <a:srgbClr val="7A3E9D"/>
                </a:solidFill>
                <a:effectLst/>
                <a:latin typeface="Consolas" panose="020B0609020204030204" pitchFamily="49" charset="0"/>
              </a:rPr>
              <a:t>void</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srand</a:t>
            </a:r>
            <a:r>
              <a:rPr lang="es-ES" sz="1400" b="0" dirty="0">
                <a:solidFill>
                  <a:srgbClr val="777777"/>
                </a:solidFill>
                <a:effectLst/>
                <a:latin typeface="Consolas" panose="020B0609020204030204" pitchFamily="49" charset="0"/>
              </a:rPr>
              <a:t>(</a:t>
            </a:r>
            <a:r>
              <a:rPr lang="es-ES" sz="1400" b="1" dirty="0">
                <a:solidFill>
                  <a:srgbClr val="AA3731"/>
                </a:solidFill>
                <a:effectLst/>
                <a:latin typeface="Consolas" panose="020B0609020204030204" pitchFamily="49" charset="0"/>
              </a:rPr>
              <a:t>time</a:t>
            </a:r>
            <a:r>
              <a:rPr lang="es-ES" sz="1400" b="0" dirty="0">
                <a:solidFill>
                  <a:srgbClr val="777777"/>
                </a:solidFill>
                <a:effectLst/>
                <a:latin typeface="Consolas" panose="020B0609020204030204" pitchFamily="49" charset="0"/>
              </a:rPr>
              <a:t>(</a:t>
            </a:r>
            <a:r>
              <a:rPr lang="es-ES" sz="1400" b="1" dirty="0">
                <a:solidFill>
                  <a:srgbClr val="AA3731"/>
                </a:solidFill>
                <a:effectLst/>
                <a:latin typeface="Consolas" panose="020B0609020204030204" pitchFamily="49" charset="0"/>
              </a:rPr>
              <a:t>NULL</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cls</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777777"/>
                </a:solidFill>
                <a:effectLst/>
                <a:latin typeface="Consolas" panose="020B0609020204030204" pitchFamily="49" charset="0"/>
              </a:rPr>
              <a:t>    </a:t>
            </a:r>
            <a:r>
              <a:rPr lang="es-ES" sz="1400" b="0" i="1" dirty="0">
                <a:solidFill>
                  <a:srgbClr val="AAAAAA"/>
                </a:solidFill>
                <a:effectLst/>
                <a:latin typeface="Consolas" panose="020B0609020204030204" pitchFamily="49" charset="0"/>
              </a:rPr>
              <a:t>//</a:t>
            </a:r>
            <a:r>
              <a:rPr lang="es-ES" sz="1400" b="0" i="1" dirty="0" err="1">
                <a:solidFill>
                  <a:srgbClr val="AAAAAA"/>
                </a:solidFill>
                <a:effectLst/>
                <a:latin typeface="Consolas" panose="020B0609020204030204" pitchFamily="49" charset="0"/>
              </a:rPr>
              <a:t>setBackgroundColor</a:t>
            </a:r>
            <a:r>
              <a:rPr lang="es-ES" sz="1400" b="0" i="1" dirty="0">
                <a:solidFill>
                  <a:srgbClr val="AAAAAA"/>
                </a:solidFill>
                <a:effectLst/>
                <a:latin typeface="Consolas" panose="020B0609020204030204" pitchFamily="49" charset="0"/>
              </a:rPr>
              <a:t>(15);</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0" dirty="0" err="1">
                <a:solidFill>
                  <a:srgbClr val="7A3E9D"/>
                </a:solidFill>
                <a:effectLst/>
                <a:latin typeface="Consolas" panose="020B0609020204030204" pitchFamily="49" charset="0"/>
              </a:rPr>
              <a:t>int</a:t>
            </a:r>
            <a:r>
              <a:rPr lang="es-ES" sz="1400" b="0" dirty="0">
                <a:solidFill>
                  <a:srgbClr val="333333"/>
                </a:solidFill>
                <a:effectLst/>
                <a:latin typeface="Consolas" panose="020B0609020204030204" pitchFamily="49" charset="0"/>
              </a:rPr>
              <a:t> </a:t>
            </a:r>
            <a:r>
              <a:rPr lang="es-ES" sz="1400" b="0" dirty="0">
                <a:solidFill>
                  <a:srgbClr val="7A3E9D"/>
                </a:solidFill>
                <a:effectLst/>
                <a:latin typeface="Consolas" panose="020B0609020204030204" pitchFamily="49" charset="0"/>
              </a:rPr>
              <a:t>x</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a:t>
            </a:r>
            <a:r>
              <a:rPr lang="es-ES" sz="1400" b="0" dirty="0">
                <a:solidFill>
                  <a:srgbClr val="777777"/>
                </a:solidFill>
                <a:effectLst/>
                <a:latin typeface="Consolas" panose="020B0609020204030204" pitchFamily="49" charset="0"/>
              </a:rPr>
              <a:t>,</a:t>
            </a:r>
            <a:r>
              <a:rPr lang="es-ES" sz="1400" b="0" dirty="0">
                <a:solidFill>
                  <a:srgbClr val="7A3E9D"/>
                </a:solidFill>
                <a:effectLst/>
                <a:latin typeface="Consolas" panose="020B0609020204030204" pitchFamily="49" charset="0"/>
              </a:rPr>
              <a:t>y</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5</a:t>
            </a:r>
            <a:r>
              <a:rPr lang="es-ES" sz="1400" b="0" dirty="0">
                <a:solidFill>
                  <a:srgbClr val="777777"/>
                </a:solidFill>
                <a:effectLst/>
                <a:latin typeface="Consolas" panose="020B0609020204030204" pitchFamily="49" charset="0"/>
              </a:rPr>
              <a:t>,</a:t>
            </a:r>
            <a:r>
              <a:rPr lang="es-ES" sz="1400" b="0" dirty="0">
                <a:solidFill>
                  <a:srgbClr val="7A3E9D"/>
                </a:solidFill>
                <a:effectLst/>
                <a:latin typeface="Consolas" panose="020B0609020204030204" pitchFamily="49" charset="0"/>
              </a:rPr>
              <a:t>incrX</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0" dirty="0" err="1">
                <a:solidFill>
                  <a:srgbClr val="4B69C6"/>
                </a:solidFill>
                <a:effectLst/>
                <a:latin typeface="Consolas" panose="020B0609020204030204" pitchFamily="49" charset="0"/>
              </a:rPr>
              <a:t>while</a:t>
            </a:r>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a:t>
            </a:r>
            <a:r>
              <a:rPr lang="es-ES" sz="1400" b="1" dirty="0" err="1">
                <a:solidFill>
                  <a:srgbClr val="AA3731"/>
                </a:solidFill>
                <a:effectLst/>
                <a:latin typeface="Consolas" panose="020B0609020204030204" pitchFamily="49" charset="0"/>
              </a:rPr>
              <a:t>kbhit</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gotoxy</a:t>
            </a:r>
            <a:r>
              <a:rPr lang="es-ES" sz="1400" b="0" dirty="0">
                <a:solidFill>
                  <a:srgbClr val="777777"/>
                </a:solidFill>
                <a:effectLst/>
                <a:latin typeface="Consolas" panose="020B0609020204030204" pitchFamily="49" charset="0"/>
              </a:rPr>
              <a:t>(</a:t>
            </a:r>
            <a:r>
              <a:rPr lang="es-ES" sz="1400" b="0" dirty="0" err="1">
                <a:solidFill>
                  <a:srgbClr val="7A3E9D"/>
                </a:solidFill>
                <a:effectLst/>
                <a:latin typeface="Consolas" panose="020B0609020204030204" pitchFamily="49" charset="0"/>
              </a:rPr>
              <a:t>x</a:t>
            </a:r>
            <a:r>
              <a:rPr lang="es-ES" sz="1400" b="0" dirty="0" err="1">
                <a:solidFill>
                  <a:srgbClr val="777777"/>
                </a:solidFill>
                <a:effectLst/>
                <a:latin typeface="Consolas" panose="020B0609020204030204" pitchFamily="49" charset="0"/>
              </a:rPr>
              <a:t>,</a:t>
            </a:r>
            <a:r>
              <a:rPr lang="es-ES" sz="1400" b="0" dirty="0" err="1">
                <a:solidFill>
                  <a:srgbClr val="7A3E9D"/>
                </a:solidFill>
                <a:effectLst/>
                <a:latin typeface="Consolas" panose="020B0609020204030204" pitchFamily="49" charset="0"/>
              </a:rPr>
              <a:t>y</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printf</a:t>
            </a:r>
            <a:r>
              <a:rPr lang="es-ES" sz="1400" b="0" dirty="0">
                <a:solidFill>
                  <a:srgbClr val="777777"/>
                </a:solidFill>
                <a:effectLst/>
                <a:latin typeface="Consolas" panose="020B0609020204030204" pitchFamily="49" charset="0"/>
              </a:rPr>
              <a:t>("</a:t>
            </a:r>
            <a:r>
              <a:rPr lang="es-ES" sz="1400" b="0" dirty="0">
                <a:solidFill>
                  <a:srgbClr val="448C27"/>
                </a:solidFill>
                <a:effectLst/>
                <a:latin typeface="Consolas" panose="020B0609020204030204" pitchFamily="49" charset="0"/>
              </a:rPr>
              <a:t>x</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0" dirty="0">
                <a:solidFill>
                  <a:srgbClr val="7A3E9D"/>
                </a:solidFill>
                <a:effectLst/>
                <a:latin typeface="Consolas" panose="020B0609020204030204" pitchFamily="49" charset="0"/>
              </a:rPr>
              <a:t>x</a:t>
            </a:r>
            <a:r>
              <a:rPr lang="es-ES" sz="1400" b="0" dirty="0">
                <a:solidFill>
                  <a:srgbClr val="777777"/>
                </a:solidFill>
                <a:effectLst/>
                <a:latin typeface="Consolas" panose="020B0609020204030204" pitchFamily="49" charset="0"/>
              </a:rPr>
              <a:t>=</a:t>
            </a:r>
            <a:r>
              <a:rPr lang="es-ES" sz="1400" b="0" dirty="0" err="1">
                <a:solidFill>
                  <a:srgbClr val="7A3E9D"/>
                </a:solidFill>
                <a:effectLst/>
                <a:latin typeface="Consolas" panose="020B0609020204030204" pitchFamily="49" charset="0"/>
              </a:rPr>
              <a:t>x</a:t>
            </a:r>
            <a:r>
              <a:rPr lang="es-ES" sz="1400" b="0" dirty="0" err="1">
                <a:solidFill>
                  <a:srgbClr val="777777"/>
                </a:solidFill>
                <a:effectLst/>
                <a:latin typeface="Consolas" panose="020B0609020204030204" pitchFamily="49" charset="0"/>
              </a:rPr>
              <a:t>+</a:t>
            </a:r>
            <a:r>
              <a:rPr lang="es-ES" sz="1400" b="0" dirty="0" err="1">
                <a:solidFill>
                  <a:srgbClr val="7A3E9D"/>
                </a:solidFill>
                <a:effectLst/>
                <a:latin typeface="Consolas" panose="020B0609020204030204" pitchFamily="49" charset="0"/>
              </a:rPr>
              <a:t>incrX</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0" dirty="0" err="1">
                <a:solidFill>
                  <a:srgbClr val="4B69C6"/>
                </a:solidFill>
                <a:effectLst/>
                <a:latin typeface="Consolas" panose="020B0609020204030204" pitchFamily="49" charset="0"/>
              </a:rPr>
              <a:t>if</a:t>
            </a:r>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a:t>
            </a:r>
            <a:r>
              <a:rPr lang="es-ES" sz="1400" b="0" dirty="0">
                <a:solidFill>
                  <a:srgbClr val="7A3E9D"/>
                </a:solidFill>
                <a:effectLst/>
                <a:latin typeface="Consolas" panose="020B0609020204030204" pitchFamily="49" charset="0"/>
              </a:rPr>
              <a:t>x</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80</a:t>
            </a:r>
            <a:r>
              <a:rPr lang="es-ES" sz="1400" b="0" dirty="0">
                <a:solidFill>
                  <a:srgbClr val="777777"/>
                </a:solidFill>
                <a:effectLst/>
                <a:latin typeface="Consolas" panose="020B0609020204030204" pitchFamily="49" charset="0"/>
              </a:rPr>
              <a:t>)</a:t>
            </a:r>
            <a:r>
              <a:rPr lang="es-ES" sz="1400" b="0" dirty="0">
                <a:solidFill>
                  <a:srgbClr val="333333"/>
                </a:solidFill>
                <a:effectLst/>
                <a:latin typeface="Consolas" panose="020B0609020204030204" pitchFamily="49" charset="0"/>
              </a:rPr>
              <a:t> </a:t>
            </a:r>
            <a:r>
              <a:rPr lang="es-ES" sz="1400" b="0" dirty="0" err="1">
                <a:solidFill>
                  <a:srgbClr val="7A3E9D"/>
                </a:solidFill>
                <a:effectLst/>
                <a:latin typeface="Consolas" panose="020B0609020204030204" pitchFamily="49" charset="0"/>
              </a:rPr>
              <a:t>incrX</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0" dirty="0" err="1">
                <a:solidFill>
                  <a:srgbClr val="4B69C6"/>
                </a:solidFill>
                <a:effectLst/>
                <a:latin typeface="Consolas" panose="020B0609020204030204" pitchFamily="49" charset="0"/>
              </a:rPr>
              <a:t>else</a:t>
            </a:r>
            <a:r>
              <a:rPr lang="es-ES" sz="1400" b="0" dirty="0">
                <a:solidFill>
                  <a:srgbClr val="333333"/>
                </a:solidFill>
                <a:effectLst/>
                <a:latin typeface="Consolas" panose="020B0609020204030204" pitchFamily="49" charset="0"/>
              </a:rPr>
              <a:t> </a:t>
            </a:r>
            <a:r>
              <a:rPr lang="es-ES" sz="1400" b="0" dirty="0" err="1">
                <a:solidFill>
                  <a:srgbClr val="4B69C6"/>
                </a:solidFill>
                <a:effectLst/>
                <a:latin typeface="Consolas" panose="020B0609020204030204" pitchFamily="49" charset="0"/>
              </a:rPr>
              <a:t>if</a:t>
            </a:r>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a:t>
            </a:r>
            <a:r>
              <a:rPr lang="es-ES" sz="1400" b="0" dirty="0">
                <a:solidFill>
                  <a:srgbClr val="7A3E9D"/>
                </a:solidFill>
                <a:effectLst/>
                <a:latin typeface="Consolas" panose="020B0609020204030204" pitchFamily="49" charset="0"/>
              </a:rPr>
              <a:t>x</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a:t>
            </a:r>
            <a:r>
              <a:rPr lang="es-ES" sz="1400" b="0" dirty="0">
                <a:solidFill>
                  <a:srgbClr val="777777"/>
                </a:solidFill>
                <a:effectLst/>
                <a:latin typeface="Consolas" panose="020B0609020204030204" pitchFamily="49" charset="0"/>
              </a:rPr>
              <a:t>)</a:t>
            </a:r>
            <a:r>
              <a:rPr lang="es-ES" sz="1400" b="0" dirty="0">
                <a:solidFill>
                  <a:srgbClr val="333333"/>
                </a:solidFill>
                <a:effectLst/>
                <a:latin typeface="Consolas" panose="020B0609020204030204" pitchFamily="49" charset="0"/>
              </a:rPr>
              <a:t> </a:t>
            </a:r>
            <a:r>
              <a:rPr lang="es-ES" sz="1400" b="0" dirty="0" err="1">
                <a:solidFill>
                  <a:srgbClr val="7A3E9D"/>
                </a:solidFill>
                <a:effectLst/>
                <a:latin typeface="Consolas" panose="020B0609020204030204" pitchFamily="49" charset="0"/>
              </a:rPr>
              <a:t>incrX</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setColor</a:t>
            </a:r>
            <a:r>
              <a:rPr lang="es-ES" sz="1400" b="0" dirty="0">
                <a:solidFill>
                  <a:srgbClr val="777777"/>
                </a:solidFill>
                <a:effectLst/>
                <a:latin typeface="Consolas" panose="020B0609020204030204" pitchFamily="49" charset="0"/>
              </a:rPr>
              <a:t>(</a:t>
            </a:r>
            <a:r>
              <a:rPr lang="es-ES" sz="1400" b="1" dirty="0">
                <a:solidFill>
                  <a:srgbClr val="AA3731"/>
                </a:solidFill>
                <a:effectLst/>
                <a:latin typeface="Consolas" panose="020B0609020204030204" pitchFamily="49" charset="0"/>
              </a:rPr>
              <a:t>rand</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16</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Sleep</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50</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gotoxy</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a:t>
            </a:r>
            <a:r>
              <a:rPr lang="es-ES" sz="1400" b="0" dirty="0">
                <a:solidFill>
                  <a:srgbClr val="777777"/>
                </a:solidFill>
                <a:effectLst/>
                <a:latin typeface="Consolas" panose="020B0609020204030204" pitchFamily="49" charset="0"/>
              </a:rPr>
              <a:t>,</a:t>
            </a:r>
            <a:r>
              <a:rPr lang="es-ES" sz="1400" b="0" dirty="0">
                <a:solidFill>
                  <a:srgbClr val="9C5D27"/>
                </a:solidFill>
                <a:effectLst/>
                <a:latin typeface="Consolas" panose="020B0609020204030204" pitchFamily="49" charset="0"/>
              </a:rPr>
              <a:t>15</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333333"/>
                </a:solidFill>
                <a:effectLst/>
                <a:latin typeface="Consolas" panose="020B0609020204030204" pitchFamily="49" charset="0"/>
              </a:rPr>
              <a:t>    </a:t>
            </a:r>
            <a:r>
              <a:rPr lang="es-ES" sz="1400" b="1" dirty="0" err="1">
                <a:solidFill>
                  <a:srgbClr val="AA3731"/>
                </a:solidFill>
                <a:effectLst/>
                <a:latin typeface="Consolas" panose="020B0609020204030204" pitchFamily="49" charset="0"/>
              </a:rPr>
              <a:t>getch</a:t>
            </a:r>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a:p>
            <a:r>
              <a:rPr lang="es-ES" sz="1400" b="0" dirty="0">
                <a:solidFill>
                  <a:srgbClr val="777777"/>
                </a:solidFill>
                <a:effectLst/>
                <a:latin typeface="Consolas" panose="020B0609020204030204" pitchFamily="49" charset="0"/>
              </a:rPr>
              <a:t>}</a:t>
            </a:r>
            <a:endParaRPr lang="es-ES" sz="1400" b="0" dirty="0">
              <a:solidFill>
                <a:srgbClr val="333333"/>
              </a:solidFill>
              <a:effectLst/>
              <a:latin typeface="Consolas" panose="020B0609020204030204" pitchFamily="49" charset="0"/>
            </a:endParaRPr>
          </a:p>
        </p:txBody>
      </p:sp>
      <p:pic>
        <p:nvPicPr>
          <p:cNvPr id="9" name="Imagen 8">
            <a:extLst>
              <a:ext uri="{FF2B5EF4-FFF2-40B4-BE49-F238E27FC236}">
                <a16:creationId xmlns:a16="http://schemas.microsoft.com/office/drawing/2014/main" id="{6F78D1C6-5B46-4E10-8C47-8AB7C16653B0}"/>
              </a:ext>
            </a:extLst>
          </p:cNvPr>
          <p:cNvPicPr>
            <a:picLocks noChangeAspect="1"/>
          </p:cNvPicPr>
          <p:nvPr/>
        </p:nvPicPr>
        <p:blipFill>
          <a:blip r:embed="rId2"/>
          <a:stretch>
            <a:fillRect/>
          </a:stretch>
        </p:blipFill>
        <p:spPr>
          <a:xfrm>
            <a:off x="468350" y="6347613"/>
            <a:ext cx="8590476" cy="276190"/>
          </a:xfrm>
          <a:prstGeom prst="rect">
            <a:avLst/>
          </a:prstGeom>
        </p:spPr>
      </p:pic>
    </p:spTree>
    <p:extLst>
      <p:ext uri="{BB962C8B-B14F-4D97-AF65-F5344CB8AC3E}">
        <p14:creationId xmlns:p14="http://schemas.microsoft.com/office/powerpoint/2010/main" val="4693304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3EC0C4-F2F3-4C30-B278-EBB5DCDA7CB7}"/>
              </a:ext>
            </a:extLst>
          </p:cNvPr>
          <p:cNvSpPr>
            <a:spLocks noGrp="1"/>
          </p:cNvSpPr>
          <p:nvPr>
            <p:ph type="title"/>
          </p:nvPr>
        </p:nvSpPr>
        <p:spPr/>
        <p:txBody>
          <a:bodyPr/>
          <a:lstStyle/>
          <a:p>
            <a:r>
              <a:rPr lang="ca-ES" dirty="0"/>
              <a:t>Doble rebot</a:t>
            </a:r>
          </a:p>
        </p:txBody>
      </p:sp>
      <p:sp>
        <p:nvSpPr>
          <p:cNvPr id="3" name="Marcador de contenido 2">
            <a:extLst>
              <a:ext uri="{FF2B5EF4-FFF2-40B4-BE49-F238E27FC236}">
                <a16:creationId xmlns:a16="http://schemas.microsoft.com/office/drawing/2014/main" id="{F7FE5F84-19B1-4242-A24F-87F18E3D391B}"/>
              </a:ext>
            </a:extLst>
          </p:cNvPr>
          <p:cNvSpPr>
            <a:spLocks noGrp="1"/>
          </p:cNvSpPr>
          <p:nvPr>
            <p:ph idx="1"/>
          </p:nvPr>
        </p:nvSpPr>
        <p:spPr/>
        <p:txBody>
          <a:bodyPr/>
          <a:lstStyle/>
          <a:p>
            <a:pPr marL="0" indent="0">
              <a:buNone/>
            </a:pPr>
            <a:r>
              <a:rPr lang="ca-ES" dirty="0"/>
              <a:t>Fer un programa que reboti tant en l’eix x com en l’eix y. S’haurà d’aturar quan es premi qualsevol tecla.</a:t>
            </a:r>
          </a:p>
          <a:p>
            <a:pPr marL="0" indent="0">
              <a:buNone/>
            </a:pPr>
            <a:r>
              <a:rPr lang="ca-ES" dirty="0"/>
              <a:t>Cal executar el main.exe</a:t>
            </a:r>
          </a:p>
          <a:p>
            <a:pPr marL="0" indent="0">
              <a:buNone/>
            </a:pPr>
            <a:endParaRPr lang="ca-ES" dirty="0"/>
          </a:p>
        </p:txBody>
      </p:sp>
      <p:pic>
        <p:nvPicPr>
          <p:cNvPr id="5" name="Imagen 4">
            <a:extLst>
              <a:ext uri="{FF2B5EF4-FFF2-40B4-BE49-F238E27FC236}">
                <a16:creationId xmlns:a16="http://schemas.microsoft.com/office/drawing/2014/main" id="{59590F59-51DB-40EA-BA68-9DADE05B88DC}"/>
              </a:ext>
            </a:extLst>
          </p:cNvPr>
          <p:cNvPicPr>
            <a:picLocks noChangeAspect="1"/>
          </p:cNvPicPr>
          <p:nvPr/>
        </p:nvPicPr>
        <p:blipFill>
          <a:blip r:embed="rId2"/>
          <a:stretch>
            <a:fillRect/>
          </a:stretch>
        </p:blipFill>
        <p:spPr>
          <a:xfrm>
            <a:off x="644433" y="2093569"/>
            <a:ext cx="5895703" cy="3077558"/>
          </a:xfrm>
          <a:prstGeom prst="rect">
            <a:avLst/>
          </a:prstGeom>
        </p:spPr>
      </p:pic>
    </p:spTree>
    <p:extLst>
      <p:ext uri="{BB962C8B-B14F-4D97-AF65-F5344CB8AC3E}">
        <p14:creationId xmlns:p14="http://schemas.microsoft.com/office/powerpoint/2010/main" val="35677430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CDD3063-32DD-48C1-B44F-BBFCB9121B02}"/>
              </a:ext>
            </a:extLst>
          </p:cNvPr>
          <p:cNvSpPr>
            <a:spLocks noGrp="1"/>
          </p:cNvSpPr>
          <p:nvPr>
            <p:ph type="title"/>
          </p:nvPr>
        </p:nvSpPr>
        <p:spPr/>
        <p:txBody>
          <a:bodyPr/>
          <a:lstStyle/>
          <a:p>
            <a:r>
              <a:rPr lang="ca-ES" dirty="0"/>
              <a:t>Rectangle</a:t>
            </a:r>
          </a:p>
        </p:txBody>
      </p:sp>
      <p:sp>
        <p:nvSpPr>
          <p:cNvPr id="5" name="Marcador de contenido 4">
            <a:extLst>
              <a:ext uri="{FF2B5EF4-FFF2-40B4-BE49-F238E27FC236}">
                <a16:creationId xmlns:a16="http://schemas.microsoft.com/office/drawing/2014/main" id="{6C3E26D8-A308-4447-A795-C1FBC0BD9E15}"/>
              </a:ext>
            </a:extLst>
          </p:cNvPr>
          <p:cNvSpPr>
            <a:spLocks noGrp="1"/>
          </p:cNvSpPr>
          <p:nvPr>
            <p:ph idx="1"/>
          </p:nvPr>
        </p:nvSpPr>
        <p:spPr/>
        <p:txBody>
          <a:bodyPr/>
          <a:lstStyle/>
          <a:p>
            <a:pPr marL="0" indent="0">
              <a:buNone/>
            </a:pPr>
            <a:r>
              <a:rPr lang="ca-ES" dirty="0"/>
              <a:t>Fer un rectangle entre els punts (10,3) i (15,10), canviant de colors i que no s’aturi fins que no es premi una tecla. </a:t>
            </a:r>
          </a:p>
        </p:txBody>
      </p:sp>
      <p:pic>
        <p:nvPicPr>
          <p:cNvPr id="6" name="Imagen 5">
            <a:extLst>
              <a:ext uri="{FF2B5EF4-FFF2-40B4-BE49-F238E27FC236}">
                <a16:creationId xmlns:a16="http://schemas.microsoft.com/office/drawing/2014/main" id="{F953E4A5-63A1-4F78-83DF-7E18E5259E2A}"/>
              </a:ext>
            </a:extLst>
          </p:cNvPr>
          <p:cNvPicPr>
            <a:picLocks noChangeAspect="1"/>
          </p:cNvPicPr>
          <p:nvPr/>
        </p:nvPicPr>
        <p:blipFill>
          <a:blip r:embed="rId2"/>
          <a:stretch>
            <a:fillRect/>
          </a:stretch>
        </p:blipFill>
        <p:spPr>
          <a:xfrm>
            <a:off x="2076762" y="1653641"/>
            <a:ext cx="2495238" cy="2752381"/>
          </a:xfrm>
          <a:prstGeom prst="rect">
            <a:avLst/>
          </a:prstGeom>
          <a:ln>
            <a:solidFill>
              <a:schemeClr val="tx1"/>
            </a:solidFill>
            <a:prstDash val="lgDash"/>
          </a:ln>
        </p:spPr>
      </p:pic>
    </p:spTree>
    <p:extLst>
      <p:ext uri="{BB962C8B-B14F-4D97-AF65-F5344CB8AC3E}">
        <p14:creationId xmlns:p14="http://schemas.microsoft.com/office/powerpoint/2010/main" val="19507534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74E141-C7F5-0F7F-94D7-0BF64A86A35F}"/>
              </a:ext>
            </a:extLst>
          </p:cNvPr>
          <p:cNvSpPr>
            <a:spLocks noGrp="1"/>
          </p:cNvSpPr>
          <p:nvPr>
            <p:ph type="ctrTitle"/>
          </p:nvPr>
        </p:nvSpPr>
        <p:spPr/>
        <p:txBody>
          <a:bodyPr/>
          <a:lstStyle/>
          <a:p>
            <a:r>
              <a:rPr lang="es-ES" dirty="0"/>
              <a:t>DOBLE FOR</a:t>
            </a:r>
          </a:p>
        </p:txBody>
      </p:sp>
      <p:sp>
        <p:nvSpPr>
          <p:cNvPr id="3" name="Subtítulo 2">
            <a:extLst>
              <a:ext uri="{FF2B5EF4-FFF2-40B4-BE49-F238E27FC236}">
                <a16:creationId xmlns:a16="http://schemas.microsoft.com/office/drawing/2014/main" id="{1351B6B2-D6C3-787F-9804-A2CB47468724}"/>
              </a:ext>
            </a:extLst>
          </p:cNvPr>
          <p:cNvSpPr>
            <a:spLocks noGrp="1"/>
          </p:cNvSpPr>
          <p:nvPr>
            <p:ph type="subTitle" idx="4294967295"/>
          </p:nvPr>
        </p:nvSpPr>
        <p:spPr>
          <a:xfrm>
            <a:off x="1143000" y="3602038"/>
            <a:ext cx="6858000" cy="1655762"/>
          </a:xfrm>
        </p:spPr>
        <p:txBody>
          <a:bodyPr/>
          <a:lstStyle/>
          <a:p>
            <a:endParaRPr lang="es-ES"/>
          </a:p>
        </p:txBody>
      </p:sp>
    </p:spTree>
    <p:extLst>
      <p:ext uri="{BB962C8B-B14F-4D97-AF65-F5344CB8AC3E}">
        <p14:creationId xmlns:p14="http://schemas.microsoft.com/office/powerpoint/2010/main" val="8722692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Doble </a:t>
            </a:r>
            <a:r>
              <a:rPr lang="es-ES" dirty="0" err="1"/>
              <a:t>For</a:t>
            </a:r>
            <a:endParaRPr lang="es-ES" dirty="0"/>
          </a:p>
        </p:txBody>
      </p:sp>
      <p:sp>
        <p:nvSpPr>
          <p:cNvPr id="4" name="0"/>
          <p:cNvSpPr>
            <a:spLocks noGrp="1"/>
          </p:cNvSpPr>
          <p:nvPr>
            <p:ph idx="1"/>
          </p:nvPr>
        </p:nvSpPr>
        <p:spPr>
          <a:xfrm>
            <a:off x="343805" y="756708"/>
            <a:ext cx="8534401" cy="5772930"/>
          </a:xfrm>
        </p:spPr>
        <p:txBody>
          <a:bodyPr>
            <a:normAutofit/>
          </a:bodyPr>
          <a:lstStyle/>
          <a:p>
            <a:pPr marL="0" indent="0">
              <a:lnSpc>
                <a:spcPct val="150000"/>
              </a:lnSpc>
              <a:spcBef>
                <a:spcPts val="0"/>
              </a:spcBef>
              <a:buNone/>
            </a:pPr>
            <a:r>
              <a:rPr lang="es-ES" sz="1600" dirty="0" err="1"/>
              <a:t>Volem</a:t>
            </a:r>
            <a:r>
              <a:rPr lang="es-ES" sz="1600" dirty="0"/>
              <a:t> </a:t>
            </a:r>
            <a:r>
              <a:rPr lang="es-ES" sz="1600" dirty="0" err="1"/>
              <a:t>escriure</a:t>
            </a:r>
            <a:r>
              <a:rPr lang="es-ES" sz="1600" dirty="0"/>
              <a:t> per pantalla</a:t>
            </a:r>
          </a:p>
          <a:p>
            <a:pPr marL="0" indent="0">
              <a:lnSpc>
                <a:spcPct val="150000"/>
              </a:lnSpc>
              <a:spcBef>
                <a:spcPts val="0"/>
              </a:spcBef>
              <a:buNone/>
            </a:pPr>
            <a:r>
              <a:rPr lang="es-ES" sz="1600" dirty="0"/>
              <a:t>  12345</a:t>
            </a:r>
          </a:p>
          <a:p>
            <a:pPr marL="0" indent="0">
              <a:lnSpc>
                <a:spcPct val="150000"/>
              </a:lnSpc>
              <a:spcBef>
                <a:spcPts val="0"/>
              </a:spcBef>
              <a:buNone/>
            </a:pPr>
            <a:r>
              <a:rPr lang="es-ES" sz="1600" dirty="0"/>
              <a:t>  12345</a:t>
            </a:r>
          </a:p>
          <a:p>
            <a:pPr marL="0" indent="0">
              <a:lnSpc>
                <a:spcPct val="150000"/>
              </a:lnSpc>
              <a:spcBef>
                <a:spcPts val="0"/>
              </a:spcBef>
              <a:buNone/>
            </a:pPr>
            <a:r>
              <a:rPr lang="es-ES" sz="1600" dirty="0"/>
              <a:t>  12345</a:t>
            </a:r>
          </a:p>
          <a:p>
            <a:pPr marL="0" indent="0">
              <a:lnSpc>
                <a:spcPct val="150000"/>
              </a:lnSpc>
              <a:spcBef>
                <a:spcPts val="0"/>
              </a:spcBef>
              <a:buNone/>
            </a:pPr>
            <a:r>
              <a:rPr lang="es-ES" sz="1600" dirty="0" err="1"/>
              <a:t>Procediment</a:t>
            </a:r>
            <a:r>
              <a:rPr lang="es-ES" sz="1600" dirty="0"/>
              <a:t>: </a:t>
            </a:r>
          </a:p>
          <a:p>
            <a:pPr marL="0" indent="0">
              <a:buNone/>
            </a:pPr>
            <a:endParaRPr lang="es-ES" dirty="0"/>
          </a:p>
          <a:p>
            <a:pPr marL="0" indent="0">
              <a:buNone/>
            </a:pPr>
            <a:endParaRPr lang="es-ES" dirty="0"/>
          </a:p>
        </p:txBody>
      </p:sp>
      <p:sp>
        <p:nvSpPr>
          <p:cNvPr id="5" name="1"/>
          <p:cNvSpPr txBox="1">
            <a:spLocks/>
          </p:cNvSpPr>
          <p:nvPr/>
        </p:nvSpPr>
        <p:spPr>
          <a:xfrm>
            <a:off x="2605313" y="1231230"/>
            <a:ext cx="6272893" cy="36534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600" dirty="0"/>
              <a:t>1.- </a:t>
            </a:r>
            <a:r>
              <a:rPr lang="es-ES" sz="1600" dirty="0" err="1"/>
              <a:t>Escriure</a:t>
            </a:r>
            <a:r>
              <a:rPr lang="es-ES" sz="1600" dirty="0"/>
              <a:t> primer una línea 12345, </a:t>
            </a:r>
            <a:r>
              <a:rPr lang="es-ES" sz="1600" dirty="0" err="1"/>
              <a:t>utilitzant</a:t>
            </a:r>
            <a:r>
              <a:rPr lang="es-ES" sz="1600" dirty="0"/>
              <a:t> un bucle</a:t>
            </a:r>
          </a:p>
        </p:txBody>
      </p:sp>
      <p:sp>
        <p:nvSpPr>
          <p:cNvPr id="6" name="2"/>
          <p:cNvSpPr txBox="1">
            <a:spLocks/>
          </p:cNvSpPr>
          <p:nvPr/>
        </p:nvSpPr>
        <p:spPr>
          <a:xfrm>
            <a:off x="3034846" y="1712273"/>
            <a:ext cx="5050971" cy="475004"/>
          </a:xfrm>
          <a:prstGeom prst="rect">
            <a:avLst/>
          </a:prstGeom>
          <a:ln>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dirty="0" err="1">
                <a:latin typeface="Century Gothic" panose="020B0502020202020204" pitchFamily="34" charset="0"/>
              </a:rPr>
              <a:t>for</a:t>
            </a:r>
            <a:r>
              <a:rPr lang="es-ES" sz="1800" dirty="0">
                <a:latin typeface="Century Gothic" panose="020B0502020202020204" pitchFamily="34" charset="0"/>
              </a:rPr>
              <a:t> (col=1;col&lt;=5;col++) </a:t>
            </a:r>
            <a:r>
              <a:rPr lang="es-ES" sz="1800" dirty="0" err="1">
                <a:latin typeface="Century Gothic" panose="020B0502020202020204" pitchFamily="34" charset="0"/>
              </a:rPr>
              <a:t>printf</a:t>
            </a:r>
            <a:r>
              <a:rPr lang="es-ES" sz="1800" dirty="0">
                <a:latin typeface="Century Gothic" panose="020B0502020202020204" pitchFamily="34" charset="0"/>
              </a:rPr>
              <a:t>(“%</a:t>
            </a:r>
            <a:r>
              <a:rPr lang="es-ES" sz="1800" dirty="0" err="1">
                <a:latin typeface="Century Gothic" panose="020B0502020202020204" pitchFamily="34" charset="0"/>
              </a:rPr>
              <a:t>d”,col</a:t>
            </a:r>
            <a:r>
              <a:rPr lang="es-ES" sz="1800" dirty="0">
                <a:latin typeface="Century Gothic" panose="020B0502020202020204" pitchFamily="34" charset="0"/>
              </a:rPr>
              <a:t>);</a:t>
            </a:r>
          </a:p>
        </p:txBody>
      </p:sp>
      <p:sp>
        <p:nvSpPr>
          <p:cNvPr id="7" name="3"/>
          <p:cNvSpPr txBox="1">
            <a:spLocks/>
          </p:cNvSpPr>
          <p:nvPr/>
        </p:nvSpPr>
        <p:spPr>
          <a:xfrm>
            <a:off x="2605314" y="2409125"/>
            <a:ext cx="6272893" cy="67460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ca-ES" sz="1600" dirty="0"/>
              <a:t>2.- Posteriorment repetir el procés anterior 3 vegades (que seran cadascuna de les files)</a:t>
            </a:r>
          </a:p>
        </p:txBody>
      </p:sp>
      <p:sp>
        <p:nvSpPr>
          <p:cNvPr id="9" name="4"/>
          <p:cNvSpPr txBox="1"/>
          <p:nvPr/>
        </p:nvSpPr>
        <p:spPr>
          <a:xfrm>
            <a:off x="3034846" y="3181508"/>
            <a:ext cx="3873954" cy="923330"/>
          </a:xfrm>
          <a:prstGeom prst="rect">
            <a:avLst/>
          </a:prstGeom>
          <a:noFill/>
        </p:spPr>
        <p:txBody>
          <a:bodyPr wrap="square" rtlCol="0">
            <a:spAutoFit/>
          </a:bodyPr>
          <a:lstStyle/>
          <a:p>
            <a:r>
              <a:rPr lang="es-ES" dirty="0" err="1">
                <a:latin typeface="Century Gothic" panose="020B0502020202020204" pitchFamily="34" charset="0"/>
                <a:ea typeface="Verdana" panose="020B0604030504040204" pitchFamily="34" charset="0"/>
                <a:cs typeface="Verdana" panose="020B0604030504040204" pitchFamily="34" charset="0"/>
              </a:rPr>
              <a:t>for</a:t>
            </a:r>
            <a:r>
              <a:rPr lang="es-ES" dirty="0">
                <a:latin typeface="Century Gothic" panose="020B0502020202020204" pitchFamily="34" charset="0"/>
                <a:ea typeface="Verdana" panose="020B0604030504040204" pitchFamily="34" charset="0"/>
                <a:cs typeface="Verdana" panose="020B0604030504040204" pitchFamily="34" charset="0"/>
              </a:rPr>
              <a:t> (fila=1;fila&lt;=3;fila++)</a:t>
            </a:r>
          </a:p>
          <a:p>
            <a:r>
              <a:rPr lang="es-ES" dirty="0">
                <a:latin typeface="Century Gothic" panose="020B0502020202020204" pitchFamily="34" charset="0"/>
                <a:ea typeface="Verdana" panose="020B0604030504040204" pitchFamily="34" charset="0"/>
                <a:cs typeface="Verdana" panose="020B0604030504040204" pitchFamily="34" charset="0"/>
              </a:rPr>
              <a:t>	</a:t>
            </a:r>
            <a:r>
              <a:rPr lang="es-ES" dirty="0" err="1">
                <a:latin typeface="Century Gothic" panose="020B0502020202020204" pitchFamily="34" charset="0"/>
                <a:ea typeface="Verdana" panose="020B0604030504040204" pitchFamily="34" charset="0"/>
                <a:cs typeface="Verdana" panose="020B0604030504040204" pitchFamily="34" charset="0"/>
              </a:rPr>
              <a:t>for</a:t>
            </a:r>
            <a:r>
              <a:rPr lang="es-ES" dirty="0">
                <a:latin typeface="Century Gothic" panose="020B0502020202020204" pitchFamily="34" charset="0"/>
                <a:ea typeface="Verdana" panose="020B0604030504040204" pitchFamily="34" charset="0"/>
                <a:cs typeface="Verdana" panose="020B0604030504040204" pitchFamily="34" charset="0"/>
              </a:rPr>
              <a:t> (col=1;col&lt;=5;col++)</a:t>
            </a:r>
          </a:p>
          <a:p>
            <a:r>
              <a:rPr lang="es-ES" dirty="0">
                <a:latin typeface="Century Gothic" panose="020B0502020202020204" pitchFamily="34" charset="0"/>
                <a:ea typeface="Verdana" panose="020B0604030504040204" pitchFamily="34" charset="0"/>
                <a:cs typeface="Verdana" panose="020B0604030504040204" pitchFamily="34" charset="0"/>
              </a:rPr>
              <a:t>		</a:t>
            </a:r>
            <a:r>
              <a:rPr lang="es-ES" dirty="0" err="1">
                <a:latin typeface="Century Gothic" panose="020B0502020202020204" pitchFamily="34" charset="0"/>
                <a:ea typeface="Verdana" panose="020B0604030504040204" pitchFamily="34" charset="0"/>
                <a:cs typeface="Verdana" panose="020B0604030504040204" pitchFamily="34" charset="0"/>
              </a:rPr>
              <a:t>printf</a:t>
            </a:r>
            <a:r>
              <a:rPr lang="es-ES" dirty="0">
                <a:latin typeface="Century Gothic" panose="020B0502020202020204" pitchFamily="34" charset="0"/>
                <a:ea typeface="Verdana" panose="020B0604030504040204" pitchFamily="34" charset="0"/>
                <a:cs typeface="Verdana" panose="020B0604030504040204" pitchFamily="34" charset="0"/>
              </a:rPr>
              <a:t>(“%</a:t>
            </a:r>
            <a:r>
              <a:rPr lang="es-ES" dirty="0" err="1">
                <a:latin typeface="Century Gothic" panose="020B0502020202020204" pitchFamily="34" charset="0"/>
                <a:ea typeface="Verdana" panose="020B0604030504040204" pitchFamily="34" charset="0"/>
                <a:cs typeface="Verdana" panose="020B0604030504040204" pitchFamily="34" charset="0"/>
              </a:rPr>
              <a:t>d”,col</a:t>
            </a:r>
            <a:r>
              <a:rPr lang="es-ES" dirty="0">
                <a:latin typeface="Century Gothic" panose="020B0502020202020204" pitchFamily="34" charset="0"/>
                <a:ea typeface="Verdana" panose="020B0604030504040204" pitchFamily="34" charset="0"/>
                <a:cs typeface="Verdana" panose="020B0604030504040204" pitchFamily="34" charset="0"/>
              </a:rPr>
              <a:t>);</a:t>
            </a:r>
          </a:p>
        </p:txBody>
      </p:sp>
      <p:sp>
        <p:nvSpPr>
          <p:cNvPr id="10" name="5"/>
          <p:cNvSpPr txBox="1">
            <a:spLocks/>
          </p:cNvSpPr>
          <p:nvPr/>
        </p:nvSpPr>
        <p:spPr>
          <a:xfrm>
            <a:off x="2605313" y="4257794"/>
            <a:ext cx="6272893" cy="62320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ca-ES" sz="1600" dirty="0"/>
              <a:t>3.- Un cop finalitzada una </a:t>
            </a:r>
            <a:r>
              <a:rPr lang="ca-ES" sz="1600" dirty="0" err="1"/>
              <a:t>línea</a:t>
            </a:r>
            <a:r>
              <a:rPr lang="ca-ES" sz="1600" dirty="0"/>
              <a:t> li haurem d’aplicar un salt de línia</a:t>
            </a:r>
          </a:p>
        </p:txBody>
      </p:sp>
      <p:sp>
        <p:nvSpPr>
          <p:cNvPr id="11" name="6"/>
          <p:cNvSpPr txBox="1"/>
          <p:nvPr/>
        </p:nvSpPr>
        <p:spPr>
          <a:xfrm>
            <a:off x="3034846" y="4914819"/>
            <a:ext cx="4019097" cy="1754326"/>
          </a:xfrm>
          <a:prstGeom prst="rect">
            <a:avLst/>
          </a:prstGeom>
          <a:noFill/>
        </p:spPr>
        <p:txBody>
          <a:bodyPr wrap="square" rtlCol="0">
            <a:spAutoFit/>
          </a:bodyPr>
          <a:lstStyle/>
          <a:p>
            <a:r>
              <a:rPr lang="es-ES" dirty="0" err="1">
                <a:latin typeface="Century Gothic" panose="020B0502020202020204" pitchFamily="34" charset="0"/>
                <a:ea typeface="Verdana" panose="020B0604030504040204" pitchFamily="34" charset="0"/>
                <a:cs typeface="Verdana" panose="020B0604030504040204" pitchFamily="34" charset="0"/>
              </a:rPr>
              <a:t>for</a:t>
            </a:r>
            <a:r>
              <a:rPr lang="es-ES" dirty="0">
                <a:latin typeface="Century Gothic" panose="020B0502020202020204" pitchFamily="34" charset="0"/>
                <a:ea typeface="Verdana" panose="020B0604030504040204" pitchFamily="34" charset="0"/>
                <a:cs typeface="Verdana" panose="020B0604030504040204" pitchFamily="34" charset="0"/>
              </a:rPr>
              <a:t> (fila=1;fila&lt;=3;fila++)</a:t>
            </a:r>
          </a:p>
          <a:p>
            <a:r>
              <a:rPr lang="es-ES" dirty="0">
                <a:latin typeface="Century Gothic" panose="020B0502020202020204" pitchFamily="34" charset="0"/>
                <a:ea typeface="Verdana" panose="020B0604030504040204" pitchFamily="34" charset="0"/>
                <a:cs typeface="Verdana" panose="020B0604030504040204" pitchFamily="34" charset="0"/>
              </a:rPr>
              <a:t>{</a:t>
            </a:r>
          </a:p>
          <a:p>
            <a:r>
              <a:rPr lang="es-ES" dirty="0">
                <a:latin typeface="Century Gothic" panose="020B0502020202020204" pitchFamily="34" charset="0"/>
                <a:ea typeface="Verdana" panose="020B0604030504040204" pitchFamily="34" charset="0"/>
                <a:cs typeface="Verdana" panose="020B0604030504040204" pitchFamily="34" charset="0"/>
              </a:rPr>
              <a:t>	</a:t>
            </a:r>
            <a:r>
              <a:rPr lang="es-ES" dirty="0" err="1">
                <a:latin typeface="Century Gothic" panose="020B0502020202020204" pitchFamily="34" charset="0"/>
                <a:ea typeface="Verdana" panose="020B0604030504040204" pitchFamily="34" charset="0"/>
                <a:cs typeface="Verdana" panose="020B0604030504040204" pitchFamily="34" charset="0"/>
              </a:rPr>
              <a:t>for</a:t>
            </a:r>
            <a:r>
              <a:rPr lang="es-ES" dirty="0">
                <a:latin typeface="Century Gothic" panose="020B0502020202020204" pitchFamily="34" charset="0"/>
                <a:ea typeface="Verdana" panose="020B0604030504040204" pitchFamily="34" charset="0"/>
                <a:cs typeface="Verdana" panose="020B0604030504040204" pitchFamily="34" charset="0"/>
              </a:rPr>
              <a:t> (col=1;col&lt;=5;col++)</a:t>
            </a:r>
          </a:p>
          <a:p>
            <a:r>
              <a:rPr lang="es-ES" dirty="0">
                <a:latin typeface="Century Gothic" panose="020B0502020202020204" pitchFamily="34" charset="0"/>
                <a:ea typeface="Verdana" panose="020B0604030504040204" pitchFamily="34" charset="0"/>
                <a:cs typeface="Verdana" panose="020B0604030504040204" pitchFamily="34" charset="0"/>
              </a:rPr>
              <a:t>		</a:t>
            </a:r>
            <a:r>
              <a:rPr lang="es-ES" dirty="0" err="1">
                <a:latin typeface="Century Gothic" panose="020B0502020202020204" pitchFamily="34" charset="0"/>
                <a:ea typeface="Verdana" panose="020B0604030504040204" pitchFamily="34" charset="0"/>
                <a:cs typeface="Verdana" panose="020B0604030504040204" pitchFamily="34" charset="0"/>
              </a:rPr>
              <a:t>printf</a:t>
            </a:r>
            <a:r>
              <a:rPr lang="es-ES" dirty="0">
                <a:latin typeface="Century Gothic" panose="020B0502020202020204" pitchFamily="34" charset="0"/>
                <a:ea typeface="Verdana" panose="020B0604030504040204" pitchFamily="34" charset="0"/>
                <a:cs typeface="Verdana" panose="020B0604030504040204" pitchFamily="34" charset="0"/>
              </a:rPr>
              <a:t>(“%</a:t>
            </a:r>
            <a:r>
              <a:rPr lang="es-ES" dirty="0" err="1">
                <a:latin typeface="Century Gothic" panose="020B0502020202020204" pitchFamily="34" charset="0"/>
                <a:ea typeface="Verdana" panose="020B0604030504040204" pitchFamily="34" charset="0"/>
                <a:cs typeface="Verdana" panose="020B0604030504040204" pitchFamily="34" charset="0"/>
              </a:rPr>
              <a:t>d”,col</a:t>
            </a:r>
            <a:r>
              <a:rPr lang="es-ES" dirty="0">
                <a:latin typeface="Century Gothic" panose="020B0502020202020204" pitchFamily="34" charset="0"/>
                <a:ea typeface="Verdana" panose="020B0604030504040204" pitchFamily="34" charset="0"/>
                <a:cs typeface="Verdana" panose="020B0604030504040204" pitchFamily="34" charset="0"/>
              </a:rPr>
              <a:t>);</a:t>
            </a:r>
          </a:p>
          <a:p>
            <a:r>
              <a:rPr lang="es-ES" dirty="0">
                <a:latin typeface="Century Gothic" panose="020B0502020202020204" pitchFamily="34" charset="0"/>
                <a:ea typeface="Verdana" panose="020B0604030504040204" pitchFamily="34" charset="0"/>
                <a:cs typeface="Verdana" panose="020B0604030504040204" pitchFamily="34" charset="0"/>
              </a:rPr>
              <a:t>	</a:t>
            </a:r>
            <a:r>
              <a:rPr lang="es-ES" dirty="0" err="1">
                <a:latin typeface="Century Gothic" panose="020B0502020202020204" pitchFamily="34" charset="0"/>
                <a:ea typeface="Verdana" panose="020B0604030504040204" pitchFamily="34" charset="0"/>
                <a:cs typeface="Verdana" panose="020B0604030504040204" pitchFamily="34" charset="0"/>
              </a:rPr>
              <a:t>printf</a:t>
            </a:r>
            <a:r>
              <a:rPr lang="es-ES" dirty="0">
                <a:latin typeface="Century Gothic" panose="020B0502020202020204" pitchFamily="34" charset="0"/>
                <a:ea typeface="Verdana" panose="020B0604030504040204" pitchFamily="34" charset="0"/>
                <a:cs typeface="Verdana" panose="020B0604030504040204" pitchFamily="34" charset="0"/>
              </a:rPr>
              <a:t>(“\n”);</a:t>
            </a:r>
          </a:p>
          <a:p>
            <a:r>
              <a:rPr lang="es-ES" dirty="0">
                <a:latin typeface="Century Gothic" panose="020B0502020202020204" pitchFamily="34" charset="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6579917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4"/>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nextCondLst>
                <p:cond evt="onClick" delay="0">
                  <p:tgtEl>
                    <p:spTgt spid="5"/>
                  </p:tgtEl>
                </p:cond>
              </p:nextCondLst>
            </p:seq>
            <p:seq concurrent="1" nextAc="seek">
              <p:cTn id="12" restart="whenNotActive" fill="hold" evtFilter="cancelBubble" nodeType="interactiveSeq">
                <p:stCondLst>
                  <p:cond evt="onClick" delay="0">
                    <p:tgtEl>
                      <p:spTgt spid="6"/>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nextCondLst>
                <p:cond evt="onClick" delay="0">
                  <p:tgtEl>
                    <p:spTgt spid="6"/>
                  </p:tgtEl>
                </p:cond>
              </p:nextCondLst>
            </p:seq>
            <p:seq concurrent="1" nextAc="seek">
              <p:cTn id="17" restart="whenNotActive" fill="hold" evtFilter="cancelBubble" nodeType="interactiveSeq">
                <p:stCondLst>
                  <p:cond evt="onClick" delay="0">
                    <p:tgtEl>
                      <p:spTgt spid="9"/>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22" restart="whenNotActive" fill="hold" evtFilter="cancelBubble" nodeType="interactiveSeq">
                <p:stCondLst>
                  <p:cond evt="onClick" delay="0">
                    <p:tgtEl>
                      <p:spTgt spid="10"/>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0"/>
                  </p:tgtEl>
                </p:cond>
              </p:nextCondLst>
            </p:seq>
            <p:seq concurrent="1" nextAc="seek">
              <p:cTn id="27" restart="whenNotActive" fill="hold" evtFilter="cancelBubble" nodeType="interactiveSeq">
                <p:stCondLst>
                  <p:cond evt="onClick" delay="0">
                    <p:tgtEl>
                      <p:spTgt spid="7"/>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childTnLst>
              </p:cTn>
              <p:nextCondLst>
                <p:cond evt="onClick" delay="0">
                  <p:tgtEl>
                    <p:spTgt spid="7"/>
                  </p:tgtEl>
                </p:cond>
              </p:nextCondLst>
            </p:seq>
          </p:childTnLst>
        </p:cTn>
      </p:par>
    </p:tnLst>
    <p:bldLst>
      <p:bldP spid="5" grpId="0" animBg="1"/>
      <p:bldP spid="6" grpId="0"/>
      <p:bldP spid="7" grpId="0" animBg="1"/>
      <p:bldP spid="9" grpId="0"/>
      <p:bldP spid="10" grpId="0" animBg="1"/>
      <p:bldP spid="11"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4A807-4B11-41E9-9004-2365119E1BBF}"/>
              </a:ext>
            </a:extLst>
          </p:cNvPr>
          <p:cNvSpPr>
            <a:spLocks noGrp="1"/>
          </p:cNvSpPr>
          <p:nvPr>
            <p:ph type="title"/>
          </p:nvPr>
        </p:nvSpPr>
        <p:spPr/>
        <p:txBody>
          <a:bodyPr/>
          <a:lstStyle/>
          <a:p>
            <a:r>
              <a:rPr lang="ca-ES" dirty="0"/>
              <a:t>Exercicis</a:t>
            </a:r>
          </a:p>
        </p:txBody>
      </p:sp>
      <p:sp>
        <p:nvSpPr>
          <p:cNvPr id="3" name="Marcador de contenido 2">
            <a:extLst>
              <a:ext uri="{FF2B5EF4-FFF2-40B4-BE49-F238E27FC236}">
                <a16:creationId xmlns:a16="http://schemas.microsoft.com/office/drawing/2014/main" id="{BBCD7660-1D84-4980-9992-25064A7BF092}"/>
              </a:ext>
            </a:extLst>
          </p:cNvPr>
          <p:cNvSpPr>
            <a:spLocks noGrp="1"/>
          </p:cNvSpPr>
          <p:nvPr>
            <p:ph idx="1"/>
          </p:nvPr>
        </p:nvSpPr>
        <p:spPr/>
        <p:txBody>
          <a:bodyPr/>
          <a:lstStyle/>
          <a:p>
            <a:pPr marL="0" indent="0">
              <a:buNone/>
            </a:pPr>
            <a:r>
              <a:rPr lang="ca-ES" sz="1800" b="1"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rPr>
              <a:t>DOBLE FOR</a:t>
            </a:r>
            <a:endParaRPr lang="es-ES" sz="1800" b="1" dirty="0">
              <a:solidFill>
                <a:srgbClr val="90C226"/>
              </a:solidFill>
              <a:effectLst/>
              <a:latin typeface="Trebuchet MS" panose="020B0603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00167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21071</TotalTime>
  <Words>9608</Words>
  <Application>Microsoft Office PowerPoint</Application>
  <PresentationFormat>Presentación en pantalla (4:3)</PresentationFormat>
  <Paragraphs>1629</Paragraphs>
  <Slides>116</Slides>
  <Notes>0</Notes>
  <HiddenSlides>3</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116</vt:i4>
      </vt:variant>
    </vt:vector>
  </HeadingPairs>
  <TitlesOfParts>
    <vt:vector size="128" baseType="lpstr">
      <vt:lpstr>Arial</vt:lpstr>
      <vt:lpstr>Arial Rounded MT Bold</vt:lpstr>
      <vt:lpstr>Calibri</vt:lpstr>
      <vt:lpstr>Calibri Light</vt:lpstr>
      <vt:lpstr>Century Gothic</vt:lpstr>
      <vt:lpstr>Consolas</vt:lpstr>
      <vt:lpstr>Courier New</vt:lpstr>
      <vt:lpstr>Times New Roman</vt:lpstr>
      <vt:lpstr>Trebuchet MS</vt:lpstr>
      <vt:lpstr>Verdana</vt:lpstr>
      <vt:lpstr>Wingdings</vt:lpstr>
      <vt:lpstr>Office Theme</vt:lpstr>
      <vt:lpstr>Índex</vt:lpstr>
      <vt:lpstr>PROGRAMACIÓ  EN C</vt:lpstr>
      <vt:lpstr>FONAMENTS DE PROGRAMACIÓ </vt:lpstr>
      <vt:lpstr>Programa zapping</vt:lpstr>
      <vt:lpstr>Comentaris del programa Zapping</vt:lpstr>
      <vt:lpstr>Concepte de programa</vt:lpstr>
      <vt:lpstr>Repàs de lògica</vt:lpstr>
      <vt:lpstr>Taules de veritat dels connectors lògics</vt:lpstr>
      <vt:lpstr>Avaluar els següents predicats</vt:lpstr>
      <vt:lpstr>Funcions matemàtiques importants </vt:lpstr>
      <vt:lpstr>ESTRUCTURA D’UN PROGRAMA - VARIABLES</vt:lpstr>
      <vt:lpstr>Estructura d’un programa </vt:lpstr>
      <vt:lpstr>Inclusió de llibreries</vt:lpstr>
      <vt:lpstr>Variables</vt:lpstr>
      <vt:lpstr>Tipus de dades comuns</vt:lpstr>
      <vt:lpstr>Tipus de dades bàsics</vt:lpstr>
      <vt:lpstr>Tipus de dades</vt:lpstr>
      <vt:lpstr>Tipus de dades bàsics</vt:lpstr>
      <vt:lpstr>Tipus de dades més utilitzats</vt:lpstr>
      <vt:lpstr>Tipus de dades més utilitzats</vt:lpstr>
      <vt:lpstr>Tipus de dades bàsics: Alfanumèrics</vt:lpstr>
      <vt:lpstr>Presentación de PowerPoint</vt:lpstr>
      <vt:lpstr>Codis ASCII</vt:lpstr>
      <vt:lpstr>Variables: Analogia</vt:lpstr>
      <vt:lpstr>Operadors bàsics</vt:lpstr>
      <vt:lpstr>Operadors bàsics:</vt:lpstr>
      <vt:lpstr>Instruccions d’entrada i sortida</vt:lpstr>
      <vt:lpstr>Instrucció de sortida</vt:lpstr>
      <vt:lpstr>printf</vt:lpstr>
      <vt:lpstr>Exemple:</vt:lpstr>
      <vt:lpstr>Exemple:</vt:lpstr>
      <vt:lpstr>Bool</vt:lpstr>
      <vt:lpstr>Instrucció d’entrada</vt:lpstr>
      <vt:lpstr>Operadors – Prioritats</vt:lpstr>
      <vt:lpstr>Operadors – Prioritats: Obté el resultat</vt:lpstr>
      <vt:lpstr>Operadors - Prioritats (Exemples)</vt:lpstr>
      <vt:lpstr>Operadors – Prioritats: Analitza el resultat</vt:lpstr>
      <vt:lpstr>Operadors – Prioritats: Analitza el resultat</vt:lpstr>
      <vt:lpstr>Seqüències escape</vt:lpstr>
      <vt:lpstr>ESTRUCTURES ALGORÍTMIQUES</vt:lpstr>
      <vt:lpstr>Estructures algorítmiques </vt:lpstr>
      <vt:lpstr>Estructura seqüencial </vt:lpstr>
      <vt:lpstr>Exercicis</vt:lpstr>
      <vt:lpstr>ESTRUCTURA ALTERNATIVA</vt:lpstr>
      <vt:lpstr>Estructura alternativa </vt:lpstr>
      <vt:lpstr>Estructura alternativa </vt:lpstr>
      <vt:lpstr>Exercici Divisió</vt:lpstr>
      <vt:lpstr>Estructura alternativa </vt:lpstr>
      <vt:lpstr>Estructura alternativa niada</vt:lpstr>
      <vt:lpstr>Exemple alternativa niada</vt:lpstr>
      <vt:lpstr>Exemple alternativa niada</vt:lpstr>
      <vt:lpstr>Exemple estructura alternativa niada</vt:lpstr>
      <vt:lpstr>Instrucció Alternativa (IF) - Ternària</vt:lpstr>
      <vt:lpstr>Exercicis Dossier</vt:lpstr>
      <vt:lpstr>CAS-SWITCH</vt:lpstr>
      <vt:lpstr>Estructura SEGONS</vt:lpstr>
      <vt:lpstr>Exemple Instrucció SEGONS</vt:lpstr>
      <vt:lpstr>ESTRUCTURES ITERATIVES</vt:lpstr>
      <vt:lpstr>Estructures iteratives</vt:lpstr>
      <vt:lpstr>Exemples  de la vida quotidiana</vt:lpstr>
      <vt:lpstr>Quantes vegades haurem de repetir cadascuna de les preguntes anteriors?</vt:lpstr>
      <vt:lpstr>Tipus de Bucles</vt:lpstr>
      <vt:lpstr>Bucle per Condició</vt:lpstr>
      <vt:lpstr>Resolució Exercici 5</vt:lpstr>
      <vt:lpstr>Exemple:</vt:lpstr>
      <vt:lpstr>Bucle per Condició</vt:lpstr>
      <vt:lpstr>Exercici Menú</vt:lpstr>
      <vt:lpstr>Resolució Exercici2</vt:lpstr>
      <vt:lpstr>Exercici Bucle Per Condició</vt:lpstr>
      <vt:lpstr>Bucles per Número de Voltes</vt:lpstr>
      <vt:lpstr>Estructures iteratives</vt:lpstr>
      <vt:lpstr>Bucles per Número de Voltes</vt:lpstr>
      <vt:lpstr>Exemple: FOR</vt:lpstr>
      <vt:lpstr>Exemple</vt:lpstr>
      <vt:lpstr>Exemple</vt:lpstr>
      <vt:lpstr>Exemple</vt:lpstr>
      <vt:lpstr>Exemple WHILE, DO WHILE I FOR</vt:lpstr>
      <vt:lpstr>WHILE I FOR</vt:lpstr>
      <vt:lpstr>Exercicis</vt:lpstr>
      <vt:lpstr>Opcions per a fer un bucle de num1 a num2</vt:lpstr>
      <vt:lpstr>COMPTADOR -ACUMULADOR </vt:lpstr>
      <vt:lpstr>Teoria Comptador:</vt:lpstr>
      <vt:lpstr>Exercici: Comptador</vt:lpstr>
      <vt:lpstr>Exercici: COMPTADOR</vt:lpstr>
      <vt:lpstr>Teoria: Acumulador</vt:lpstr>
      <vt:lpstr>Exercici: Guardiola</vt:lpstr>
      <vt:lpstr>Exercici Guardiola(2)</vt:lpstr>
      <vt:lpstr>Exercici: Acumulador</vt:lpstr>
      <vt:lpstr>Exercicis del dossier</vt:lpstr>
      <vt:lpstr>DESAR VALORS ANTERIORS</vt:lpstr>
      <vt:lpstr>Concepte Desar Valors Anteriors</vt:lpstr>
      <vt:lpstr>Concepte Desar Valors Anteriors</vt:lpstr>
      <vt:lpstr>Exercicis del dossier</vt:lpstr>
      <vt:lpstr>ESQUEMA CERCA - RECORREGUT</vt:lpstr>
      <vt:lpstr>Esquemes Algorítmics Bàsics</vt:lpstr>
      <vt:lpstr>Esquema Algorítmic de Recorregut</vt:lpstr>
      <vt:lpstr>Esquema Algorítmic de Recorregut</vt:lpstr>
      <vt:lpstr>Esquema Algorítmica de Cerca</vt:lpstr>
      <vt:lpstr>Esquema Algorísmic de Cerca</vt:lpstr>
      <vt:lpstr>Exemple: Troba 2’a’</vt:lpstr>
      <vt:lpstr>Exemple: Troba 2’a’</vt:lpstr>
      <vt:lpstr>Exercicis</vt:lpstr>
      <vt:lpstr>Concepte TROBAT</vt:lpstr>
      <vt:lpstr>EXERCICIS GENERALS</vt:lpstr>
      <vt:lpstr>Exercicis</vt:lpstr>
      <vt:lpstr>LLENGUATGE C – RLUTIL.H - GOTOXY</vt:lpstr>
      <vt:lpstr>Generar Números Aleatoris</vt:lpstr>
      <vt:lpstr>Llibreria “rlutil.h”</vt:lpstr>
      <vt:lpstr>Llibreria “rlutil.h”</vt:lpstr>
      <vt:lpstr>Kbhit()</vt:lpstr>
      <vt:lpstr>Kbhit()</vt:lpstr>
      <vt:lpstr>Doble rebot</vt:lpstr>
      <vt:lpstr>Rectangle</vt:lpstr>
      <vt:lpstr>DOBLE FOR</vt:lpstr>
      <vt:lpstr>Doble For</vt:lpstr>
      <vt:lpstr>Exercicis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Estructures Iteratives</dc:title>
  <dc:creator>Albert</dc:creator>
  <cp:lastModifiedBy>Claudina Riaza</cp:lastModifiedBy>
  <cp:revision>709</cp:revision>
  <dcterms:created xsi:type="dcterms:W3CDTF">2017-09-29T07:49:38Z</dcterms:created>
  <dcterms:modified xsi:type="dcterms:W3CDTF">2024-09-13T17:35:44Z</dcterms:modified>
</cp:coreProperties>
</file>